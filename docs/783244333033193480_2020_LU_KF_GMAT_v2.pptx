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15" r:id="rId3"/>
    <p:sldId id="316" r:id="rId4"/>
    <p:sldId id="318" r:id="rId5"/>
    <p:sldId id="325" r:id="rId6"/>
    <p:sldId id="324" r:id="rId7"/>
    <p:sldId id="319" r:id="rId8"/>
    <p:sldId id="321" r:id="rId9"/>
    <p:sldId id="320" r:id="rId10"/>
    <p:sldId id="322" r:id="rId11"/>
    <p:sldId id="323"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0000"/>
    <a:srgbClr val="F2F2F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81" autoAdjust="0"/>
    <p:restoredTop sz="94660" autoAdjust="0"/>
  </p:normalViewPr>
  <p:slideViewPr>
    <p:cSldViewPr snapToGrid="0" showGuides="1">
      <p:cViewPr varScale="1">
        <p:scale>
          <a:sx n="82" d="100"/>
          <a:sy n="82" d="100"/>
        </p:scale>
        <p:origin x="821" y="72"/>
      </p:cViewPr>
      <p:guideLst>
        <p:guide orient="horz" pos="2137"/>
        <p:guide pos="381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631AB-8AB4-449E-9BBE-7779953C1CC7}" type="datetimeFigureOut">
              <a:rPr lang="en-US" smtClean="0"/>
              <a:t>6/2/2020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579F6-C223-4BE2-BAF5-33516DD19DAB}" type="slidenum">
              <a:rPr lang="en-US" smtClean="0"/>
              <a:t>‹#›</a:t>
            </a:fld>
            <a:endParaRPr lang="en-US"/>
          </a:p>
        </p:txBody>
      </p:sp>
    </p:spTree>
    <p:extLst>
      <p:ext uri="{BB962C8B-B14F-4D97-AF65-F5344CB8AC3E}">
        <p14:creationId xmlns:p14="http://schemas.microsoft.com/office/powerpoint/2010/main" val="222407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1BD1F83-C07B-4D4D-BF3E-A514F87E3B88}" type="datetimeFigureOut">
              <a:rPr lang="en-GB" smtClean="0"/>
              <a:t>02/06/2020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211ACF-77F0-4234-B700-C5B1D3034966}" type="slidenum">
              <a:rPr lang="en-GB" smtClean="0"/>
              <a:t>‹#›</a:t>
            </a:fld>
            <a:endParaRPr lang="en-GB"/>
          </a:p>
        </p:txBody>
      </p:sp>
    </p:spTree>
    <p:extLst>
      <p:ext uri="{BB962C8B-B14F-4D97-AF65-F5344CB8AC3E}">
        <p14:creationId xmlns:p14="http://schemas.microsoft.com/office/powerpoint/2010/main" val="321552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1BD1F83-C07B-4D4D-BF3E-A514F87E3B88}" type="datetimeFigureOut">
              <a:rPr lang="en-GB" smtClean="0"/>
              <a:t>02/06/2020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211ACF-77F0-4234-B700-C5B1D3034966}" type="slidenum">
              <a:rPr lang="en-GB" smtClean="0"/>
              <a:t>‹#›</a:t>
            </a:fld>
            <a:endParaRPr lang="en-GB"/>
          </a:p>
        </p:txBody>
      </p:sp>
      <p:cxnSp>
        <p:nvCxnSpPr>
          <p:cNvPr id="10" name="Straight Connector 9">
            <a:extLst>
              <a:ext uri="{FF2B5EF4-FFF2-40B4-BE49-F238E27FC236}">
                <a16:creationId xmlns:a16="http://schemas.microsoft.com/office/drawing/2014/main" id="{F51EFACC-DD71-45D8-8F50-F44E7E91BA90}"/>
              </a:ext>
            </a:extLst>
          </p:cNvPr>
          <p:cNvCxnSpPr/>
          <p:nvPr userDrawn="1"/>
        </p:nvCxnSpPr>
        <p:spPr>
          <a:xfrm>
            <a:off x="178389" y="1028700"/>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23D2B0-6DA4-4CD1-B106-4849E4B0ED44}"/>
              </a:ext>
            </a:extLst>
          </p:cNvPr>
          <p:cNvCxnSpPr/>
          <p:nvPr userDrawn="1"/>
        </p:nvCxnSpPr>
        <p:spPr>
          <a:xfrm>
            <a:off x="178389" y="6296025"/>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E67EF77A-BF62-4A8C-B422-CA82596121DB}"/>
              </a:ext>
            </a:extLst>
          </p:cNvPr>
          <p:cNvSpPr>
            <a:spLocks noGrp="1"/>
          </p:cNvSpPr>
          <p:nvPr>
            <p:ph type="title"/>
          </p:nvPr>
        </p:nvSpPr>
        <p:spPr>
          <a:xfrm>
            <a:off x="178389" y="365125"/>
            <a:ext cx="10515600" cy="603251"/>
          </a:xfrm>
        </p:spPr>
        <p:txBody>
          <a:bodyPr vert="horz" lIns="274320" tIns="45720" rIns="91440" bIns="45720" rtlCol="0" anchor="ctr">
            <a:normAutofit fontScale="90000" lnSpcReduction="10000"/>
          </a:bodyPr>
          <a:lstStyle>
            <a:lvl1pPr>
              <a:defRPr lang="en-GB" dirty="0"/>
            </a:lvl1pPr>
          </a:lstStyle>
          <a:p>
            <a:pPr marL="0" lvl="0"/>
            <a:r>
              <a:rPr lang="en-US" dirty="0"/>
              <a:t>Click to edit Master title style</a:t>
            </a:r>
            <a:endParaRPr lang="en-GB" dirty="0"/>
          </a:p>
        </p:txBody>
      </p:sp>
    </p:spTree>
    <p:extLst>
      <p:ext uri="{BB962C8B-B14F-4D97-AF65-F5344CB8AC3E}">
        <p14:creationId xmlns:p14="http://schemas.microsoft.com/office/powerpoint/2010/main" val="1465490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1BD1F83-C07B-4D4D-BF3E-A514F87E3B88}" type="datetimeFigureOut">
              <a:rPr lang="en-GB" smtClean="0"/>
              <a:t>02/06/2020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211ACF-77F0-4234-B700-C5B1D3034966}" type="slidenum">
              <a:rPr lang="en-GB" smtClean="0"/>
              <a:t>‹#›</a:t>
            </a:fld>
            <a:endParaRPr lang="en-GB"/>
          </a:p>
        </p:txBody>
      </p:sp>
    </p:spTree>
    <p:extLst>
      <p:ext uri="{BB962C8B-B14F-4D97-AF65-F5344CB8AC3E}">
        <p14:creationId xmlns:p14="http://schemas.microsoft.com/office/powerpoint/2010/main" val="3476454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5750" y="1371600"/>
            <a:ext cx="5734050" cy="4805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199" y="1371600"/>
            <a:ext cx="5734049" cy="4805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1BD1F83-C07B-4D4D-BF3E-A514F87E3B88}" type="datetimeFigureOut">
              <a:rPr lang="en-GB" smtClean="0"/>
              <a:t>02/06/2020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F211ACF-77F0-4234-B700-C5B1D3034966}" type="slidenum">
              <a:rPr lang="en-GB" smtClean="0"/>
              <a:t>‹#›</a:t>
            </a:fld>
            <a:endParaRPr lang="en-GB"/>
          </a:p>
        </p:txBody>
      </p:sp>
      <p:cxnSp>
        <p:nvCxnSpPr>
          <p:cNvPr id="10" name="Straight Connector 9">
            <a:extLst>
              <a:ext uri="{FF2B5EF4-FFF2-40B4-BE49-F238E27FC236}">
                <a16:creationId xmlns:a16="http://schemas.microsoft.com/office/drawing/2014/main" id="{3007C4F5-BF2C-4459-BC6F-DC1F54582325}"/>
              </a:ext>
            </a:extLst>
          </p:cNvPr>
          <p:cNvCxnSpPr/>
          <p:nvPr userDrawn="1"/>
        </p:nvCxnSpPr>
        <p:spPr>
          <a:xfrm>
            <a:off x="178389" y="1028700"/>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EB6C2E4-52B6-462E-AC67-44CADD77B773}"/>
              </a:ext>
            </a:extLst>
          </p:cNvPr>
          <p:cNvCxnSpPr/>
          <p:nvPr userDrawn="1"/>
        </p:nvCxnSpPr>
        <p:spPr>
          <a:xfrm>
            <a:off x="178389" y="6296025"/>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82FD98A7-2EDD-480B-A4A6-8359B2B6C5B5}"/>
              </a:ext>
            </a:extLst>
          </p:cNvPr>
          <p:cNvSpPr>
            <a:spLocks noGrp="1"/>
          </p:cNvSpPr>
          <p:nvPr>
            <p:ph type="title"/>
          </p:nvPr>
        </p:nvSpPr>
        <p:spPr>
          <a:xfrm>
            <a:off x="178389" y="365125"/>
            <a:ext cx="10515600" cy="603251"/>
          </a:xfrm>
        </p:spPr>
        <p:txBody>
          <a:bodyPr vert="horz" lIns="274320" tIns="45720" rIns="91440" bIns="45720" rtlCol="0" anchor="ctr">
            <a:normAutofit fontScale="90000" lnSpcReduction="10000"/>
          </a:bodyPr>
          <a:lstStyle>
            <a:lvl1pPr>
              <a:defRPr lang="en-GB" dirty="0"/>
            </a:lvl1pPr>
          </a:lstStyle>
          <a:p>
            <a:pPr marL="0" lvl="0"/>
            <a:r>
              <a:rPr lang="en-US" dirty="0"/>
              <a:t>Click to edit Master title style</a:t>
            </a:r>
            <a:endParaRPr lang="en-GB" dirty="0"/>
          </a:p>
        </p:txBody>
      </p:sp>
    </p:spTree>
    <p:extLst>
      <p:ext uri="{BB962C8B-B14F-4D97-AF65-F5344CB8AC3E}">
        <p14:creationId xmlns:p14="http://schemas.microsoft.com/office/powerpoint/2010/main" val="3909601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1BD1F83-C07B-4D4D-BF3E-A514F87E3B88}" type="datetimeFigureOut">
              <a:rPr lang="en-GB" smtClean="0"/>
              <a:t>02/06/2020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F211ACF-77F0-4234-B700-C5B1D3034966}" type="slidenum">
              <a:rPr lang="en-GB" smtClean="0"/>
              <a:t>‹#›</a:t>
            </a:fld>
            <a:endParaRPr lang="en-GB"/>
          </a:p>
        </p:txBody>
      </p:sp>
      <p:cxnSp>
        <p:nvCxnSpPr>
          <p:cNvPr id="13" name="Straight Connector 12">
            <a:extLst>
              <a:ext uri="{FF2B5EF4-FFF2-40B4-BE49-F238E27FC236}">
                <a16:creationId xmlns:a16="http://schemas.microsoft.com/office/drawing/2014/main" id="{33189715-A028-46D7-9059-6E0D66ED060A}"/>
              </a:ext>
            </a:extLst>
          </p:cNvPr>
          <p:cNvCxnSpPr/>
          <p:nvPr userDrawn="1"/>
        </p:nvCxnSpPr>
        <p:spPr>
          <a:xfrm>
            <a:off x="178389" y="1028700"/>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00B096-7C15-4E43-8523-876144C9FBE4}"/>
              </a:ext>
            </a:extLst>
          </p:cNvPr>
          <p:cNvCxnSpPr/>
          <p:nvPr userDrawn="1"/>
        </p:nvCxnSpPr>
        <p:spPr>
          <a:xfrm>
            <a:off x="178389" y="6296025"/>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62E4957-12B8-485E-9CA8-E4789CEFD651}"/>
              </a:ext>
            </a:extLst>
          </p:cNvPr>
          <p:cNvSpPr>
            <a:spLocks noGrp="1"/>
          </p:cNvSpPr>
          <p:nvPr>
            <p:ph type="title"/>
          </p:nvPr>
        </p:nvSpPr>
        <p:spPr>
          <a:xfrm>
            <a:off x="178389" y="365125"/>
            <a:ext cx="10515600" cy="603251"/>
          </a:xfrm>
        </p:spPr>
        <p:txBody>
          <a:bodyPr vert="horz" lIns="274320" tIns="45720" rIns="91440" bIns="45720" rtlCol="0" anchor="ctr">
            <a:normAutofit fontScale="90000" lnSpcReduction="10000"/>
          </a:bodyPr>
          <a:lstStyle>
            <a:lvl1pPr>
              <a:defRPr lang="en-GB" dirty="0"/>
            </a:lvl1pPr>
          </a:lstStyle>
          <a:p>
            <a:pPr marL="0" lvl="0"/>
            <a:r>
              <a:rPr lang="en-US" dirty="0"/>
              <a:t>Click to edit Master title style</a:t>
            </a:r>
            <a:endParaRPr lang="en-GB" dirty="0"/>
          </a:p>
        </p:txBody>
      </p:sp>
    </p:spTree>
    <p:extLst>
      <p:ext uri="{BB962C8B-B14F-4D97-AF65-F5344CB8AC3E}">
        <p14:creationId xmlns:p14="http://schemas.microsoft.com/office/powerpoint/2010/main" val="1646939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8389" y="365125"/>
            <a:ext cx="10515600" cy="603251"/>
          </a:xfrm>
        </p:spPr>
        <p:txBody>
          <a:bodyPr vert="horz" lIns="274320" tIns="45720" rIns="91440" bIns="45720" rtlCol="0" anchor="ctr">
            <a:normAutofit fontScale="90000" lnSpcReduction="10000"/>
          </a:bodyPr>
          <a:lstStyle>
            <a:lvl1pPr>
              <a:defRPr lang="en-GB" dirty="0"/>
            </a:lvl1pPr>
          </a:lstStyle>
          <a:p>
            <a:pPr marL="0" lvl="0"/>
            <a:r>
              <a:rPr lang="en-US" dirty="0"/>
              <a:t>Click to edit Master title style</a:t>
            </a:r>
            <a:endParaRPr lang="en-GB" dirty="0"/>
          </a:p>
        </p:txBody>
      </p:sp>
      <p:sp>
        <p:nvSpPr>
          <p:cNvPr id="3" name="Date Placeholder 2"/>
          <p:cNvSpPr>
            <a:spLocks noGrp="1"/>
          </p:cNvSpPr>
          <p:nvPr>
            <p:ph type="dt" sz="half" idx="10"/>
          </p:nvPr>
        </p:nvSpPr>
        <p:spPr/>
        <p:txBody>
          <a:bodyPr/>
          <a:lstStyle/>
          <a:p>
            <a:fld id="{61BD1F83-C07B-4D4D-BF3E-A514F87E3B88}" type="datetimeFigureOut">
              <a:rPr lang="en-GB" smtClean="0"/>
              <a:t>02/06/2020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F211ACF-77F0-4234-B700-C5B1D3034966}" type="slidenum">
              <a:rPr lang="en-GB" smtClean="0"/>
              <a:t>‹#›</a:t>
            </a:fld>
            <a:endParaRPr lang="en-GB"/>
          </a:p>
        </p:txBody>
      </p:sp>
      <p:cxnSp>
        <p:nvCxnSpPr>
          <p:cNvPr id="9" name="Straight Connector 8">
            <a:extLst>
              <a:ext uri="{FF2B5EF4-FFF2-40B4-BE49-F238E27FC236}">
                <a16:creationId xmlns:a16="http://schemas.microsoft.com/office/drawing/2014/main" id="{EC303C6B-E099-437D-A0E9-367D22B78F7C}"/>
              </a:ext>
            </a:extLst>
          </p:cNvPr>
          <p:cNvCxnSpPr/>
          <p:nvPr userDrawn="1"/>
        </p:nvCxnSpPr>
        <p:spPr>
          <a:xfrm>
            <a:off x="178389" y="1028700"/>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743CC68-06D0-41CB-98D7-8B1BC94B930E}"/>
              </a:ext>
            </a:extLst>
          </p:cNvPr>
          <p:cNvCxnSpPr/>
          <p:nvPr userDrawn="1"/>
        </p:nvCxnSpPr>
        <p:spPr>
          <a:xfrm>
            <a:off x="178389" y="6296025"/>
            <a:ext cx="11835222"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357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4C56733-64B6-4C32-82B7-2568E08318F2}"/>
              </a:ext>
            </a:extLst>
          </p:cNvPr>
          <p:cNvGraphicFramePr>
            <a:graphicFrameLocks noChangeAspect="1"/>
          </p:cNvGraphicFramePr>
          <p:nvPr userDrawn="1">
            <p:custDataLst>
              <p:tags r:id="rId9"/>
            </p:custDataLst>
            <p:extLst>
              <p:ext uri="{D42A27DB-BD31-4B8C-83A1-F6EECF244321}">
                <p14:modId xmlns:p14="http://schemas.microsoft.com/office/powerpoint/2010/main" val="2944806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3" name="think-cell Slide" r:id="rId11" imgW="526" imgH="526" progId="TCLayout.ActiveDocument.1">
                  <p:embed/>
                </p:oleObj>
              </mc:Choice>
              <mc:Fallback>
                <p:oleObj name="think-cell Slide" r:id="rId11" imgW="526" imgH="526" progId="TCLayout.ActiveDocument.1">
                  <p:embed/>
                  <p:pic>
                    <p:nvPicPr>
                      <p:cNvPr id="9" name="Object 8" hidden="1">
                        <a:extLst>
                          <a:ext uri="{FF2B5EF4-FFF2-40B4-BE49-F238E27FC236}">
                            <a16:creationId xmlns:a16="http://schemas.microsoft.com/office/drawing/2014/main" id="{34C56733-64B6-4C32-82B7-2568E08318F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1D63D51C-BC73-4315-A03B-1A729633EC66}"/>
              </a:ext>
            </a:extLst>
          </p:cNvPr>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BD1F83-C07B-4D4D-BF3E-A514F87E3B88}" type="datetimeFigureOut">
              <a:rPr lang="en-GB" smtClean="0"/>
              <a:t>02/06/2020</a:t>
            </a:fld>
            <a:endParaRPr lang="en-GB"/>
          </a:p>
        </p:txBody>
      </p:sp>
      <p:sp>
        <p:nvSpPr>
          <p:cNvPr id="5" name="Footer Placeholder 4"/>
          <p:cNvSpPr>
            <a:spLocks noGrp="1"/>
          </p:cNvSpPr>
          <p:nvPr>
            <p:ph type="ftr" sz="quarter" idx="3"/>
          </p:nvPr>
        </p:nvSpPr>
        <p:spPr>
          <a:xfrm>
            <a:off x="8697530" y="6356350"/>
            <a:ext cx="265627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038599" y="6356350"/>
            <a:ext cx="4114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F211ACF-77F0-4234-B700-C5B1D3034966}" type="slidenum">
              <a:rPr lang="en-GB" smtClean="0"/>
              <a:pPr/>
              <a:t>‹#›</a:t>
            </a:fld>
            <a:endParaRPr lang="en-GB" dirty="0"/>
          </a:p>
        </p:txBody>
      </p:sp>
    </p:spTree>
    <p:extLst>
      <p:ext uri="{BB962C8B-B14F-4D97-AF65-F5344CB8AC3E}">
        <p14:creationId xmlns:p14="http://schemas.microsoft.com/office/powerpoint/2010/main" val="3973336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vmlDrawing" Target="../drawings/vmlDrawing5.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vmlDrawing" Target="../drawings/vmlDrawing6.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vmlDrawing" Target="../drawings/vmlDrawing7.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vmlDrawing" Target="../drawings/vmlDrawing8.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vmlDrawing" Target="../drawings/vmlDrawing9.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vmlDrawing" Target="../drawings/vmlDrawing10.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vmlDrawing" Target="../drawings/vmlDrawing11.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hyperlink" Target="https://www.amazon.de/Cracking-Premium-Computer-Adaptive-Practice-Tests/dp/0451487567" TargetMode="External"/><Relationship Id="rId3" Type="http://schemas.openxmlformats.org/officeDocument/2006/relationships/tags" Target="../tags/tag24.xml"/><Relationship Id="rId7" Type="http://schemas.openxmlformats.org/officeDocument/2006/relationships/hyperlink" Target="https://www.manhattanprep.com/" TargetMode="External"/><Relationship Id="rId2" Type="http://schemas.openxmlformats.org/officeDocument/2006/relationships/tags" Target="../tags/tag23.xml"/><Relationship Id="rId1" Type="http://schemas.openxmlformats.org/officeDocument/2006/relationships/vmlDrawing" Target="../drawings/vmlDrawing12.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Layout" Target="../slideLayouts/slideLayout6.xml"/><Relationship Id="rId9" Type="http://schemas.openxmlformats.org/officeDocument/2006/relationships/hyperlink" Target="https://gmatclub.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7" name="think-cell Slide" r:id="rId4" imgW="351" imgH="351" progId="TCLayout.ActiveDocument.1">
                  <p:embed/>
                </p:oleObj>
              </mc:Choice>
              <mc:Fallback>
                <p:oleObj name="think-cell Slide" r:id="rId4" imgW="351" imgH="35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7" name="Grafik 6">
            <a:extLst>
              <a:ext uri="{FF2B5EF4-FFF2-40B4-BE49-F238E27FC236}">
                <a16:creationId xmlns:a16="http://schemas.microsoft.com/office/drawing/2014/main" id="{7C618BAB-E28D-4D87-9764-7D01FAC2377C}"/>
              </a:ext>
            </a:extLst>
          </p:cNvPr>
          <p:cNvPicPr>
            <a:picLocks noChangeAspect="1"/>
          </p:cNvPicPr>
          <p:nvPr/>
        </p:nvPicPr>
        <p:blipFill rotWithShape="1">
          <a:blip r:embed="rId6"/>
          <a:srcRect t="64782"/>
          <a:stretch/>
        </p:blipFill>
        <p:spPr>
          <a:xfrm rot="16200000">
            <a:off x="-5280075" y="3277772"/>
            <a:ext cx="10283483" cy="2716236"/>
          </a:xfrm>
          <a:prstGeom prst="rect">
            <a:avLst/>
          </a:prstGeom>
        </p:spPr>
      </p:pic>
      <p:pic>
        <p:nvPicPr>
          <p:cNvPr id="8" name="Grafik 7">
            <a:extLst>
              <a:ext uri="{FF2B5EF4-FFF2-40B4-BE49-F238E27FC236}">
                <a16:creationId xmlns:a16="http://schemas.microsoft.com/office/drawing/2014/main" id="{943B4FF7-6E43-4338-A6B1-86E5E747A5B9}"/>
              </a:ext>
            </a:extLst>
          </p:cNvPr>
          <p:cNvPicPr>
            <a:picLocks noChangeAspect="1"/>
          </p:cNvPicPr>
          <p:nvPr/>
        </p:nvPicPr>
        <p:blipFill rotWithShape="1">
          <a:blip r:embed="rId6"/>
          <a:srcRect t="64782"/>
          <a:stretch/>
        </p:blipFill>
        <p:spPr>
          <a:xfrm rot="16200000">
            <a:off x="7050259" y="3148818"/>
            <a:ext cx="10283483" cy="2716236"/>
          </a:xfrm>
          <a:prstGeom prst="rect">
            <a:avLst/>
          </a:prstGeom>
        </p:spPr>
      </p:pic>
      <p:sp>
        <p:nvSpPr>
          <p:cNvPr id="6" name="Title 5">
            <a:extLst>
              <a:ext uri="{FF2B5EF4-FFF2-40B4-BE49-F238E27FC236}">
                <a16:creationId xmlns:a16="http://schemas.microsoft.com/office/drawing/2014/main" id="{306A15AC-1BFB-4686-9A58-E160D263DDE7}"/>
              </a:ext>
            </a:extLst>
          </p:cNvPr>
          <p:cNvSpPr txBox="1">
            <a:spLocks/>
          </p:cNvSpPr>
          <p:nvPr/>
        </p:nvSpPr>
        <p:spPr>
          <a:xfrm>
            <a:off x="4380501" y="3127374"/>
            <a:ext cx="3357974"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pPr algn="ctr"/>
            <a:r>
              <a:rPr lang="en-US" dirty="0">
                <a:latin typeface="Calibri "/>
              </a:rPr>
              <a:t>GMAT</a:t>
            </a:r>
          </a:p>
        </p:txBody>
      </p:sp>
    </p:spTree>
    <p:extLst>
      <p:ext uri="{BB962C8B-B14F-4D97-AF65-F5344CB8AC3E}">
        <p14:creationId xmlns:p14="http://schemas.microsoft.com/office/powerpoint/2010/main" val="1542544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F786F4E-08BE-4B2B-998B-24ADB496B5B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66" name="think-cell Slide" r:id="rId5" imgW="526" imgH="526" progId="TCLayout.ActiveDocument.1">
                  <p:embed/>
                </p:oleObj>
              </mc:Choice>
              <mc:Fallback>
                <p:oleObj name="think-cell Slide" r:id="rId5" imgW="526" imgH="526" progId="TCLayout.ActiveDocument.1">
                  <p:embed/>
                  <p:pic>
                    <p:nvPicPr>
                      <p:cNvPr id="9" name="Object 8" hidden="1">
                        <a:extLst>
                          <a:ext uri="{FF2B5EF4-FFF2-40B4-BE49-F238E27FC236}">
                            <a16:creationId xmlns:a16="http://schemas.microsoft.com/office/drawing/2014/main" id="{AF786F4E-08BE-4B2B-998B-24ADB496B5B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0" name="Rectangle 9" hidden="1">
            <a:extLst>
              <a:ext uri="{FF2B5EF4-FFF2-40B4-BE49-F238E27FC236}">
                <a16:creationId xmlns:a16="http://schemas.microsoft.com/office/drawing/2014/main" id="{C0D50C0C-2141-4DDA-B632-81792B7E9634}"/>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3" name="Title 2">
            <a:extLst>
              <a:ext uri="{FF2B5EF4-FFF2-40B4-BE49-F238E27FC236}">
                <a16:creationId xmlns:a16="http://schemas.microsoft.com/office/drawing/2014/main" id="{40A345CB-3CA1-447D-A7B6-A46D2B7DFCB5}"/>
              </a:ext>
            </a:extLst>
          </p:cNvPr>
          <p:cNvSpPr>
            <a:spLocks noGrp="1"/>
          </p:cNvSpPr>
          <p:nvPr>
            <p:ph type="title"/>
          </p:nvPr>
        </p:nvSpPr>
        <p:spPr/>
        <p:txBody>
          <a:bodyPr>
            <a:normAutofit fontScale="90000"/>
          </a:bodyPr>
          <a:lstStyle/>
          <a:p>
            <a:r>
              <a:rPr lang="en-US" dirty="0"/>
              <a:t>Agenda – Cracking the GMAT</a:t>
            </a:r>
          </a:p>
        </p:txBody>
      </p:sp>
      <p:sp>
        <p:nvSpPr>
          <p:cNvPr id="6" name="Slide Number Placeholder 5">
            <a:extLst>
              <a:ext uri="{FF2B5EF4-FFF2-40B4-BE49-F238E27FC236}">
                <a16:creationId xmlns:a16="http://schemas.microsoft.com/office/drawing/2014/main" id="{57248A28-C7C8-49A2-B73C-32D10B0A989E}"/>
              </a:ext>
            </a:extLst>
          </p:cNvPr>
          <p:cNvSpPr>
            <a:spLocks noGrp="1"/>
          </p:cNvSpPr>
          <p:nvPr>
            <p:ph type="sldNum" sz="quarter" idx="12"/>
          </p:nvPr>
        </p:nvSpPr>
        <p:spPr/>
        <p:txBody>
          <a:bodyPr/>
          <a:lstStyle/>
          <a:p>
            <a:fld id="{EF211ACF-77F0-4234-B700-C5B1D3034966}" type="slidenum">
              <a:rPr lang="en-GB" smtClean="0"/>
              <a:t>2</a:t>
            </a:fld>
            <a:endParaRPr lang="en-GB" dirty="0"/>
          </a:p>
        </p:txBody>
      </p:sp>
      <p:sp>
        <p:nvSpPr>
          <p:cNvPr id="8" name="Rectangle 7">
            <a:extLst>
              <a:ext uri="{FF2B5EF4-FFF2-40B4-BE49-F238E27FC236}">
                <a16:creationId xmlns:a16="http://schemas.microsoft.com/office/drawing/2014/main" id="{001B2E10-3066-4C77-9A44-B72D56684492}"/>
              </a:ext>
            </a:extLst>
          </p:cNvPr>
          <p:cNvSpPr/>
          <p:nvPr/>
        </p:nvSpPr>
        <p:spPr>
          <a:xfrm>
            <a:off x="733537" y="1136766"/>
            <a:ext cx="10724927" cy="2800767"/>
          </a:xfrm>
          <a:prstGeom prst="rect">
            <a:avLst/>
          </a:prstGeom>
        </p:spPr>
        <p:txBody>
          <a:bodyPr wrap="square">
            <a:spAutoFit/>
          </a:bodyPr>
          <a:lstStyle/>
          <a:p>
            <a:pPr marL="266700" indent="-266700" fontAlgn="base">
              <a:buFont typeface="+mj-lt"/>
              <a:buAutoNum type="arabicPeriod"/>
            </a:pPr>
            <a:r>
              <a:rPr lang="de-DE" sz="1600" b="1" dirty="0">
                <a:solidFill>
                  <a:srgbClr val="900000"/>
                </a:solidFill>
                <a:latin typeface="inherit"/>
              </a:rPr>
              <a:t>Aufbau</a:t>
            </a:r>
            <a:endParaRPr lang="de-DE" sz="1600" dirty="0">
              <a:solidFill>
                <a:srgbClr val="900000"/>
              </a:solidFill>
              <a:latin typeface="inherit"/>
            </a:endParaRPr>
          </a:p>
          <a:p>
            <a:pPr marL="800100" lvl="1" indent="-342900" fontAlgn="base">
              <a:buFont typeface="+mj-lt"/>
              <a:buAutoNum type="alphaLcParenR"/>
            </a:pPr>
            <a:r>
              <a:rPr lang="de-DE" sz="1600" dirty="0">
                <a:latin typeface="inherit"/>
              </a:rPr>
              <a:t>Bestandteile</a:t>
            </a:r>
          </a:p>
          <a:p>
            <a:pPr marL="800100" lvl="1" indent="-342900" fontAlgn="base">
              <a:buFont typeface="+mj-lt"/>
              <a:buAutoNum type="alphaLcParenR"/>
            </a:pPr>
            <a:r>
              <a:rPr lang="de-DE" sz="1600" dirty="0">
                <a:latin typeface="inherit"/>
              </a:rPr>
              <a:t>Worauf schauen die Business Schools und Unis?</a:t>
            </a:r>
          </a:p>
          <a:p>
            <a:pPr marL="266700" indent="-266700" fontAlgn="base">
              <a:buFont typeface="+mj-lt"/>
              <a:buAutoNum type="arabicPeriod"/>
            </a:pPr>
            <a:r>
              <a:rPr lang="de-DE" sz="1600" b="1" dirty="0">
                <a:solidFill>
                  <a:srgbClr val="900000"/>
                </a:solidFill>
                <a:latin typeface="inherit"/>
              </a:rPr>
              <a:t>Vorbereitungszeit</a:t>
            </a:r>
            <a:endParaRPr lang="de-DE" sz="1600" dirty="0">
              <a:solidFill>
                <a:srgbClr val="900000"/>
              </a:solidFill>
              <a:latin typeface="inherit"/>
            </a:endParaRPr>
          </a:p>
          <a:p>
            <a:pPr marL="800100" lvl="1" indent="-342900" fontAlgn="base">
              <a:buFont typeface="+mj-lt"/>
              <a:buAutoNum type="alphaLcParenR"/>
            </a:pPr>
            <a:r>
              <a:rPr lang="de-DE" sz="1600" dirty="0">
                <a:latin typeface="inherit"/>
              </a:rPr>
              <a:t>[…]</a:t>
            </a:r>
          </a:p>
          <a:p>
            <a:pPr marL="266700" indent="-266700" fontAlgn="base">
              <a:buFont typeface="+mj-lt"/>
              <a:buAutoNum type="arabicPeriod"/>
            </a:pPr>
            <a:r>
              <a:rPr lang="de-DE" sz="1600" b="1" dirty="0">
                <a:solidFill>
                  <a:srgbClr val="900000"/>
                </a:solidFill>
                <a:latin typeface="inherit"/>
              </a:rPr>
              <a:t>Gut zu wissen</a:t>
            </a:r>
            <a:endParaRPr lang="de-DE" sz="1600" dirty="0">
              <a:solidFill>
                <a:srgbClr val="900000"/>
              </a:solidFill>
              <a:latin typeface="inherit"/>
            </a:endParaRPr>
          </a:p>
          <a:p>
            <a:pPr marL="800100" lvl="1" indent="-342900" fontAlgn="base">
              <a:buFont typeface="+mj-lt"/>
              <a:buAutoNum type="alphaLcParenR"/>
            </a:pPr>
            <a:r>
              <a:rPr lang="de-DE" sz="1600" dirty="0">
                <a:latin typeface="inherit"/>
              </a:rPr>
              <a:t>[…]</a:t>
            </a:r>
          </a:p>
          <a:p>
            <a:pPr marL="266700" indent="-266700" fontAlgn="base">
              <a:buFont typeface="+mj-lt"/>
              <a:buAutoNum type="arabicPeriod"/>
            </a:pPr>
            <a:r>
              <a:rPr lang="de-DE" sz="1600" b="1" dirty="0">
                <a:solidFill>
                  <a:srgbClr val="900000"/>
                </a:solidFill>
                <a:latin typeface="inherit"/>
              </a:rPr>
              <a:t>Strategie zum Erfolg </a:t>
            </a:r>
          </a:p>
          <a:p>
            <a:pPr marL="800100" lvl="1" indent="-342900" fontAlgn="base">
              <a:buFont typeface="+mj-lt"/>
              <a:buAutoNum type="alphaLcParenR"/>
            </a:pPr>
            <a:r>
              <a:rPr lang="de-DE" sz="1600" dirty="0">
                <a:latin typeface="inherit"/>
              </a:rPr>
              <a:t>[…]</a:t>
            </a:r>
          </a:p>
          <a:p>
            <a:pPr marL="266700" indent="-266700" fontAlgn="base">
              <a:buFont typeface="+mj-lt"/>
              <a:buAutoNum type="arabicPeriod"/>
            </a:pPr>
            <a:r>
              <a:rPr lang="de-DE" sz="1600" b="1" dirty="0">
                <a:solidFill>
                  <a:srgbClr val="900000"/>
                </a:solidFill>
                <a:latin typeface="inherit"/>
              </a:rPr>
              <a:t>Vorbereitungsmaterialen </a:t>
            </a:r>
          </a:p>
          <a:p>
            <a:pPr marL="800100" lvl="1" indent="-342900" fontAlgn="base">
              <a:buFont typeface="+mj-lt"/>
              <a:buAutoNum type="alphaLcParenR"/>
            </a:pPr>
            <a:r>
              <a:rPr lang="de-DE" sz="1600" dirty="0">
                <a:latin typeface="inherit"/>
              </a:rPr>
              <a:t>[…]</a:t>
            </a:r>
          </a:p>
        </p:txBody>
      </p:sp>
    </p:spTree>
    <p:extLst>
      <p:ext uri="{BB962C8B-B14F-4D97-AF65-F5344CB8AC3E}">
        <p14:creationId xmlns:p14="http://schemas.microsoft.com/office/powerpoint/2010/main" val="340378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459C4E2-97F2-4DB0-B2D5-E31D001B2C6C}"/>
              </a:ext>
            </a:extLst>
          </p:cNvPr>
          <p:cNvGrpSpPr/>
          <p:nvPr/>
        </p:nvGrpSpPr>
        <p:grpSpPr>
          <a:xfrm>
            <a:off x="3080176" y="1154929"/>
            <a:ext cx="2464679" cy="4772901"/>
            <a:chOff x="3282834" y="1312589"/>
            <a:chExt cx="2464679" cy="4772901"/>
          </a:xfrm>
        </p:grpSpPr>
        <p:sp>
          <p:nvSpPr>
            <p:cNvPr id="24" name="Freeform 26">
              <a:extLst>
                <a:ext uri="{FF2B5EF4-FFF2-40B4-BE49-F238E27FC236}">
                  <a16:creationId xmlns:a16="http://schemas.microsoft.com/office/drawing/2014/main" id="{BD86061F-673A-4F8C-85CE-5F92BAC6E25C}"/>
                </a:ext>
              </a:extLst>
            </p:cNvPr>
            <p:cNvSpPr>
              <a:spLocks/>
            </p:cNvSpPr>
            <p:nvPr/>
          </p:nvSpPr>
          <p:spPr bwMode="auto">
            <a:xfrm>
              <a:off x="3282834" y="2193046"/>
              <a:ext cx="2464679" cy="389244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defRPr/>
              </a:pPr>
              <a:r>
                <a:rPr lang="en-GB" sz="1300" dirty="0">
                  <a:latin typeface="Calibri" panose="020F0502020204030204" pitchFamily="34" charset="0"/>
                  <a:cs typeface="Arial" panose="020B0604020202020204" pitchFamily="34" charset="0"/>
                </a:rPr>
                <a:t>30 minutes // 12 questions</a:t>
              </a:r>
            </a:p>
            <a:p>
              <a:pPr marL="216000" lvl="2" indent="-216000">
                <a:spcAft>
                  <a:spcPts val="600"/>
                </a:spcAft>
                <a:buFont typeface="Wingdings" panose="05000000000000000000" pitchFamily="2" charset="2"/>
                <a:buChar char="§"/>
                <a:defRPr/>
              </a:pPr>
              <a:r>
                <a:rPr lang="en-GB" sz="1300" dirty="0">
                  <a:latin typeface="Calibri" panose="020F0502020204030204" pitchFamily="34" charset="0"/>
                  <a:cs typeface="Arial" panose="020B0604020202020204" pitchFamily="34" charset="0"/>
                </a:rPr>
                <a:t>1-8</a:t>
              </a:r>
            </a:p>
            <a:p>
              <a:pPr marL="216000" lvl="2" indent="-216000">
                <a:spcAft>
                  <a:spcPts val="600"/>
                </a:spcAft>
                <a:buFont typeface="Wingdings" panose="05000000000000000000" pitchFamily="2" charset="2"/>
                <a:buChar char="§"/>
                <a:defRPr/>
              </a:pPr>
              <a:r>
                <a:rPr lang="de-DE" sz="1300" dirty="0">
                  <a:latin typeface="Calibri" panose="020F0502020204030204" pitchFamily="34" charset="0"/>
                  <a:cs typeface="Arial" panose="020B0604020202020204" pitchFamily="34" charset="0"/>
                </a:rPr>
                <a:t>Graphics Interpretation: (ein oder mehreren) Linien-, Säulen- oder Mengendiagramme</a:t>
              </a:r>
            </a:p>
            <a:p>
              <a:pPr marL="216000" lvl="2" indent="-216000">
                <a:spcAft>
                  <a:spcPts val="600"/>
                </a:spcAft>
                <a:buFont typeface="Wingdings" panose="05000000000000000000" pitchFamily="2" charset="2"/>
                <a:buChar char="§"/>
                <a:defRPr/>
              </a:pPr>
              <a:r>
                <a:rPr lang="de-DE" sz="1300" dirty="0" err="1">
                  <a:latin typeface="Calibri" panose="020F0502020204030204" pitchFamily="34" charset="0"/>
                  <a:cs typeface="Arial" panose="020B0604020202020204" pitchFamily="34" charset="0"/>
                </a:rPr>
                <a:t>Two</a:t>
              </a:r>
              <a:r>
                <a:rPr lang="de-DE" sz="1300" dirty="0">
                  <a:latin typeface="Calibri" panose="020F0502020204030204" pitchFamily="34" charset="0"/>
                  <a:cs typeface="Arial" panose="020B0604020202020204" pitchFamily="34" charset="0"/>
                </a:rPr>
                <a:t>-Part Analysis: Der Testteilnehmer muss direkt zwei Antworten eingeben</a:t>
              </a:r>
            </a:p>
            <a:p>
              <a:pPr marL="216000" lvl="2" indent="-216000">
                <a:spcAft>
                  <a:spcPts val="600"/>
                </a:spcAft>
                <a:buFont typeface="Wingdings" panose="05000000000000000000" pitchFamily="2" charset="2"/>
                <a:buChar char="§"/>
                <a:defRPr/>
              </a:pPr>
              <a:r>
                <a:rPr lang="de-DE" sz="1300" dirty="0">
                  <a:latin typeface="Calibri" panose="020F0502020204030204" pitchFamily="34" charset="0"/>
                  <a:cs typeface="Arial" panose="020B0604020202020204" pitchFamily="34" charset="0"/>
                </a:rPr>
                <a:t>Table Analysis: Tabelle mit verschiedenen Daten (z.B. GDP, Arbeitslosenquote, etc.)</a:t>
              </a:r>
            </a:p>
            <a:p>
              <a:pPr marL="216000" lvl="2" indent="-216000">
                <a:spcAft>
                  <a:spcPts val="600"/>
                </a:spcAft>
                <a:buFont typeface="Wingdings" panose="05000000000000000000" pitchFamily="2" charset="2"/>
                <a:buChar char="§"/>
                <a:defRPr/>
              </a:pPr>
              <a:r>
                <a:rPr lang="de-DE" sz="1300" dirty="0">
                  <a:latin typeface="Calibri" panose="020F0502020204030204" pitchFamily="34" charset="0"/>
                  <a:cs typeface="Arial" panose="020B0604020202020204" pitchFamily="34" charset="0"/>
                </a:rPr>
                <a:t>Multi Source </a:t>
              </a:r>
              <a:r>
                <a:rPr lang="de-DE" sz="1300" dirty="0" err="1">
                  <a:latin typeface="Calibri" panose="020F0502020204030204" pitchFamily="34" charset="0"/>
                  <a:cs typeface="Arial" panose="020B0604020202020204" pitchFamily="34" charset="0"/>
                </a:rPr>
                <a:t>Reasoning</a:t>
              </a:r>
              <a:r>
                <a:rPr lang="de-DE" sz="1300" dirty="0">
                  <a:latin typeface="Calibri" panose="020F0502020204030204" pitchFamily="34" charset="0"/>
                  <a:cs typeface="Arial" panose="020B0604020202020204" pitchFamily="34" charset="0"/>
                </a:rPr>
                <a:t>: Verschiedene Aussagen zu diesem Text.</a:t>
              </a:r>
            </a:p>
          </p:txBody>
        </p:sp>
        <p:sp>
          <p:nvSpPr>
            <p:cNvPr id="27" name="AutoShape 28">
              <a:extLst>
                <a:ext uri="{FF2B5EF4-FFF2-40B4-BE49-F238E27FC236}">
                  <a16:creationId xmlns:a16="http://schemas.microsoft.com/office/drawing/2014/main" id="{E1E121C0-7F6B-4DA7-91DB-D8DB394CD56C}"/>
                </a:ext>
              </a:extLst>
            </p:cNvPr>
            <p:cNvSpPr>
              <a:spLocks noChangeArrowheads="1"/>
            </p:cNvSpPr>
            <p:nvPr/>
          </p:nvSpPr>
          <p:spPr bwMode="auto">
            <a:xfrm rot="5400000">
              <a:off x="4049545" y="545878"/>
              <a:ext cx="931258" cy="2464679"/>
            </a:xfrm>
            <a:prstGeom prst="homePlate">
              <a:avLst>
                <a:gd name="adj" fmla="val 12220"/>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en-GB" sz="1600" b="1" dirty="0">
                  <a:solidFill>
                    <a:schemeClr val="bg1"/>
                  </a:solidFill>
                  <a:latin typeface="Calibri" panose="020F0502020204030204" pitchFamily="34" charset="0"/>
                  <a:cs typeface="Arial" panose="020B0604020202020204" pitchFamily="34" charset="0"/>
                </a:rPr>
                <a:t>Integrated </a:t>
              </a:r>
            </a:p>
            <a:p>
              <a:pPr algn="ctr"/>
              <a:r>
                <a:rPr lang="en-GB" sz="1600" b="1" dirty="0">
                  <a:solidFill>
                    <a:schemeClr val="bg1"/>
                  </a:solidFill>
                  <a:latin typeface="Calibri" panose="020F0502020204030204" pitchFamily="34" charset="0"/>
                  <a:cs typeface="Arial" panose="020B0604020202020204" pitchFamily="34" charset="0"/>
                </a:rPr>
                <a:t>Reasoning</a:t>
              </a:r>
            </a:p>
          </p:txBody>
        </p:sp>
      </p:grpSp>
      <p:grpSp>
        <p:nvGrpSpPr>
          <p:cNvPr id="7" name="Group 6">
            <a:extLst>
              <a:ext uri="{FF2B5EF4-FFF2-40B4-BE49-F238E27FC236}">
                <a16:creationId xmlns:a16="http://schemas.microsoft.com/office/drawing/2014/main" id="{75B8CB54-BD91-40D9-BB5C-00BC46EA0983}"/>
              </a:ext>
            </a:extLst>
          </p:cNvPr>
          <p:cNvGrpSpPr/>
          <p:nvPr/>
        </p:nvGrpSpPr>
        <p:grpSpPr>
          <a:xfrm>
            <a:off x="5659159" y="1154930"/>
            <a:ext cx="2788855" cy="4772900"/>
            <a:chOff x="6095998" y="1312590"/>
            <a:chExt cx="2464679" cy="4772900"/>
          </a:xfrm>
        </p:grpSpPr>
        <p:sp>
          <p:nvSpPr>
            <p:cNvPr id="29" name="Freeform 26">
              <a:extLst>
                <a:ext uri="{FF2B5EF4-FFF2-40B4-BE49-F238E27FC236}">
                  <a16:creationId xmlns:a16="http://schemas.microsoft.com/office/drawing/2014/main" id="{5501C893-45B7-4D90-BFE4-0204C3B4BDD9}"/>
                </a:ext>
              </a:extLst>
            </p:cNvPr>
            <p:cNvSpPr>
              <a:spLocks/>
            </p:cNvSpPr>
            <p:nvPr/>
          </p:nvSpPr>
          <p:spPr bwMode="auto">
            <a:xfrm>
              <a:off x="6096000" y="2193046"/>
              <a:ext cx="2464676" cy="389244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62 minutes // 31 questions</a:t>
              </a:r>
            </a:p>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6-51 (in 1-point increments)</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Problem </a:t>
              </a:r>
              <a:r>
                <a:rPr lang="de-DE" sz="1300" dirty="0" err="1">
                  <a:latin typeface="Calibri" panose="020F0502020204030204" pitchFamily="34" charset="0"/>
                  <a:cs typeface="Arial" panose="020B0604020202020204" pitchFamily="34" charset="0"/>
                </a:rPr>
                <a:t>Solving</a:t>
              </a:r>
              <a:r>
                <a:rPr lang="de-DE" sz="1300" dirty="0">
                  <a:latin typeface="Calibri" panose="020F0502020204030204" pitchFamily="34" charset="0"/>
                  <a:cs typeface="Arial" panose="020B0604020202020204" pitchFamily="34" charset="0"/>
                </a:rPr>
                <a:t>: Fragestellung und das Ergebnis ausrechnen (Multiple Choice mit 5 Antwortmöglichkeiten) </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Data </a:t>
              </a:r>
              <a:r>
                <a:rPr lang="de-DE" sz="1300" dirty="0" err="1">
                  <a:latin typeface="Calibri" panose="020F0502020204030204" pitchFamily="34" charset="0"/>
                  <a:cs typeface="Arial" panose="020B0604020202020204" pitchFamily="34" charset="0"/>
                </a:rPr>
                <a:t>Sufficiency</a:t>
              </a:r>
              <a:r>
                <a:rPr lang="de-DE" sz="1300" dirty="0">
                  <a:latin typeface="Calibri" panose="020F0502020204030204" pitchFamily="34" charset="0"/>
                  <a:cs typeface="Arial" panose="020B0604020202020204" pitchFamily="34" charset="0"/>
                </a:rPr>
                <a:t>: Man  bekommt zwei verschiedene Aussagen mit unterschiedlichen Informationen sowie eine dazugehörige Frage. Ziel ist es zu bestimmen ob die gegebenen Informationen (in welcher Form auch immer) genügen um die Frage zu beantworten</a:t>
              </a:r>
              <a:endParaRPr lang="en-GB" sz="1300" dirty="0">
                <a:latin typeface="Calibri" panose="020F0502020204030204" pitchFamily="34" charset="0"/>
                <a:cs typeface="Arial" panose="020B0604020202020204" pitchFamily="34" charset="0"/>
              </a:endParaRPr>
            </a:p>
          </p:txBody>
        </p:sp>
        <p:sp>
          <p:nvSpPr>
            <p:cNvPr id="31" name="AutoShape 28">
              <a:extLst>
                <a:ext uri="{FF2B5EF4-FFF2-40B4-BE49-F238E27FC236}">
                  <a16:creationId xmlns:a16="http://schemas.microsoft.com/office/drawing/2014/main" id="{BAB8FDDA-0162-45DA-85E2-B4E6ED69103C}"/>
                </a:ext>
              </a:extLst>
            </p:cNvPr>
            <p:cNvSpPr>
              <a:spLocks noChangeArrowheads="1"/>
            </p:cNvSpPr>
            <p:nvPr/>
          </p:nvSpPr>
          <p:spPr bwMode="auto">
            <a:xfrm rot="5400000">
              <a:off x="6862708" y="545880"/>
              <a:ext cx="931259" cy="2464679"/>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en-GB" sz="1600" b="1" dirty="0">
                  <a:solidFill>
                    <a:schemeClr val="bg1"/>
                  </a:solidFill>
                  <a:latin typeface="Calibri" panose="020F0502020204030204" pitchFamily="34" charset="0"/>
                  <a:cs typeface="Arial" panose="020B0604020202020204" pitchFamily="34" charset="0"/>
                </a:rPr>
                <a:t>Quantitative </a:t>
              </a:r>
            </a:p>
            <a:p>
              <a:pPr algn="ctr"/>
              <a:r>
                <a:rPr lang="en-GB" sz="1600" b="1" dirty="0">
                  <a:solidFill>
                    <a:schemeClr val="bg1"/>
                  </a:solidFill>
                  <a:latin typeface="Calibri" panose="020F0502020204030204" pitchFamily="34" charset="0"/>
                  <a:cs typeface="Arial" panose="020B0604020202020204" pitchFamily="34" charset="0"/>
                </a:rPr>
                <a:t>Reasoning</a:t>
              </a:r>
            </a:p>
          </p:txBody>
        </p:sp>
      </p:grpSp>
      <p:grpSp>
        <p:nvGrpSpPr>
          <p:cNvPr id="8" name="Group 7">
            <a:extLst>
              <a:ext uri="{FF2B5EF4-FFF2-40B4-BE49-F238E27FC236}">
                <a16:creationId xmlns:a16="http://schemas.microsoft.com/office/drawing/2014/main" id="{CD14B2BE-0544-4CB8-A275-1EB3D314CB60}"/>
              </a:ext>
            </a:extLst>
          </p:cNvPr>
          <p:cNvGrpSpPr/>
          <p:nvPr/>
        </p:nvGrpSpPr>
        <p:grpSpPr>
          <a:xfrm>
            <a:off x="8562317" y="1154930"/>
            <a:ext cx="2788855" cy="4772900"/>
            <a:chOff x="8909164" y="1312590"/>
            <a:chExt cx="2464679" cy="4772900"/>
          </a:xfrm>
        </p:grpSpPr>
        <p:sp>
          <p:nvSpPr>
            <p:cNvPr id="34" name="Freeform 26">
              <a:extLst>
                <a:ext uri="{FF2B5EF4-FFF2-40B4-BE49-F238E27FC236}">
                  <a16:creationId xmlns:a16="http://schemas.microsoft.com/office/drawing/2014/main" id="{62B87CFF-DCBC-46DA-9849-FE73C386596E}"/>
                </a:ext>
              </a:extLst>
            </p:cNvPr>
            <p:cNvSpPr>
              <a:spLocks/>
            </p:cNvSpPr>
            <p:nvPr/>
          </p:nvSpPr>
          <p:spPr bwMode="auto">
            <a:xfrm>
              <a:off x="8909164" y="2193046"/>
              <a:ext cx="2464679" cy="389244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65 minutes // 36 questions</a:t>
              </a:r>
            </a:p>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6-51 (in 1-point increments)</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Reading </a:t>
              </a:r>
              <a:r>
                <a:rPr lang="de-DE" sz="1300" dirty="0" err="1">
                  <a:latin typeface="Calibri" panose="020F0502020204030204" pitchFamily="34" charset="0"/>
                  <a:cs typeface="Arial" panose="020B0604020202020204" pitchFamily="34" charset="0"/>
                </a:rPr>
                <a:t>Comprehension</a:t>
              </a:r>
              <a:r>
                <a:rPr lang="de-DE" sz="1300" dirty="0">
                  <a:latin typeface="Calibri" panose="020F0502020204030204" pitchFamily="34" charset="0"/>
                  <a:cs typeface="Arial" panose="020B0604020202020204" pitchFamily="34" charset="0"/>
                </a:rPr>
                <a:t>: Ein Text ist zu analysieren </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Critical </a:t>
              </a:r>
              <a:r>
                <a:rPr lang="de-DE" sz="1300" dirty="0" err="1">
                  <a:latin typeface="Calibri" panose="020F0502020204030204" pitchFamily="34" charset="0"/>
                  <a:cs typeface="Arial" panose="020B0604020202020204" pitchFamily="34" charset="0"/>
                </a:rPr>
                <a:t>Reasoning</a:t>
              </a:r>
              <a:r>
                <a:rPr lang="de-DE" sz="1300" dirty="0">
                  <a:latin typeface="Calibri" panose="020F0502020204030204" pitchFamily="34" charset="0"/>
                  <a:cs typeface="Arial" panose="020B0604020202020204" pitchFamily="34" charset="0"/>
                </a:rPr>
                <a:t>: Kurzer Text (weniger als 100 Wörter) ist kritisch zu hinterfragen </a:t>
              </a:r>
            </a:p>
            <a:p>
              <a:pPr marL="216000" lvl="2" indent="-216000">
                <a:spcAft>
                  <a:spcPts val="600"/>
                </a:spcAft>
                <a:buFont typeface="Wingdings" panose="05000000000000000000" pitchFamily="2" charset="2"/>
                <a:buChar char="§"/>
              </a:pPr>
              <a:r>
                <a:rPr lang="de-DE" sz="1300" dirty="0" err="1">
                  <a:latin typeface="Calibri" panose="020F0502020204030204" pitchFamily="34" charset="0"/>
                  <a:cs typeface="Arial" panose="020B0604020202020204" pitchFamily="34" charset="0"/>
                </a:rPr>
                <a:t>Sentence</a:t>
              </a:r>
              <a:r>
                <a:rPr lang="de-DE" sz="1300" dirty="0">
                  <a:latin typeface="Calibri" panose="020F0502020204030204" pitchFamily="34" charset="0"/>
                  <a:cs typeface="Arial" panose="020B0604020202020204" pitchFamily="34" charset="0"/>
                </a:rPr>
                <a:t> </a:t>
              </a:r>
              <a:r>
                <a:rPr lang="de-DE" sz="1300" dirty="0" err="1">
                  <a:latin typeface="Calibri" panose="020F0502020204030204" pitchFamily="34" charset="0"/>
                  <a:cs typeface="Arial" panose="020B0604020202020204" pitchFamily="34" charset="0"/>
                </a:rPr>
                <a:t>Correction</a:t>
              </a:r>
              <a:r>
                <a:rPr lang="de-DE" sz="1300" dirty="0">
                  <a:latin typeface="Calibri" panose="020F0502020204030204" pitchFamily="34" charset="0"/>
                  <a:cs typeface="Arial" panose="020B0604020202020204" pitchFamily="34" charset="0"/>
                </a:rPr>
                <a:t>: Grammatikalisch richtige Schreibweise ist herauszufinden </a:t>
              </a:r>
            </a:p>
          </p:txBody>
        </p:sp>
        <p:sp>
          <p:nvSpPr>
            <p:cNvPr id="36" name="AutoShape 28">
              <a:extLst>
                <a:ext uri="{FF2B5EF4-FFF2-40B4-BE49-F238E27FC236}">
                  <a16:creationId xmlns:a16="http://schemas.microsoft.com/office/drawing/2014/main" id="{88256CAC-B3AA-4B07-9B99-681EC66A8769}"/>
                </a:ext>
              </a:extLst>
            </p:cNvPr>
            <p:cNvSpPr>
              <a:spLocks noChangeArrowheads="1"/>
            </p:cNvSpPr>
            <p:nvPr/>
          </p:nvSpPr>
          <p:spPr bwMode="auto">
            <a:xfrm rot="5400000">
              <a:off x="9675874" y="545880"/>
              <a:ext cx="931259" cy="2464679"/>
            </a:xfrm>
            <a:prstGeom prst="homePlate">
              <a:avLst>
                <a:gd name="adj" fmla="val 12630"/>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en-GB" sz="1600" b="1" dirty="0">
                  <a:solidFill>
                    <a:schemeClr val="bg1"/>
                  </a:solidFill>
                  <a:latin typeface="Calibri" panose="020F0502020204030204" pitchFamily="34" charset="0"/>
                  <a:cs typeface="Arial" panose="020B0604020202020204" pitchFamily="34" charset="0"/>
                </a:rPr>
                <a:t>Verbal </a:t>
              </a:r>
            </a:p>
            <a:p>
              <a:pPr algn="ctr"/>
              <a:r>
                <a:rPr lang="en-GB" sz="1600" b="1" dirty="0">
                  <a:solidFill>
                    <a:schemeClr val="bg1"/>
                  </a:solidFill>
                  <a:latin typeface="Calibri" panose="020F0502020204030204" pitchFamily="34" charset="0"/>
                  <a:cs typeface="Arial" panose="020B0604020202020204" pitchFamily="34" charset="0"/>
                </a:rPr>
                <a:t>Reasoning</a:t>
              </a:r>
            </a:p>
          </p:txBody>
        </p:sp>
      </p:grpSp>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9"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en-US" dirty="0">
                <a:latin typeface="Calibri "/>
              </a:rPr>
              <a:t>Aufbau GMAT</a:t>
            </a:r>
          </a:p>
        </p:txBody>
      </p:sp>
      <p:grpSp>
        <p:nvGrpSpPr>
          <p:cNvPr id="5" name="Group 4">
            <a:extLst>
              <a:ext uri="{FF2B5EF4-FFF2-40B4-BE49-F238E27FC236}">
                <a16:creationId xmlns:a16="http://schemas.microsoft.com/office/drawing/2014/main" id="{26BE782F-4C72-4F01-942A-61E1DC66FF7D}"/>
              </a:ext>
            </a:extLst>
          </p:cNvPr>
          <p:cNvGrpSpPr/>
          <p:nvPr/>
        </p:nvGrpSpPr>
        <p:grpSpPr>
          <a:xfrm>
            <a:off x="501192" y="1154930"/>
            <a:ext cx="2464680" cy="4772900"/>
            <a:chOff x="469668" y="1312590"/>
            <a:chExt cx="2464680" cy="4772900"/>
          </a:xfrm>
        </p:grpSpPr>
        <p:sp>
          <p:nvSpPr>
            <p:cNvPr id="38" name="Freeform 26">
              <a:extLst>
                <a:ext uri="{FF2B5EF4-FFF2-40B4-BE49-F238E27FC236}">
                  <a16:creationId xmlns:a16="http://schemas.microsoft.com/office/drawing/2014/main" id="{7F0BC1E2-7551-42E5-884D-CEC179C69163}"/>
                </a:ext>
              </a:extLst>
            </p:cNvPr>
            <p:cNvSpPr>
              <a:spLocks/>
            </p:cNvSpPr>
            <p:nvPr/>
          </p:nvSpPr>
          <p:spPr bwMode="auto">
            <a:xfrm>
              <a:off x="469669" y="2193046"/>
              <a:ext cx="2464679" cy="389244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30 minutes // 1 question</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Skala von 0.0 bis 6.0 Punkten </a:t>
              </a:r>
              <a:endParaRPr lang="en-GB" sz="1300" dirty="0">
                <a:latin typeface="Calibri" panose="020F0502020204030204" pitchFamily="34" charset="0"/>
                <a:cs typeface="Arial" panose="020B0604020202020204" pitchFamily="34" charset="0"/>
              </a:endParaRPr>
            </a:p>
            <a:p>
              <a:pPr marL="216000" lvl="2" indent="-216000">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Analysis of an Argument:</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Testteilnehmer erhält einen kurzen Text sowie ein Argument, welches sich auf den Text bezieht </a:t>
              </a:r>
            </a:p>
            <a:p>
              <a:pPr marL="216000" lvl="2" indent="-216000">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Ziel ist es einen Essay zu schreiben, in dem das Argument kritisch analysiert und bewertet</a:t>
              </a:r>
              <a:endParaRPr lang="en-GB" sz="1300" dirty="0">
                <a:latin typeface="Calibri" panose="020F0502020204030204" pitchFamily="34" charset="0"/>
                <a:cs typeface="Arial" panose="020B0604020202020204" pitchFamily="34" charset="0"/>
              </a:endParaRPr>
            </a:p>
          </p:txBody>
        </p:sp>
        <p:sp>
          <p:nvSpPr>
            <p:cNvPr id="39" name="AutoShape 28">
              <a:extLst>
                <a:ext uri="{FF2B5EF4-FFF2-40B4-BE49-F238E27FC236}">
                  <a16:creationId xmlns:a16="http://schemas.microsoft.com/office/drawing/2014/main" id="{4625D4FD-61C2-41D9-8714-6C86D4997BFD}"/>
                </a:ext>
              </a:extLst>
            </p:cNvPr>
            <p:cNvSpPr>
              <a:spLocks noChangeArrowheads="1"/>
            </p:cNvSpPr>
            <p:nvPr/>
          </p:nvSpPr>
          <p:spPr bwMode="auto">
            <a:xfrm rot="5400000">
              <a:off x="1236378" y="545880"/>
              <a:ext cx="931259" cy="2464679"/>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en-GB" sz="1600" b="1" dirty="0">
                  <a:solidFill>
                    <a:schemeClr val="bg1"/>
                  </a:solidFill>
                  <a:latin typeface="Calibri" panose="020F0502020204030204" pitchFamily="34" charset="0"/>
                  <a:cs typeface="Arial" panose="020B0604020202020204" pitchFamily="34" charset="0"/>
                </a:rPr>
                <a:t>Analytical Writing </a:t>
              </a:r>
            </a:p>
            <a:p>
              <a:pPr algn="ctr"/>
              <a:r>
                <a:rPr lang="en-GB" sz="1600" b="1" dirty="0">
                  <a:solidFill>
                    <a:schemeClr val="bg1"/>
                  </a:solidFill>
                  <a:latin typeface="Calibri" panose="020F0502020204030204" pitchFamily="34" charset="0"/>
                  <a:cs typeface="Arial" panose="020B0604020202020204" pitchFamily="34" charset="0"/>
                </a:rPr>
                <a:t>Assessment (AWA)</a:t>
              </a:r>
            </a:p>
          </p:txBody>
        </p:sp>
      </p:grpSp>
      <p:sp>
        <p:nvSpPr>
          <p:cNvPr id="9" name="Rectangle 8">
            <a:extLst>
              <a:ext uri="{FF2B5EF4-FFF2-40B4-BE49-F238E27FC236}">
                <a16:creationId xmlns:a16="http://schemas.microsoft.com/office/drawing/2014/main" id="{9A2A6F2C-B709-4435-9595-A66E9CB4BA47}"/>
              </a:ext>
            </a:extLst>
          </p:cNvPr>
          <p:cNvSpPr/>
          <p:nvPr/>
        </p:nvSpPr>
        <p:spPr>
          <a:xfrm>
            <a:off x="5611860" y="1123395"/>
            <a:ext cx="5760000" cy="5135515"/>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de-DE" sz="2000" b="1" i="1" dirty="0">
                <a:solidFill>
                  <a:srgbClr val="C00000"/>
                </a:solidFill>
              </a:rPr>
              <a:t>Fokusbereich  </a:t>
            </a:r>
            <a:endParaRPr lang="en-US" sz="2000" b="1" i="1" dirty="0">
              <a:solidFill>
                <a:srgbClr val="C00000"/>
              </a:solidFill>
            </a:endParaRPr>
          </a:p>
        </p:txBody>
      </p:sp>
    </p:spTree>
    <p:extLst>
      <p:ext uri="{BB962C8B-B14F-4D97-AF65-F5344CB8AC3E}">
        <p14:creationId xmlns:p14="http://schemas.microsoft.com/office/powerpoint/2010/main" val="285678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57"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en-US" dirty="0">
                <a:latin typeface="Calibri "/>
              </a:rPr>
              <a:t>Quantitative Reasoning – Illustrative </a:t>
            </a:r>
            <a:r>
              <a:rPr lang="en-US" dirty="0" err="1">
                <a:latin typeface="Calibri "/>
              </a:rPr>
              <a:t>Fragen</a:t>
            </a:r>
            <a:r>
              <a:rPr lang="en-US" dirty="0">
                <a:latin typeface="Calibri "/>
              </a:rPr>
              <a:t> </a:t>
            </a:r>
          </a:p>
        </p:txBody>
      </p:sp>
      <p:sp>
        <p:nvSpPr>
          <p:cNvPr id="29" name="Freeform 26">
            <a:extLst>
              <a:ext uri="{FF2B5EF4-FFF2-40B4-BE49-F238E27FC236}">
                <a16:creationId xmlns:a16="http://schemas.microsoft.com/office/drawing/2014/main" id="{5501C893-45B7-4D90-BFE4-0204C3B4BDD9}"/>
              </a:ext>
            </a:extLst>
          </p:cNvPr>
          <p:cNvSpPr>
            <a:spLocks/>
          </p:cNvSpPr>
          <p:nvPr/>
        </p:nvSpPr>
        <p:spPr bwMode="auto">
          <a:xfrm>
            <a:off x="6125330" y="1595721"/>
            <a:ext cx="5412246" cy="4634749"/>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The activism of state citizens, who have demanded safer road conditions as well as stiffer penalties for intoxicated drivers, have lead to a significant decrease in the number of traffic accidents.</a:t>
            </a:r>
          </a:p>
          <a:p>
            <a:pPr marL="0" lvl="2">
              <a:spcAft>
                <a:spcPts val="600"/>
              </a:spcAft>
            </a:pPr>
            <a:r>
              <a:rPr lang="en-US" sz="1000" i="1" dirty="0">
                <a:latin typeface="Calibri" panose="020F0502020204030204" pitchFamily="34" charset="0"/>
                <a:cs typeface="Arial" panose="020B0604020202020204" pitchFamily="34" charset="0"/>
              </a:rPr>
              <a:t>Directions: The following questions consist of sentences that are either partly or entirely underlined. Select the answer choice that represents the best revision of the underlined text. Choice A duplicates the original version. If the original seems better than any of the revisions, then choose it.</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1000" dirty="0">
                <a:latin typeface="Calibri" panose="020F0502020204030204" pitchFamily="34" charset="0"/>
                <a:cs typeface="Arial" panose="020B0604020202020204" pitchFamily="34" charset="0"/>
              </a:rPr>
              <a:t>A. have lead to a significant decrease in the number</a:t>
            </a:r>
          </a:p>
          <a:p>
            <a:pPr marL="0" lvl="2">
              <a:spcAft>
                <a:spcPts val="600"/>
              </a:spcAft>
            </a:pPr>
            <a:r>
              <a:rPr lang="en-US" sz="1000" dirty="0">
                <a:latin typeface="Calibri" panose="020F0502020204030204" pitchFamily="34" charset="0"/>
                <a:cs typeface="Arial" panose="020B0604020202020204" pitchFamily="34" charset="0"/>
              </a:rPr>
              <a:t>B. have lead to significant decreases in the number</a:t>
            </a:r>
          </a:p>
          <a:p>
            <a:pPr marL="0" lvl="2">
              <a:spcAft>
                <a:spcPts val="600"/>
              </a:spcAft>
            </a:pPr>
            <a:r>
              <a:rPr lang="en-US" sz="1000" dirty="0">
                <a:latin typeface="Calibri" panose="020F0502020204030204" pitchFamily="34" charset="0"/>
                <a:cs typeface="Arial" panose="020B0604020202020204" pitchFamily="34" charset="0"/>
              </a:rPr>
              <a:t>C. has lead to a significant decrease in the number</a:t>
            </a:r>
          </a:p>
          <a:p>
            <a:pPr marL="0" lvl="2">
              <a:spcAft>
                <a:spcPts val="600"/>
              </a:spcAft>
            </a:pPr>
            <a:r>
              <a:rPr lang="en-US" sz="1000" dirty="0">
                <a:latin typeface="Calibri" panose="020F0502020204030204" pitchFamily="34" charset="0"/>
                <a:cs typeface="Arial" panose="020B0604020202020204" pitchFamily="34" charset="0"/>
              </a:rPr>
              <a:t>D. has been significant in the decrease in the number</a:t>
            </a:r>
          </a:p>
          <a:p>
            <a:pPr marL="0" lvl="2">
              <a:spcAft>
                <a:spcPts val="600"/>
              </a:spcAft>
            </a:pPr>
            <a:r>
              <a:rPr lang="en-US" sz="1000" dirty="0">
                <a:latin typeface="Calibri" panose="020F0502020204030204" pitchFamily="34" charset="0"/>
                <a:cs typeface="Arial" panose="020B0604020202020204" pitchFamily="34" charset="0"/>
              </a:rPr>
              <a:t>E. has significantly decreased the number</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(C)</a:t>
            </a:r>
          </a:p>
          <a:p>
            <a:pPr marL="0" lvl="2">
              <a:spcAft>
                <a:spcPts val="600"/>
              </a:spcAft>
            </a:pPr>
            <a:r>
              <a:rPr lang="en-US" sz="800" i="1" dirty="0">
                <a:latin typeface="Calibri" panose="020F0502020204030204" pitchFamily="34" charset="0"/>
                <a:cs typeface="Arial" panose="020B0604020202020204" pitchFamily="34" charset="0"/>
              </a:rPr>
              <a:t>Ignoring the long modifying phrase set off between commas, we see that the subject of this sentence is “activism,” making the singular verb "has" correct, so (A) and (B) are out. There's also a choice between “number" and "amount" at the ends of the answer choices. Because traffic accidents are countable, the correct word to use is "number," so (E) is out. Finally, (D) is wordy and a bit awkward (“has been significant in the decrease in"), and it changes the meaning of the sentence. (C) is therefore the correct answer.</a:t>
            </a:r>
          </a:p>
          <a:p>
            <a:pPr marL="0" lvl="2">
              <a:spcAft>
                <a:spcPts val="600"/>
              </a:spcAft>
            </a:pPr>
            <a:r>
              <a:rPr lang="en-US" sz="800" i="1" dirty="0">
                <a:latin typeface="Calibri" panose="020F0502020204030204" pitchFamily="34" charset="0"/>
                <a:cs typeface="Arial" panose="020B0604020202020204" pitchFamily="34" charset="0"/>
              </a:rPr>
              <a:t>Source: https://www.kaptest.co.uk/gmat/resources/sample-questions/sentence-correction</a:t>
            </a:r>
            <a:endParaRPr lang="en-GB" sz="800" dirty="0">
              <a:latin typeface="Calibri" panose="020F0502020204030204" pitchFamily="34" charset="0"/>
              <a:cs typeface="Arial" panose="020B0604020202020204" pitchFamily="34" charset="0"/>
            </a:endParaRPr>
          </a:p>
        </p:txBody>
      </p:sp>
      <p:sp>
        <p:nvSpPr>
          <p:cNvPr id="38" name="Freeform 26">
            <a:extLst>
              <a:ext uri="{FF2B5EF4-FFF2-40B4-BE49-F238E27FC236}">
                <a16:creationId xmlns:a16="http://schemas.microsoft.com/office/drawing/2014/main" id="{7F0BC1E2-7551-42E5-884D-CEC179C69163}"/>
              </a:ext>
            </a:extLst>
          </p:cNvPr>
          <p:cNvSpPr>
            <a:spLocks/>
          </p:cNvSpPr>
          <p:nvPr/>
        </p:nvSpPr>
        <p:spPr bwMode="auto">
          <a:xfrm>
            <a:off x="501194" y="1595721"/>
            <a:ext cx="5410800" cy="4634749"/>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A code is to be made by arranging 7 letters. Three of the letters used will be the letter A, two of the letters used will be the letter B, one of the letters used will be the letter C, and one of the letters used will be the letter D. If there is only one way to present each letter, how many different codes are possible?</a:t>
            </a:r>
          </a:p>
          <a:p>
            <a:pPr marL="0" lvl="2">
              <a:spcAft>
                <a:spcPts val="600"/>
              </a:spcAft>
            </a:pPr>
            <a:r>
              <a:rPr lang="en-US" sz="1000" dirty="0">
                <a:latin typeface="Calibri" panose="020F0502020204030204" pitchFamily="34" charset="0"/>
                <a:cs typeface="Arial" panose="020B0604020202020204" pitchFamily="34" charset="0"/>
              </a:rPr>
              <a:t>A. 42</a:t>
            </a:r>
          </a:p>
          <a:p>
            <a:pPr marL="0" lvl="2">
              <a:spcAft>
                <a:spcPts val="600"/>
              </a:spcAft>
            </a:pPr>
            <a:r>
              <a:rPr lang="en-US" sz="1000" dirty="0">
                <a:latin typeface="Calibri" panose="020F0502020204030204" pitchFamily="34" charset="0"/>
                <a:cs typeface="Arial" panose="020B0604020202020204" pitchFamily="34" charset="0"/>
              </a:rPr>
              <a:t>B. 210</a:t>
            </a:r>
          </a:p>
          <a:p>
            <a:pPr marL="0" lvl="2">
              <a:spcAft>
                <a:spcPts val="600"/>
              </a:spcAft>
            </a:pPr>
            <a:r>
              <a:rPr lang="en-US" sz="1000" dirty="0">
                <a:latin typeface="Calibri" panose="020F0502020204030204" pitchFamily="34" charset="0"/>
                <a:cs typeface="Arial" panose="020B0604020202020204" pitchFamily="34" charset="0"/>
              </a:rPr>
              <a:t>C. 420</a:t>
            </a:r>
          </a:p>
          <a:p>
            <a:pPr marL="0" lvl="2">
              <a:spcAft>
                <a:spcPts val="600"/>
              </a:spcAft>
            </a:pPr>
            <a:r>
              <a:rPr lang="en-US" sz="1000" dirty="0">
                <a:latin typeface="Calibri" panose="020F0502020204030204" pitchFamily="34" charset="0"/>
                <a:cs typeface="Arial" panose="020B0604020202020204" pitchFamily="34" charset="0"/>
              </a:rPr>
              <a:t>D. 840</a:t>
            </a:r>
          </a:p>
          <a:p>
            <a:pPr marL="0" lvl="2">
              <a:spcAft>
                <a:spcPts val="600"/>
              </a:spcAft>
            </a:pPr>
            <a:r>
              <a:rPr lang="en-US" sz="1000" dirty="0">
                <a:latin typeface="Calibri" panose="020F0502020204030204" pitchFamily="34" charset="0"/>
                <a:cs typeface="Arial" panose="020B0604020202020204" pitchFamily="34" charset="0"/>
              </a:rPr>
              <a:t>E. 5,040</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(C)</a:t>
            </a:r>
          </a:p>
          <a:p>
            <a:pPr marL="0" lvl="2">
              <a:spcAft>
                <a:spcPts val="600"/>
              </a:spcAft>
            </a:pPr>
            <a:r>
              <a:rPr lang="en-US" sz="800" b="1" i="1" u="sng" dirty="0">
                <a:latin typeface="Calibri" panose="020F0502020204030204" pitchFamily="34" charset="0"/>
                <a:cs typeface="Arial" panose="020B0604020202020204" pitchFamily="34" charset="0"/>
              </a:rPr>
              <a:t>Step 1: Analyze the Question</a:t>
            </a:r>
          </a:p>
          <a:p>
            <a:pPr marL="0" lvl="2">
              <a:spcAft>
                <a:spcPts val="600"/>
              </a:spcAft>
            </a:pPr>
            <a:r>
              <a:rPr lang="en-US" sz="800" i="1" dirty="0">
                <a:latin typeface="Calibri" panose="020F0502020204030204" pitchFamily="34" charset="0"/>
                <a:cs typeface="Arial" panose="020B0604020202020204" pitchFamily="34" charset="0"/>
              </a:rPr>
              <a:t>We have to make a seven-letter code, but some of our letters are repeated. We have three As two Bs, one C, and one D. We have to calculate the possible number of different codes.</a:t>
            </a:r>
          </a:p>
          <a:p>
            <a:pPr marL="0" lvl="2">
              <a:spcAft>
                <a:spcPts val="600"/>
              </a:spcAft>
            </a:pPr>
            <a:r>
              <a:rPr lang="en-US" sz="800" b="1" i="1" u="sng" dirty="0">
                <a:latin typeface="Calibri" panose="020F0502020204030204" pitchFamily="34" charset="0"/>
                <a:cs typeface="Arial" panose="020B0604020202020204" pitchFamily="34" charset="0"/>
              </a:rPr>
              <a:t>Step 2: State the Task</a:t>
            </a:r>
            <a:endParaRPr lang="en-US" sz="800" i="1"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We'll calculate the number of permutations, remembering to take the repeated letters into account.</a:t>
            </a:r>
          </a:p>
          <a:p>
            <a:pPr marL="0" lvl="2">
              <a:spcAft>
                <a:spcPts val="600"/>
              </a:spcAft>
            </a:pPr>
            <a:r>
              <a:rPr lang="en-US" sz="800" b="1" i="1" u="sng" dirty="0">
                <a:latin typeface="Calibri" panose="020F0502020204030204" pitchFamily="34" charset="0"/>
                <a:cs typeface="Arial" panose="020B0604020202020204" pitchFamily="34" charset="0"/>
              </a:rPr>
              <a:t>Step 3: Approach Strategically</a:t>
            </a:r>
          </a:p>
          <a:p>
            <a:pPr marL="0" lvl="2">
              <a:spcAft>
                <a:spcPts val="600"/>
              </a:spcAft>
            </a:pPr>
            <a:r>
              <a:rPr lang="en-US" sz="800" i="1" dirty="0">
                <a:latin typeface="Calibri" panose="020F0502020204030204" pitchFamily="34" charset="0"/>
                <a:cs typeface="Arial" panose="020B0604020202020204" pitchFamily="34" charset="0"/>
              </a:rPr>
              <a:t>To calculate the number of permutations where some of the elements are indistinguishable, we'll divide the total number of permutations by the factorial of the number of indistinguishable elements.</a:t>
            </a:r>
          </a:p>
          <a:p>
            <a:pPr marL="0" lvl="2">
              <a:spcAft>
                <a:spcPts val="600"/>
              </a:spcAft>
            </a:pPr>
            <a:r>
              <a:rPr lang="en-US" sz="800" i="1" dirty="0">
                <a:latin typeface="Calibri" panose="020F0502020204030204" pitchFamily="34" charset="0"/>
                <a:cs typeface="Arial" panose="020B0604020202020204" pitchFamily="34" charset="0"/>
              </a:rPr>
              <a:t>So we have:</a:t>
            </a:r>
          </a:p>
          <a:p>
            <a:pPr marL="0" lvl="2">
              <a:spcAft>
                <a:spcPts val="600"/>
              </a:spcAft>
            </a:pPr>
            <a:endParaRPr lang="en-US" sz="800" i="1" dirty="0">
              <a:latin typeface="Calibri" panose="020F0502020204030204" pitchFamily="34" charset="0"/>
              <a:cs typeface="Arial" panose="020B0604020202020204" pitchFamily="34" charset="0"/>
            </a:endParaRPr>
          </a:p>
          <a:p>
            <a:pPr marL="0" lvl="2">
              <a:spcAft>
                <a:spcPts val="600"/>
              </a:spcAft>
            </a:pPr>
            <a:endParaRPr lang="en-US" sz="800" i="1"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Source: https://www.kaptest.co.uk/gmat/resources/sample-questions/problem-solving</a:t>
            </a:r>
          </a:p>
        </p:txBody>
      </p:sp>
      <p:sp>
        <p:nvSpPr>
          <p:cNvPr id="39" name="AutoShape 28">
            <a:extLst>
              <a:ext uri="{FF2B5EF4-FFF2-40B4-BE49-F238E27FC236}">
                <a16:creationId xmlns:a16="http://schemas.microsoft.com/office/drawing/2014/main" id="{4625D4FD-61C2-41D9-8714-6C86D4997BFD}"/>
              </a:ext>
            </a:extLst>
          </p:cNvPr>
          <p:cNvSpPr>
            <a:spLocks noChangeArrowheads="1"/>
          </p:cNvSpPr>
          <p:nvPr/>
        </p:nvSpPr>
        <p:spPr bwMode="auto">
          <a:xfrm rot="5400000">
            <a:off x="2986198" y="-1330074"/>
            <a:ext cx="440791" cy="5410800"/>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Problem </a:t>
            </a:r>
            <a:r>
              <a:rPr lang="de-DE" sz="1600" b="1" dirty="0" err="1">
                <a:solidFill>
                  <a:schemeClr val="bg1"/>
                </a:solidFill>
                <a:latin typeface="Calibri" panose="020F0502020204030204" pitchFamily="34" charset="0"/>
                <a:cs typeface="Arial" panose="020B0604020202020204" pitchFamily="34" charset="0"/>
              </a:rPr>
              <a:t>Solving</a:t>
            </a:r>
            <a:r>
              <a:rPr lang="de-DE" sz="1600" b="1" dirty="0">
                <a:solidFill>
                  <a:schemeClr val="bg1"/>
                </a:solidFill>
                <a:latin typeface="Calibri" panose="020F0502020204030204" pitchFamily="34" charset="0"/>
                <a:cs typeface="Arial" panose="020B0604020202020204" pitchFamily="34" charset="0"/>
              </a:rPr>
              <a:t> (1)</a:t>
            </a:r>
            <a:endParaRPr lang="en-GB" sz="1600" b="1" dirty="0">
              <a:solidFill>
                <a:schemeClr val="bg1"/>
              </a:solidFill>
              <a:latin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7BD717C-4E05-4CC9-925D-764371D96EDD}"/>
              </a:ext>
            </a:extLst>
          </p:cNvPr>
          <p:cNvPicPr>
            <a:picLocks noChangeAspect="1"/>
          </p:cNvPicPr>
          <p:nvPr/>
        </p:nvPicPr>
        <p:blipFill>
          <a:blip r:embed="rId7"/>
          <a:stretch>
            <a:fillRect/>
          </a:stretch>
        </p:blipFill>
        <p:spPr>
          <a:xfrm>
            <a:off x="554982" y="5678699"/>
            <a:ext cx="1614490" cy="338138"/>
          </a:xfrm>
          <a:prstGeom prst="rect">
            <a:avLst/>
          </a:prstGeom>
        </p:spPr>
      </p:pic>
      <p:sp>
        <p:nvSpPr>
          <p:cNvPr id="13" name="AutoShape 28">
            <a:extLst>
              <a:ext uri="{FF2B5EF4-FFF2-40B4-BE49-F238E27FC236}">
                <a16:creationId xmlns:a16="http://schemas.microsoft.com/office/drawing/2014/main" id="{ED42A44D-692E-486A-9F62-A1E4C7A2BB6E}"/>
              </a:ext>
            </a:extLst>
          </p:cNvPr>
          <p:cNvSpPr>
            <a:spLocks noChangeArrowheads="1"/>
          </p:cNvSpPr>
          <p:nvPr/>
        </p:nvSpPr>
        <p:spPr bwMode="auto">
          <a:xfrm rot="5400000">
            <a:off x="8611780" y="-1330074"/>
            <a:ext cx="440791" cy="5410800"/>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Problem </a:t>
            </a:r>
            <a:r>
              <a:rPr lang="de-DE" sz="1600" b="1" dirty="0" err="1">
                <a:solidFill>
                  <a:schemeClr val="bg1"/>
                </a:solidFill>
                <a:latin typeface="Calibri" panose="020F0502020204030204" pitchFamily="34" charset="0"/>
                <a:cs typeface="Arial" panose="020B0604020202020204" pitchFamily="34" charset="0"/>
              </a:rPr>
              <a:t>Solving</a:t>
            </a:r>
            <a:r>
              <a:rPr lang="de-DE" sz="1600" b="1" dirty="0">
                <a:solidFill>
                  <a:schemeClr val="bg1"/>
                </a:solidFill>
                <a:latin typeface="Calibri" panose="020F0502020204030204" pitchFamily="34" charset="0"/>
                <a:cs typeface="Arial" panose="020B0604020202020204" pitchFamily="34" charset="0"/>
              </a:rPr>
              <a:t> (2)</a:t>
            </a:r>
            <a:endParaRPr lang="en-GB" sz="1600" b="1" dirty="0">
              <a:solidFill>
                <a:schemeClr val="bg1"/>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28287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437"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825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en-US" dirty="0">
                <a:latin typeface="Calibri "/>
              </a:rPr>
              <a:t>Quantitative Reasoning – Illustrative </a:t>
            </a:r>
            <a:r>
              <a:rPr lang="en-US" dirty="0" err="1">
                <a:latin typeface="Calibri "/>
              </a:rPr>
              <a:t>Fragen</a:t>
            </a:r>
            <a:r>
              <a:rPr lang="en-US" dirty="0">
                <a:latin typeface="Calibri "/>
              </a:rPr>
              <a:t> (Cont’d) </a:t>
            </a:r>
          </a:p>
        </p:txBody>
      </p:sp>
      <p:sp>
        <p:nvSpPr>
          <p:cNvPr id="29" name="Freeform 26">
            <a:extLst>
              <a:ext uri="{FF2B5EF4-FFF2-40B4-BE49-F238E27FC236}">
                <a16:creationId xmlns:a16="http://schemas.microsoft.com/office/drawing/2014/main" id="{5501C893-45B7-4D90-BFE4-0204C3B4BDD9}"/>
              </a:ext>
            </a:extLst>
          </p:cNvPr>
          <p:cNvSpPr>
            <a:spLocks/>
          </p:cNvSpPr>
          <p:nvPr/>
        </p:nvSpPr>
        <p:spPr bwMode="auto">
          <a:xfrm>
            <a:off x="6125330" y="2653553"/>
            <a:ext cx="5412246" cy="3576917"/>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If a coffee shop sold 600 cups of coffee, some of which were large cups and the remainder of which were small cups, what was the revenue that the coffee shop earned from the sale of coffee?</a:t>
            </a:r>
          </a:p>
          <a:p>
            <a:pPr marL="0" lvl="2">
              <a:spcAft>
                <a:spcPts val="600"/>
              </a:spcAft>
            </a:pPr>
            <a:r>
              <a:rPr lang="en-US" sz="1000" dirty="0">
                <a:latin typeface="Calibri" panose="020F0502020204030204" pitchFamily="34" charset="0"/>
                <a:cs typeface="Arial" panose="020B0604020202020204" pitchFamily="34" charset="0"/>
              </a:rPr>
              <a:t>(1) The number of large cups sold was 3/5 the total number of small cups sold.</a:t>
            </a:r>
          </a:p>
          <a:p>
            <a:pPr marL="0" lvl="2">
              <a:spcAft>
                <a:spcPts val="600"/>
              </a:spcAft>
            </a:pPr>
            <a:r>
              <a:rPr lang="en-US" sz="1000" dirty="0">
                <a:latin typeface="Calibri" panose="020F0502020204030204" pitchFamily="34" charset="0"/>
                <a:cs typeface="Arial" panose="020B0604020202020204" pitchFamily="34" charset="0"/>
              </a:rPr>
              <a:t>(2) The price of a small cup of coffee was $1.50.</a:t>
            </a:r>
          </a:p>
          <a:p>
            <a:pPr marL="0" lvl="2">
              <a:spcAft>
                <a:spcPts val="600"/>
              </a:spcAft>
            </a:pPr>
            <a:r>
              <a:rPr lang="en-US" sz="1000" dirty="0">
                <a:latin typeface="Calibri" panose="020F0502020204030204" pitchFamily="34" charset="0"/>
                <a:cs typeface="Arial" panose="020B0604020202020204" pitchFamily="34" charset="0"/>
              </a:rPr>
              <a:t>A, B, C, D or E</a:t>
            </a:r>
          </a:p>
          <a:p>
            <a:pPr marL="0" lvl="2"/>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(E)</a:t>
            </a:r>
          </a:p>
          <a:p>
            <a:pPr marL="0" lvl="2">
              <a:spcAft>
                <a:spcPts val="600"/>
              </a:spcAft>
            </a:pPr>
            <a:r>
              <a:rPr lang="en-US" sz="800" i="1" dirty="0">
                <a:latin typeface="Calibri" panose="020F0502020204030204" pitchFamily="34" charset="0"/>
                <a:cs typeface="Arial" panose="020B0604020202020204" pitchFamily="34" charset="0"/>
              </a:rPr>
              <a:t>This is a Value question. Simplifying a word problem essentially entails understanding the situation, allowing us to figure out what variables would need to be calculated in order to answer the question. This coffee shop sells two sizes of coffee, and we are asked to determine its revenue. To answer this question, we need to ascertain both how many cups of each size were sold and the price of each size of cup.</a:t>
            </a:r>
          </a:p>
          <a:p>
            <a:pPr marL="0" lvl="2">
              <a:spcAft>
                <a:spcPts val="600"/>
              </a:spcAft>
            </a:pPr>
            <a:r>
              <a:rPr lang="en-US" sz="800" i="1" dirty="0">
                <a:latin typeface="Calibri" panose="020F0502020204030204" pitchFamily="34" charset="0"/>
                <a:cs typeface="Arial" panose="020B0604020202020204" pitchFamily="34" charset="0"/>
              </a:rPr>
              <a:t>Statement (1) has no pricing information at all. We can eliminate (A) and (D) as potential answers. Even though we could create an equation that, when combined with the stimulus, would tell us the number of cups of each size that were sold, doing so would be a waste of time-we already know that Statement (1) is insufficient, so there's no point in working further.</a:t>
            </a:r>
          </a:p>
          <a:p>
            <a:pPr marL="0" lvl="2">
              <a:spcAft>
                <a:spcPts val="600"/>
              </a:spcAft>
            </a:pPr>
            <a:r>
              <a:rPr lang="en-US" sz="800" i="1" dirty="0">
                <a:latin typeface="Calibri" panose="020F0502020204030204" pitchFamily="34" charset="0"/>
                <a:cs typeface="Arial" panose="020B0604020202020204" pitchFamily="34" charset="0"/>
              </a:rPr>
              <a:t>Statement (2) tells us the price of one size-small. This is insufficient because it tells us nothing about the price of the large cup or about the number of cups sold. We can now eliminate (B).</a:t>
            </a:r>
          </a:p>
          <a:p>
            <a:pPr marL="0" lvl="2">
              <a:spcAft>
                <a:spcPts val="600"/>
              </a:spcAft>
            </a:pPr>
            <a:r>
              <a:rPr lang="en-US" sz="800" i="1" dirty="0">
                <a:latin typeface="Calibri" panose="020F0502020204030204" pitchFamily="34" charset="0"/>
                <a:cs typeface="Arial" panose="020B0604020202020204" pitchFamily="34" charset="0"/>
              </a:rPr>
              <a:t>Because each statement alone is insufficient, we now combine both statements to determine whether they are sufficient together. Combined, we still know nothing about the price of a large cup. A crucial piece of data is missing, so the two statements combined are insufficient to answer the question. Eliminate (C). The correct answer is (E).</a:t>
            </a:r>
          </a:p>
          <a:p>
            <a:pPr marL="0" lvl="2">
              <a:spcAft>
                <a:spcPts val="600"/>
              </a:spcAft>
            </a:pPr>
            <a:r>
              <a:rPr lang="en-US" sz="800" i="1" dirty="0">
                <a:latin typeface="Calibri" panose="020F0502020204030204" pitchFamily="34" charset="0"/>
                <a:cs typeface="Arial" panose="020B0604020202020204" pitchFamily="34" charset="0"/>
              </a:rPr>
              <a:t>Source: Source: https://www.kaptest.co.uk/gmat/resources/sample-questions/data-sufficiency</a:t>
            </a:r>
          </a:p>
        </p:txBody>
      </p:sp>
      <p:sp>
        <p:nvSpPr>
          <p:cNvPr id="31" name="AutoShape 28">
            <a:extLst>
              <a:ext uri="{FF2B5EF4-FFF2-40B4-BE49-F238E27FC236}">
                <a16:creationId xmlns:a16="http://schemas.microsoft.com/office/drawing/2014/main" id="{BAB8FDDA-0162-45DA-85E2-B4E6ED69103C}"/>
              </a:ext>
            </a:extLst>
          </p:cNvPr>
          <p:cNvSpPr>
            <a:spLocks noChangeArrowheads="1"/>
          </p:cNvSpPr>
          <p:nvPr/>
        </p:nvSpPr>
        <p:spPr bwMode="auto">
          <a:xfrm rot="5400000">
            <a:off x="8611056" y="-1330801"/>
            <a:ext cx="440791" cy="5412253"/>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Data </a:t>
            </a:r>
            <a:r>
              <a:rPr lang="de-DE" sz="1600" b="1" dirty="0" err="1">
                <a:solidFill>
                  <a:schemeClr val="bg1"/>
                </a:solidFill>
                <a:latin typeface="Calibri" panose="020F0502020204030204" pitchFamily="34" charset="0"/>
                <a:cs typeface="Arial" panose="020B0604020202020204" pitchFamily="34" charset="0"/>
              </a:rPr>
              <a:t>Sufficiency</a:t>
            </a:r>
            <a:r>
              <a:rPr lang="de-DE" sz="1600" b="1" dirty="0">
                <a:solidFill>
                  <a:schemeClr val="bg1"/>
                </a:solidFill>
                <a:latin typeface="Calibri" panose="020F0502020204030204" pitchFamily="34" charset="0"/>
                <a:cs typeface="Arial" panose="020B0604020202020204" pitchFamily="34" charset="0"/>
              </a:rPr>
              <a:t> (2)</a:t>
            </a:r>
            <a:endParaRPr lang="en-GB" sz="1600" b="1" dirty="0">
              <a:solidFill>
                <a:schemeClr val="bg1"/>
              </a:solidFill>
              <a:latin typeface="Calibri" panose="020F0502020204030204" pitchFamily="34" charset="0"/>
              <a:cs typeface="Arial" panose="020B0604020202020204" pitchFamily="34" charset="0"/>
            </a:endParaRPr>
          </a:p>
        </p:txBody>
      </p:sp>
      <p:sp>
        <p:nvSpPr>
          <p:cNvPr id="38" name="Freeform 26">
            <a:extLst>
              <a:ext uri="{FF2B5EF4-FFF2-40B4-BE49-F238E27FC236}">
                <a16:creationId xmlns:a16="http://schemas.microsoft.com/office/drawing/2014/main" id="{7F0BC1E2-7551-42E5-884D-CEC179C69163}"/>
              </a:ext>
            </a:extLst>
          </p:cNvPr>
          <p:cNvSpPr>
            <a:spLocks/>
          </p:cNvSpPr>
          <p:nvPr/>
        </p:nvSpPr>
        <p:spPr bwMode="auto">
          <a:xfrm>
            <a:off x="501194" y="2653553"/>
            <a:ext cx="5410800" cy="3576917"/>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If 2b - a2 = 18, what is the value of b?</a:t>
            </a:r>
          </a:p>
          <a:p>
            <a:pPr marL="0" lvl="2">
              <a:spcAft>
                <a:spcPts val="600"/>
              </a:spcAft>
            </a:pPr>
            <a:r>
              <a:rPr lang="en-US" sz="1000" dirty="0">
                <a:latin typeface="Calibri" panose="020F0502020204030204" pitchFamily="34" charset="0"/>
                <a:cs typeface="Arial" panose="020B0604020202020204" pitchFamily="34" charset="0"/>
              </a:rPr>
              <a:t>(1) a2 = 1,156</a:t>
            </a:r>
          </a:p>
          <a:p>
            <a:pPr marL="0" lvl="2">
              <a:spcAft>
                <a:spcPts val="600"/>
              </a:spcAft>
            </a:pPr>
            <a:r>
              <a:rPr lang="en-US" sz="1000" dirty="0">
                <a:latin typeface="Calibri" panose="020F0502020204030204" pitchFamily="34" charset="0"/>
                <a:cs typeface="Arial" panose="020B0604020202020204" pitchFamily="34" charset="0"/>
              </a:rPr>
              <a:t>(2) a &gt; 0</a:t>
            </a:r>
          </a:p>
          <a:p>
            <a:pPr marL="0" lvl="2">
              <a:spcAft>
                <a:spcPts val="600"/>
              </a:spcAft>
            </a:pPr>
            <a:r>
              <a:rPr lang="en-US" sz="1000" dirty="0">
                <a:latin typeface="Calibri" panose="020F0502020204030204" pitchFamily="34" charset="0"/>
                <a:cs typeface="Arial" panose="020B0604020202020204" pitchFamily="34" charset="0"/>
              </a:rPr>
              <a:t>A, B, C, D or E</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(A)</a:t>
            </a:r>
          </a:p>
          <a:p>
            <a:pPr marL="0" lvl="2">
              <a:spcAft>
                <a:spcPts val="600"/>
              </a:spcAft>
            </a:pPr>
            <a:r>
              <a:rPr lang="en-US" sz="800" i="1" dirty="0">
                <a:latin typeface="Calibri" panose="020F0502020204030204" pitchFamily="34" charset="0"/>
                <a:cs typeface="Arial" panose="020B0604020202020204" pitchFamily="34" charset="0"/>
              </a:rPr>
              <a:t>This is a Value question, which means that sufficiency requires one and only one value for b. We need a value for a or a2 in order to solve for b.</a:t>
            </a:r>
          </a:p>
          <a:p>
            <a:pPr marL="0" lvl="2">
              <a:spcAft>
                <a:spcPts val="600"/>
              </a:spcAft>
            </a:pPr>
            <a:r>
              <a:rPr lang="en-US" sz="800" i="1" dirty="0">
                <a:latin typeface="Calibri" panose="020F0502020204030204" pitchFamily="34" charset="0"/>
                <a:cs typeface="Arial" panose="020B0604020202020204" pitchFamily="34" charset="0"/>
              </a:rPr>
              <a:t>Statement (1) gives a value for a2. Therefore, it is sufficient, thus eliminating (B), (C), and (E).</a:t>
            </a:r>
          </a:p>
          <a:p>
            <a:pPr marL="0" lvl="2">
              <a:spcAft>
                <a:spcPts val="600"/>
              </a:spcAft>
            </a:pPr>
            <a:r>
              <a:rPr lang="en-US" sz="800" i="1" dirty="0">
                <a:latin typeface="Calibri" panose="020F0502020204030204" pitchFamily="34" charset="0"/>
                <a:cs typeface="Arial" panose="020B0604020202020204" pitchFamily="34" charset="0"/>
              </a:rPr>
              <a:t>Statement (2) gives a range of values for a. This is insufficient, eliminating (D).</a:t>
            </a:r>
          </a:p>
          <a:p>
            <a:pPr marL="0" lvl="2">
              <a:spcAft>
                <a:spcPts val="600"/>
              </a:spcAft>
            </a:pPr>
            <a:r>
              <a:rPr lang="en-US" sz="800" i="1" dirty="0">
                <a:latin typeface="Calibri" panose="020F0502020204030204" pitchFamily="34" charset="0"/>
                <a:cs typeface="Arial" panose="020B0604020202020204" pitchFamily="34" charset="0"/>
              </a:rPr>
              <a:t>Therefore, the correct answer is (A); Statement (1) alone is sufficient.</a:t>
            </a:r>
          </a:p>
          <a:p>
            <a:pPr marL="0" lvl="2">
              <a:spcAft>
                <a:spcPts val="600"/>
              </a:spcAft>
            </a:pPr>
            <a:r>
              <a:rPr lang="en-US" sz="800" i="1" dirty="0">
                <a:latin typeface="Calibri" panose="020F0502020204030204" pitchFamily="34" charset="0"/>
                <a:cs typeface="Arial" panose="020B0604020202020204" pitchFamily="34" charset="0"/>
              </a:rPr>
              <a:t>Source: https://www.kaptest.co.uk/gmat/resources/sample-questions/data-sufficiency</a:t>
            </a:r>
          </a:p>
        </p:txBody>
      </p:sp>
      <p:sp>
        <p:nvSpPr>
          <p:cNvPr id="39" name="AutoShape 28">
            <a:extLst>
              <a:ext uri="{FF2B5EF4-FFF2-40B4-BE49-F238E27FC236}">
                <a16:creationId xmlns:a16="http://schemas.microsoft.com/office/drawing/2014/main" id="{4625D4FD-61C2-41D9-8714-6C86D4997BFD}"/>
              </a:ext>
            </a:extLst>
          </p:cNvPr>
          <p:cNvSpPr>
            <a:spLocks noChangeArrowheads="1"/>
          </p:cNvSpPr>
          <p:nvPr/>
        </p:nvSpPr>
        <p:spPr bwMode="auto">
          <a:xfrm rot="5400000">
            <a:off x="2986198" y="-1330074"/>
            <a:ext cx="440791" cy="5410800"/>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Data </a:t>
            </a:r>
            <a:r>
              <a:rPr lang="de-DE" sz="1600" b="1" dirty="0" err="1">
                <a:solidFill>
                  <a:schemeClr val="bg1"/>
                </a:solidFill>
                <a:latin typeface="Calibri" panose="020F0502020204030204" pitchFamily="34" charset="0"/>
                <a:cs typeface="Arial" panose="020B0604020202020204" pitchFamily="34" charset="0"/>
              </a:rPr>
              <a:t>Sufficiency</a:t>
            </a:r>
            <a:r>
              <a:rPr lang="de-DE" sz="1600" b="1" dirty="0">
                <a:solidFill>
                  <a:schemeClr val="bg1"/>
                </a:solidFill>
                <a:latin typeface="Calibri" panose="020F0502020204030204" pitchFamily="34" charset="0"/>
                <a:cs typeface="Arial" panose="020B0604020202020204" pitchFamily="34" charset="0"/>
              </a:rPr>
              <a:t> (1)</a:t>
            </a:r>
            <a:endParaRPr lang="en-GB" sz="1600" b="1" dirty="0">
              <a:solidFill>
                <a:schemeClr val="bg1"/>
              </a:solidFill>
              <a:latin typeface="Calibri" panose="020F0502020204030204" pitchFamily="34" charset="0"/>
              <a:cs typeface="Arial" panose="020B0604020202020204" pitchFamily="34" charset="0"/>
            </a:endParaRPr>
          </a:p>
        </p:txBody>
      </p:sp>
      <p:sp>
        <p:nvSpPr>
          <p:cNvPr id="11" name="Rectangle 4">
            <a:extLst>
              <a:ext uri="{FF2B5EF4-FFF2-40B4-BE49-F238E27FC236}">
                <a16:creationId xmlns:a16="http://schemas.microsoft.com/office/drawing/2014/main" id="{648B332D-73C7-4DE7-8360-7FA544DF20A2}"/>
              </a:ext>
            </a:extLst>
          </p:cNvPr>
          <p:cNvSpPr>
            <a:spLocks noChangeArrowheads="1"/>
          </p:cNvSpPr>
          <p:nvPr/>
        </p:nvSpPr>
        <p:spPr bwMode="gray">
          <a:xfrm>
            <a:off x="501192" y="1667442"/>
            <a:ext cx="11036383" cy="914394"/>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0" lvl="2">
              <a:spcAft>
                <a:spcPts val="300"/>
              </a:spcAft>
            </a:pPr>
            <a:r>
              <a:rPr lang="en-US" sz="700" dirty="0">
                <a:latin typeface="Calibri" panose="020F0502020204030204" pitchFamily="34" charset="0"/>
                <a:cs typeface="Arial" panose="020B0604020202020204" pitchFamily="34" charset="0"/>
              </a:rPr>
              <a:t>Directions: In each of the problems, a question is followed by two statements containing certain data. You are to determine whether the data provided by the statements is sufficient to answer the question</a:t>
            </a:r>
          </a:p>
          <a:p>
            <a:pPr marL="0" lvl="2">
              <a:spcAft>
                <a:spcPts val="300"/>
              </a:spcAft>
            </a:pPr>
            <a:r>
              <a:rPr lang="en-US" sz="700" dirty="0">
                <a:latin typeface="Calibri" panose="020F0502020204030204" pitchFamily="34" charset="0"/>
                <a:cs typeface="Arial" panose="020B0604020202020204" pitchFamily="34" charset="0"/>
              </a:rPr>
              <a:t>A. if statement (1) by itself is sufficient to answer the question, but statement (2) by itself is not;</a:t>
            </a:r>
          </a:p>
          <a:p>
            <a:pPr marL="0" lvl="2">
              <a:spcAft>
                <a:spcPts val="300"/>
              </a:spcAft>
            </a:pPr>
            <a:r>
              <a:rPr lang="en-US" sz="700" dirty="0">
                <a:latin typeface="Calibri" panose="020F0502020204030204" pitchFamily="34" charset="0"/>
                <a:cs typeface="Arial" panose="020B0604020202020204" pitchFamily="34" charset="0"/>
              </a:rPr>
              <a:t>B. if statement (2) by itself is sufficient to answer the question, but statement (1) by itself is not;</a:t>
            </a:r>
          </a:p>
          <a:p>
            <a:pPr marL="0" lvl="2">
              <a:spcAft>
                <a:spcPts val="300"/>
              </a:spcAft>
            </a:pPr>
            <a:r>
              <a:rPr lang="en-US" sz="700" dirty="0">
                <a:latin typeface="Calibri" panose="020F0502020204030204" pitchFamily="34" charset="0"/>
                <a:cs typeface="Arial" panose="020B0604020202020204" pitchFamily="34" charset="0"/>
              </a:rPr>
              <a:t>C: if statements (1) and (2) taken together are sufficient to answer the question, even though neither statement by itself is sufficient;</a:t>
            </a:r>
          </a:p>
          <a:p>
            <a:pPr marL="0" lvl="2">
              <a:spcAft>
                <a:spcPts val="300"/>
              </a:spcAft>
            </a:pPr>
            <a:r>
              <a:rPr lang="en-US" sz="700" dirty="0">
                <a:latin typeface="Calibri" panose="020F0502020204030204" pitchFamily="34" charset="0"/>
                <a:cs typeface="Arial" panose="020B0604020202020204" pitchFamily="34" charset="0"/>
              </a:rPr>
              <a:t>D. if either statement by itself is sufficient to answer the question;</a:t>
            </a:r>
          </a:p>
          <a:p>
            <a:pPr marL="0" lvl="2">
              <a:spcAft>
                <a:spcPts val="300"/>
              </a:spcAft>
            </a:pPr>
            <a:r>
              <a:rPr lang="en-US" sz="700" dirty="0">
                <a:latin typeface="Calibri" panose="020F0502020204030204" pitchFamily="34" charset="0"/>
                <a:cs typeface="Arial" panose="020B0604020202020204" pitchFamily="34" charset="0"/>
              </a:rPr>
              <a:t>E. if statements (1) and (2) taken together are not sufficient to answer the question, requiring more data pertaining to the problem.</a:t>
            </a:r>
            <a:endParaRPr lang="de-DE" sz="700" dirty="0">
              <a:latin typeface="Calibri" panose="020F0502020204030204" pitchFamily="34" charset="0"/>
              <a:cs typeface="Arial" panose="020B0604020202020204" pitchFamily="34" charset="0"/>
            </a:endParaRPr>
          </a:p>
        </p:txBody>
      </p:sp>
      <p:sp>
        <p:nvSpPr>
          <p:cNvPr id="12" name="Rectangle 4">
            <a:extLst>
              <a:ext uri="{FF2B5EF4-FFF2-40B4-BE49-F238E27FC236}">
                <a16:creationId xmlns:a16="http://schemas.microsoft.com/office/drawing/2014/main" id="{FA229F6E-BAF8-4DFA-A3F0-5CC05446FEFB}"/>
              </a:ext>
            </a:extLst>
          </p:cNvPr>
          <p:cNvSpPr>
            <a:spLocks noChangeArrowheads="1"/>
          </p:cNvSpPr>
          <p:nvPr/>
        </p:nvSpPr>
        <p:spPr bwMode="gray">
          <a:xfrm>
            <a:off x="501192" y="6383778"/>
            <a:ext cx="11036383" cy="365125"/>
          </a:xfrm>
          <a:prstGeom prst="rect">
            <a:avLst/>
          </a:prstGeom>
          <a:noFill/>
          <a:ln w="12700">
            <a:noFill/>
            <a:miter lim="800000"/>
            <a:headEnd/>
            <a:tailEnd/>
          </a:ln>
        </p:spPr>
        <p:txBody>
          <a:bodyPr wrap="square" lIns="54000" tIns="54000" rIns="54000" bIns="54000" anchor="t" anchorCtr="0"/>
          <a:lstStyle/>
          <a:p>
            <a:pPr marL="0" lvl="2">
              <a:spcAft>
                <a:spcPts val="300"/>
              </a:spcAft>
            </a:pPr>
            <a:r>
              <a:rPr lang="en-US" sz="700" i="1" dirty="0">
                <a:latin typeface="Calibri" panose="020F0502020204030204" pitchFamily="34" charset="0"/>
                <a:cs typeface="Arial" panose="020B0604020202020204" pitchFamily="34" charset="0"/>
              </a:rPr>
              <a:t>Note: Using the Kaplan Method will keep you from falling into a trap laid by the </a:t>
            </a:r>
            <a:r>
              <a:rPr lang="en-US" sz="700" i="1" dirty="0" err="1">
                <a:latin typeface="Calibri" panose="020F0502020204030204" pitchFamily="34" charset="0"/>
                <a:cs typeface="Arial" panose="020B0604020202020204" pitchFamily="34" charset="0"/>
              </a:rPr>
              <a:t>testmaker</a:t>
            </a:r>
            <a:r>
              <a:rPr lang="en-US" sz="700" i="1" dirty="0">
                <a:latin typeface="Calibri" panose="020F0502020204030204" pitchFamily="34" charset="0"/>
                <a:cs typeface="Arial" panose="020B0604020202020204" pitchFamily="34" charset="0"/>
              </a:rPr>
              <a:t>. If you thought from the first statement that having two possible values--one positive and one negative-for a meant that the information was insufficient to get one value, you might have thought you need information in Statement (2) to get one value for a. However, by determining what you need for sufficiency before looking at the statements, you realized that it does not matter whether we have the positive or negative value of a, as long as we can solve for one and only one value for b.</a:t>
            </a:r>
          </a:p>
        </p:txBody>
      </p:sp>
    </p:spTree>
    <p:extLst>
      <p:ext uri="{BB962C8B-B14F-4D97-AF65-F5344CB8AC3E}">
        <p14:creationId xmlns:p14="http://schemas.microsoft.com/office/powerpoint/2010/main" val="1915677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414"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en-US" dirty="0">
                <a:latin typeface="Calibri "/>
              </a:rPr>
              <a:t>Verbal Reasoning – Illustrative </a:t>
            </a:r>
            <a:r>
              <a:rPr lang="en-US" dirty="0" err="1">
                <a:latin typeface="Calibri "/>
              </a:rPr>
              <a:t>Fragen</a:t>
            </a:r>
            <a:r>
              <a:rPr lang="en-US" dirty="0">
                <a:latin typeface="Calibri "/>
              </a:rPr>
              <a:t> </a:t>
            </a:r>
          </a:p>
        </p:txBody>
      </p:sp>
      <p:sp>
        <p:nvSpPr>
          <p:cNvPr id="29" name="Freeform 26">
            <a:extLst>
              <a:ext uri="{FF2B5EF4-FFF2-40B4-BE49-F238E27FC236}">
                <a16:creationId xmlns:a16="http://schemas.microsoft.com/office/drawing/2014/main" id="{5501C893-45B7-4D90-BFE4-0204C3B4BDD9}"/>
              </a:ext>
            </a:extLst>
          </p:cNvPr>
          <p:cNvSpPr>
            <a:spLocks/>
          </p:cNvSpPr>
          <p:nvPr/>
        </p:nvSpPr>
        <p:spPr bwMode="auto">
          <a:xfrm>
            <a:off x="6125330" y="1595721"/>
            <a:ext cx="5412246" cy="4634749"/>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The activism of state citizens, who have demanded safer road conditions as well as stiffer penalties for intoxicated drivers, have lead to a significant decrease in the number of traffic accidents.</a:t>
            </a:r>
          </a:p>
          <a:p>
            <a:pPr marL="0" lvl="2">
              <a:spcAft>
                <a:spcPts val="600"/>
              </a:spcAft>
            </a:pPr>
            <a:r>
              <a:rPr lang="en-US" sz="1000" i="1" dirty="0">
                <a:latin typeface="Calibri" panose="020F0502020204030204" pitchFamily="34" charset="0"/>
                <a:cs typeface="Arial" panose="020B0604020202020204" pitchFamily="34" charset="0"/>
              </a:rPr>
              <a:t>Directions: The following questions consist of sentences that are either partly or entirely underlined. Select the answer choice that represents the best revision of the underlined text. Choice A duplicates the original version. If the original seems better than any of the revisions, then choose it.</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1000" dirty="0">
                <a:latin typeface="Calibri" panose="020F0502020204030204" pitchFamily="34" charset="0"/>
                <a:cs typeface="Arial" panose="020B0604020202020204" pitchFamily="34" charset="0"/>
              </a:rPr>
              <a:t>A. have lead to a significant decrease in the number</a:t>
            </a:r>
          </a:p>
          <a:p>
            <a:pPr marL="0" lvl="2">
              <a:spcAft>
                <a:spcPts val="600"/>
              </a:spcAft>
            </a:pPr>
            <a:r>
              <a:rPr lang="en-US" sz="1000" dirty="0">
                <a:latin typeface="Calibri" panose="020F0502020204030204" pitchFamily="34" charset="0"/>
                <a:cs typeface="Arial" panose="020B0604020202020204" pitchFamily="34" charset="0"/>
              </a:rPr>
              <a:t>B. have lead to significant decreases in the number</a:t>
            </a:r>
          </a:p>
          <a:p>
            <a:pPr marL="0" lvl="2">
              <a:spcAft>
                <a:spcPts val="600"/>
              </a:spcAft>
            </a:pPr>
            <a:r>
              <a:rPr lang="en-US" sz="1000" dirty="0">
                <a:latin typeface="Calibri" panose="020F0502020204030204" pitchFamily="34" charset="0"/>
                <a:cs typeface="Arial" panose="020B0604020202020204" pitchFamily="34" charset="0"/>
              </a:rPr>
              <a:t>C. has lead to a significant decrease in the number</a:t>
            </a:r>
          </a:p>
          <a:p>
            <a:pPr marL="0" lvl="2">
              <a:spcAft>
                <a:spcPts val="600"/>
              </a:spcAft>
            </a:pPr>
            <a:r>
              <a:rPr lang="en-US" sz="1000" dirty="0">
                <a:latin typeface="Calibri" panose="020F0502020204030204" pitchFamily="34" charset="0"/>
                <a:cs typeface="Arial" panose="020B0604020202020204" pitchFamily="34" charset="0"/>
              </a:rPr>
              <a:t>D. has been significant in the decrease in the number</a:t>
            </a:r>
          </a:p>
          <a:p>
            <a:pPr marL="0" lvl="2">
              <a:spcAft>
                <a:spcPts val="600"/>
              </a:spcAft>
            </a:pPr>
            <a:r>
              <a:rPr lang="en-US" sz="1000" dirty="0">
                <a:latin typeface="Calibri" panose="020F0502020204030204" pitchFamily="34" charset="0"/>
                <a:cs typeface="Arial" panose="020B0604020202020204" pitchFamily="34" charset="0"/>
              </a:rPr>
              <a:t>E. has significantly decreased the number</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(C)</a:t>
            </a:r>
          </a:p>
          <a:p>
            <a:pPr marL="0" lvl="2">
              <a:spcAft>
                <a:spcPts val="600"/>
              </a:spcAft>
            </a:pPr>
            <a:r>
              <a:rPr lang="en-US" sz="800" i="1" dirty="0">
                <a:latin typeface="Calibri" panose="020F0502020204030204" pitchFamily="34" charset="0"/>
                <a:cs typeface="Arial" panose="020B0604020202020204" pitchFamily="34" charset="0"/>
              </a:rPr>
              <a:t>Ignoring the long modifying phrase set off between commas, we see that the subject of this sentence is “activism,” making the singular verb "has" correct, so (A) and (B) are out. There's also a choice between “number" and "amount" at the ends of the answer choices. Because traffic accidents are countable, the correct word to use is "number," so (E) is out. Finally, (D) is wordy and a bit awkward (“has been significant in the decrease in"), and it changes the meaning of the sentence. (C) is therefore the correct answer.</a:t>
            </a:r>
          </a:p>
          <a:p>
            <a:pPr marL="0" lvl="2">
              <a:spcAft>
                <a:spcPts val="600"/>
              </a:spcAft>
            </a:pPr>
            <a:r>
              <a:rPr lang="en-US" sz="800" i="1" dirty="0">
                <a:latin typeface="Calibri" panose="020F0502020204030204" pitchFamily="34" charset="0"/>
                <a:cs typeface="Arial" panose="020B0604020202020204" pitchFamily="34" charset="0"/>
              </a:rPr>
              <a:t>Source: https://www.kaptest.co.uk/gmat/resources/sample-questions/sentence-correction</a:t>
            </a:r>
            <a:endParaRPr lang="en-GB" sz="800" dirty="0">
              <a:latin typeface="Calibri" panose="020F0502020204030204" pitchFamily="34" charset="0"/>
              <a:cs typeface="Arial" panose="020B0604020202020204" pitchFamily="34" charset="0"/>
            </a:endParaRPr>
          </a:p>
        </p:txBody>
      </p:sp>
      <p:sp>
        <p:nvSpPr>
          <p:cNvPr id="31" name="AutoShape 28">
            <a:extLst>
              <a:ext uri="{FF2B5EF4-FFF2-40B4-BE49-F238E27FC236}">
                <a16:creationId xmlns:a16="http://schemas.microsoft.com/office/drawing/2014/main" id="{BAB8FDDA-0162-45DA-85E2-B4E6ED69103C}"/>
              </a:ext>
            </a:extLst>
          </p:cNvPr>
          <p:cNvSpPr>
            <a:spLocks noChangeArrowheads="1"/>
          </p:cNvSpPr>
          <p:nvPr/>
        </p:nvSpPr>
        <p:spPr bwMode="auto">
          <a:xfrm rot="5400000">
            <a:off x="8611056" y="-1330801"/>
            <a:ext cx="440791" cy="5412253"/>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err="1">
                <a:solidFill>
                  <a:schemeClr val="bg1"/>
                </a:solidFill>
                <a:latin typeface="Calibri" panose="020F0502020204030204" pitchFamily="34" charset="0"/>
                <a:cs typeface="Arial" panose="020B0604020202020204" pitchFamily="34" charset="0"/>
              </a:rPr>
              <a:t>Sentence</a:t>
            </a:r>
            <a:r>
              <a:rPr lang="de-DE" sz="1600" b="1" dirty="0">
                <a:solidFill>
                  <a:schemeClr val="bg1"/>
                </a:solidFill>
                <a:latin typeface="Calibri" panose="020F0502020204030204" pitchFamily="34" charset="0"/>
                <a:cs typeface="Arial" panose="020B0604020202020204" pitchFamily="34" charset="0"/>
              </a:rPr>
              <a:t> </a:t>
            </a:r>
            <a:r>
              <a:rPr lang="de-DE" sz="1600" b="1" dirty="0" err="1">
                <a:solidFill>
                  <a:schemeClr val="bg1"/>
                </a:solidFill>
                <a:latin typeface="Calibri" panose="020F0502020204030204" pitchFamily="34" charset="0"/>
                <a:cs typeface="Arial" panose="020B0604020202020204" pitchFamily="34" charset="0"/>
              </a:rPr>
              <a:t>Correction</a:t>
            </a:r>
            <a:endParaRPr lang="en-GB" sz="1600" b="1" dirty="0">
              <a:solidFill>
                <a:schemeClr val="bg1"/>
              </a:solidFill>
              <a:latin typeface="Calibri" panose="020F0502020204030204" pitchFamily="34" charset="0"/>
              <a:cs typeface="Arial" panose="020B0604020202020204" pitchFamily="34" charset="0"/>
            </a:endParaRPr>
          </a:p>
        </p:txBody>
      </p:sp>
      <p:sp>
        <p:nvSpPr>
          <p:cNvPr id="38" name="Freeform 26">
            <a:extLst>
              <a:ext uri="{FF2B5EF4-FFF2-40B4-BE49-F238E27FC236}">
                <a16:creationId xmlns:a16="http://schemas.microsoft.com/office/drawing/2014/main" id="{7F0BC1E2-7551-42E5-884D-CEC179C69163}"/>
              </a:ext>
            </a:extLst>
          </p:cNvPr>
          <p:cNvSpPr>
            <a:spLocks/>
          </p:cNvSpPr>
          <p:nvPr/>
        </p:nvSpPr>
        <p:spPr bwMode="auto">
          <a:xfrm>
            <a:off x="501194" y="1595721"/>
            <a:ext cx="5410800" cy="4634749"/>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0" lvl="2">
              <a:spcAft>
                <a:spcPts val="600"/>
              </a:spcAft>
            </a:pPr>
            <a:r>
              <a:rPr lang="en-US" sz="1000" dirty="0">
                <a:latin typeface="Calibri" panose="020F0502020204030204" pitchFamily="34" charset="0"/>
                <a:cs typeface="Arial" panose="020B0604020202020204" pitchFamily="34" charset="0"/>
              </a:rPr>
              <a:t>Artistic success as an actor is directly dependent on how well an actor has developed his craft. This has been demonstrated by the discovery of a positive relationship between the number of classes taken by an actor and the number of professional productions in which the actor has appeared in the past two years.</a:t>
            </a:r>
          </a:p>
          <a:p>
            <a:pPr marL="0" lvl="2">
              <a:spcAft>
                <a:spcPts val="600"/>
              </a:spcAft>
            </a:pPr>
            <a:r>
              <a:rPr lang="en-US" sz="1000" i="1" dirty="0">
                <a:latin typeface="Calibri" panose="020F0502020204030204" pitchFamily="34" charset="0"/>
                <a:cs typeface="Arial" panose="020B0604020202020204" pitchFamily="34" charset="0"/>
              </a:rPr>
              <a:t>Each of the following, if true, cast doubt on the author's argument about artistic success for actors EXCEPT:</a:t>
            </a: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1000" dirty="0">
                <a:latin typeface="Calibri" panose="020F0502020204030204" pitchFamily="34" charset="0"/>
                <a:cs typeface="Arial" panose="020B0604020202020204" pitchFamily="34" charset="0"/>
              </a:rPr>
              <a:t>A. The figures for the number of classes taken were based solely on information provided by actors.</a:t>
            </a:r>
          </a:p>
          <a:p>
            <a:pPr marL="0" lvl="2">
              <a:spcAft>
                <a:spcPts val="600"/>
              </a:spcAft>
            </a:pPr>
            <a:r>
              <a:rPr lang="en-US" sz="1000" dirty="0">
                <a:latin typeface="Calibri" panose="020F0502020204030204" pitchFamily="34" charset="0"/>
                <a:cs typeface="Arial" panose="020B0604020202020204" pitchFamily="34" charset="0"/>
              </a:rPr>
              <a:t>B. Success as an actor cannot necessarily be judged exclusively by recent credits.</a:t>
            </a:r>
          </a:p>
          <a:p>
            <a:pPr marL="0" lvl="2">
              <a:spcAft>
                <a:spcPts val="600"/>
              </a:spcAft>
            </a:pPr>
            <a:r>
              <a:rPr lang="en-US" sz="1000" dirty="0">
                <a:latin typeface="Calibri" panose="020F0502020204030204" pitchFamily="34" charset="0"/>
                <a:cs typeface="Arial" panose="020B0604020202020204" pitchFamily="34" charset="0"/>
              </a:rPr>
              <a:t>C. For most successful actors, it's not the quantity but the quality of their classes that has helped to develop their craft.</a:t>
            </a:r>
          </a:p>
          <a:p>
            <a:pPr marL="0" lvl="2">
              <a:spcAft>
                <a:spcPts val="600"/>
              </a:spcAft>
            </a:pPr>
            <a:r>
              <a:rPr lang="en-US" sz="1000" dirty="0">
                <a:latin typeface="Calibri" panose="020F0502020204030204" pitchFamily="34" charset="0"/>
                <a:cs typeface="Arial" panose="020B0604020202020204" pitchFamily="34" charset="0"/>
              </a:rPr>
              <a:t>D. There is no relationship between the number of professional productions in which an actor has appeared and true artistic success.</a:t>
            </a:r>
          </a:p>
          <a:p>
            <a:pPr marL="0" lvl="2">
              <a:spcAft>
                <a:spcPts val="600"/>
              </a:spcAft>
            </a:pPr>
            <a:r>
              <a:rPr lang="en-US" sz="1000" dirty="0">
                <a:latin typeface="Calibri" panose="020F0502020204030204" pitchFamily="34" charset="0"/>
                <a:cs typeface="Arial" panose="020B0604020202020204" pitchFamily="34" charset="0"/>
              </a:rPr>
              <a:t>E. Most successful actors have taken only a small number of intensive classes.</a:t>
            </a:r>
          </a:p>
          <a:p>
            <a:pPr marL="0" lvl="2"/>
            <a:endParaRPr lang="en-US" sz="1000" dirty="0">
              <a:latin typeface="Calibri" panose="020F0502020204030204" pitchFamily="34" charset="0"/>
              <a:cs typeface="Arial" panose="020B0604020202020204" pitchFamily="34" charset="0"/>
            </a:endParaRPr>
          </a:p>
          <a:p>
            <a:pPr marL="0" lvl="2">
              <a:spcAft>
                <a:spcPts val="600"/>
              </a:spcAft>
            </a:pPr>
            <a:endParaRPr lang="en-US" sz="1000" dirty="0">
              <a:latin typeface="Calibri" panose="020F0502020204030204" pitchFamily="34" charset="0"/>
              <a:cs typeface="Arial" panose="020B0604020202020204" pitchFamily="34" charset="0"/>
            </a:endParaRPr>
          </a:p>
          <a:p>
            <a:pPr marL="0" lvl="2">
              <a:spcAft>
                <a:spcPts val="600"/>
              </a:spcAft>
            </a:pPr>
            <a:r>
              <a:rPr lang="en-US" sz="800" i="1" dirty="0">
                <a:latin typeface="Calibri" panose="020F0502020204030204" pitchFamily="34" charset="0"/>
                <a:cs typeface="Arial" panose="020B0604020202020204" pitchFamily="34" charset="0"/>
              </a:rPr>
              <a:t>Solution: Answer: (A)</a:t>
            </a:r>
          </a:p>
          <a:p>
            <a:pPr marL="0" lvl="2">
              <a:spcAft>
                <a:spcPts val="600"/>
              </a:spcAft>
            </a:pPr>
            <a:r>
              <a:rPr lang="en-US" sz="800" i="1" dirty="0">
                <a:latin typeface="Calibri" panose="020F0502020204030204" pitchFamily="34" charset="0"/>
                <a:cs typeface="Arial" panose="020B0604020202020204" pitchFamily="34" charset="0"/>
              </a:rPr>
              <a:t>First, examine the choices looking for answers that sever the link between taking a large number of Classes and having a well-developed craft. (C) effectively attacks this assumption by suggesting that the sheer number of classes is not enough to guarantee developed craft. (E) points out that an actor can achieve success even if he takes only a few classes. Both of these choices can be eliminated. Next, examine the choices seeking answers that sever the link between professional productions and artistic success. (B) suggests that success is determined by more than an actor's resume and (D) destroys the relationship explicitly. This leaves (A), which has no effect on the author's argument because it doesn't matter who provides the figures on the number of classes taken. Choice (A) is the correct answer.</a:t>
            </a:r>
          </a:p>
          <a:p>
            <a:pPr marL="0" lvl="2">
              <a:spcAft>
                <a:spcPts val="600"/>
              </a:spcAft>
            </a:pPr>
            <a:r>
              <a:rPr lang="en-US" sz="800" i="1" dirty="0">
                <a:latin typeface="Calibri" panose="020F0502020204030204" pitchFamily="34" charset="0"/>
                <a:cs typeface="Arial" panose="020B0604020202020204" pitchFamily="34" charset="0"/>
              </a:rPr>
              <a:t>Source: https://www.kaptest.co.uk/gmat/resources/sample-questions/critical-reasoning</a:t>
            </a:r>
            <a:endParaRPr lang="en-GB" sz="800" i="1" dirty="0">
              <a:latin typeface="Calibri" panose="020F0502020204030204" pitchFamily="34" charset="0"/>
              <a:cs typeface="Arial" panose="020B0604020202020204" pitchFamily="34" charset="0"/>
            </a:endParaRPr>
          </a:p>
        </p:txBody>
      </p:sp>
      <p:sp>
        <p:nvSpPr>
          <p:cNvPr id="39" name="AutoShape 28">
            <a:extLst>
              <a:ext uri="{FF2B5EF4-FFF2-40B4-BE49-F238E27FC236}">
                <a16:creationId xmlns:a16="http://schemas.microsoft.com/office/drawing/2014/main" id="{4625D4FD-61C2-41D9-8714-6C86D4997BFD}"/>
              </a:ext>
            </a:extLst>
          </p:cNvPr>
          <p:cNvSpPr>
            <a:spLocks noChangeArrowheads="1"/>
          </p:cNvSpPr>
          <p:nvPr/>
        </p:nvSpPr>
        <p:spPr bwMode="auto">
          <a:xfrm rot="5400000">
            <a:off x="2986198" y="-1330074"/>
            <a:ext cx="440791" cy="5410800"/>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Critical </a:t>
            </a:r>
            <a:r>
              <a:rPr lang="de-DE" sz="1600" b="1" dirty="0" err="1">
                <a:solidFill>
                  <a:schemeClr val="bg1"/>
                </a:solidFill>
                <a:latin typeface="Calibri" panose="020F0502020204030204" pitchFamily="34" charset="0"/>
                <a:cs typeface="Arial" panose="020B0604020202020204" pitchFamily="34" charset="0"/>
              </a:rPr>
              <a:t>Reasoning</a:t>
            </a:r>
            <a:endParaRPr lang="en-GB" sz="1600" b="1" dirty="0">
              <a:solidFill>
                <a:schemeClr val="bg1"/>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9716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82"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de-DE" dirty="0">
                <a:latin typeface="Calibri "/>
              </a:rPr>
              <a:t>Vorbereitungszeit – Mythen und Legenden </a:t>
            </a:r>
          </a:p>
        </p:txBody>
      </p:sp>
      <p:sp>
        <p:nvSpPr>
          <p:cNvPr id="17" name="Arrow: Pentagon 16">
            <a:extLst>
              <a:ext uri="{FF2B5EF4-FFF2-40B4-BE49-F238E27FC236}">
                <a16:creationId xmlns:a16="http://schemas.microsoft.com/office/drawing/2014/main" id="{D0ED2D25-560B-4F98-B3A8-F035C523ECF8}"/>
              </a:ext>
            </a:extLst>
          </p:cNvPr>
          <p:cNvSpPr/>
          <p:nvPr/>
        </p:nvSpPr>
        <p:spPr>
          <a:xfrm>
            <a:off x="322729" y="1207747"/>
            <a:ext cx="2339789" cy="923689"/>
          </a:xfrm>
          <a:prstGeom prst="homePlate">
            <a:avLst>
              <a:gd name="adj" fmla="val 22128"/>
            </a:avLst>
          </a:prstGeom>
          <a:solidFill>
            <a:srgbClr val="9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i="1" dirty="0">
                <a:solidFill>
                  <a:schemeClr val="bg1"/>
                </a:solidFill>
                <a:latin typeface="Calibri" panose="020F0502020204030204" pitchFamily="34" charset="0"/>
                <a:cs typeface="Arial" panose="020B0604020202020204" pitchFamily="34" charset="0"/>
              </a:rPr>
              <a:t>“2 Wochen Vorbereitung sollten für einen sehr guten Score ausreichen“</a:t>
            </a:r>
          </a:p>
        </p:txBody>
      </p:sp>
      <p:sp>
        <p:nvSpPr>
          <p:cNvPr id="18" name="Arrow: Pentagon 17">
            <a:extLst>
              <a:ext uri="{FF2B5EF4-FFF2-40B4-BE49-F238E27FC236}">
                <a16:creationId xmlns:a16="http://schemas.microsoft.com/office/drawing/2014/main" id="{6BF5DB73-C3D3-4B6A-898C-5CFC5334587C}"/>
              </a:ext>
            </a:extLst>
          </p:cNvPr>
          <p:cNvSpPr/>
          <p:nvPr/>
        </p:nvSpPr>
        <p:spPr>
          <a:xfrm>
            <a:off x="322729" y="2184781"/>
            <a:ext cx="2339789" cy="923689"/>
          </a:xfrm>
          <a:prstGeom prst="homePlate">
            <a:avLst>
              <a:gd name="adj" fmla="val 22128"/>
            </a:avLst>
          </a:prstGeom>
          <a:solidFill>
            <a:srgbClr val="9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i="1" dirty="0">
                <a:solidFill>
                  <a:schemeClr val="bg1"/>
                </a:solidFill>
                <a:latin typeface="Calibri" panose="020F0502020204030204" pitchFamily="34" charset="0"/>
                <a:cs typeface="Arial" panose="020B0604020202020204" pitchFamily="34" charset="0"/>
              </a:rPr>
              <a:t>„Ich brauche einen Score von XXX, diesen kann ich gut erreichen“</a:t>
            </a:r>
          </a:p>
        </p:txBody>
      </p:sp>
      <p:sp>
        <p:nvSpPr>
          <p:cNvPr id="19" name="Arrow: Pentagon 18">
            <a:extLst>
              <a:ext uri="{FF2B5EF4-FFF2-40B4-BE49-F238E27FC236}">
                <a16:creationId xmlns:a16="http://schemas.microsoft.com/office/drawing/2014/main" id="{23AED58B-5AAE-4C31-9659-20E958D9D37E}"/>
              </a:ext>
            </a:extLst>
          </p:cNvPr>
          <p:cNvSpPr/>
          <p:nvPr/>
        </p:nvSpPr>
        <p:spPr>
          <a:xfrm>
            <a:off x="322729" y="3161815"/>
            <a:ext cx="2339789" cy="923689"/>
          </a:xfrm>
          <a:prstGeom prst="homePlate">
            <a:avLst>
              <a:gd name="adj" fmla="val 22128"/>
            </a:avLst>
          </a:prstGeom>
          <a:solidFill>
            <a:srgbClr val="9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i="1" dirty="0">
                <a:solidFill>
                  <a:schemeClr val="bg1"/>
                </a:solidFill>
                <a:latin typeface="Calibri" panose="020F0502020204030204" pitchFamily="34" charset="0"/>
                <a:cs typeface="Arial" panose="020B0604020202020204" pitchFamily="34" charset="0"/>
              </a:rPr>
              <a:t>„Ich war immer gut in Mathe; der Quant-Teil sollte kein Problem darstellen“ </a:t>
            </a:r>
          </a:p>
        </p:txBody>
      </p:sp>
      <p:sp>
        <p:nvSpPr>
          <p:cNvPr id="20" name="Arrow: Pentagon 19">
            <a:extLst>
              <a:ext uri="{FF2B5EF4-FFF2-40B4-BE49-F238E27FC236}">
                <a16:creationId xmlns:a16="http://schemas.microsoft.com/office/drawing/2014/main" id="{24D469AE-570D-45A7-B78D-C68DBC77D7D9}"/>
              </a:ext>
            </a:extLst>
          </p:cNvPr>
          <p:cNvSpPr/>
          <p:nvPr/>
        </p:nvSpPr>
        <p:spPr>
          <a:xfrm>
            <a:off x="322729" y="4138849"/>
            <a:ext cx="2339789" cy="923689"/>
          </a:xfrm>
          <a:prstGeom prst="homePlate">
            <a:avLst>
              <a:gd name="adj" fmla="val 22128"/>
            </a:avLst>
          </a:prstGeom>
          <a:solidFill>
            <a:srgbClr val="9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i="1" dirty="0">
                <a:solidFill>
                  <a:schemeClr val="bg1"/>
                </a:solidFill>
                <a:latin typeface="Calibri" panose="020F0502020204030204" pitchFamily="34" charset="0"/>
                <a:cs typeface="Arial" panose="020B0604020202020204" pitchFamily="34" charset="0"/>
              </a:rPr>
              <a:t>„Je mehr ich lernen desto besser wird mein Score“</a:t>
            </a:r>
          </a:p>
        </p:txBody>
      </p:sp>
      <p:sp>
        <p:nvSpPr>
          <p:cNvPr id="21" name="Arrow: Pentagon 20">
            <a:extLst>
              <a:ext uri="{FF2B5EF4-FFF2-40B4-BE49-F238E27FC236}">
                <a16:creationId xmlns:a16="http://schemas.microsoft.com/office/drawing/2014/main" id="{BC958F9B-99C9-4AC9-A3C3-5592F9D99A6A}"/>
              </a:ext>
            </a:extLst>
          </p:cNvPr>
          <p:cNvSpPr/>
          <p:nvPr/>
        </p:nvSpPr>
        <p:spPr>
          <a:xfrm>
            <a:off x="322729" y="5115884"/>
            <a:ext cx="2339789" cy="923689"/>
          </a:xfrm>
          <a:prstGeom prst="homePlate">
            <a:avLst>
              <a:gd name="adj" fmla="val 22128"/>
            </a:avLst>
          </a:prstGeom>
          <a:solidFill>
            <a:srgbClr val="9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i="1" dirty="0">
                <a:solidFill>
                  <a:schemeClr val="bg1"/>
                </a:solidFill>
                <a:latin typeface="Calibri" panose="020F0502020204030204" pitchFamily="34" charset="0"/>
                <a:cs typeface="Arial" panose="020B0604020202020204" pitchFamily="34" charset="0"/>
              </a:rPr>
              <a:t>„Mit den offiziellen Büchern kann man sich am besten vorbereiten“ </a:t>
            </a:r>
          </a:p>
        </p:txBody>
      </p:sp>
      <p:sp>
        <p:nvSpPr>
          <p:cNvPr id="22" name="Rectangle 4">
            <a:extLst>
              <a:ext uri="{FF2B5EF4-FFF2-40B4-BE49-F238E27FC236}">
                <a16:creationId xmlns:a16="http://schemas.microsoft.com/office/drawing/2014/main" id="{CE1AA493-35BF-40B8-8944-852F82282CFA}"/>
              </a:ext>
            </a:extLst>
          </p:cNvPr>
          <p:cNvSpPr>
            <a:spLocks noChangeArrowheads="1"/>
          </p:cNvSpPr>
          <p:nvPr/>
        </p:nvSpPr>
        <p:spPr bwMode="gray">
          <a:xfrm>
            <a:off x="2850776" y="1207747"/>
            <a:ext cx="8680824" cy="925200"/>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300"/>
              </a:spcAft>
              <a:buFont typeface="Wingdings" panose="05000000000000000000" pitchFamily="2" charset="2"/>
              <a:buChar char="§"/>
            </a:pPr>
            <a:r>
              <a:rPr lang="de-DE" sz="1400" dirty="0">
                <a:latin typeface="Calibri" panose="020F0502020204030204" pitchFamily="34" charset="0"/>
                <a:cs typeface="Arial" panose="020B0604020202020204" pitchFamily="34" charset="0"/>
              </a:rPr>
              <a:t>Das ist sehr unterschiedlich. Gibt Leute die 2-3 Wochen lernen und einen Score erreichen den Sie brauchen. Andere brauchen länger. Unsere Einschätzung wäre, dass man sich c. 6-8 Wochen zeit nehmen sollte um sich 3-5h am Tag mit dem Thema zu befassen. Darin sollte auch das lesen von englischen Artikeln in Zeitungen und Magazinen sein</a:t>
            </a:r>
          </a:p>
        </p:txBody>
      </p:sp>
      <p:sp>
        <p:nvSpPr>
          <p:cNvPr id="23" name="Rectangle 4">
            <a:extLst>
              <a:ext uri="{FF2B5EF4-FFF2-40B4-BE49-F238E27FC236}">
                <a16:creationId xmlns:a16="http://schemas.microsoft.com/office/drawing/2014/main" id="{1A56A57B-EC92-43E7-B28D-EB89713CF939}"/>
              </a:ext>
            </a:extLst>
          </p:cNvPr>
          <p:cNvSpPr>
            <a:spLocks noChangeArrowheads="1"/>
          </p:cNvSpPr>
          <p:nvPr/>
        </p:nvSpPr>
        <p:spPr bwMode="gray">
          <a:xfrm>
            <a:off x="2850776" y="5114373"/>
            <a:ext cx="8680824" cy="925200"/>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300"/>
              </a:spcAft>
              <a:buFont typeface="Wingdings" panose="05000000000000000000" pitchFamily="2" charset="2"/>
              <a:buChar char="§"/>
            </a:pPr>
            <a:r>
              <a:rPr lang="de-DE" sz="1400" dirty="0">
                <a:latin typeface="Calibri" panose="020F0502020204030204" pitchFamily="34" charset="0"/>
                <a:cs typeface="Arial" panose="020B0604020202020204" pitchFamily="34" charset="0"/>
              </a:rPr>
              <a:t>Wichtig ist es auf der einen Seite sich sicher zu fühlen, auf der anderen Seite auf Probe Scores zu vertrauen (beispielsweise auf der Offiziellen GMAT Seite erhält man Zugang zu zwei Probetest sobald man sich für einen GMAT anmeldet. Oder bei vielen Büchern – Manhattan </a:t>
            </a:r>
            <a:r>
              <a:rPr lang="de-DE" sz="1400" dirty="0" err="1">
                <a:latin typeface="Calibri" panose="020F0502020204030204" pitchFamily="34" charset="0"/>
                <a:cs typeface="Arial" panose="020B0604020202020204" pitchFamily="34" charset="0"/>
              </a:rPr>
              <a:t>Prep</a:t>
            </a:r>
            <a:r>
              <a:rPr lang="de-DE" sz="1400" dirty="0">
                <a:latin typeface="Calibri" panose="020F0502020204030204" pitchFamily="34" charset="0"/>
                <a:cs typeface="Arial" panose="020B0604020202020204" pitchFamily="34" charset="0"/>
              </a:rPr>
              <a:t> (MP) ist zu empfehlen – gibt es probetest). Man sollte jedoch beachten, dass jeder Anbieter einen anderen Algorithmus für die Erstellung des Scores verwendet</a:t>
            </a:r>
          </a:p>
        </p:txBody>
      </p:sp>
      <p:sp>
        <p:nvSpPr>
          <p:cNvPr id="24" name="Rectangle 4">
            <a:extLst>
              <a:ext uri="{FF2B5EF4-FFF2-40B4-BE49-F238E27FC236}">
                <a16:creationId xmlns:a16="http://schemas.microsoft.com/office/drawing/2014/main" id="{3AD1E580-4866-4E2E-9013-2CF9F227489E}"/>
              </a:ext>
            </a:extLst>
          </p:cNvPr>
          <p:cNvSpPr>
            <a:spLocks noChangeArrowheads="1"/>
          </p:cNvSpPr>
          <p:nvPr/>
        </p:nvSpPr>
        <p:spPr bwMode="gray">
          <a:xfrm>
            <a:off x="2850776" y="2183270"/>
            <a:ext cx="8680824" cy="925200"/>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300"/>
              </a:spcAft>
              <a:buFont typeface="Wingdings" panose="05000000000000000000" pitchFamily="2" charset="2"/>
              <a:buChar char="§"/>
            </a:pPr>
            <a:r>
              <a:rPr lang="de-DE" sz="1400" dirty="0">
                <a:latin typeface="Calibri" panose="020F0502020204030204" pitchFamily="34" charset="0"/>
                <a:cs typeface="Arial" panose="020B0604020202020204" pitchFamily="34" charset="0"/>
              </a:rPr>
              <a:t>Beim GMAT ist es schwer auf einen genauen Score hinzuarbeiten. Wir würden empfehlen mit der Einstellung „das maximum holen“ rein zu gehen. Wie wir später sehen werden, gibt es einige Punkte (z.B. Testfragen, Reihenfolge der Fragen, </a:t>
            </a:r>
            <a:r>
              <a:rPr lang="de-DE" sz="1400" dirty="0" err="1">
                <a:latin typeface="Calibri" panose="020F0502020204030204" pitchFamily="34" charset="0"/>
                <a:cs typeface="Arial" panose="020B0604020202020204" pitchFamily="34" charset="0"/>
              </a:rPr>
              <a:t>etc</a:t>
            </a:r>
            <a:r>
              <a:rPr lang="de-DE" sz="1400" dirty="0">
                <a:latin typeface="Calibri" panose="020F0502020204030204" pitchFamily="34" charset="0"/>
                <a:cs typeface="Arial" panose="020B0604020202020204" pitchFamily="34" charset="0"/>
              </a:rPr>
              <a:t>) die Einfluss auf den Score haben, die jedoch nicht im Einflussbereich der Bewerber liegen</a:t>
            </a:r>
          </a:p>
        </p:txBody>
      </p:sp>
      <p:sp>
        <p:nvSpPr>
          <p:cNvPr id="26" name="Rectangle 4">
            <a:extLst>
              <a:ext uri="{FF2B5EF4-FFF2-40B4-BE49-F238E27FC236}">
                <a16:creationId xmlns:a16="http://schemas.microsoft.com/office/drawing/2014/main" id="{85E7F76C-EB14-471C-821C-B04B0239D482}"/>
              </a:ext>
            </a:extLst>
          </p:cNvPr>
          <p:cNvSpPr>
            <a:spLocks noChangeArrowheads="1"/>
          </p:cNvSpPr>
          <p:nvPr/>
        </p:nvSpPr>
        <p:spPr bwMode="gray">
          <a:xfrm>
            <a:off x="2850776" y="3160304"/>
            <a:ext cx="8680824" cy="925200"/>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300"/>
              </a:spcAft>
              <a:buFont typeface="Wingdings" panose="05000000000000000000" pitchFamily="2" charset="2"/>
              <a:buChar char="§"/>
            </a:pPr>
            <a:r>
              <a:rPr lang="de-DE" sz="1400" dirty="0">
                <a:latin typeface="Calibri" panose="020F0502020204030204" pitchFamily="34" charset="0"/>
                <a:cs typeface="Arial" panose="020B0604020202020204" pitchFamily="34" charset="0"/>
              </a:rPr>
              <a:t>Der Quant-Teil fragt ein anderes mathematisches Wissen ab als man in der Oberstufe lernt </a:t>
            </a:r>
          </a:p>
        </p:txBody>
      </p:sp>
      <p:sp>
        <p:nvSpPr>
          <p:cNvPr id="27" name="Rectangle 4">
            <a:extLst>
              <a:ext uri="{FF2B5EF4-FFF2-40B4-BE49-F238E27FC236}">
                <a16:creationId xmlns:a16="http://schemas.microsoft.com/office/drawing/2014/main" id="{83E9466A-B486-44B0-A876-0FC5F6FABB28}"/>
              </a:ext>
            </a:extLst>
          </p:cNvPr>
          <p:cNvSpPr>
            <a:spLocks noChangeArrowheads="1"/>
          </p:cNvSpPr>
          <p:nvPr/>
        </p:nvSpPr>
        <p:spPr bwMode="gray">
          <a:xfrm>
            <a:off x="2850776" y="4138849"/>
            <a:ext cx="8680824" cy="925200"/>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300"/>
              </a:spcAft>
              <a:buFont typeface="Wingdings" panose="05000000000000000000" pitchFamily="2" charset="2"/>
              <a:buChar char="§"/>
            </a:pPr>
            <a:r>
              <a:rPr lang="de-DE" sz="1400" dirty="0">
                <a:latin typeface="Calibri" panose="020F0502020204030204" pitchFamily="34" charset="0"/>
                <a:cs typeface="Arial" panose="020B0604020202020204" pitchFamily="34" charset="0"/>
              </a:rPr>
              <a:t>Unserer Meinung nach kann man für einen Score von bis zu c.700 ganz gut lernen. Alles drüber ist </a:t>
            </a:r>
            <a:r>
              <a:rPr lang="de-DE" sz="1400" dirty="0" err="1">
                <a:latin typeface="Calibri" panose="020F0502020204030204" pitchFamily="34" charset="0"/>
                <a:cs typeface="Arial" panose="020B0604020202020204" pitchFamily="34" charset="0"/>
              </a:rPr>
              <a:t>bissle</a:t>
            </a:r>
            <a:r>
              <a:rPr lang="de-DE" sz="1400" dirty="0">
                <a:latin typeface="Calibri" panose="020F0502020204030204" pitchFamily="34" charset="0"/>
                <a:cs typeface="Arial" panose="020B0604020202020204" pitchFamily="34" charset="0"/>
              </a:rPr>
              <a:t> von Faktoren abhängig wie Glück, Tagesform, Reihenfolge der Fragen, etc. Jedoch sollte man mit einem Score von 700 (+) keine Probleme bei den meistens Unis haben</a:t>
            </a:r>
          </a:p>
        </p:txBody>
      </p:sp>
    </p:spTree>
    <p:extLst>
      <p:ext uri="{BB962C8B-B14F-4D97-AF65-F5344CB8AC3E}">
        <p14:creationId xmlns:p14="http://schemas.microsoft.com/office/powerpoint/2010/main" val="366305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49"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de-DE" dirty="0">
                <a:latin typeface="Calibri "/>
              </a:rPr>
              <a:t>Gut zu wissen – Fakten und Gedanken</a:t>
            </a:r>
            <a:endParaRPr lang="de-DE" i="1" dirty="0">
              <a:latin typeface="Calibri "/>
            </a:endParaRPr>
          </a:p>
        </p:txBody>
      </p:sp>
      <p:sp>
        <p:nvSpPr>
          <p:cNvPr id="30" name="Rectangle: Rounded Corners 29">
            <a:extLst>
              <a:ext uri="{FF2B5EF4-FFF2-40B4-BE49-F238E27FC236}">
                <a16:creationId xmlns:a16="http://schemas.microsoft.com/office/drawing/2014/main" id="{CEB960BC-42B9-490A-AD07-1B7D2CE905E3}"/>
              </a:ext>
            </a:extLst>
          </p:cNvPr>
          <p:cNvSpPr/>
          <p:nvPr/>
        </p:nvSpPr>
        <p:spPr>
          <a:xfrm>
            <a:off x="501192" y="2154782"/>
            <a:ext cx="4156532"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Der GMAT ist ein „dynamischer“ Test. Dynamisch heißt, dass der Algorithmus konstant versucht Euch in einer Score-Range zu platzieren</a:t>
            </a:r>
            <a:endParaRPr lang="en-US" sz="1250" b="1" i="1" dirty="0">
              <a:solidFill>
                <a:schemeClr val="tx1"/>
              </a:solidFill>
            </a:endParaRPr>
          </a:p>
        </p:txBody>
      </p:sp>
      <p:sp>
        <p:nvSpPr>
          <p:cNvPr id="32" name="Rectangle: Rounded Corners 31">
            <a:extLst>
              <a:ext uri="{FF2B5EF4-FFF2-40B4-BE49-F238E27FC236}">
                <a16:creationId xmlns:a16="http://schemas.microsoft.com/office/drawing/2014/main" id="{13EC53C5-FF2D-43DC-AA35-D671E597EAEA}"/>
              </a:ext>
            </a:extLst>
          </p:cNvPr>
          <p:cNvSpPr/>
          <p:nvPr/>
        </p:nvSpPr>
        <p:spPr>
          <a:xfrm>
            <a:off x="4829174" y="2154782"/>
            <a:ext cx="6708405" cy="803778"/>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Die Hersteller des GMATs verneinen, dass die ersten Fragen einen wichtigeren Wert bei der Errechnung des Scores spielen als die späteren Fragen. Dem würden wir unserer Erfahrung nach widersprechen. Hierzu zwei Gedanken:</a:t>
            </a:r>
            <a:endParaRPr lang="en-US" sz="1250" b="1" i="1" dirty="0">
              <a:solidFill>
                <a:schemeClr val="tx1"/>
              </a:solidFill>
            </a:endParaRPr>
          </a:p>
        </p:txBody>
      </p:sp>
      <p:sp>
        <p:nvSpPr>
          <p:cNvPr id="33" name="Rectangle: Rounded Corners 32">
            <a:extLst>
              <a:ext uri="{FF2B5EF4-FFF2-40B4-BE49-F238E27FC236}">
                <a16:creationId xmlns:a16="http://schemas.microsoft.com/office/drawing/2014/main" id="{77FF7A66-3DC0-4BFC-9A7C-2D93CFD3CD1D}"/>
              </a:ext>
            </a:extLst>
          </p:cNvPr>
          <p:cNvSpPr/>
          <p:nvPr/>
        </p:nvSpPr>
        <p:spPr>
          <a:xfrm>
            <a:off x="501193" y="3622931"/>
            <a:ext cx="4156532"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Es wird mit einer Frage los, die im Average Bereich (also c.520-540) liegt. Je nachdem wie die erste Frage beantwortet wird, wird die nächste Frage tendenziell schwerer oder einfacher</a:t>
            </a:r>
            <a:endParaRPr lang="en-US" sz="1250" b="1" i="1" dirty="0">
              <a:solidFill>
                <a:schemeClr val="tx1"/>
              </a:solidFill>
            </a:endParaRPr>
          </a:p>
        </p:txBody>
      </p:sp>
      <p:sp>
        <p:nvSpPr>
          <p:cNvPr id="34" name="Rectangle: Rounded Corners 33">
            <a:extLst>
              <a:ext uri="{FF2B5EF4-FFF2-40B4-BE49-F238E27FC236}">
                <a16:creationId xmlns:a16="http://schemas.microsoft.com/office/drawing/2014/main" id="{01A8E49A-4AF3-464C-A377-2C07EA1F9D07}"/>
              </a:ext>
            </a:extLst>
          </p:cNvPr>
          <p:cNvSpPr/>
          <p:nvPr/>
        </p:nvSpPr>
        <p:spPr>
          <a:xfrm>
            <a:off x="501193" y="5091079"/>
            <a:ext cx="4156532"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Bei richtiger Beantwortung der ersten Frage liegt die nächste Frage nicht zwingend im Bereich 550-600 sondern es könnte gegebenenfalls gleich in den 700+ Bereich gesprungen werden</a:t>
            </a:r>
            <a:endParaRPr lang="en-US" sz="1250" b="1" i="1" dirty="0">
              <a:solidFill>
                <a:schemeClr val="tx1"/>
              </a:solidFill>
            </a:endParaRPr>
          </a:p>
        </p:txBody>
      </p:sp>
      <p:sp>
        <p:nvSpPr>
          <p:cNvPr id="35" name="Rectangle: Rounded Corners 34">
            <a:extLst>
              <a:ext uri="{FF2B5EF4-FFF2-40B4-BE49-F238E27FC236}">
                <a16:creationId xmlns:a16="http://schemas.microsoft.com/office/drawing/2014/main" id="{5CF3516B-09FA-44E8-A593-05FDE256FEB0}"/>
              </a:ext>
            </a:extLst>
          </p:cNvPr>
          <p:cNvSpPr/>
          <p:nvPr/>
        </p:nvSpPr>
        <p:spPr>
          <a:xfrm>
            <a:off x="4829174" y="3091830"/>
            <a:ext cx="3248026" cy="1637532"/>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050" b="1" i="1" dirty="0">
                <a:solidFill>
                  <a:schemeClr val="tx1"/>
                </a:solidFill>
              </a:rPr>
              <a:t>Wenn man beispielsweise von einem Gegenstand den Preis nicht kennt und man versucht diesen zu erraten, werden die Schwingungen am Anfang größer sein (da man ja versucht so schnell wie möglich in einen möglichst genauen Bereich zu kommen). Nach 10-15 Fragen ist man dann tendenziell in einer sehr engen Range</a:t>
            </a:r>
            <a:endParaRPr lang="en-US" sz="1050" b="1" i="1" dirty="0">
              <a:solidFill>
                <a:schemeClr val="tx1"/>
              </a:solidFill>
            </a:endParaRPr>
          </a:p>
        </p:txBody>
      </p:sp>
      <p:sp>
        <p:nvSpPr>
          <p:cNvPr id="36" name="Rectangle: Rounded Corners 35">
            <a:extLst>
              <a:ext uri="{FF2B5EF4-FFF2-40B4-BE49-F238E27FC236}">
                <a16:creationId xmlns:a16="http://schemas.microsoft.com/office/drawing/2014/main" id="{8FE6371F-C877-4A67-A969-9474AA74C8B8}"/>
              </a:ext>
            </a:extLst>
          </p:cNvPr>
          <p:cNvSpPr/>
          <p:nvPr/>
        </p:nvSpPr>
        <p:spPr>
          <a:xfrm>
            <a:off x="4829174" y="4862632"/>
            <a:ext cx="6708405" cy="570135"/>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Thema Rheinfolge der Fragen relevant (stellt euch vor wenn die ersten 6 Fragen aus Gebieten kommen die euch besonders gut liegen)</a:t>
            </a:r>
            <a:endParaRPr lang="en-US" sz="1250" b="1" i="1" dirty="0">
              <a:solidFill>
                <a:schemeClr val="tx1"/>
              </a:solidFill>
            </a:endParaRPr>
          </a:p>
        </p:txBody>
      </p:sp>
      <p:sp>
        <p:nvSpPr>
          <p:cNvPr id="37" name="Rectangle: Rounded Corners 36">
            <a:extLst>
              <a:ext uri="{FF2B5EF4-FFF2-40B4-BE49-F238E27FC236}">
                <a16:creationId xmlns:a16="http://schemas.microsoft.com/office/drawing/2014/main" id="{C313776D-B049-47E2-A35A-67A4F8511F88}"/>
              </a:ext>
            </a:extLst>
          </p:cNvPr>
          <p:cNvSpPr/>
          <p:nvPr/>
        </p:nvSpPr>
        <p:spPr>
          <a:xfrm>
            <a:off x="8290379" y="3091830"/>
            <a:ext cx="3247200" cy="1637532"/>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050" b="1" i="1" dirty="0">
                <a:solidFill>
                  <a:schemeClr val="tx1"/>
                </a:solidFill>
              </a:rPr>
              <a:t>GMAT bestrafft das unbeantwortet lassen von Fragen. Gerüchte kursieren, dass 2-3 unbeantwortet Fragen bis zu 100 Punkte kosten kann. Andersrum, wenn man die letzten 4-5 Fragen (aus zeitlichen Gründen) einfach </a:t>
            </a:r>
            <a:r>
              <a:rPr lang="de-DE" sz="1050" b="1" i="1" dirty="0" err="1">
                <a:solidFill>
                  <a:schemeClr val="tx1"/>
                </a:solidFill>
              </a:rPr>
              <a:t>random</a:t>
            </a:r>
            <a:r>
              <a:rPr lang="de-DE" sz="1050" b="1" i="1" dirty="0">
                <a:solidFill>
                  <a:schemeClr val="tx1"/>
                </a:solidFill>
              </a:rPr>
              <a:t> anklickt, wird die „Bestrafung“ geringer sein. Wieso? Recht simple: Der Algorithmus hat zu diesem Zeitpunkt bereits einen guten Betrachtungswinkel auf euren Score</a:t>
            </a:r>
            <a:endParaRPr lang="en-US" sz="1050" b="1" i="1" dirty="0">
              <a:solidFill>
                <a:schemeClr val="tx1"/>
              </a:solidFill>
            </a:endParaRPr>
          </a:p>
        </p:txBody>
      </p:sp>
      <p:sp>
        <p:nvSpPr>
          <p:cNvPr id="38" name="Rectangle: Rounded Corners 37">
            <a:extLst>
              <a:ext uri="{FF2B5EF4-FFF2-40B4-BE49-F238E27FC236}">
                <a16:creationId xmlns:a16="http://schemas.microsoft.com/office/drawing/2014/main" id="{CF7FA7BB-2FC6-40AC-B222-F84771B4A568}"/>
              </a:ext>
            </a:extLst>
          </p:cNvPr>
          <p:cNvSpPr/>
          <p:nvPr/>
        </p:nvSpPr>
        <p:spPr>
          <a:xfrm>
            <a:off x="4829174" y="5566037"/>
            <a:ext cx="6708405" cy="605042"/>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250" b="1" i="1" dirty="0">
                <a:solidFill>
                  <a:schemeClr val="tx1"/>
                </a:solidFill>
              </a:rPr>
              <a:t>Somit wäre es auf jeden Fall ratsam, auf den ersten par Fragen etwas mehr Zeit zu verbringen, um sicherzustellen, dass man diese richtig hat und schnell in einem hohen Quantil landet</a:t>
            </a:r>
            <a:endParaRPr lang="en-US" sz="1250" b="1" i="1" dirty="0">
              <a:solidFill>
                <a:schemeClr val="tx1"/>
              </a:solidFill>
            </a:endParaRPr>
          </a:p>
        </p:txBody>
      </p:sp>
      <p:sp>
        <p:nvSpPr>
          <p:cNvPr id="17" name="AutoShape 28">
            <a:extLst>
              <a:ext uri="{FF2B5EF4-FFF2-40B4-BE49-F238E27FC236}">
                <a16:creationId xmlns:a16="http://schemas.microsoft.com/office/drawing/2014/main" id="{18DF3836-D247-43CE-8FBD-BA7210D1B1F1}"/>
              </a:ext>
            </a:extLst>
          </p:cNvPr>
          <p:cNvSpPr>
            <a:spLocks noChangeArrowheads="1"/>
          </p:cNvSpPr>
          <p:nvPr/>
        </p:nvSpPr>
        <p:spPr bwMode="auto">
          <a:xfrm rot="5400000">
            <a:off x="2113830" y="-457706"/>
            <a:ext cx="931259" cy="4156532"/>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„Dynamischer“ Test</a:t>
            </a:r>
            <a:endParaRPr lang="en-GB" sz="1600" b="1" dirty="0">
              <a:solidFill>
                <a:schemeClr val="bg1"/>
              </a:solidFill>
              <a:latin typeface="Calibri" panose="020F0502020204030204" pitchFamily="34" charset="0"/>
              <a:cs typeface="Arial" panose="020B0604020202020204" pitchFamily="34" charset="0"/>
            </a:endParaRPr>
          </a:p>
        </p:txBody>
      </p:sp>
      <p:sp>
        <p:nvSpPr>
          <p:cNvPr id="18" name="AutoShape 28">
            <a:extLst>
              <a:ext uri="{FF2B5EF4-FFF2-40B4-BE49-F238E27FC236}">
                <a16:creationId xmlns:a16="http://schemas.microsoft.com/office/drawing/2014/main" id="{F4111264-F22D-4C4C-9B85-1F89F136C573}"/>
              </a:ext>
            </a:extLst>
          </p:cNvPr>
          <p:cNvSpPr>
            <a:spLocks noChangeArrowheads="1"/>
          </p:cNvSpPr>
          <p:nvPr/>
        </p:nvSpPr>
        <p:spPr bwMode="auto">
          <a:xfrm rot="5400000">
            <a:off x="7717747" y="-1733642"/>
            <a:ext cx="931259" cy="6708404"/>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Rheinfolge der Fragen </a:t>
            </a:r>
            <a:endParaRPr lang="en-GB" sz="1600" b="1" dirty="0">
              <a:solidFill>
                <a:schemeClr val="bg1"/>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9554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30"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de-DE" dirty="0">
                <a:latin typeface="Calibri "/>
              </a:rPr>
              <a:t>Gut zu wissen – Fakten und Gedanken </a:t>
            </a:r>
            <a:r>
              <a:rPr lang="de-DE" i="1" dirty="0">
                <a:latin typeface="Calibri "/>
              </a:rPr>
              <a:t>(</a:t>
            </a:r>
            <a:r>
              <a:rPr lang="de-DE" i="1" dirty="0" err="1">
                <a:latin typeface="Calibri "/>
              </a:rPr>
              <a:t>Cont‘d</a:t>
            </a:r>
            <a:r>
              <a:rPr lang="de-DE" i="1" dirty="0">
                <a:latin typeface="Calibri "/>
              </a:rPr>
              <a:t>)</a:t>
            </a:r>
          </a:p>
        </p:txBody>
      </p:sp>
      <p:sp>
        <p:nvSpPr>
          <p:cNvPr id="16" name="Rectangle: Rounded Corners 15">
            <a:extLst>
              <a:ext uri="{FF2B5EF4-FFF2-40B4-BE49-F238E27FC236}">
                <a16:creationId xmlns:a16="http://schemas.microsoft.com/office/drawing/2014/main" id="{1670F784-4A77-460F-A3AD-C75516E3F564}"/>
              </a:ext>
            </a:extLst>
          </p:cNvPr>
          <p:cNvSpPr/>
          <p:nvPr/>
        </p:nvSpPr>
        <p:spPr>
          <a:xfrm>
            <a:off x="501192" y="2154782"/>
            <a:ext cx="5328109"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Die meisten Unis fokussieren sich auf den Score aus Quant und Verbal</a:t>
            </a:r>
            <a:endParaRPr lang="en-US" sz="1300" b="1" i="1" dirty="0">
              <a:solidFill>
                <a:schemeClr val="tx1"/>
              </a:solidFill>
            </a:endParaRPr>
          </a:p>
        </p:txBody>
      </p:sp>
      <p:sp>
        <p:nvSpPr>
          <p:cNvPr id="28" name="Rectangle: Rounded Corners 27">
            <a:extLst>
              <a:ext uri="{FF2B5EF4-FFF2-40B4-BE49-F238E27FC236}">
                <a16:creationId xmlns:a16="http://schemas.microsoft.com/office/drawing/2014/main" id="{70372CBB-0CED-44C9-B133-90B724527B57}"/>
              </a:ext>
            </a:extLst>
          </p:cNvPr>
          <p:cNvSpPr/>
          <p:nvPr/>
        </p:nvSpPr>
        <p:spPr>
          <a:xfrm>
            <a:off x="501193" y="3681462"/>
            <a:ext cx="5328108"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Integrated </a:t>
            </a:r>
            <a:r>
              <a:rPr lang="de-DE" sz="1300" b="1" i="1" dirty="0" err="1">
                <a:solidFill>
                  <a:schemeClr val="tx1"/>
                </a:solidFill>
              </a:rPr>
              <a:t>Reasoning</a:t>
            </a:r>
            <a:r>
              <a:rPr lang="de-DE" sz="1300" b="1" i="1" dirty="0">
                <a:solidFill>
                  <a:schemeClr val="tx1"/>
                </a:solidFill>
              </a:rPr>
              <a:t> ist im Vergleich zu dem Quant und Verbal weniger relevant und wird von Unis häufig vernachlässigt</a:t>
            </a:r>
            <a:endParaRPr lang="en-US" sz="1300" b="1" i="1" dirty="0">
              <a:solidFill>
                <a:schemeClr val="tx1"/>
              </a:solidFill>
            </a:endParaRPr>
          </a:p>
        </p:txBody>
      </p:sp>
      <p:sp>
        <p:nvSpPr>
          <p:cNvPr id="31" name="Rectangle: Rounded Corners 30">
            <a:extLst>
              <a:ext uri="{FF2B5EF4-FFF2-40B4-BE49-F238E27FC236}">
                <a16:creationId xmlns:a16="http://schemas.microsoft.com/office/drawing/2014/main" id="{27D309E0-2D24-4BB2-9EDA-53A8015541F0}"/>
              </a:ext>
            </a:extLst>
          </p:cNvPr>
          <p:cNvSpPr/>
          <p:nvPr/>
        </p:nvSpPr>
        <p:spPr>
          <a:xfrm>
            <a:off x="501193" y="5077032"/>
            <a:ext cx="5328108" cy="108000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Im GMAT kann man keine Fragen „</a:t>
            </a:r>
            <a:r>
              <a:rPr lang="de-DE" sz="1300" b="1" i="1" dirty="0" err="1">
                <a:solidFill>
                  <a:schemeClr val="tx1"/>
                </a:solidFill>
              </a:rPr>
              <a:t>skippen</a:t>
            </a:r>
            <a:r>
              <a:rPr lang="de-DE" sz="1300" b="1" i="1" dirty="0">
                <a:solidFill>
                  <a:schemeClr val="tx1"/>
                </a:solidFill>
              </a:rPr>
              <a:t>“. Jede Frage muss beantwortet werden – wenn auch nur durch zufälliges anklicken </a:t>
            </a:r>
            <a:endParaRPr lang="en-US" sz="1300" b="1" i="1" dirty="0">
              <a:solidFill>
                <a:schemeClr val="tx1"/>
              </a:solidFill>
            </a:endParaRPr>
          </a:p>
        </p:txBody>
      </p:sp>
      <p:sp>
        <p:nvSpPr>
          <p:cNvPr id="32" name="Rectangle: Rounded Corners 31">
            <a:extLst>
              <a:ext uri="{FF2B5EF4-FFF2-40B4-BE49-F238E27FC236}">
                <a16:creationId xmlns:a16="http://schemas.microsoft.com/office/drawing/2014/main" id="{13EC53C5-FF2D-43DC-AA35-D671E597EAEA}"/>
              </a:ext>
            </a:extLst>
          </p:cNvPr>
          <p:cNvSpPr/>
          <p:nvPr/>
        </p:nvSpPr>
        <p:spPr>
          <a:xfrm>
            <a:off x="6279223" y="2154782"/>
            <a:ext cx="5328001" cy="597943"/>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Die GMAT Hersteller müssen konstant neue Fragen testen</a:t>
            </a:r>
            <a:endParaRPr lang="en-US" sz="1300" b="1" i="1" dirty="0">
              <a:solidFill>
                <a:schemeClr val="tx1"/>
              </a:solidFill>
            </a:endParaRPr>
          </a:p>
        </p:txBody>
      </p:sp>
      <p:sp>
        <p:nvSpPr>
          <p:cNvPr id="39" name="Rectangle: Rounded Corners 38">
            <a:extLst>
              <a:ext uri="{FF2B5EF4-FFF2-40B4-BE49-F238E27FC236}">
                <a16:creationId xmlns:a16="http://schemas.microsoft.com/office/drawing/2014/main" id="{5BB61D80-3034-426D-9202-61FAD23C1283}"/>
              </a:ext>
            </a:extLst>
          </p:cNvPr>
          <p:cNvSpPr/>
          <p:nvPr/>
        </p:nvSpPr>
        <p:spPr>
          <a:xfrm>
            <a:off x="6279223" y="2977164"/>
            <a:ext cx="5328001" cy="766880"/>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Somit werden sie diese neuen Fragen im „echten“ GMAT Test, den Ihr dann macht einstreuen. Diese Fragen zählen nach Angaben von verschiedenen Quellen nicht in euren Score rein</a:t>
            </a:r>
            <a:endParaRPr lang="en-US" sz="1300" b="1" i="1" dirty="0">
              <a:solidFill>
                <a:schemeClr val="tx1"/>
              </a:solidFill>
            </a:endParaRPr>
          </a:p>
        </p:txBody>
      </p:sp>
      <p:sp>
        <p:nvSpPr>
          <p:cNvPr id="40" name="Rectangle: Rounded Corners 39">
            <a:extLst>
              <a:ext uri="{FF2B5EF4-FFF2-40B4-BE49-F238E27FC236}">
                <a16:creationId xmlns:a16="http://schemas.microsoft.com/office/drawing/2014/main" id="{505CBFDA-A610-4CED-A48D-AC25CEF8840F}"/>
              </a:ext>
            </a:extLst>
          </p:cNvPr>
          <p:cNvSpPr/>
          <p:nvPr/>
        </p:nvSpPr>
        <p:spPr>
          <a:xfrm>
            <a:off x="6279223" y="3968483"/>
            <a:ext cx="5328001" cy="1198227"/>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Weiterhin heißt es, dass bis zu 20% der Fragen im Test zu dieser Sorte gehört. Leider sieht man nicht welche Fragen das sind, weswegen wir das auch ruhig unbeachtet lassen können. Nur sollte man sich nicht verunsichern lassen, wenn auch einmal eine besonders leichte oder schwere Frage auftaucht</a:t>
            </a:r>
            <a:endParaRPr lang="en-US" sz="1300" b="1" i="1" dirty="0">
              <a:solidFill>
                <a:schemeClr val="tx1"/>
              </a:solidFill>
            </a:endParaRPr>
          </a:p>
        </p:txBody>
      </p:sp>
      <p:sp>
        <p:nvSpPr>
          <p:cNvPr id="42" name="Rectangle: Rounded Corners 41">
            <a:extLst>
              <a:ext uri="{FF2B5EF4-FFF2-40B4-BE49-F238E27FC236}">
                <a16:creationId xmlns:a16="http://schemas.microsoft.com/office/drawing/2014/main" id="{2BE79616-98AA-4B5C-B3AF-3FF0096C4306}"/>
              </a:ext>
            </a:extLst>
          </p:cNvPr>
          <p:cNvSpPr/>
          <p:nvPr/>
        </p:nvSpPr>
        <p:spPr>
          <a:xfrm>
            <a:off x="6279223" y="5391149"/>
            <a:ext cx="5328001" cy="722463"/>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Man sieht nicht welche Fragen „neu“ sind, weswegen wir das auch ruhig unbeachtet lassen können</a:t>
            </a:r>
            <a:endParaRPr lang="en-US" sz="1300" b="1" i="1" dirty="0">
              <a:solidFill>
                <a:schemeClr val="tx1"/>
              </a:solidFill>
            </a:endParaRPr>
          </a:p>
        </p:txBody>
      </p:sp>
      <p:sp>
        <p:nvSpPr>
          <p:cNvPr id="43" name="AutoShape 28">
            <a:extLst>
              <a:ext uri="{FF2B5EF4-FFF2-40B4-BE49-F238E27FC236}">
                <a16:creationId xmlns:a16="http://schemas.microsoft.com/office/drawing/2014/main" id="{905435F9-FE99-47F1-AA5E-1C6CBEC6D7E4}"/>
              </a:ext>
            </a:extLst>
          </p:cNvPr>
          <p:cNvSpPr>
            <a:spLocks noChangeArrowheads="1"/>
          </p:cNvSpPr>
          <p:nvPr/>
        </p:nvSpPr>
        <p:spPr bwMode="auto">
          <a:xfrm rot="5400000">
            <a:off x="2699618" y="-1043494"/>
            <a:ext cx="931259" cy="5328109"/>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Welcher Score zählt?</a:t>
            </a:r>
            <a:endParaRPr lang="en-GB" sz="1600" b="1" dirty="0">
              <a:solidFill>
                <a:schemeClr val="bg1"/>
              </a:solidFill>
              <a:latin typeface="Calibri" panose="020F0502020204030204" pitchFamily="34" charset="0"/>
              <a:cs typeface="Arial" panose="020B0604020202020204" pitchFamily="34" charset="0"/>
            </a:endParaRPr>
          </a:p>
        </p:txBody>
      </p:sp>
      <p:sp>
        <p:nvSpPr>
          <p:cNvPr id="46" name="AutoShape 28">
            <a:extLst>
              <a:ext uri="{FF2B5EF4-FFF2-40B4-BE49-F238E27FC236}">
                <a16:creationId xmlns:a16="http://schemas.microsoft.com/office/drawing/2014/main" id="{5264C6CD-6367-429E-A488-D707ED4541BB}"/>
              </a:ext>
            </a:extLst>
          </p:cNvPr>
          <p:cNvSpPr>
            <a:spLocks noChangeArrowheads="1"/>
          </p:cNvSpPr>
          <p:nvPr/>
        </p:nvSpPr>
        <p:spPr bwMode="auto">
          <a:xfrm rot="5400000">
            <a:off x="8442772" y="-1078263"/>
            <a:ext cx="931259" cy="5397647"/>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Neue Fragen</a:t>
            </a:r>
            <a:endParaRPr lang="en-GB" sz="1600" b="1" dirty="0">
              <a:solidFill>
                <a:schemeClr val="bg1"/>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17273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72"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de-DE" dirty="0">
                <a:latin typeface="Calibri "/>
              </a:rPr>
              <a:t>Strategie zum Erfolg </a:t>
            </a:r>
          </a:p>
        </p:txBody>
      </p:sp>
      <p:sp>
        <p:nvSpPr>
          <p:cNvPr id="27" name="Rectangle 26">
            <a:extLst>
              <a:ext uri="{FF2B5EF4-FFF2-40B4-BE49-F238E27FC236}">
                <a16:creationId xmlns:a16="http://schemas.microsoft.com/office/drawing/2014/main" id="{5282C98D-A661-4773-ACA4-BD8335EE29C2}"/>
              </a:ext>
            </a:extLst>
          </p:cNvPr>
          <p:cNvSpPr/>
          <p:nvPr/>
        </p:nvSpPr>
        <p:spPr>
          <a:xfrm>
            <a:off x="447675" y="1161817"/>
            <a:ext cx="11249025" cy="798373"/>
          </a:xfrm>
          <a:prstGeom prst="rect">
            <a:avLst/>
          </a:prstGeom>
          <a:solidFill>
            <a:srgbClr val="9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600" b="1" dirty="0">
                <a:solidFill>
                  <a:schemeClr val="bg1"/>
                </a:solidFill>
              </a:rPr>
              <a:t>Ziel der Vorbereitung sollte es die Struktur der Fragen zu verstehen</a:t>
            </a:r>
            <a:endParaRPr lang="en-US" sz="1600" b="1" dirty="0">
              <a:solidFill>
                <a:schemeClr val="bg1"/>
              </a:solidFill>
            </a:endParaRPr>
          </a:p>
        </p:txBody>
      </p:sp>
      <p:sp>
        <p:nvSpPr>
          <p:cNvPr id="44" name="Rectangle 4">
            <a:extLst>
              <a:ext uri="{FF2B5EF4-FFF2-40B4-BE49-F238E27FC236}">
                <a16:creationId xmlns:a16="http://schemas.microsoft.com/office/drawing/2014/main" id="{DFB3261E-D44F-44D2-B2DA-70D19A2DF9A4}"/>
              </a:ext>
            </a:extLst>
          </p:cNvPr>
          <p:cNvSpPr>
            <a:spLocks noChangeArrowheads="1"/>
          </p:cNvSpPr>
          <p:nvPr/>
        </p:nvSpPr>
        <p:spPr bwMode="gray">
          <a:xfrm>
            <a:off x="447674" y="1955846"/>
            <a:ext cx="11249025" cy="4195063"/>
          </a:xfrm>
          <a:prstGeom prst="rect">
            <a:avLst/>
          </a:prstGeom>
          <a:solidFill>
            <a:schemeClr val="bg1">
              <a:lumMod val="95000"/>
            </a:schemeClr>
          </a:solidFill>
          <a:ln w="12700">
            <a:noFill/>
            <a:miter lim="800000"/>
            <a:headEnd/>
            <a:tailEnd/>
          </a:ln>
        </p:spPr>
        <p:txBody>
          <a:bodyPr wrap="square" lIns="54000" tIns="54000" rIns="54000" bIns="54000" anchor="t" anchorCtr="0"/>
          <a:lstStyle/>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Der GMAT verwendet häufig die exakt selbe Fragestellung und ändert lediglich die Zahlen</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Sobald man die Struktur eines Fragentypen verstanden hat, macht es einen beim lösen der Aufgaben sehr viel schneller, sicherer und präziser</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Man kann besonders im Quant Teil die Aufgaben bestimmten Teilbereichen zuordnen. Jeder Teilbereich (z.B. Mischverhältnisse) hat dann wieder rum ein paar (schätzungsweise 3-8) unterschiedliche Aufgabentypen</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Diese Typen werden dann noch teilweise leicht angepasst (Mal rechnet man die Geschwindigkeit eines Autos und mal die eines Flugzeugs aus). Das sollte aber einem sofort auffallen, sobald man den Typus verstanden hat. </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Hier ist der GMAT Club besonders hilfreich</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Übung und konstantes wiederholen von Aufgaben ist ein wesentlicher Punkt des Erfolgs </a:t>
            </a:r>
          </a:p>
          <a:p>
            <a:pPr marL="285750" lvl="2" indent="-285750">
              <a:spcAft>
                <a:spcPts val="1800"/>
              </a:spcAft>
              <a:buFont typeface="Wingdings" panose="05000000000000000000" pitchFamily="2" charset="2"/>
              <a:buChar char="§"/>
            </a:pPr>
            <a:r>
              <a:rPr lang="de-DE" sz="1600" dirty="0">
                <a:latin typeface="Calibri" panose="020F0502020204030204" pitchFamily="34" charset="0"/>
                <a:cs typeface="Arial" panose="020B0604020202020204" pitchFamily="34" charset="0"/>
              </a:rPr>
              <a:t>Man sollte sich so oft wie möglich in einer Test Situation wiederfinden, in der man den ganzen Test unter den selben Bedingungen durchführt (also Pausen, Uhrzeit, etc.)</a:t>
            </a:r>
          </a:p>
          <a:p>
            <a:pPr marL="285750" lvl="2" indent="-285750">
              <a:spcAft>
                <a:spcPts val="1800"/>
              </a:spcAft>
              <a:buFont typeface="Wingdings" panose="05000000000000000000" pitchFamily="2" charset="2"/>
              <a:buChar char="§"/>
            </a:pPr>
            <a:endParaRPr lang="de-DE" sz="1600" dirty="0">
              <a:latin typeface="Calibri" panose="020F0502020204030204" pitchFamily="34" charset="0"/>
              <a:cs typeface="Arial" panose="020B0604020202020204" pitchFamily="34" charset="0"/>
            </a:endParaRPr>
          </a:p>
        </p:txBody>
      </p:sp>
      <p:sp>
        <p:nvSpPr>
          <p:cNvPr id="4" name="Isosceles Triangle 3">
            <a:extLst>
              <a:ext uri="{FF2B5EF4-FFF2-40B4-BE49-F238E27FC236}">
                <a16:creationId xmlns:a16="http://schemas.microsoft.com/office/drawing/2014/main" id="{ECAE73D4-3BE5-48EA-A4E4-379BE857C22B}"/>
              </a:ext>
            </a:extLst>
          </p:cNvPr>
          <p:cNvSpPr/>
          <p:nvPr/>
        </p:nvSpPr>
        <p:spPr>
          <a:xfrm rot="5400000">
            <a:off x="425450" y="2010709"/>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Isosceles Triangle 47">
            <a:extLst>
              <a:ext uri="{FF2B5EF4-FFF2-40B4-BE49-F238E27FC236}">
                <a16:creationId xmlns:a16="http://schemas.microsoft.com/office/drawing/2014/main" id="{23978889-B487-4158-BD72-7F68038714E0}"/>
              </a:ext>
            </a:extLst>
          </p:cNvPr>
          <p:cNvSpPr/>
          <p:nvPr/>
        </p:nvSpPr>
        <p:spPr>
          <a:xfrm rot="5400000">
            <a:off x="425450" y="2463567"/>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Isosceles Triangle 48">
            <a:extLst>
              <a:ext uri="{FF2B5EF4-FFF2-40B4-BE49-F238E27FC236}">
                <a16:creationId xmlns:a16="http://schemas.microsoft.com/office/drawing/2014/main" id="{ECC45316-D1B2-4FE5-BC10-A8C3FC8B0B2D}"/>
              </a:ext>
            </a:extLst>
          </p:cNvPr>
          <p:cNvSpPr/>
          <p:nvPr/>
        </p:nvSpPr>
        <p:spPr>
          <a:xfrm rot="5400000">
            <a:off x="425450" y="3205072"/>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Isosceles Triangle 49">
            <a:extLst>
              <a:ext uri="{FF2B5EF4-FFF2-40B4-BE49-F238E27FC236}">
                <a16:creationId xmlns:a16="http://schemas.microsoft.com/office/drawing/2014/main" id="{8772E2B5-D07E-408E-A672-1D3CC1E3E3FE}"/>
              </a:ext>
            </a:extLst>
          </p:cNvPr>
          <p:cNvSpPr/>
          <p:nvPr/>
        </p:nvSpPr>
        <p:spPr>
          <a:xfrm rot="5400000">
            <a:off x="425450" y="3928972"/>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16CACDF7-35A7-4F68-B545-FC601D70D88B}"/>
              </a:ext>
            </a:extLst>
          </p:cNvPr>
          <p:cNvSpPr/>
          <p:nvPr/>
        </p:nvSpPr>
        <p:spPr>
          <a:xfrm rot="5400000">
            <a:off x="425450" y="4646522"/>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Isosceles Triangle 51">
            <a:extLst>
              <a:ext uri="{FF2B5EF4-FFF2-40B4-BE49-F238E27FC236}">
                <a16:creationId xmlns:a16="http://schemas.microsoft.com/office/drawing/2014/main" id="{FA67A1BF-5AA8-46B6-BAD7-10C245051DAB}"/>
              </a:ext>
            </a:extLst>
          </p:cNvPr>
          <p:cNvSpPr/>
          <p:nvPr/>
        </p:nvSpPr>
        <p:spPr>
          <a:xfrm rot="5400000">
            <a:off x="425450" y="5084672"/>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72F4C11C-C19A-4EE9-97DD-6251C1FD1DDD}"/>
              </a:ext>
            </a:extLst>
          </p:cNvPr>
          <p:cNvSpPr/>
          <p:nvPr/>
        </p:nvSpPr>
        <p:spPr>
          <a:xfrm rot="5400000">
            <a:off x="425450" y="5570447"/>
            <a:ext cx="295275" cy="250828"/>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626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395" name="think-cell Slide" r:id="rId5" imgW="351" imgH="351" progId="TCLayout.ActiveDocument.1">
                  <p:embed/>
                </p:oleObj>
              </mc:Choice>
              <mc:Fallback>
                <p:oleObj name="think-cell Slide" r:id="rId5" imgW="351" imgH="351"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GB" sz="4000" dirty="0">
              <a:latin typeface="Calibri Light" panose="020F0302020204030204" pitchFamily="34" charset="0"/>
              <a:ea typeface="+mj-ea"/>
              <a:cs typeface="+mj-cs"/>
              <a:sym typeface="Calibri Light" panose="020F0302020204030204" pitchFamily="34" charset="0"/>
            </a:endParaRPr>
          </a:p>
        </p:txBody>
      </p:sp>
      <p:sp>
        <p:nvSpPr>
          <p:cNvPr id="10" name="Title 5">
            <a:extLst>
              <a:ext uri="{FF2B5EF4-FFF2-40B4-BE49-F238E27FC236}">
                <a16:creationId xmlns:a16="http://schemas.microsoft.com/office/drawing/2014/main" id="{517C2635-9C15-44DC-9564-5B72DE17E373}"/>
              </a:ext>
            </a:extLst>
          </p:cNvPr>
          <p:cNvSpPr txBox="1">
            <a:spLocks/>
          </p:cNvSpPr>
          <p:nvPr/>
        </p:nvSpPr>
        <p:spPr>
          <a:xfrm>
            <a:off x="178389" y="365125"/>
            <a:ext cx="10515600" cy="603251"/>
          </a:xfrm>
          <a:prstGeom prst="rect">
            <a:avLst/>
          </a:prstGeom>
        </p:spPr>
        <p:txBody>
          <a:bodyPr vert="horz" lIns="274320" tIns="45720" rIns="91440" bIns="45720" rtlCol="0" anchor="ctr">
            <a:normAutofit fontScale="90000" lnSpcReduction="10000"/>
          </a:bodyPr>
          <a:lstStyle>
            <a:lvl1pPr algn="l" defTabSz="914400" rtl="0" eaLnBrk="1" latinLnBrk="0" hangingPunct="1">
              <a:lnSpc>
                <a:spcPct val="90000"/>
              </a:lnSpc>
              <a:spcBef>
                <a:spcPct val="0"/>
              </a:spcBef>
              <a:buNone/>
              <a:defRPr lang="en-GB" sz="4400" kern="1200" dirty="0">
                <a:solidFill>
                  <a:schemeClr val="tx1"/>
                </a:solidFill>
                <a:latin typeface="+mj-lt"/>
                <a:ea typeface="+mj-ea"/>
                <a:cs typeface="+mj-cs"/>
              </a:defRPr>
            </a:lvl1pPr>
          </a:lstStyle>
          <a:p>
            <a:r>
              <a:rPr lang="de-DE" dirty="0">
                <a:latin typeface="Calibri "/>
              </a:rPr>
              <a:t>Vorbereitungsmaterialen</a:t>
            </a:r>
          </a:p>
        </p:txBody>
      </p:sp>
      <p:sp>
        <p:nvSpPr>
          <p:cNvPr id="5" name="AutoShape 28">
            <a:extLst>
              <a:ext uri="{FF2B5EF4-FFF2-40B4-BE49-F238E27FC236}">
                <a16:creationId xmlns:a16="http://schemas.microsoft.com/office/drawing/2014/main" id="{C16332B6-6874-4922-B5FA-5FDE09129519}"/>
              </a:ext>
            </a:extLst>
          </p:cNvPr>
          <p:cNvSpPr>
            <a:spLocks noChangeArrowheads="1"/>
          </p:cNvSpPr>
          <p:nvPr/>
        </p:nvSpPr>
        <p:spPr bwMode="auto">
          <a:xfrm rot="5400000">
            <a:off x="2740961" y="-1084838"/>
            <a:ext cx="931259" cy="5410798"/>
          </a:xfrm>
          <a:prstGeom prst="homePlate">
            <a:avLst>
              <a:gd name="adj" fmla="val 12016"/>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Bücher</a:t>
            </a:r>
            <a:endParaRPr lang="en-GB" sz="1600" b="1" dirty="0">
              <a:solidFill>
                <a:schemeClr val="bg1"/>
              </a:solidFill>
              <a:latin typeface="Calibri" panose="020F0502020204030204" pitchFamily="34" charset="0"/>
              <a:cs typeface="Arial" panose="020B0604020202020204" pitchFamily="34" charset="0"/>
            </a:endParaRPr>
          </a:p>
        </p:txBody>
      </p:sp>
      <p:sp>
        <p:nvSpPr>
          <p:cNvPr id="6" name="AutoShape 28">
            <a:extLst>
              <a:ext uri="{FF2B5EF4-FFF2-40B4-BE49-F238E27FC236}">
                <a16:creationId xmlns:a16="http://schemas.microsoft.com/office/drawing/2014/main" id="{5D96AA71-BC67-4B9A-9368-DC23F822E0D3}"/>
              </a:ext>
            </a:extLst>
          </p:cNvPr>
          <p:cNvSpPr>
            <a:spLocks noChangeArrowheads="1"/>
          </p:cNvSpPr>
          <p:nvPr/>
        </p:nvSpPr>
        <p:spPr bwMode="auto">
          <a:xfrm rot="5400000">
            <a:off x="8442772" y="-1078263"/>
            <a:ext cx="931259" cy="5397647"/>
          </a:xfrm>
          <a:prstGeom prst="homePlate">
            <a:avLst>
              <a:gd name="adj" fmla="val 12221"/>
            </a:avLst>
          </a:prstGeom>
          <a:solidFill>
            <a:srgbClr val="900000"/>
          </a:solidFill>
          <a:ln w="12700" algn="ctr">
            <a:solidFill>
              <a:srgbClr val="B23732"/>
            </a:solidFill>
            <a:miter lim="800000"/>
            <a:headEnd/>
            <a:tailEnd/>
          </a:ln>
        </p:spPr>
        <p:txBody>
          <a:bodyPr rot="10800000" vert="eaVert" wrap="square" lIns="54000" tIns="54000" rIns="54000" bIns="54000" anchor="ctr"/>
          <a:lstStyle/>
          <a:p>
            <a:pPr algn="ctr"/>
            <a:r>
              <a:rPr lang="de-DE" sz="1600" b="1" dirty="0">
                <a:solidFill>
                  <a:schemeClr val="bg1"/>
                </a:solidFill>
                <a:latin typeface="Calibri" panose="020F0502020204030204" pitchFamily="34" charset="0"/>
                <a:cs typeface="Arial" panose="020B0604020202020204" pitchFamily="34" charset="0"/>
              </a:rPr>
              <a:t>Online </a:t>
            </a:r>
            <a:endParaRPr lang="en-GB" sz="1600" b="1" dirty="0">
              <a:solidFill>
                <a:schemeClr val="bg1"/>
              </a:solidFill>
              <a:latin typeface="Calibri" panose="020F050202020403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34BD2980-EA88-4DAD-9BE9-19F0432CBF1A}"/>
              </a:ext>
            </a:extLst>
          </p:cNvPr>
          <p:cNvSpPr/>
          <p:nvPr/>
        </p:nvSpPr>
        <p:spPr>
          <a:xfrm>
            <a:off x="501193" y="5324475"/>
            <a:ext cx="11106031" cy="789138"/>
          </a:xfrm>
          <a:prstGeom prst="roundRect">
            <a:avLst/>
          </a:prstGeom>
          <a:solidFill>
            <a:srgbClr val="F2F2F2"/>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bIns="91440" rtlCol="0" anchor="ctr"/>
          <a:lstStyle/>
          <a:p>
            <a:pPr algn="ctr"/>
            <a:r>
              <a:rPr lang="de-DE" sz="1300" b="1" i="1" dirty="0">
                <a:solidFill>
                  <a:schemeClr val="tx1"/>
                </a:solidFill>
              </a:rPr>
              <a:t>Zur Vorbereitung würden wir eine Kombination aus Büchern und Online Quellen empfehlen. Vom Kauf der Offiziellen Bücher würden wir abraten. Hintergrund ist zum einen, dass man Online eine viel größere Auswahl an Fragen finden kann (inkl. aller Fragen aus dem Offiziellen Guide). Zum anderen sind die Fragen in dem Guide nicht nach Themengebieten oder Score-level strukturiert</a:t>
            </a:r>
            <a:endParaRPr lang="en-US" sz="1300" b="1" i="1" dirty="0">
              <a:solidFill>
                <a:schemeClr val="tx1"/>
              </a:solidFill>
            </a:endParaRPr>
          </a:p>
        </p:txBody>
      </p:sp>
      <p:sp>
        <p:nvSpPr>
          <p:cNvPr id="8" name="Freeform 26">
            <a:extLst>
              <a:ext uri="{FF2B5EF4-FFF2-40B4-BE49-F238E27FC236}">
                <a16:creationId xmlns:a16="http://schemas.microsoft.com/office/drawing/2014/main" id="{8B441B2E-94E0-4F84-AF12-AA7F5DD52FBA}"/>
              </a:ext>
            </a:extLst>
          </p:cNvPr>
          <p:cNvSpPr>
            <a:spLocks/>
          </p:cNvSpPr>
          <p:nvPr/>
        </p:nvSpPr>
        <p:spPr bwMode="auto">
          <a:xfrm>
            <a:off x="501194" y="2035386"/>
            <a:ext cx="5410800" cy="310811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pPr>
            <a:r>
              <a:rPr lang="de-DE" sz="1300" b="1" u="sng" dirty="0">
                <a:latin typeface="Calibri" panose="020F0502020204030204" pitchFamily="34" charset="0"/>
                <a:cs typeface="Arial" panose="020B0604020202020204" pitchFamily="34" charset="0"/>
              </a:rPr>
              <a:t>Manhattan </a:t>
            </a:r>
            <a:r>
              <a:rPr lang="de-DE" sz="1300" b="1" u="sng" dirty="0" err="1">
                <a:latin typeface="Calibri" panose="020F0502020204030204" pitchFamily="34" charset="0"/>
                <a:cs typeface="Arial" panose="020B0604020202020204" pitchFamily="34" charset="0"/>
              </a:rPr>
              <a:t>Prep</a:t>
            </a:r>
            <a:r>
              <a:rPr lang="de-DE" sz="1300" b="1" u="sng" dirty="0">
                <a:latin typeface="Calibri" panose="020F0502020204030204" pitchFamily="34" charset="0"/>
                <a:cs typeface="Arial" panose="020B0604020202020204" pitchFamily="34" charset="0"/>
              </a:rPr>
              <a:t>:</a:t>
            </a:r>
            <a:r>
              <a:rPr lang="de-DE" sz="1300" dirty="0">
                <a:latin typeface="Calibri" panose="020F0502020204030204" pitchFamily="34" charset="0"/>
                <a:cs typeface="Arial" panose="020B0604020202020204" pitchFamily="34" charset="0"/>
              </a:rPr>
              <a:t> </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Sehr gut für einen allgemeinen Überblick zum GMAT, Strategien und Aufbau</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Zudem hat die Auflage sehr gute Online </a:t>
            </a:r>
            <a:r>
              <a:rPr lang="de-DE" sz="1300" dirty="0" err="1">
                <a:latin typeface="Calibri" panose="020F0502020204030204" pitchFamily="34" charset="0"/>
                <a:cs typeface="Arial" panose="020B0604020202020204" pitchFamily="34" charset="0"/>
              </a:rPr>
              <a:t>Prep</a:t>
            </a:r>
            <a:r>
              <a:rPr lang="de-DE" sz="1300" dirty="0">
                <a:latin typeface="Calibri" panose="020F0502020204030204" pitchFamily="34" charset="0"/>
                <a:cs typeface="Arial" panose="020B0604020202020204" pitchFamily="34" charset="0"/>
              </a:rPr>
              <a:t> Tests die wirklich wertvoll bei der Vorbereitung sind</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Link: </a:t>
            </a:r>
            <a:r>
              <a:rPr lang="de-DE" sz="1300" dirty="0">
                <a:latin typeface="Calibri" panose="020F0502020204030204" pitchFamily="34" charset="0"/>
                <a:cs typeface="Arial" panose="020B0604020202020204" pitchFamily="34" charset="0"/>
                <a:hlinkClick r:id="rId7"/>
              </a:rPr>
              <a:t>https://www.manhattanprep.com/</a:t>
            </a:r>
            <a:endParaRPr lang="de-DE" sz="1300" dirty="0">
              <a:latin typeface="Calibri" panose="020F0502020204030204" pitchFamily="34" charset="0"/>
              <a:cs typeface="Arial" panose="020B0604020202020204" pitchFamily="34" charset="0"/>
            </a:endParaRPr>
          </a:p>
          <a:p>
            <a:pPr marL="216000" lvl="2" indent="-216000">
              <a:spcAft>
                <a:spcPts val="600"/>
              </a:spcAft>
              <a:buFont typeface="Wingdings" panose="05000000000000000000" pitchFamily="2" charset="2"/>
              <a:buChar char="§"/>
            </a:pPr>
            <a:r>
              <a:rPr lang="de-DE" sz="1300" b="1" dirty="0" err="1">
                <a:latin typeface="Calibri" panose="020F0502020204030204" pitchFamily="34" charset="0"/>
                <a:cs typeface="Arial" panose="020B0604020202020204" pitchFamily="34" charset="0"/>
              </a:rPr>
              <a:t>Cracking</a:t>
            </a:r>
            <a:r>
              <a:rPr lang="de-DE" sz="1300" b="1" dirty="0">
                <a:latin typeface="Calibri" panose="020F0502020204030204" pitchFamily="34" charset="0"/>
                <a:cs typeface="Arial" panose="020B0604020202020204" pitchFamily="34" charset="0"/>
              </a:rPr>
              <a:t> </a:t>
            </a:r>
            <a:r>
              <a:rPr lang="de-DE" sz="1300" b="1" dirty="0" err="1">
                <a:latin typeface="Calibri" panose="020F0502020204030204" pitchFamily="34" charset="0"/>
                <a:cs typeface="Arial" panose="020B0604020202020204" pitchFamily="34" charset="0"/>
              </a:rPr>
              <a:t>the</a:t>
            </a:r>
            <a:r>
              <a:rPr lang="de-DE" sz="1300" b="1" dirty="0">
                <a:latin typeface="Calibri" panose="020F0502020204030204" pitchFamily="34" charset="0"/>
                <a:cs typeface="Arial" panose="020B0604020202020204" pitchFamily="34" charset="0"/>
              </a:rPr>
              <a:t> GMAT</a:t>
            </a:r>
            <a:r>
              <a:rPr lang="de-DE" sz="1300" dirty="0">
                <a:latin typeface="Calibri" panose="020F0502020204030204" pitchFamily="34" charset="0"/>
                <a:cs typeface="Arial" panose="020B0604020202020204" pitchFamily="34" charset="0"/>
              </a:rPr>
              <a:t>: </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Unter anderem weitere </a:t>
            </a:r>
            <a:r>
              <a:rPr lang="de-DE" sz="1300" dirty="0" err="1">
                <a:latin typeface="Calibri" panose="020F0502020204030204" pitchFamily="34" charset="0"/>
                <a:cs typeface="Arial" panose="020B0604020202020204" pitchFamily="34" charset="0"/>
              </a:rPr>
              <a:t>Stretegien</a:t>
            </a:r>
            <a:r>
              <a:rPr lang="de-DE" sz="1300" dirty="0">
                <a:latin typeface="Calibri" panose="020F0502020204030204" pitchFamily="34" charset="0"/>
                <a:cs typeface="Arial" panose="020B0604020202020204" pitchFamily="34" charset="0"/>
              </a:rPr>
              <a:t> zum lösen von bestimmten Fragen</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 Gutes Preis-Leistungs-Verhältnis</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Link: </a:t>
            </a:r>
            <a:r>
              <a:rPr lang="de-DE" sz="1300" dirty="0">
                <a:latin typeface="Calibri" panose="020F0502020204030204" pitchFamily="34" charset="0"/>
                <a:cs typeface="Arial" panose="020B0604020202020204" pitchFamily="34" charset="0"/>
                <a:hlinkClick r:id="rId8"/>
              </a:rPr>
              <a:t>https://www.amazon.de/Cracking-Premium-Computer-Adaptive-Practice-Tests/dp/0451487567</a:t>
            </a:r>
            <a:endParaRPr lang="de-DE" sz="1300" dirty="0">
              <a:latin typeface="Calibri" panose="020F0502020204030204" pitchFamily="34" charset="0"/>
              <a:cs typeface="Arial" panose="020B0604020202020204" pitchFamily="34" charset="0"/>
            </a:endParaRPr>
          </a:p>
          <a:p>
            <a:pPr marL="216000" lvl="2" indent="-216000">
              <a:spcAft>
                <a:spcPts val="600"/>
              </a:spcAft>
              <a:buFont typeface="Wingdings" panose="05000000000000000000" pitchFamily="2" charset="2"/>
              <a:buChar char="§"/>
            </a:pPr>
            <a:endParaRPr lang="en-GB" sz="1300" dirty="0">
              <a:latin typeface="Calibri" panose="020F0502020204030204" pitchFamily="34" charset="0"/>
              <a:cs typeface="Arial" panose="020B0604020202020204" pitchFamily="34" charset="0"/>
            </a:endParaRPr>
          </a:p>
        </p:txBody>
      </p:sp>
      <p:sp>
        <p:nvSpPr>
          <p:cNvPr id="9" name="Freeform 26">
            <a:extLst>
              <a:ext uri="{FF2B5EF4-FFF2-40B4-BE49-F238E27FC236}">
                <a16:creationId xmlns:a16="http://schemas.microsoft.com/office/drawing/2014/main" id="{89B91280-812B-4849-9CAD-023EB637FF84}"/>
              </a:ext>
            </a:extLst>
          </p:cNvPr>
          <p:cNvSpPr>
            <a:spLocks/>
          </p:cNvSpPr>
          <p:nvPr/>
        </p:nvSpPr>
        <p:spPr bwMode="auto">
          <a:xfrm>
            <a:off x="6196425" y="2035386"/>
            <a:ext cx="5410800" cy="3108114"/>
          </a:xfrm>
          <a:custGeom>
            <a:avLst/>
            <a:gdLst>
              <a:gd name="T0" fmla="*/ 2147483647 w 2551"/>
              <a:gd name="T1" fmla="*/ 2147483647 h 2008"/>
              <a:gd name="T2" fmla="*/ 2147483647 w 2551"/>
              <a:gd name="T3" fmla="*/ 0 h 2008"/>
              <a:gd name="T4" fmla="*/ 2147483647 w 2551"/>
              <a:gd name="T5" fmla="*/ 2147483647 h 2008"/>
              <a:gd name="T6" fmla="*/ 0 w 2551"/>
              <a:gd name="T7" fmla="*/ 0 h 2008"/>
              <a:gd name="T8" fmla="*/ 0 w 2551"/>
              <a:gd name="T9" fmla="*/ 2147483647 h 2008"/>
              <a:gd name="T10" fmla="*/ 2147483647 w 2551"/>
              <a:gd name="T11" fmla="*/ 2147483647 h 2008"/>
              <a:gd name="T12" fmla="*/ 0 60000 65536"/>
              <a:gd name="T13" fmla="*/ 0 60000 65536"/>
              <a:gd name="T14" fmla="*/ 0 60000 65536"/>
              <a:gd name="T15" fmla="*/ 0 60000 65536"/>
              <a:gd name="T16" fmla="*/ 0 60000 65536"/>
              <a:gd name="T17" fmla="*/ 0 60000 65536"/>
              <a:gd name="T18" fmla="*/ 0 w 2551"/>
              <a:gd name="T19" fmla="*/ 0 h 2008"/>
              <a:gd name="T20" fmla="*/ 2551 w 2551"/>
              <a:gd name="T21" fmla="*/ 2008 h 2008"/>
              <a:gd name="connsiteX0" fmla="*/ 10000 w 10000"/>
              <a:gd name="connsiteY0" fmla="*/ 10000 h 10000"/>
              <a:gd name="connsiteX1" fmla="*/ 10000 w 10000"/>
              <a:gd name="connsiteY1" fmla="*/ 0 h 10000"/>
              <a:gd name="connsiteX2" fmla="*/ 5003 w 10000"/>
              <a:gd name="connsiteY2" fmla="*/ 360 h 10000"/>
              <a:gd name="connsiteX3" fmla="*/ 0 w 10000"/>
              <a:gd name="connsiteY3" fmla="*/ 0 h 10000"/>
              <a:gd name="connsiteX4" fmla="*/ 0 w 10000"/>
              <a:gd name="connsiteY4" fmla="*/ 10000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10000"/>
                </a:moveTo>
                <a:lnTo>
                  <a:pt x="10000" y="0"/>
                </a:lnTo>
                <a:lnTo>
                  <a:pt x="5003" y="360"/>
                </a:lnTo>
                <a:lnTo>
                  <a:pt x="0" y="0"/>
                </a:lnTo>
                <a:lnTo>
                  <a:pt x="0" y="10000"/>
                </a:lnTo>
                <a:lnTo>
                  <a:pt x="10000" y="10000"/>
                </a:lnTo>
              </a:path>
            </a:pathLst>
          </a:custGeom>
          <a:solidFill>
            <a:schemeClr val="bg1">
              <a:lumMod val="95000"/>
            </a:schemeClr>
          </a:solidFill>
          <a:ln w="12700" cmpd="sng">
            <a:noFill/>
            <a:prstDash val="solid"/>
            <a:round/>
            <a:headEnd/>
            <a:tailEnd/>
          </a:ln>
        </p:spPr>
        <p:txBody>
          <a:bodyPr wrap="square" lIns="54000" tIns="216000" rIns="54000" bIns="54000"/>
          <a:lstStyle/>
          <a:p>
            <a:pPr marL="216000" lvl="2" indent="-216000">
              <a:spcAft>
                <a:spcPts val="600"/>
              </a:spcAft>
              <a:buFont typeface="Wingdings" panose="05000000000000000000" pitchFamily="2" charset="2"/>
              <a:buChar char="§"/>
            </a:pPr>
            <a:r>
              <a:rPr lang="de-DE" sz="1300" b="1" u="sng" dirty="0">
                <a:latin typeface="Calibri" panose="020F0502020204030204" pitchFamily="34" charset="0"/>
                <a:cs typeface="Arial" panose="020B0604020202020204" pitchFamily="34" charset="0"/>
              </a:rPr>
              <a:t>GMAT-Club</a:t>
            </a:r>
            <a:r>
              <a:rPr lang="de-DE" sz="1300" dirty="0">
                <a:latin typeface="Calibri" panose="020F0502020204030204" pitchFamily="34" charset="0"/>
                <a:cs typeface="Arial" panose="020B0604020202020204" pitchFamily="34" charset="0"/>
              </a:rPr>
              <a:t>: </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Ist aufgebaut wie ein Forum</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Man hat hier die gesammelten Fragen aus allen möglichen Quellen, die dann nach Themengebieten (also beispielweise Mischungsverhältnisse, Geschwindigkeiten, etc.) aber auch nach Schwierigkeiten (also Score Level) strukturiert sind</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Dadurch dass es wie ein Forum aufgebaut ist, posten Leute ausführlich und ganz wichtig auch unterschiedliche Lösungsansätze</a:t>
            </a:r>
          </a:p>
          <a:p>
            <a:pPr marL="447675" lvl="3" indent="-180975">
              <a:spcAft>
                <a:spcPts val="600"/>
              </a:spcAft>
              <a:buFont typeface="Wingdings" panose="05000000000000000000" pitchFamily="2" charset="2"/>
              <a:buChar char="§"/>
            </a:pPr>
            <a:r>
              <a:rPr lang="de-DE" sz="1300" dirty="0">
                <a:latin typeface="Calibri" panose="020F0502020204030204" pitchFamily="34" charset="0"/>
                <a:cs typeface="Arial" panose="020B0604020202020204" pitchFamily="34" charset="0"/>
              </a:rPr>
              <a:t>Man kann den eigenen Weg immer mit einer Lösung von jemand anderem vergleichen und so das eigene Vorgehen optimieren</a:t>
            </a:r>
          </a:p>
          <a:p>
            <a:pPr marL="447675" lvl="3" indent="-180975">
              <a:spcAft>
                <a:spcPts val="600"/>
              </a:spcAft>
              <a:buFont typeface="Wingdings" panose="05000000000000000000" pitchFamily="2" charset="2"/>
              <a:buChar char="§"/>
            </a:pPr>
            <a:r>
              <a:rPr lang="en-GB" sz="1300" dirty="0">
                <a:latin typeface="Calibri" panose="020F0502020204030204" pitchFamily="34" charset="0"/>
                <a:cs typeface="Arial" panose="020B0604020202020204" pitchFamily="34" charset="0"/>
              </a:rPr>
              <a:t>Link: </a:t>
            </a:r>
            <a:r>
              <a:rPr lang="en-GB" sz="1300" dirty="0">
                <a:latin typeface="Calibri" panose="020F0502020204030204" pitchFamily="34" charset="0"/>
                <a:cs typeface="Arial" panose="020B0604020202020204" pitchFamily="34" charset="0"/>
                <a:hlinkClick r:id="rId9"/>
              </a:rPr>
              <a:t>https://gmatclub.com/</a:t>
            </a:r>
            <a:endParaRPr lang="de-DE" sz="1300" dirty="0">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335475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FHrwhp9Tes.aC0wertfHf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YUWOulDQajhxf6_G.XfH3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e1TgHU8LR2GTBjYGHhSpcw"/>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3480</Words>
  <Application>Microsoft Office PowerPoint</Application>
  <PresentationFormat>Widescreen</PresentationFormat>
  <Paragraphs>206</Paragraphs>
  <Slides>11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9" baseType="lpstr">
      <vt:lpstr>Arial</vt:lpstr>
      <vt:lpstr>Calibri</vt:lpstr>
      <vt:lpstr>Calibri </vt:lpstr>
      <vt:lpstr>Calibri Light</vt:lpstr>
      <vt:lpstr>inherit</vt:lpstr>
      <vt:lpstr>Wingdings</vt:lpstr>
      <vt:lpstr>Office Theme</vt:lpstr>
      <vt:lpstr>think-cell Slide</vt:lpstr>
      <vt:lpstr>PowerPoint Presentation</vt:lpstr>
      <vt:lpstr>Agenda – Cracking the GMAT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Cinven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Viktor Stoll</dc:creator>
  <cp:lastModifiedBy>Stoll, Viktor</cp:lastModifiedBy>
  <cp:revision>169</cp:revision>
  <dcterms:created xsi:type="dcterms:W3CDTF">2019-02-11T17:36:58Z</dcterms:created>
  <dcterms:modified xsi:type="dcterms:W3CDTF">2020-06-02T07:31:17Z</dcterms:modified>
</cp:coreProperties>
</file>