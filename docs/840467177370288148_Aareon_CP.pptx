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A1"/>
    <a:srgbClr val="9F91EE"/>
    <a:srgbClr val="D24A74"/>
    <a:srgbClr val="22B8BE"/>
    <a:srgbClr val="3EA0FB"/>
    <a:srgbClr val="E3F4F6"/>
    <a:srgbClr val="163B6C"/>
    <a:srgbClr val="0777CB"/>
    <a:srgbClr val="0781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85"/>
    <p:restoredTop sz="89101"/>
  </p:normalViewPr>
  <p:slideViewPr>
    <p:cSldViewPr snapToGrid="0" snapToObjects="1">
      <p:cViewPr varScale="1">
        <p:scale>
          <a:sx n="105" d="100"/>
          <a:sy n="105" d="100"/>
        </p:scale>
        <p:origin x="224" y="272"/>
      </p:cViewPr>
      <p:guideLst/>
    </p:cSldViewPr>
  </p:slideViewPr>
  <p:notesTextViewPr>
    <p:cViewPr>
      <p:scale>
        <a:sx n="1" d="1"/>
        <a:sy n="1" d="1"/>
      </p:scale>
      <p:origin x="0" y="-7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2976A8-4963-AB43-B707-1BE78C464FD2}" type="datetimeFigureOut">
              <a:rPr lang="en-GB" smtClean="0"/>
              <a:t>08/05/2021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406B7D-CE42-8F43-8584-61FC7B8202D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9632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Sources: </a:t>
            </a:r>
          </a:p>
          <a:p>
            <a:r>
              <a:rPr lang="en-GB" dirty="0"/>
              <a:t>Management: Annual Report 2020 page 17</a:t>
            </a:r>
          </a:p>
          <a:p>
            <a:r>
              <a:rPr lang="en-GB" dirty="0"/>
              <a:t>Shareholdings: </a:t>
            </a:r>
            <a:r>
              <a:rPr lang="en-GB" dirty="0" err="1"/>
              <a:t>Aareal</a:t>
            </a:r>
            <a:r>
              <a:rPr lang="en-GB" dirty="0"/>
              <a:t> Homepage: https://</a:t>
            </a:r>
            <a:r>
              <a:rPr lang="en-GB" dirty="0" err="1"/>
              <a:t>www.aareon.com</a:t>
            </a:r>
            <a:r>
              <a:rPr lang="en-GB" dirty="0"/>
              <a:t>/</a:t>
            </a:r>
            <a:r>
              <a:rPr lang="en-GB" dirty="0" err="1"/>
              <a:t>sixcms</a:t>
            </a:r>
            <a:r>
              <a:rPr lang="en-GB" dirty="0"/>
              <a:t>/</a:t>
            </a:r>
            <a:r>
              <a:rPr lang="en-GB" dirty="0" err="1"/>
              <a:t>detail.php</a:t>
            </a:r>
            <a:r>
              <a:rPr lang="en-GB" dirty="0"/>
              <a:t>/141023</a:t>
            </a:r>
          </a:p>
          <a:p>
            <a:r>
              <a:rPr lang="en-GB" dirty="0"/>
              <a:t>Key Financials: Annual Report page 4</a:t>
            </a:r>
          </a:p>
          <a:p>
            <a:r>
              <a:rPr lang="en-GB" dirty="0"/>
              <a:t>Company description: Annual Report 2020 page 6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06B7D-CE42-8F43-8584-61FC7B8202D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3133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2CD16D-6C47-C64A-A3BD-77335A1C3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3290A11-6A81-FF4A-AAA0-CAB072BE74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0498F1-949D-0841-8D05-634154D71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D4F59-A1B5-5940-B0E7-01B72FC4C9E7}" type="datetimeFigureOut">
              <a:rPr lang="en-GB" smtClean="0"/>
              <a:t>08/05/2021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4CC24C-0EAF-064E-BC04-6FCE55A97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BF4709-0C1A-4D46-920D-6DE4A09B4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75CE-81EF-FC48-AF55-BCC6DB0D97C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6407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ED3FA4-A50D-8347-8B90-F8A158130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DB45B8-F088-3A4F-8051-119AAAAB5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9C7379-B709-614D-9D41-46A952B4F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D4F59-A1B5-5940-B0E7-01B72FC4C9E7}" type="datetimeFigureOut">
              <a:rPr lang="en-GB" smtClean="0"/>
              <a:t>08/05/2021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C4EDD7-94CE-284E-B2C2-4F4A36D21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62B5F8-9DB6-7B48-BBDB-D6FDDA0C0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75CE-81EF-FC48-AF55-BCC6DB0D97C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939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292579-5E61-A24C-ACC6-704C16D86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A23583B-B791-2C40-88B8-6BAE241B1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7488AE-C5FE-3D49-B371-34895519A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D4F59-A1B5-5940-B0E7-01B72FC4C9E7}" type="datetimeFigureOut">
              <a:rPr lang="en-GB" smtClean="0"/>
              <a:t>08/05/2021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738313-0B5D-5D47-946A-EC185060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969AF6-0BF8-D045-B840-C7A96469F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75CE-81EF-FC48-AF55-BCC6DB0D97C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3664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333EF8-8F53-9547-9E44-F8897A538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4FC7DE-B47C-FE43-99A6-28A7F83804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F5A86CE-6F75-AD43-8F9F-24A524CC6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9D5A25-9ADF-BE4E-8192-F13218916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D4F59-A1B5-5940-B0E7-01B72FC4C9E7}" type="datetimeFigureOut">
              <a:rPr lang="en-GB" smtClean="0"/>
              <a:t>08/05/2021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85721FA-2096-F74E-B375-42768A2B6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D9BC8D-924D-3C44-8C1F-4897F9891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75CE-81EF-FC48-AF55-BCC6DB0D97C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049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490FD5-A83E-CB46-9347-2E7A4C799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7FF496-7DCF-684E-B2C9-FB991CF80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F51E1CC-7E4A-1547-817D-91F46CF3E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E05D2F2-56C4-3E43-B2D4-A19E3DAD74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63D81F7-EC70-8943-BD58-A6892FC077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37B3C8E-4741-E443-9B60-B51A726FF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D4F59-A1B5-5940-B0E7-01B72FC4C9E7}" type="datetimeFigureOut">
              <a:rPr lang="en-GB" smtClean="0"/>
              <a:t>08/05/2021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80F74-9805-6D4D-B240-01AC51F7D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F07F10D-F6DB-3349-A735-9CD5828BD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75CE-81EF-FC48-AF55-BCC6DB0D97C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6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48DED4-785F-5342-A52D-6892FFC66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21A6DCB-8475-894F-B20F-FAC0BB6A6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D4F59-A1B5-5940-B0E7-01B72FC4C9E7}" type="datetimeFigureOut">
              <a:rPr lang="en-GB" smtClean="0"/>
              <a:t>08/05/2021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72AD3A1-A092-824A-9BE6-E98F5984C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E0D7C0B-362B-6B49-BFC6-2F16E7A3C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75CE-81EF-FC48-AF55-BCC6DB0D97C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057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1C8CCB3-FBA4-4C4A-B3A7-B71962F26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D4F59-A1B5-5940-B0E7-01B72FC4C9E7}" type="datetimeFigureOut">
              <a:rPr lang="en-GB" smtClean="0"/>
              <a:t>08/05/2021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7F9806F-6742-9144-B144-EE4AD7FB6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88BA39-5791-BB4B-84E4-865A7F0B5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75CE-81EF-FC48-AF55-BCC6DB0D97C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3555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0D1675-F900-0348-94FF-625661B0F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DFBA27-C308-0D41-92F5-B16587EA2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E9BF954-3EBF-9244-AF09-3131ECD5B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4887DC-B2E8-FC45-A041-647FCAC27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D4F59-A1B5-5940-B0E7-01B72FC4C9E7}" type="datetimeFigureOut">
              <a:rPr lang="en-GB" smtClean="0"/>
              <a:t>08/05/2021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5E5F441-A168-FD48-AE86-3C6D86551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D64FFCE-5CF9-B84B-B4CA-C77D6FE1A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75CE-81EF-FC48-AF55-BCC6DB0D97C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3161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3C92DB-F4BA-414E-AE9C-C93BFCDEF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24FC7E5-5DBD-EF41-BCEE-E3DA20DAE7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AE90FA8-E510-9E46-894F-D269A5629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910E4A1-0B1A-274C-92E3-D9C3B87BA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D4F59-A1B5-5940-B0E7-01B72FC4C9E7}" type="datetimeFigureOut">
              <a:rPr lang="en-GB" smtClean="0"/>
              <a:t>08/05/2021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CEC4F6E-E61D-4342-BA38-60773FA93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B49BFC6-4219-EB49-8605-55DE48882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75CE-81EF-FC48-AF55-BCC6DB0D97C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627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EAD737-FF2D-984A-8C7F-9DFF6BB3B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714A6B3-A7EF-F640-B832-512C267DC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389ACF-C746-5C49-8775-1FB49E264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D4F59-A1B5-5940-B0E7-01B72FC4C9E7}" type="datetimeFigureOut">
              <a:rPr lang="en-GB" smtClean="0"/>
              <a:t>08/05/2021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F603C3-2FB0-6542-A32D-16C9FDCB6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0B122D-82EB-D34E-AB3C-16E64F25C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75CE-81EF-FC48-AF55-BCC6DB0D97C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94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BB54727-7FEE-1C44-A4FF-09128F8452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115CF9A-7BDE-8645-BA3D-F2CCB0182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794F2A-1080-BC4A-99DE-6D06A1369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D4F59-A1B5-5940-B0E7-01B72FC4C9E7}" type="datetimeFigureOut">
              <a:rPr lang="en-GB" smtClean="0"/>
              <a:t>08/05/2021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6EC122-3A70-3149-A1BA-AEE0E1A3C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CBB952-CD30-8A4C-9B4A-2A696E636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75CE-81EF-FC48-AF55-BCC6DB0D97C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4642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433FAB1-B3EB-434B-8AE4-6AB217681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25387BB-C722-ED4E-90A9-68EDA5208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896615-961B-2447-BBED-1B615BB321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D4F59-A1B5-5940-B0E7-01B72FC4C9E7}" type="datetimeFigureOut">
              <a:rPr lang="en-GB" smtClean="0"/>
              <a:t>08/05/2021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46B654-A97B-9D4D-A79D-B3E57990EB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07CDC4-9DE2-8048-93F9-F33C8BD2A0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75CE-81EF-FC48-AF55-BCC6DB0D97C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6145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45CFADC5-B8EE-814B-A8EC-C2E7095DEAC9}"/>
              </a:ext>
            </a:extLst>
          </p:cNvPr>
          <p:cNvSpPr txBox="1"/>
          <p:nvPr/>
        </p:nvSpPr>
        <p:spPr>
          <a:xfrm>
            <a:off x="415881" y="657455"/>
            <a:ext cx="5378230" cy="369332"/>
          </a:xfrm>
          <a:prstGeom prst="rect">
            <a:avLst/>
          </a:prstGeom>
          <a:solidFill>
            <a:srgbClr val="005AA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b="1" dirty="0">
                <a:solidFill>
                  <a:schemeClr val="bg1"/>
                </a:solidFill>
              </a:rPr>
              <a:t>Company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en-AU" b="1" dirty="0">
                <a:solidFill>
                  <a:schemeClr val="bg1"/>
                </a:solidFill>
              </a:rPr>
              <a:t>Description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6CC9BE5-5D6E-714A-AC0B-D49441A50C01}"/>
              </a:ext>
            </a:extLst>
          </p:cNvPr>
          <p:cNvSpPr txBox="1"/>
          <p:nvPr/>
        </p:nvSpPr>
        <p:spPr>
          <a:xfrm>
            <a:off x="415881" y="3698531"/>
            <a:ext cx="5378231" cy="369332"/>
          </a:xfrm>
          <a:prstGeom prst="rect">
            <a:avLst/>
          </a:prstGeom>
          <a:solidFill>
            <a:srgbClr val="005AA1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solidFill>
                  <a:schemeClr val="bg1"/>
                </a:solidFill>
              </a:rPr>
              <a:t>Management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5AC8A8D-4E43-E643-8C9A-85F6467818F0}"/>
              </a:ext>
            </a:extLst>
          </p:cNvPr>
          <p:cNvSpPr txBox="1"/>
          <p:nvPr/>
        </p:nvSpPr>
        <p:spPr>
          <a:xfrm>
            <a:off x="6397886" y="657455"/>
            <a:ext cx="5513167" cy="369332"/>
          </a:xfrm>
          <a:prstGeom prst="rect">
            <a:avLst/>
          </a:prstGeom>
          <a:solidFill>
            <a:srgbClr val="005AA1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solidFill>
                  <a:schemeClr val="bg1"/>
                </a:solidFill>
              </a:rPr>
              <a:t>Key </a:t>
            </a:r>
            <a:r>
              <a:rPr lang="de-DE" b="1" dirty="0" err="1">
                <a:solidFill>
                  <a:schemeClr val="bg1"/>
                </a:solidFill>
              </a:rPr>
              <a:t>Financials</a:t>
            </a:r>
            <a:endParaRPr lang="de-DE" b="1" dirty="0">
              <a:solidFill>
                <a:schemeClr val="bg1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8A961A7-529B-DD4F-976D-D9A9B05C3596}"/>
              </a:ext>
            </a:extLst>
          </p:cNvPr>
          <p:cNvSpPr txBox="1"/>
          <p:nvPr/>
        </p:nvSpPr>
        <p:spPr>
          <a:xfrm>
            <a:off x="6397889" y="3698531"/>
            <a:ext cx="5513164" cy="369332"/>
          </a:xfrm>
          <a:prstGeom prst="rect">
            <a:avLst/>
          </a:prstGeom>
          <a:solidFill>
            <a:srgbClr val="005AA1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solidFill>
                  <a:schemeClr val="bg1"/>
                </a:solidFill>
              </a:rPr>
              <a:t>Shareholdings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B599DC85-957B-8648-AC4B-EAD39F0F2FF1}"/>
              </a:ext>
            </a:extLst>
          </p:cNvPr>
          <p:cNvSpPr txBox="1"/>
          <p:nvPr/>
        </p:nvSpPr>
        <p:spPr>
          <a:xfrm>
            <a:off x="1498255" y="4485570"/>
            <a:ext cx="17960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Dr. Manfred </a:t>
            </a:r>
            <a:r>
              <a:rPr lang="en-AU" sz="1400" dirty="0" err="1"/>
              <a:t>Alflen</a:t>
            </a:r>
            <a:r>
              <a:rPr lang="en-AU" sz="1400" dirty="0"/>
              <a:t>, CEO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2AEA24CE-E056-2440-AB53-84CE902A8BD2}"/>
              </a:ext>
            </a:extLst>
          </p:cNvPr>
          <p:cNvSpPr txBox="1"/>
          <p:nvPr/>
        </p:nvSpPr>
        <p:spPr>
          <a:xfrm>
            <a:off x="1018828" y="5424587"/>
            <a:ext cx="1191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Sabine Fischer, CMO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3E91951F-78B7-8846-8760-9C3374C894CD}"/>
              </a:ext>
            </a:extLst>
          </p:cNvPr>
          <p:cNvSpPr txBox="1"/>
          <p:nvPr/>
        </p:nvSpPr>
        <p:spPr>
          <a:xfrm>
            <a:off x="415880" y="1106237"/>
            <a:ext cx="5378231" cy="2592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300" dirty="0"/>
              <a:t>Aareon, founded in 1957 and headquartered in Mainz, Germany, is the leading provider of enterprise resource planning systems for the European real estate sector..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300" dirty="0"/>
              <a:t>In 2020 3.000 customers have bin served, which manage more than 3 Million entities with Aaron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300" dirty="0"/>
              <a:t>Aareon serves customers in the DACH region as well as Finland, France, Great-Britain, the Netherlands and Sweden.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300" dirty="0"/>
              <a:t>Aareon currently occupies around 1795 employees of different nationalities and cultures.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300" dirty="0"/>
              <a:t>News: Aareal Bank AG sold a minority stake (30%) of Aareon to Advent International in 2020. The Partnership with Advent hopes to strengthen the market position of Aareon.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3D14CC5A-9451-0243-8F18-AD303D85CBF3}"/>
              </a:ext>
            </a:extLst>
          </p:cNvPr>
          <p:cNvSpPr txBox="1"/>
          <p:nvPr/>
        </p:nvSpPr>
        <p:spPr>
          <a:xfrm>
            <a:off x="360458" y="29766"/>
            <a:ext cx="4343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005AA1"/>
                </a:solidFill>
              </a:rPr>
              <a:t>Company Profile Aareon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DA5695B-1856-6641-BB15-F162D8058A53}"/>
              </a:ext>
            </a:extLst>
          </p:cNvPr>
          <p:cNvSpPr txBox="1"/>
          <p:nvPr/>
        </p:nvSpPr>
        <p:spPr>
          <a:xfrm>
            <a:off x="42197" y="6197891"/>
            <a:ext cx="61255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Sources: </a:t>
            </a:r>
          </a:p>
          <a:p>
            <a:r>
              <a:rPr lang="en-GB" sz="1200" dirty="0"/>
              <a:t>Management: Annual Report 2020 page 17</a:t>
            </a:r>
          </a:p>
          <a:p>
            <a:r>
              <a:rPr lang="en-GB" sz="1200" dirty="0"/>
              <a:t>Company description: Annual Report 2020 page 6</a:t>
            </a:r>
          </a:p>
        </p:txBody>
      </p:sp>
      <p:pic>
        <p:nvPicPr>
          <p:cNvPr id="17" name="Grafik 16" descr="Ein Bild, das Person, Mann, Anzug, stehend enthält.&#10;&#10;Automatisch generierte Beschreibung">
            <a:extLst>
              <a:ext uri="{FF2B5EF4-FFF2-40B4-BE49-F238E27FC236}">
                <a16:creationId xmlns:a16="http://schemas.microsoft.com/office/drawing/2014/main" id="{CD21BCC0-EFD1-484E-B90E-95459863B5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194" t="3142" r="23916" b="20835"/>
          <a:stretch/>
        </p:blipFill>
        <p:spPr>
          <a:xfrm>
            <a:off x="524012" y="4291915"/>
            <a:ext cx="833690" cy="835896"/>
          </a:xfrm>
          <a:prstGeom prst="ellipse">
            <a:avLst/>
          </a:prstGeom>
        </p:spPr>
      </p:pic>
      <p:pic>
        <p:nvPicPr>
          <p:cNvPr id="19" name="Grafik 18" descr="Ein Bild, das Person, Wand, drinnen enthält.&#10;&#10;Automatisch generierte Beschreibung">
            <a:extLst>
              <a:ext uri="{FF2B5EF4-FFF2-40B4-BE49-F238E27FC236}">
                <a16:creationId xmlns:a16="http://schemas.microsoft.com/office/drawing/2014/main" id="{C733E37A-5941-6D40-AF01-6AD436ADE73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98" t="4037" r="18027" b="19940"/>
          <a:stretch/>
        </p:blipFill>
        <p:spPr>
          <a:xfrm>
            <a:off x="172086" y="5266639"/>
            <a:ext cx="837268" cy="838972"/>
          </a:xfrm>
          <a:prstGeom prst="ellipse">
            <a:avLst/>
          </a:prstGeom>
        </p:spPr>
      </p:pic>
      <p:pic>
        <p:nvPicPr>
          <p:cNvPr id="24" name="Grafik 23" descr="Ein Bild, das Person, Mann, Anzug, Kleidung enthält.&#10;&#10;Automatisch generierte Beschreibung">
            <a:extLst>
              <a:ext uri="{FF2B5EF4-FFF2-40B4-BE49-F238E27FC236}">
                <a16:creationId xmlns:a16="http://schemas.microsoft.com/office/drawing/2014/main" id="{13EDEE67-A909-C741-BA70-E4DB5BB966E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248" t="4957" r="13823" b="15186"/>
          <a:stretch/>
        </p:blipFill>
        <p:spPr>
          <a:xfrm>
            <a:off x="4105618" y="5231207"/>
            <a:ext cx="833689" cy="834824"/>
          </a:xfrm>
          <a:prstGeom prst="ellipse">
            <a:avLst/>
          </a:prstGeom>
        </p:spPr>
      </p:pic>
      <p:sp>
        <p:nvSpPr>
          <p:cNvPr id="46" name="Textfeld 45">
            <a:extLst>
              <a:ext uri="{FF2B5EF4-FFF2-40B4-BE49-F238E27FC236}">
                <a16:creationId xmlns:a16="http://schemas.microsoft.com/office/drawing/2014/main" id="{5F3728A8-1A0E-EB48-9063-5C53396F5817}"/>
              </a:ext>
            </a:extLst>
          </p:cNvPr>
          <p:cNvSpPr txBox="1"/>
          <p:nvPr/>
        </p:nvSpPr>
        <p:spPr>
          <a:xfrm>
            <a:off x="4891599" y="5407969"/>
            <a:ext cx="1348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Dr. André </a:t>
            </a:r>
            <a:r>
              <a:rPr lang="en-AU" sz="1400" dirty="0" err="1"/>
              <a:t>Rasquin</a:t>
            </a:r>
            <a:r>
              <a:rPr lang="en-AU" sz="1400" dirty="0"/>
              <a:t>, COO</a:t>
            </a:r>
          </a:p>
        </p:txBody>
      </p:sp>
      <p:pic>
        <p:nvPicPr>
          <p:cNvPr id="33" name="Grafik 32" descr="Ein Bild, das Person, Anzug, Mann, stehend enthält.&#10;&#10;Automatisch generierte Beschreibung">
            <a:extLst>
              <a:ext uri="{FF2B5EF4-FFF2-40B4-BE49-F238E27FC236}">
                <a16:creationId xmlns:a16="http://schemas.microsoft.com/office/drawing/2014/main" id="{59B44256-2595-7442-B0F6-047350720EB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6542" t="8234" r="22205" b="23175"/>
          <a:stretch/>
        </p:blipFill>
        <p:spPr>
          <a:xfrm>
            <a:off x="2137897" y="5287585"/>
            <a:ext cx="834813" cy="831366"/>
          </a:xfrm>
          <a:prstGeom prst="ellipse">
            <a:avLst/>
          </a:prstGeom>
        </p:spPr>
      </p:pic>
      <p:sp>
        <p:nvSpPr>
          <p:cNvPr id="47" name="Textfeld 46">
            <a:extLst>
              <a:ext uri="{FF2B5EF4-FFF2-40B4-BE49-F238E27FC236}">
                <a16:creationId xmlns:a16="http://schemas.microsoft.com/office/drawing/2014/main" id="{19221FEB-701D-804C-936A-242DDCEC257E}"/>
              </a:ext>
            </a:extLst>
          </p:cNvPr>
          <p:cNvSpPr txBox="1"/>
          <p:nvPr/>
        </p:nvSpPr>
        <p:spPr>
          <a:xfrm>
            <a:off x="3040208" y="5424515"/>
            <a:ext cx="1644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Christian M. </a:t>
            </a:r>
            <a:r>
              <a:rPr lang="en-AU" sz="1400" dirty="0" err="1"/>
              <a:t>Schmal</a:t>
            </a:r>
            <a:r>
              <a:rPr lang="en-AU" sz="1400" dirty="0"/>
              <a:t>, CFO</a:t>
            </a:r>
          </a:p>
        </p:txBody>
      </p:sp>
      <p:pic>
        <p:nvPicPr>
          <p:cNvPr id="36" name="Grafik 35" descr="Ein Bild, das Person, Mann, Anzug, alt enthält.&#10;&#10;Automatisch generierte Beschreibung">
            <a:extLst>
              <a:ext uri="{FF2B5EF4-FFF2-40B4-BE49-F238E27FC236}">
                <a16:creationId xmlns:a16="http://schemas.microsoft.com/office/drawing/2014/main" id="{8BF35884-67A3-EC47-8C70-A542DB60373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8805" t="6411" r="21473" b="26059"/>
          <a:stretch/>
        </p:blipFill>
        <p:spPr>
          <a:xfrm>
            <a:off x="3148975" y="4206775"/>
            <a:ext cx="833131" cy="831366"/>
          </a:xfrm>
          <a:prstGeom prst="ellipse">
            <a:avLst/>
          </a:prstGeom>
        </p:spPr>
      </p:pic>
      <p:sp>
        <p:nvSpPr>
          <p:cNvPr id="49" name="Textfeld 48">
            <a:extLst>
              <a:ext uri="{FF2B5EF4-FFF2-40B4-BE49-F238E27FC236}">
                <a16:creationId xmlns:a16="http://schemas.microsoft.com/office/drawing/2014/main" id="{657B8507-58C6-294D-B0B1-DEC0BD45A1F7}"/>
              </a:ext>
            </a:extLst>
          </p:cNvPr>
          <p:cNvSpPr txBox="1"/>
          <p:nvPr/>
        </p:nvSpPr>
        <p:spPr>
          <a:xfrm>
            <a:off x="4075600" y="4332832"/>
            <a:ext cx="17960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Dr. Imad Abdallah, Chief Digital and Venture Officer</a:t>
            </a:r>
          </a:p>
        </p:txBody>
      </p:sp>
      <p:pic>
        <p:nvPicPr>
          <p:cNvPr id="55" name="Grafik 54" descr="Ein Bild, das Text enthält.&#10;&#10;Automatisch generierte Beschreibung">
            <a:extLst>
              <a:ext uri="{FF2B5EF4-FFF2-40B4-BE49-F238E27FC236}">
                <a16:creationId xmlns:a16="http://schemas.microsoft.com/office/drawing/2014/main" id="{DD1F91B6-B82A-8249-B493-A85B9B1C59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8957" y="0"/>
            <a:ext cx="2292096" cy="610629"/>
          </a:xfrm>
          <a:prstGeom prst="rect">
            <a:avLst/>
          </a:prstGeom>
        </p:spPr>
      </p:pic>
      <p:pic>
        <p:nvPicPr>
          <p:cNvPr id="57" name="Grafik 56">
            <a:extLst>
              <a:ext uri="{FF2B5EF4-FFF2-40B4-BE49-F238E27FC236}">
                <a16:creationId xmlns:a16="http://schemas.microsoft.com/office/drawing/2014/main" id="{911793AD-D2D6-584B-9614-135A99E1B0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5525" y="1061004"/>
            <a:ext cx="4787503" cy="2592294"/>
          </a:xfrm>
          <a:prstGeom prst="rect">
            <a:avLst/>
          </a:prstGeom>
        </p:spPr>
      </p:pic>
      <p:pic>
        <p:nvPicPr>
          <p:cNvPr id="62" name="Grafik 61">
            <a:extLst>
              <a:ext uri="{FF2B5EF4-FFF2-40B4-BE49-F238E27FC236}">
                <a16:creationId xmlns:a16="http://schemas.microsoft.com/office/drawing/2014/main" id="{8AE9D26A-1203-C84D-B9B6-8C74C73E64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4040" y="4094276"/>
            <a:ext cx="3766624" cy="2264148"/>
          </a:xfrm>
          <a:prstGeom prst="rect">
            <a:avLst/>
          </a:prstGeom>
        </p:spPr>
      </p:pic>
      <p:sp>
        <p:nvSpPr>
          <p:cNvPr id="63" name="Textfeld 62">
            <a:extLst>
              <a:ext uri="{FF2B5EF4-FFF2-40B4-BE49-F238E27FC236}">
                <a16:creationId xmlns:a16="http://schemas.microsoft.com/office/drawing/2014/main" id="{30ADF0F3-B468-804A-A15E-F1979822A87B}"/>
              </a:ext>
            </a:extLst>
          </p:cNvPr>
          <p:cNvSpPr txBox="1"/>
          <p:nvPr/>
        </p:nvSpPr>
        <p:spPr>
          <a:xfrm>
            <a:off x="6397886" y="6203992"/>
            <a:ext cx="61255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Sources: </a:t>
            </a:r>
          </a:p>
          <a:p>
            <a:r>
              <a:rPr lang="en-GB" sz="1200" dirty="0"/>
              <a:t>Key Financials: Annual Report page 4</a:t>
            </a:r>
          </a:p>
          <a:p>
            <a:r>
              <a:rPr lang="en-GB" sz="1200" dirty="0"/>
              <a:t>Shareholdings: </a:t>
            </a:r>
            <a:r>
              <a:rPr lang="en-GB" sz="1200" dirty="0" err="1"/>
              <a:t>Aareal</a:t>
            </a:r>
            <a:r>
              <a:rPr lang="en-GB" sz="1200" dirty="0"/>
              <a:t> Homepage: https://</a:t>
            </a:r>
            <a:r>
              <a:rPr lang="en-GB" sz="1200" dirty="0" err="1"/>
              <a:t>www.aareon.com</a:t>
            </a:r>
            <a:r>
              <a:rPr lang="en-GB" sz="1200" dirty="0"/>
              <a:t>/</a:t>
            </a:r>
            <a:r>
              <a:rPr lang="en-GB" sz="1200" dirty="0" err="1"/>
              <a:t>sixcms</a:t>
            </a:r>
            <a:r>
              <a:rPr lang="en-GB" sz="1200" dirty="0"/>
              <a:t>/</a:t>
            </a:r>
            <a:r>
              <a:rPr lang="en-GB" sz="1200" dirty="0" err="1"/>
              <a:t>detail.php</a:t>
            </a:r>
            <a:r>
              <a:rPr lang="en-GB" sz="1200" dirty="0"/>
              <a:t>/141023</a:t>
            </a:r>
          </a:p>
        </p:txBody>
      </p:sp>
    </p:spTree>
    <p:extLst>
      <p:ext uri="{BB962C8B-B14F-4D97-AF65-F5344CB8AC3E}">
        <p14:creationId xmlns:p14="http://schemas.microsoft.com/office/powerpoint/2010/main" val="751919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</Words>
  <Application>Microsoft Macintosh PowerPoint</Application>
  <PresentationFormat>Breitbild</PresentationFormat>
  <Paragraphs>27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Nicola Peter</dc:creator>
  <cp:lastModifiedBy>Nicola Peter</cp:lastModifiedBy>
  <cp:revision>26</cp:revision>
  <dcterms:created xsi:type="dcterms:W3CDTF">2021-05-07T10:52:08Z</dcterms:created>
  <dcterms:modified xsi:type="dcterms:W3CDTF">2021-05-08T05:54:06Z</dcterms:modified>
</cp:coreProperties>
</file>