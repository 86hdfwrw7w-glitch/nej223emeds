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3_11E4F07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61" r:id="rId3"/>
    <p:sldId id="262" r:id="rId4"/>
    <p:sldId id="265" r:id="rId5"/>
    <p:sldId id="264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BDC380-DB22-E394-7F0C-E210DA981156}" name="Max Schwalbe" initials="MS" userId="7a8be7c86e283f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4B"/>
    <a:srgbClr val="FFE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/>
    <p:restoredTop sz="94692"/>
  </p:normalViewPr>
  <p:slideViewPr>
    <p:cSldViewPr snapToGrid="0" snapToObjects="1" showGuides="1">
      <p:cViewPr>
        <p:scale>
          <a:sx n="73" d="100"/>
          <a:sy n="73" d="100"/>
        </p:scale>
        <p:origin x="632" y="8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modernComment_103_11E4F0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4C2B77-063E-AE4A-A83D-8AA9CCFC1D82}" authorId="{84BDC380-DB22-E394-7F0C-E210DA981156}" created="2024-04-08T12:45:13.971">
    <pc:sldMkLst xmlns:pc="http://schemas.microsoft.com/office/powerpoint/2013/main/command">
      <pc:docMk/>
      <pc:sldMk cId="300216447" sldId="259"/>
    </pc:sldMkLst>
    <p188:txBody>
      <a:bodyPr/>
      <a:lstStyle/>
      <a:p>
        <a:r>
          <a:rPr lang="de-DE"/>
          <a:t>Was ist wenn die Frage kommt warum die Slide fast genauso aussieht wie eine bisherige?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418E5-CEAF-1541-8629-B1B4A98C8ECC}" type="datetimeFigureOut">
              <a:rPr lang="de-DE" smtClean="0"/>
              <a:t>08.04.24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C6D48-93B3-A848-8D56-83610926AB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10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16CDC4-B5C6-964D-AF74-BB96F7B25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B2F2040-CBD5-BA49-BF54-E534CF11D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E20117-AD4C-394B-A311-73367037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514F1-DBF6-8647-9AE3-172B4FEDAD2D}" type="datetime1">
              <a:rPr lang="de-DE" smtClean="0"/>
              <a:t>08.04.24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A64DA1-669C-5F4B-A54E-85D119FD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9DA3-CDD8-F643-8372-627B47C7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153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B8979-ABAF-EA48-B90E-70FB6DCC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B09218-5959-A543-A8A4-0185591C5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340DF5-DC43-A843-AFF0-623B9803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C3B5F-D448-8346-82A5-3B466E3269F8}" type="datetime1">
              <a:rPr lang="de-DE" smtClean="0"/>
              <a:t>08.04.24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8458E9-F8BD-3F4E-8542-F42CF9A5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34B92F-BCDA-584F-A1F9-9D47FDA0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88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84BEC-CD6E-6042-A5FE-8C40EBEE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792FC9-920A-1540-B524-1A55776C3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3C1BC8-8DE5-8A46-8BF8-4F6172A0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028FF-6414-414A-AB29-D38E7C56E191}" type="datetime1">
              <a:rPr lang="de-DE" smtClean="0"/>
              <a:t>08.04.24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20F2FD-4381-DA47-A007-278A5FA6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C03A68-8415-EB40-B1C6-47756E54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498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49AEA-3E2B-1C4C-818E-0B0B3A76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62D2BB-6BE1-DC40-BAD9-D75D1575C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B88777-41B8-6345-9F1A-90885C9DD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8A095E-F225-DD4A-89C6-6272034C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AE351-53CA-904B-8AB5-11EE60514924}" type="datetime1">
              <a:rPr lang="de-DE" smtClean="0"/>
              <a:t>08.04.24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6C5447-79D0-9042-B64D-E2428B6A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76660D-FCAE-7F4A-BCFD-9E986A74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992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BA3A4-61F4-4842-9E8A-DBC4C20F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877997-160E-9E44-B928-35F49B9AF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84A20D-FE1D-0840-900A-3E81C7D3E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BBAAA1-DC64-1C4E-A263-197AA6D44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E236EF2-6F27-E840-81A7-5CE91A5D7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97B449-5C69-864C-9611-C409FA4C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1D0FE-615A-3F4D-8C17-375BAD8BB892}" type="datetime1">
              <a:rPr lang="de-DE" smtClean="0"/>
              <a:t>08.04.24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EF7EF40-B37D-6B4A-AC95-5D83CE25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BD3CF92-AB19-EB4E-B4FE-C615B5A6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67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D7AB3-5D1C-4A41-A8BC-DAA79FBF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F4B999-D941-7541-8D9D-F0BE1556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FF1A-577F-0D4A-B153-6DAD6A8082BD}" type="datetime1">
              <a:rPr lang="de-DE" smtClean="0"/>
              <a:t>08.04.24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1E9CBA-BC60-3640-AC16-51AD60AB1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492177-4DB3-DB4C-85BD-87B1A9AA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36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C29CEC-55A5-9A4C-9B0A-C0EF03BB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B3B66-AC81-EE4B-A68F-22F72FC2BA26}" type="datetime1">
              <a:rPr lang="de-DE" smtClean="0"/>
              <a:t>08.04.24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2C2626-AA85-B446-BB2E-390166FB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18597E-799B-E648-AFE6-E9692A2E8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548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160C1-9389-1C4B-862F-DED6B2E4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5968DC-8F6A-DA40-8604-176DC297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415512-1A64-D640-B415-633C7DEB1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94F02F-B0F8-364A-AB24-E9EC8DC8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F653-77E0-7946-BCF2-4BDA4CC1D768}" type="datetime1">
              <a:rPr lang="de-DE" smtClean="0"/>
              <a:t>08.04.24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963A02-EB2C-2542-84CD-C37D5BCC0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29B0BB-BC84-3A4C-A9D8-26F03FC6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09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07866-CE4C-244E-9B39-E9DA6BC6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C859156-3F42-944F-8ACB-C8930E0AC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4CA88D-B514-D747-81BB-B29D95522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8ABBA9-F4D6-F549-A949-48EC4710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BF0BA-807C-0D48-883D-9A0E0A373034}" type="datetime1">
              <a:rPr lang="de-DE" smtClean="0"/>
              <a:t>08.04.24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63C1A7-0561-BB42-BB09-89677322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65CDD5-F9FF-614F-B045-4F059AF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40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EE3F7-9B7B-3044-AE39-C95C7EEF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8CF684-7591-224D-BBB9-814FE48DE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92561C-EC54-A143-BF1F-DF04F379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0F06A-1772-9941-A39C-E6835E3FC6D9}" type="datetime1">
              <a:rPr lang="de-DE" smtClean="0"/>
              <a:t>08.04.24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C1F6D2-A479-9E45-89AB-11DD65B8D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F8A03D-75D8-5A42-A188-96431A6E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656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6358EE1-8A75-9D42-8A2F-14083C6C2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0FF831-870D-A544-867F-DFA1B5594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84534B-5CAF-3A4E-A8C3-E9FEC770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A096-2D5E-D94C-BBB8-80DCDACCB5AB}" type="datetime1">
              <a:rPr lang="de-DE" smtClean="0"/>
              <a:t>08.04.24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515497-396F-B34C-A6E5-B8E5B7361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614701-5E6B-1742-8ED9-FABAE6109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8362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072134-B6EA-F241-BA50-C39F99BD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352BD2-4E09-F54F-A685-F03464587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37EC98-BF1A-8C47-8870-E95360063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32054-D023-A24E-83A0-98F66BAB3E4D}" type="datetime1">
              <a:rPr lang="de-DE" smtClean="0"/>
              <a:t>08.04.24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2A447D-1A30-6049-8525-3D3C69694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Selbstpräsentation Max Schwalbe 10.04.2024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9E1AA4-793B-AD46-BEF4-851AAC6E4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CA56A-A58B-5944-BB5E-7EBD1F0C5A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5044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microsoft.com/office/2018/10/relationships/comments" Target="../comments/modernComment_103_11E4F07F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5.sv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5.sv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Eine interdisziplinäre Lehre sowie Vorerfahrungen im Bereich der Beratung ermöglichen mir optimale Vorrausetzungen für die CBC</a:t>
            </a:r>
            <a:endParaRPr lang="de-DE" sz="2700" dirty="0"/>
          </a:p>
        </p:txBody>
      </p:sp>
      <p:pic>
        <p:nvPicPr>
          <p:cNvPr id="48" name="Picture 4" descr="Commerzbank (@commerzbank) / Twitter">
            <a:extLst>
              <a:ext uri="{FF2B5EF4-FFF2-40B4-BE49-F238E27FC236}">
                <a16:creationId xmlns:a16="http://schemas.microsoft.com/office/drawing/2014/main" id="{7A4C9B03-EBCF-4BB5-93E7-6B9342929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8035" y="533287"/>
            <a:ext cx="2484556" cy="248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906763" y="1739024"/>
            <a:ext cx="10378475" cy="4193439"/>
            <a:chOff x="392522" y="1460951"/>
            <a:chExt cx="10378475" cy="4193439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1778018" y="2171528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Engagement bei einer studentischen Unternehmensberatung: </a:t>
              </a:r>
              <a:r>
                <a:rPr lang="de-DE" sz="1400" dirty="0">
                  <a:solidFill>
                    <a:schemeClr val="tx1"/>
                  </a:solidFill>
                </a:rPr>
                <a:t>Ausbau meiner Interessen für die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1778018" y="2882105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Praktikum bei Ernst &amp; Young im Audit: </a:t>
              </a:r>
              <a:r>
                <a:rPr lang="de-DE" sz="1400" dirty="0">
                  <a:solidFill>
                    <a:schemeClr val="tx1"/>
                  </a:solidFill>
                </a:rPr>
                <a:t>Ab meinem ersten Arbeitstag konnte ich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1778018" y="3592682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</a:rPr>
                <a:t>. Eigenständiges Zusammenstellen eines vertrieblichen Einsatzplans in MS Excel.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6A05735A-6F90-4193-B32C-427BB213A908}"/>
                </a:ext>
              </a:extLst>
            </p:cNvPr>
            <p:cNvSpPr/>
            <p:nvPr/>
          </p:nvSpPr>
          <p:spPr>
            <a:xfrm>
              <a:off x="1778018" y="4303259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Erlernte Fähigkeiten und Interessen: </a:t>
              </a:r>
              <a:r>
                <a:rPr lang="de-DE" sz="1400" dirty="0">
                  <a:solidFill>
                    <a:schemeClr val="tx1"/>
                  </a:solidFill>
                </a:rPr>
                <a:t>Durch mein Engagement in einer studentischen Beratung und der Arbeit bei einer Strategieberatung, lernte ich den Berateralltag kennen und konnte relevante Fähigkeiten ausbauen.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1778018" y="1460951"/>
              <a:ext cx="8992979" cy="6405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Studium der Wirtschaftswissenschaften an der Universität Mainz:</a:t>
              </a:r>
              <a:r>
                <a:rPr lang="de-DE" sz="1400" dirty="0">
                  <a:solidFill>
                    <a:schemeClr val="tx1"/>
                  </a:solidFill>
                </a:rPr>
                <a:t> ganzheitliche sowie interdisziplinäre</a:t>
              </a:r>
            </a:p>
            <a:p>
              <a:r>
                <a:rPr lang="de-DE" sz="1400" dirty="0">
                  <a:solidFill>
                    <a:schemeClr val="tx1"/>
                  </a:solidFill>
                </a:rPr>
                <a:t> Lehre durch Module wie Mathematik, Statistik, Rechnungswesen und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1771501" y="5013838"/>
              <a:ext cx="8992979" cy="640552"/>
            </a:xfrm>
            <a:prstGeom prst="rect">
              <a:avLst/>
            </a:prstGeom>
            <a:solidFill>
              <a:srgbClr val="00414B"/>
            </a:solidFill>
            <a:ln>
              <a:solidFill>
                <a:srgbClr val="FFE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>
              <a:off x="392522" y="1460951"/>
              <a:ext cx="324867" cy="4193438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8667" y="1460951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48667" y="2170039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Briefcase with solid fill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8667" y="3588215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Blackboard with solid fill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48667" y="2879127"/>
              <a:ext cx="648000" cy="648000"/>
            </a:xfrm>
            <a:prstGeom prst="rect">
              <a:avLst/>
            </a:prstGeom>
          </p:spPr>
        </p:pic>
        <p:pic>
          <p:nvPicPr>
            <p:cNvPr id="1028" name="Picture 4" descr="Commerzbank (@commerzbank) / Twitter">
              <a:extLst>
                <a:ext uri="{FF2B5EF4-FFF2-40B4-BE49-F238E27FC236}">
                  <a16:creationId xmlns:a16="http://schemas.microsoft.com/office/drawing/2014/main" id="{6053211A-ECD5-4011-AF33-B4724262BC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67" y="5006390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Graphic 50" descr="Idee mit einfarbiger Füllung">
              <a:extLst>
                <a:ext uri="{FF2B5EF4-FFF2-40B4-BE49-F238E27FC236}">
                  <a16:creationId xmlns:a16="http://schemas.microsoft.com/office/drawing/2014/main" id="{E460A16B-7AF2-4DC1-869E-DFD9E4F61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948667" y="4297303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3002164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Eine interdisziplinäre Lehre sowie Vorerfahrungen im Bereich der Beratung ermöglichen mir optimale Vorrausetzungen für die CBC</a:t>
            </a:r>
            <a:endParaRPr lang="de-DE" sz="2700" dirty="0"/>
          </a:p>
        </p:txBody>
      </p:sp>
      <p:pic>
        <p:nvPicPr>
          <p:cNvPr id="48" name="Picture 4" descr="Commerzbank (@commerzbank) / Twitter">
            <a:extLst>
              <a:ext uri="{FF2B5EF4-FFF2-40B4-BE49-F238E27FC236}">
                <a16:creationId xmlns:a16="http://schemas.microsoft.com/office/drawing/2014/main" id="{7A4C9B03-EBCF-4BB5-93E7-6B9342929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8035" y="533287"/>
            <a:ext cx="2484556" cy="248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271313" y="1359559"/>
            <a:ext cx="11801810" cy="4524253"/>
            <a:chOff x="-242928" y="1081486"/>
            <a:chExt cx="11801810" cy="4524253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1048690" y="3807325"/>
              <a:ext cx="3013199" cy="175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Engagement bei einer studentischen Unternehmensberatung: </a:t>
              </a:r>
              <a:r>
                <a:rPr lang="de-DE" sz="1400" dirty="0">
                  <a:solidFill>
                    <a:schemeClr val="tx1"/>
                  </a:solidFill>
                </a:rPr>
                <a:t>Ausbau meiner Interessen in der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4864593" y="1081486"/>
              <a:ext cx="3013005" cy="17568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Praktikum bei Ernst &amp; Young im Audit: </a:t>
              </a:r>
              <a:r>
                <a:rPr lang="de-DE" sz="1400" dirty="0">
                  <a:solidFill>
                    <a:schemeClr val="tx1"/>
                  </a:solidFill>
                </a:rPr>
                <a:t>Ab meinem ersten Arbeitstag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5290814" y="3848939"/>
              <a:ext cx="3013199" cy="175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</a:rPr>
                <a:t>. Eigenständiges Zusammenstellen eines vertrieblichen Einsatzplans in MS Excel.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511354" y="1081486"/>
              <a:ext cx="3013006" cy="17568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</a:rPr>
                <a:t>Studium der Wirtschaftswissenschaften an der Universität Mainz:</a:t>
              </a:r>
              <a:br>
                <a:rPr lang="de-DE" sz="1400" b="1" dirty="0">
                  <a:solidFill>
                    <a:schemeClr val="tx1"/>
                  </a:solidFill>
                </a:rPr>
              </a:br>
              <a:r>
                <a:rPr lang="de-DE" sz="1400" dirty="0">
                  <a:solidFill>
                    <a:schemeClr val="tx1"/>
                  </a:solidFill>
                </a:rPr>
                <a:t>ganzeinheitliche sowie interdisziplinärer</a:t>
              </a:r>
            </a:p>
            <a:p>
              <a:r>
                <a:rPr lang="de-DE" sz="1400" dirty="0">
                  <a:solidFill>
                    <a:schemeClr val="tx1"/>
                  </a:solidFill>
                </a:rPr>
                <a:t> Lehre durch Module wie Mathematik, Statistik, Rechnungswesen oder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8607866" y="2334569"/>
              <a:ext cx="2951016" cy="1632716"/>
            </a:xfrm>
            <a:prstGeom prst="rect">
              <a:avLst/>
            </a:prstGeom>
            <a:solidFill>
              <a:srgbClr val="00414B"/>
            </a:solidFill>
            <a:ln>
              <a:solidFill>
                <a:srgbClr val="FFE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 rot="16200000">
              <a:off x="4204375" y="-849088"/>
              <a:ext cx="648000" cy="8034043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-242928" y="1268956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86251" y="3746511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Playbook mit einfarbiger Füllung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4528375" y="3803772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Präsentation mit Organigramm mit einfarbiger Füllung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4136266" y="1222354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8461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>
                <a:latin typeface="Arial Nova" panose="020B0504020202020204" pitchFamily="34" charset="0"/>
              </a:rPr>
              <a:t>Eine interdisziplinäre Lehre sowie Vorerfahrungen im Bereich der Beratung ermöglichen mir optimale Vorrausetzungen für die CBC</a:t>
            </a:r>
            <a:endParaRPr lang="de-DE" sz="2700" dirty="0">
              <a:latin typeface="Arial Nova" panose="020B0504020202020204" pitchFamily="34" charset="0"/>
            </a:endParaRPr>
          </a:p>
        </p:txBody>
      </p:sp>
      <p:pic>
        <p:nvPicPr>
          <p:cNvPr id="48" name="Picture 4" descr="Commerzbank (@commerzbank) / Twitter">
            <a:extLst>
              <a:ext uri="{FF2B5EF4-FFF2-40B4-BE49-F238E27FC236}">
                <a16:creationId xmlns:a16="http://schemas.microsoft.com/office/drawing/2014/main" id="{7A4C9B03-EBCF-4BB5-93E7-6B9342929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8035" y="533287"/>
            <a:ext cx="2484556" cy="248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271313" y="1359559"/>
            <a:ext cx="11804615" cy="4524253"/>
            <a:chOff x="-242928" y="1081486"/>
            <a:chExt cx="11804615" cy="4524253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1048689" y="3807325"/>
              <a:ext cx="3139200" cy="1756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Engagement bei</a:t>
              </a:r>
            </a:p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einer studentischen Unternehmensberatung:</a:t>
              </a:r>
              <a:b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Ausbau meiner Interessen in der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4864592" y="1081486"/>
              <a:ext cx="3139200" cy="17568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Ernst&amp; Young im Audit: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Ab meinem ersten Arbeitstag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5290813" y="3848939"/>
              <a:ext cx="3139200" cy="1756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. Eigenständiges Zusammenstellen eines vertrieblichen Einsatzplans in MS Excel.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511354" y="1081486"/>
              <a:ext cx="3140000" cy="17568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Studium der Wirtschaftswissenschaften an der Universität Mainz: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ganzeinheitliche sowie interdisziplinärer</a:t>
              </a:r>
            </a:p>
            <a:p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Lehre durch Module wie Mathematik, Statistik, Rechnungswesen oder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8606589" y="2092326"/>
              <a:ext cx="2955098" cy="2117201"/>
            </a:xfrm>
            <a:prstGeom prst="rect">
              <a:avLst/>
            </a:prstGeom>
            <a:solidFill>
              <a:srgbClr val="00414B"/>
            </a:solidFill>
            <a:ln>
              <a:solidFill>
                <a:srgbClr val="FFE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  <a:latin typeface="Arial Nova" panose="020B0504020202020204" pitchFamily="34" charset="0"/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 rot="16200000">
              <a:off x="4204375" y="-849088"/>
              <a:ext cx="648000" cy="8034043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-242928" y="1268956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86251" y="3746511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Playbook mit einfarbiger Füllung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4528375" y="3803772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Präsentation mit Organigramm mit einfarbiger Füllung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4136266" y="1222354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80160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Eine interdisziplinäre Lehre sowie Vorerfahrungen im Bereich der Beratung ermöglichen mir optimale Vorrausetzungen für die CBC</a:t>
            </a:r>
            <a:endParaRPr lang="de-DE" sz="27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271313" y="1359559"/>
            <a:ext cx="11801810" cy="4273229"/>
            <a:chOff x="-242928" y="1081486"/>
            <a:chExt cx="11801810" cy="4273229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519510" y="3552748"/>
              <a:ext cx="3139200" cy="1756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Engagement bei</a:t>
              </a:r>
            </a:p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einer studentischen Unternehmensberatung:</a:t>
              </a:r>
              <a:b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Ausbau meiner Interessen in der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4864592" y="1081486"/>
              <a:ext cx="3139200" cy="17568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Ernst&amp; Young im Audit: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Ab meinem ersten Arbeitstag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4898704" y="3597915"/>
              <a:ext cx="3139200" cy="1756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. Eigenständiges Zusammenstellen eines vertrieblichen Einsatzplans in MS Excel.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511354" y="1081486"/>
              <a:ext cx="3140000" cy="17568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Studium der Wirtschaftswissenschaften an der Universität Mainz: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ganzeinheitliche sowie interdisziplinärer</a:t>
              </a:r>
            </a:p>
            <a:p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Lehre durch Module wie Mathematik, Statistik, Rechnungswesen oder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8607866" y="2334569"/>
              <a:ext cx="2951016" cy="163271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 rot="16200000">
              <a:off x="4204375" y="-849088"/>
              <a:ext cx="648000" cy="8034043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242928" y="1268956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-242928" y="3491934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Playbook mit einfarbiger Füllung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136266" y="3552748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Präsentation mit Organigramm mit einfarbiger Füllung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136266" y="1222354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392709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873125"/>
            <a:ext cx="12192000" cy="0"/>
          </a:xfrm>
          <a:prstGeom prst="line">
            <a:avLst/>
          </a:prstGeom>
          <a:ln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Eine interdisziplinäre Lehre sowie Vorerfahrungen im Bereich der Beratung ermöglichen mir optimale Vorrausetzungen für die CBC</a:t>
            </a:r>
            <a:endParaRPr lang="de-DE" sz="27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FCE41C-8DE2-4F03-871F-3BB01386745F}"/>
              </a:ext>
            </a:extLst>
          </p:cNvPr>
          <p:cNvGrpSpPr/>
          <p:nvPr/>
        </p:nvGrpSpPr>
        <p:grpSpPr>
          <a:xfrm>
            <a:off x="271313" y="1359559"/>
            <a:ext cx="11801810" cy="4253611"/>
            <a:chOff x="-242928" y="1081486"/>
            <a:chExt cx="11801810" cy="4253611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25B273A-4A9F-4C8A-A568-9D01953FA3BF}"/>
                </a:ext>
              </a:extLst>
            </p:cNvPr>
            <p:cNvSpPr/>
            <p:nvPr/>
          </p:nvSpPr>
          <p:spPr>
            <a:xfrm>
              <a:off x="843510" y="3536683"/>
              <a:ext cx="3139200" cy="1756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Engagement bei</a:t>
              </a:r>
            </a:p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einer studentischen Unternehmensberatung:</a:t>
              </a:r>
              <a:b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Ausbau meiner Interessen in der Wirtschaft und der Beratung durch die Mitarbeit bei Projekten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314B2F3-C024-451F-8407-C7CF63916068}"/>
                </a:ext>
              </a:extLst>
            </p:cNvPr>
            <p:cNvSpPr/>
            <p:nvPr/>
          </p:nvSpPr>
          <p:spPr>
            <a:xfrm>
              <a:off x="4864592" y="1081486"/>
              <a:ext cx="3139200" cy="17568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Ernst&amp; Young im Audit: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Ab meinem ersten Arbeitstag Verantwortung übernehmen und war maßgeblich an der Prüfung sowie an Inventurbeobachtungen beteiligt 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D74BBA9-6A1A-4258-9B87-D01D502614F6}"/>
                </a:ext>
              </a:extLst>
            </p:cNvPr>
            <p:cNvSpPr/>
            <p:nvPr/>
          </p:nvSpPr>
          <p:spPr>
            <a:xfrm>
              <a:off x="5085634" y="3578297"/>
              <a:ext cx="3139200" cy="1756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</a:rPr>
                <a:t>Praktikum bei HPP im Consulting: 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Mitarbeit bei der Definition von Vertriebsprozessen eines Telekommunikationsdienstleisters im Bereich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Direct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 </a:t>
              </a:r>
              <a:r>
                <a:rPr lang="de-DE" sz="1400" dirty="0" err="1">
                  <a:solidFill>
                    <a:schemeClr val="tx1"/>
                  </a:solidFill>
                  <a:latin typeface="Arial Nova" panose="020F0502020204030204" pitchFamily="34" charset="0"/>
                </a:rPr>
                <a:t>Sales</a:t>
              </a: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</a:rPr>
                <a:t>. Eigenständiges Zusammenstellen eines vertrieblichen Einsatzplans in MS Excel.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D2994F4-6535-4031-80FF-18A9574E72D7}"/>
                </a:ext>
              </a:extLst>
            </p:cNvPr>
            <p:cNvSpPr/>
            <p:nvPr/>
          </p:nvSpPr>
          <p:spPr>
            <a:xfrm>
              <a:off x="511354" y="1081486"/>
              <a:ext cx="3140000" cy="17568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Studium der Wirtschaftswissenschaften an der Universität Mainz:</a:t>
              </a:r>
              <a:br>
                <a:rPr lang="de-DE" sz="1400" b="1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</a:br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ganzeinheitliche sowie interdisziplinärer</a:t>
              </a:r>
            </a:p>
            <a:p>
              <a:r>
                <a:rPr lang="de-DE" sz="1400" dirty="0">
                  <a:solidFill>
                    <a:schemeClr val="tx1"/>
                  </a:solidFill>
                  <a:latin typeface="Arial Nova" panose="020F0502020204030204" pitchFamily="34" charset="0"/>
                  <a:cs typeface="Arial Nova" panose="020F0502020204030204" pitchFamily="34" charset="0"/>
                </a:rPr>
                <a:t>Lehre durch Module wie Mathematik, Statistik, Rechnungswesen oder Finanzwirtschaft 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FCDDD7A-F94D-490D-BB6E-A49A7D09D7D1}"/>
                </a:ext>
              </a:extLst>
            </p:cNvPr>
            <p:cNvSpPr/>
            <p:nvPr/>
          </p:nvSpPr>
          <p:spPr>
            <a:xfrm>
              <a:off x="8607866" y="2334569"/>
              <a:ext cx="2951016" cy="163271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Bei der CBC habe ich die Möglichkeit ganz neue Einblicke in den Bereich des In-house Consulting zu erhalten und diese besondere Institution in Zeiten des Wandels zu begleiten.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D6E10D4-E9B7-4DBD-B7F7-6A51DDE28612}"/>
                </a:ext>
              </a:extLst>
            </p:cNvPr>
            <p:cNvSpPr/>
            <p:nvPr/>
          </p:nvSpPr>
          <p:spPr>
            <a:xfrm rot="16200000">
              <a:off x="4204375" y="-849088"/>
              <a:ext cx="648000" cy="8034043"/>
            </a:xfrm>
            <a:prstGeom prst="downArrow">
              <a:avLst>
                <a:gd name="adj1" fmla="val 42288"/>
                <a:gd name="adj2" fmla="val 5000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6" name="Graphic 5" descr="Bücher mit einfarbiger Füllung">
              <a:extLst>
                <a:ext uri="{FF2B5EF4-FFF2-40B4-BE49-F238E27FC236}">
                  <a16:creationId xmlns:a16="http://schemas.microsoft.com/office/drawing/2014/main" id="{0151CF8B-AC84-4EFB-90B3-29CA1AE43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242928" y="1268956"/>
              <a:ext cx="648000" cy="648000"/>
            </a:xfrm>
            <a:prstGeom prst="rect">
              <a:avLst/>
            </a:prstGeom>
          </p:spPr>
        </p:pic>
        <p:pic>
          <p:nvPicPr>
            <p:cNvPr id="8" name="Graphic 7" descr="Gruppenbrainstorming mit einfarbiger Füllung">
              <a:extLst>
                <a:ext uri="{FF2B5EF4-FFF2-40B4-BE49-F238E27FC236}">
                  <a16:creationId xmlns:a16="http://schemas.microsoft.com/office/drawing/2014/main" id="{2383E2C2-21C8-48D1-AEF9-B1194319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81072" y="3475869"/>
              <a:ext cx="648000" cy="648000"/>
            </a:xfrm>
            <a:prstGeom prst="rect">
              <a:avLst/>
            </a:prstGeom>
          </p:spPr>
        </p:pic>
        <p:pic>
          <p:nvPicPr>
            <p:cNvPr id="10" name="Graphic 9" descr="Playbook mit einfarbiger Füllung">
              <a:extLst>
                <a:ext uri="{FF2B5EF4-FFF2-40B4-BE49-F238E27FC236}">
                  <a16:creationId xmlns:a16="http://schemas.microsoft.com/office/drawing/2014/main" id="{59971DA0-EDC2-4EFC-8A45-D8418BB5F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323196" y="3533130"/>
              <a:ext cx="648000" cy="648000"/>
            </a:xfrm>
            <a:prstGeom prst="rect">
              <a:avLst/>
            </a:prstGeom>
          </p:spPr>
        </p:pic>
        <p:pic>
          <p:nvPicPr>
            <p:cNvPr id="14" name="Graphic 13" descr="Präsentation mit Organigramm mit einfarbiger Füllung">
              <a:extLst>
                <a:ext uri="{FF2B5EF4-FFF2-40B4-BE49-F238E27FC236}">
                  <a16:creationId xmlns:a16="http://schemas.microsoft.com/office/drawing/2014/main" id="{CA925BE5-9595-46D7-81B3-278F13BE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136266" y="1222354"/>
              <a:ext cx="648000" cy="648000"/>
            </a:xfrm>
            <a:prstGeom prst="rect">
              <a:avLst/>
            </a:prstGeom>
          </p:spPr>
        </p:pic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</p:spTree>
    <p:extLst>
      <p:ext uri="{BB962C8B-B14F-4D97-AF65-F5344CB8AC3E}">
        <p14:creationId xmlns:p14="http://schemas.microsoft.com/office/powerpoint/2010/main" val="263347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Macintosh PowerPoint</Application>
  <PresentationFormat>Breitbild</PresentationFormat>
  <Paragraphs>49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Arial Nova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Max Schwalbe</dc:creator>
  <cp:lastModifiedBy>Max Schwalbe</cp:lastModifiedBy>
  <cp:revision>7</cp:revision>
  <dcterms:created xsi:type="dcterms:W3CDTF">2024-04-06T10:25:46Z</dcterms:created>
  <dcterms:modified xsi:type="dcterms:W3CDTF">2024-04-08T21:17:32Z</dcterms:modified>
</cp:coreProperties>
</file>