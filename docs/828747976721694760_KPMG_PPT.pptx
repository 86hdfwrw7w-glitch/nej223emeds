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65" r:id="rId3"/>
    <p:sldId id="266" r:id="rId4"/>
    <p:sldId id="270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a Muchin" initials="AM" lastIdx="6" clrIdx="0">
    <p:extLst>
      <p:ext uri="{19B8F6BF-5375-455C-9EA6-DF929625EA0E}">
        <p15:presenceInfo xmlns:p15="http://schemas.microsoft.com/office/powerpoint/2012/main" userId="S::alexandra.muchin@uzk.onmicrosoft.com::a7452f00-9308-448d-a5e6-5dce36d12a2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92"/>
    <p:restoredTop sz="94648"/>
  </p:normalViewPr>
  <p:slideViewPr>
    <p:cSldViewPr snapToObjects="1">
      <p:cViewPr varScale="1">
        <p:scale>
          <a:sx n="112" d="100"/>
          <a:sy n="112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05T16:01:59.423" idx="4">
    <p:pos x="4978" y="1533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9A4B0-6054-424F-8BA6-A2F7C6E81F5B}" type="datetimeFigureOut">
              <a:rPr lang="en-US" smtClean="0"/>
              <a:t>4/5/21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52FCA-0C6C-3447-891C-D9C7F4FB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4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25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Praktikum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74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38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24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17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52FCA-0C6C-3447-891C-D9C7F4FBCA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9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C966-9867-5947-9F0C-ED82B014F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6531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A3947-CC0D-4C40-B1E9-1DFDD270D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6118B-EC4D-9049-998F-C5E6CB6F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C412D-CB71-BD41-B58A-5E58AE420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C317-5822-5648-9638-AA959C1C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05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3DB2-53DC-9B45-BB9C-5D37370B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7257D-18BF-ED47-8094-81ADCE499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834631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6B3CB-E4F4-374F-A9D0-EA33298F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1275D-8DDE-A54F-9253-613C767F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3D1AE-D8A4-6740-BEDA-620A16CD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49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 userDrawn="1">
          <p15:clr>
            <a:srgbClr val="FBAE40"/>
          </p15:clr>
        </p15:guide>
        <p15:guide id="2" orient="horz" pos="1071" userDrawn="1">
          <p15:clr>
            <a:srgbClr val="FBAE40"/>
          </p15:clr>
        </p15:guide>
        <p15:guide id="3" pos="7151" userDrawn="1">
          <p15:clr>
            <a:srgbClr val="FBAE40"/>
          </p15:clr>
        </p15:guide>
        <p15:guide id="4" orient="horz" pos="3884" userDrawn="1">
          <p15:clr>
            <a:srgbClr val="FBAE40"/>
          </p15:clr>
        </p15:guide>
        <p15:guide id="5" orient="horz" pos="210" userDrawn="1">
          <p15:clr>
            <a:srgbClr val="FBAE40"/>
          </p15:clr>
        </p15:guide>
        <p15:guide id="6" orient="horz" pos="482" userDrawn="1">
          <p15:clr>
            <a:srgbClr val="FBAE40"/>
          </p15:clr>
        </p15:guide>
        <p15:guide id="7" orient="horz" pos="32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1002-1C98-984E-9021-0AC0F77A7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EAD97-E514-F944-9DC1-5A49977FA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0C691-707B-C94F-8B6F-2D108F33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5208E-2212-EB46-814C-B4B01EB7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B197B-BCC5-1641-8DAD-264A51F6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9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050A-C9C0-1346-A76B-3C2B26B0E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FC3F3-2F5E-F24B-A62F-31E75E8C0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BD0DB-E6AB-2542-9F52-95489E277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9B0F1-7A26-F046-9B61-4DFE7790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2C073-FC9D-7D43-B06C-4EE00206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D8A6D-6C36-4943-B031-D2F16335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251E4-FBF5-D341-823A-AB02AE8A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24E9E-DBEB-384B-8DCD-11A564A6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84AA8-4C42-1D40-8979-FCDF79F0F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91FDB-C7F6-BB46-A054-33F5F4243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AA561-C7DD-D345-8A3C-D13BF98CA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6C3E2-5AE3-6147-9836-D82D2C0F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B9340-85FB-2E4C-9418-FB4DA683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FCAF7-1785-8846-A66B-BD990FAC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3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808A-1494-2343-9B5F-EBDBF1BD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BB0A6-63F2-5840-90AF-AA83A7E0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30F8C-FB48-024D-8ACE-1838351B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BAE31-29C8-5E4E-8561-4AFE1E03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81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E725B-A378-D149-995C-047E16D14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E2AE7-B6F8-1F40-BF9B-EC134F46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454F6-BAB4-CB4E-9A1A-074215A5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82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FB88-A1B2-E141-9BD0-2EF6FE3B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51AC-F1CD-004A-B5E0-A34C1FAA9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22B74-B0D7-554B-A360-FFF73D12D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83474-2CC7-9C43-8BBC-4F477FE7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83857-88DD-3044-90CE-0969891A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30E8B-8998-3E44-B1F4-2C3B9C89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3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0DF5-1E18-A14E-A373-81F91547E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731D9-4FA4-D340-903C-35833FC36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DDF41-6939-1843-BC44-611E8D9BB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EC656-3F28-F74B-8D3C-67F35B30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68C68-F0FA-B04D-8008-3F7B249E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7CED3-F6B6-A441-965A-F2B08FD0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3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A810-1746-AD45-9308-F0FBD75A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7C7B2-B3B5-D44B-AE28-39D2F756B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7383E-67A9-4A4C-AE36-FA6BEB38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E9D0F-F01F-6146-9DB1-C9398D64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83BE5-E741-4045-BE8B-F64468A3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37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0F58C-0F12-AF46-BE64-601125DF8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0B12A-90F1-2946-8C63-9F2DE4552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1F323-34A2-F142-BFAB-9A9342C4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39FE2-F034-A744-8DAA-559E4FC2F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44250-E415-0048-AA67-79D81B93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6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7CD79-FD55-924E-A79E-BB5CB0143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5EC6E-AF16-4D4E-8564-B9F1375C5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5756B-6361-AC44-BAEB-562563603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929E4-B680-BC4A-8756-2BBA528D368C}" type="datetimeFigureOut">
              <a:rPr lang="en-US" smtClean="0"/>
              <a:t>4/5/21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618E9-E09C-5A4A-8409-507C26D0D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7C067-B716-5943-B06B-EB29B4664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D6163-D451-6D48-9990-DADFE9CA8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 with medium confidence">
            <a:extLst>
              <a:ext uri="{FF2B5EF4-FFF2-40B4-BE49-F238E27FC236}">
                <a16:creationId xmlns:a16="http://schemas.microsoft.com/office/drawing/2014/main" id="{68306870-47DE-474A-AE3A-50FC359EE4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57" b="4357"/>
          <a:stretch/>
        </p:blipFill>
        <p:spPr>
          <a:xfrm>
            <a:off x="10076723" y="2041896"/>
            <a:ext cx="1275490" cy="785934"/>
          </a:xfrm>
          <a:prstGeom prst="rect">
            <a:avLst/>
          </a:prstGeom>
        </p:spPr>
      </p:pic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BDA77909-2710-C945-8E29-F79E51C854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004" t="17626" r="18905" b="13509"/>
          <a:stretch/>
        </p:blipFill>
        <p:spPr>
          <a:xfrm>
            <a:off x="10152069" y="3566075"/>
            <a:ext cx="1022722" cy="11342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6BE8BE-C890-4A4F-B5A1-A8D99EF8AB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832" t="32796" r="6737" b="34019"/>
          <a:stretch/>
        </p:blipFill>
        <p:spPr>
          <a:xfrm>
            <a:off x="6118212" y="2084437"/>
            <a:ext cx="1675266" cy="7256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BAA8A46-90B4-F24B-B469-0AC48F6E1F7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064" t="25237" r="12656" b="25144"/>
          <a:stretch/>
        </p:blipFill>
        <p:spPr>
          <a:xfrm>
            <a:off x="8059933" y="2165344"/>
            <a:ext cx="1833554" cy="655229"/>
          </a:xfrm>
          <a:prstGeom prst="rect">
            <a:avLst/>
          </a:prstGeom>
        </p:spPr>
      </p:pic>
      <p:pic>
        <p:nvPicPr>
          <p:cNvPr id="31" name="Picture 30" descr="A picture containing text, sky, outdoor, white&#10;&#10;Description automatically generated">
            <a:extLst>
              <a:ext uri="{FF2B5EF4-FFF2-40B4-BE49-F238E27FC236}">
                <a16:creationId xmlns:a16="http://schemas.microsoft.com/office/drawing/2014/main" id="{71B7B294-3359-A24C-B1AF-D86AE5067BB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130" t="1" r="23907" b="690"/>
          <a:stretch/>
        </p:blipFill>
        <p:spPr>
          <a:xfrm>
            <a:off x="6245573" y="3163565"/>
            <a:ext cx="3628719" cy="159429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0BDA420-54D8-7447-AA90-612BBA04A559}"/>
              </a:ext>
            </a:extLst>
          </p:cNvPr>
          <p:cNvSpPr txBox="1"/>
          <p:nvPr/>
        </p:nvSpPr>
        <p:spPr>
          <a:xfrm>
            <a:off x="846827" y="765378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Werdegang</a:t>
            </a:r>
            <a:endParaRPr lang="en-US" sz="1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77F8CD-E37C-F148-B6F1-A5216CBC41CF}"/>
              </a:ext>
            </a:extLst>
          </p:cNvPr>
          <p:cNvSpPr txBox="1"/>
          <p:nvPr/>
        </p:nvSpPr>
        <p:spPr>
          <a:xfrm>
            <a:off x="846827" y="1269326"/>
            <a:ext cx="10505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Starkes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Interesse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an der Internationalen BWL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durch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internationale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schulische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Laufbahn</a:t>
            </a:r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1" name="Picture 40" descr="A picture containing text, guitar&#10;&#10;Description automatically generated">
            <a:extLst>
              <a:ext uri="{FF2B5EF4-FFF2-40B4-BE49-F238E27FC236}">
                <a16:creationId xmlns:a16="http://schemas.microsoft.com/office/drawing/2014/main" id="{D4ECF5B3-5849-B14B-85FA-88B1B058200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8812" b="8836"/>
          <a:stretch/>
        </p:blipFill>
        <p:spPr>
          <a:xfrm>
            <a:off x="6118211" y="5235579"/>
            <a:ext cx="3628720" cy="93027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A2B0314-F9CE-5B48-BBA7-D54C93C3765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904"/>
          <a:stretch/>
        </p:blipFill>
        <p:spPr>
          <a:xfrm>
            <a:off x="10091930" y="4993764"/>
            <a:ext cx="1143000" cy="11726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B44422-C229-4A48-A928-7A503A6AFAE0}"/>
              </a:ext>
            </a:extLst>
          </p:cNvPr>
          <p:cNvSpPr txBox="1"/>
          <p:nvPr/>
        </p:nvSpPr>
        <p:spPr>
          <a:xfrm>
            <a:off x="846827" y="5519519"/>
            <a:ext cx="5226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BSc (Hons) International Business Management (French) an der Newcastle University in England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D4999-5976-E84A-B142-C50DA4D7F057}"/>
              </a:ext>
            </a:extLst>
          </p:cNvPr>
          <p:cNvSpPr txBox="1"/>
          <p:nvPr/>
        </p:nvSpPr>
        <p:spPr>
          <a:xfrm>
            <a:off x="839787" y="2034753"/>
            <a:ext cx="4929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Aufgewachsen</a:t>
            </a:r>
            <a:r>
              <a:rPr lang="en-US" sz="2000" dirty="0"/>
              <a:t> in Hamburg und </a:t>
            </a:r>
            <a:r>
              <a:rPr lang="en-US" sz="2000" dirty="0" err="1"/>
              <a:t>Moskau</a:t>
            </a:r>
            <a:endParaRPr lang="en-US" sz="2000" dirty="0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9AA9C4AD-BC31-674A-9846-FA91ADB10AE3}"/>
              </a:ext>
            </a:extLst>
          </p:cNvPr>
          <p:cNvSpPr txBox="1"/>
          <p:nvPr/>
        </p:nvSpPr>
        <p:spPr>
          <a:xfrm>
            <a:off x="812795" y="3161583"/>
            <a:ext cx="57872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/>
              <a:t>Mit</a:t>
            </a:r>
            <a:r>
              <a:rPr lang="en-US" sz="2000" dirty="0"/>
              <a:t> 14 - </a:t>
            </a:r>
            <a:r>
              <a:rPr lang="en-US" sz="2000" dirty="0" err="1"/>
              <a:t>Wechsel</a:t>
            </a:r>
            <a:r>
              <a:rPr lang="en-US" sz="2000" dirty="0"/>
              <a:t> auf </a:t>
            </a:r>
            <a:r>
              <a:rPr lang="en-US" sz="2000" dirty="0" err="1"/>
              <a:t>ein</a:t>
            </a:r>
            <a:r>
              <a:rPr lang="en-US" sz="2000" dirty="0"/>
              <a:t> </a:t>
            </a:r>
            <a:r>
              <a:rPr lang="en-US" sz="2000" dirty="0" err="1"/>
              <a:t>Internat</a:t>
            </a:r>
            <a:r>
              <a:rPr lang="en-US" sz="2000" dirty="0"/>
              <a:t> in England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 err="1"/>
              <a:t>Selbständigkeit</a:t>
            </a:r>
            <a:r>
              <a:rPr lang="en-US" sz="2000" dirty="0"/>
              <a:t>, </a:t>
            </a:r>
            <a:r>
              <a:rPr lang="en-US" sz="2000" dirty="0" err="1"/>
              <a:t>Disziplin</a:t>
            </a:r>
            <a:r>
              <a:rPr lang="en-US" sz="2000" dirty="0"/>
              <a:t>, </a:t>
            </a:r>
            <a:r>
              <a:rPr lang="en-US" sz="2000" dirty="0" err="1"/>
              <a:t>Anpassungsfähigkeit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r>
              <a:rPr lang="en-US" sz="2000" dirty="0" err="1"/>
              <a:t>Wirtschaft</a:t>
            </a:r>
            <a:r>
              <a:rPr lang="en-US" sz="2000" dirty="0"/>
              <a:t>, </a:t>
            </a:r>
            <a:r>
              <a:rPr lang="en-US" sz="2000" dirty="0" err="1"/>
              <a:t>Französisch</a:t>
            </a:r>
            <a:r>
              <a:rPr lang="en-US" sz="2000" dirty="0"/>
              <a:t> &amp; </a:t>
            </a:r>
            <a:r>
              <a:rPr lang="en-US" sz="2000" dirty="0" err="1"/>
              <a:t>Englisch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181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F28C7791-3B0B-D541-9562-4DB295D9E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0517" y="2100590"/>
            <a:ext cx="2375476" cy="36933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FB1446-7CF4-A94A-B6ED-35C975A57499}"/>
              </a:ext>
            </a:extLst>
          </p:cNvPr>
          <p:cNvSpPr txBox="1"/>
          <p:nvPr/>
        </p:nvSpPr>
        <p:spPr>
          <a:xfrm>
            <a:off x="839788" y="765718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Werdegang</a:t>
            </a:r>
            <a:endParaRPr lang="en-US" sz="1400" b="1" dirty="0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DA92DD56-5DE1-2840-9ADB-843C4C9546F7}"/>
              </a:ext>
            </a:extLst>
          </p:cNvPr>
          <p:cNvSpPr txBox="1"/>
          <p:nvPr/>
        </p:nvSpPr>
        <p:spPr>
          <a:xfrm>
            <a:off x="837484" y="2469922"/>
            <a:ext cx="7547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B2B Customer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Sehr </a:t>
            </a:r>
            <a:r>
              <a:rPr lang="en-US" sz="2000" dirty="0" err="1"/>
              <a:t>integriert</a:t>
            </a:r>
            <a:r>
              <a:rPr lang="en-US" sz="2000" dirty="0"/>
              <a:t> </a:t>
            </a:r>
            <a:r>
              <a:rPr lang="en-US" sz="2000" dirty="0" err="1"/>
              <a:t>mit</a:t>
            </a:r>
            <a:r>
              <a:rPr lang="en-US" sz="2000" dirty="0"/>
              <a:t> der </a:t>
            </a:r>
            <a:r>
              <a:rPr lang="en-US" sz="2000" dirty="0" err="1"/>
              <a:t>Logistik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Dynamik</a:t>
            </a:r>
            <a:r>
              <a:rPr lang="en-US" sz="2000" dirty="0"/>
              <a:t> der </a:t>
            </a:r>
            <a:r>
              <a:rPr lang="en-US" sz="2000" dirty="0" err="1"/>
              <a:t>Lieferkette</a:t>
            </a:r>
            <a:r>
              <a:rPr lang="en-US" sz="2000" dirty="0"/>
              <a:t> live </a:t>
            </a:r>
            <a:r>
              <a:rPr lang="en-US" sz="2000" dirty="0" err="1"/>
              <a:t>miterlebt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Begeisterung</a:t>
            </a:r>
            <a:r>
              <a:rPr lang="en-US" sz="2000" dirty="0"/>
              <a:t> </a:t>
            </a:r>
            <a:r>
              <a:rPr lang="en-US" sz="2000" dirty="0" err="1"/>
              <a:t>für</a:t>
            </a:r>
            <a:r>
              <a:rPr lang="en-US" sz="2000" dirty="0"/>
              <a:t> den SCM </a:t>
            </a:r>
            <a:r>
              <a:rPr lang="en-US" sz="2000" dirty="0" err="1"/>
              <a:t>Bereich</a:t>
            </a:r>
            <a:r>
              <a:rPr lang="en-US" sz="2000" dirty="0"/>
              <a:t> </a:t>
            </a:r>
            <a:r>
              <a:rPr lang="en-US" sz="2000" dirty="0" err="1"/>
              <a:t>entwickelt</a:t>
            </a:r>
            <a:endParaRPr lang="en-US" sz="2000" dirty="0"/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A64A4B5E-513C-EB4E-89AA-015E16D692D7}"/>
              </a:ext>
            </a:extLst>
          </p:cNvPr>
          <p:cNvSpPr txBox="1"/>
          <p:nvPr/>
        </p:nvSpPr>
        <p:spPr>
          <a:xfrm>
            <a:off x="837484" y="4605056"/>
            <a:ext cx="87869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Supply Chain Management – Order Management (</a:t>
            </a:r>
            <a:r>
              <a:rPr lang="en-US" sz="2000" b="1" dirty="0" err="1"/>
              <a:t>Französischsprachig</a:t>
            </a:r>
            <a:r>
              <a:rPr lang="en-US" sz="2000" b="1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Behandlung</a:t>
            </a:r>
            <a:r>
              <a:rPr lang="en-US" sz="2000" dirty="0"/>
              <a:t> von </a:t>
            </a:r>
            <a:r>
              <a:rPr lang="en-US" sz="2000" dirty="0" err="1"/>
              <a:t>Problemen</a:t>
            </a:r>
            <a:r>
              <a:rPr lang="en-US" sz="2000" dirty="0"/>
              <a:t>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Zustellungen</a:t>
            </a:r>
            <a:r>
              <a:rPr lang="en-US" sz="2000" dirty="0"/>
              <a:t> und </a:t>
            </a:r>
            <a:r>
              <a:rPr lang="en-US" sz="2000" dirty="0" err="1"/>
              <a:t>organisiere</a:t>
            </a:r>
            <a:r>
              <a:rPr lang="en-US" sz="2000" dirty="0"/>
              <a:t> </a:t>
            </a:r>
            <a:r>
              <a:rPr lang="en-US" sz="2000" dirty="0" err="1"/>
              <a:t>Abholungen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Zuständig</a:t>
            </a:r>
            <a:r>
              <a:rPr lang="en-US" sz="2000" dirty="0"/>
              <a:t> </a:t>
            </a:r>
            <a:r>
              <a:rPr lang="en-US" sz="2000" dirty="0" err="1"/>
              <a:t>für</a:t>
            </a:r>
            <a:r>
              <a:rPr lang="en-US" sz="2000" dirty="0"/>
              <a:t> das Training </a:t>
            </a:r>
            <a:r>
              <a:rPr lang="en-US" sz="2000" dirty="0" err="1"/>
              <a:t>neuer</a:t>
            </a:r>
            <a:r>
              <a:rPr lang="en-US" sz="2000" dirty="0"/>
              <a:t> </a:t>
            </a:r>
            <a:r>
              <a:rPr lang="en-US" sz="2000" dirty="0" err="1"/>
              <a:t>Praktikanten</a:t>
            </a:r>
            <a:r>
              <a:rPr lang="en-US" sz="2000" dirty="0"/>
              <a:t> und Mitarbeiter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Spannend</a:t>
            </a:r>
            <a:r>
              <a:rPr lang="en-US" sz="2000" dirty="0"/>
              <a:t>, da es </a:t>
            </a:r>
            <a:r>
              <a:rPr lang="en-US" sz="2000" dirty="0" err="1"/>
              <a:t>Kundennähe</a:t>
            </a:r>
            <a:r>
              <a:rPr lang="en-US" sz="2000" dirty="0"/>
              <a:t>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analytischen</a:t>
            </a:r>
            <a:r>
              <a:rPr lang="en-US" sz="2000" dirty="0"/>
              <a:t> </a:t>
            </a:r>
            <a:r>
              <a:rPr lang="en-US" sz="2000" dirty="0" err="1"/>
              <a:t>Tätigkeiten</a:t>
            </a:r>
            <a:r>
              <a:rPr lang="en-US" sz="2000" dirty="0"/>
              <a:t> und </a:t>
            </a:r>
            <a:r>
              <a:rPr lang="en-US" sz="2000" dirty="0" err="1"/>
              <a:t>Problemlösung</a:t>
            </a:r>
            <a:r>
              <a:rPr lang="en-US" sz="2000" dirty="0"/>
              <a:t> </a:t>
            </a:r>
            <a:r>
              <a:rPr lang="en-US" sz="2000" dirty="0" err="1"/>
              <a:t>kombiniert</a:t>
            </a:r>
            <a:r>
              <a:rPr lang="en-US" sz="2000" dirty="0"/>
              <a:t> </a:t>
            </a:r>
          </a:p>
        </p:txBody>
      </p:sp>
      <p:pic>
        <p:nvPicPr>
          <p:cNvPr id="3" name="Picture 2" descr="A picture containing cable, connector&#10;&#10;Description automatically generated">
            <a:extLst>
              <a:ext uri="{FF2B5EF4-FFF2-40B4-BE49-F238E27FC236}">
                <a16:creationId xmlns:a16="http://schemas.microsoft.com/office/drawing/2014/main" id="{8F152A54-3740-E942-B6E0-667EA2434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57807">
            <a:off x="9613849" y="1954309"/>
            <a:ext cx="1309656" cy="1309656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2D38524-042A-DA4C-9112-753D69AD5D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8569" b="29298"/>
          <a:stretch/>
        </p:blipFill>
        <p:spPr>
          <a:xfrm>
            <a:off x="890517" y="4169539"/>
            <a:ext cx="1947703" cy="435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360B1E-BD69-8440-8301-CE9D3708EA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4927" y="4766572"/>
            <a:ext cx="1587500" cy="127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367B4B-0EA3-1440-BF8A-E7EDFE120A52}"/>
              </a:ext>
            </a:extLst>
          </p:cNvPr>
          <p:cNvSpPr txBox="1"/>
          <p:nvPr/>
        </p:nvSpPr>
        <p:spPr>
          <a:xfrm>
            <a:off x="837484" y="1293136"/>
            <a:ext cx="106568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Die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Begeisterung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für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den SCM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Bereich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wurde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durch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vorherige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Praktika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geweckt</a:t>
            </a:r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94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8167EEF-9BDC-7C4D-BE24-E1F65659B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732" y="3587984"/>
            <a:ext cx="976481" cy="9715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EDFB549-1E67-D14C-8E8B-1A949BCC5B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9736" y="4804002"/>
            <a:ext cx="931114" cy="1326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6C2237-C6C7-C54A-97D1-1A0AD62B5497}"/>
              </a:ext>
            </a:extLst>
          </p:cNvPr>
          <p:cNvSpPr txBox="1"/>
          <p:nvPr/>
        </p:nvSpPr>
        <p:spPr>
          <a:xfrm>
            <a:off x="848442" y="764407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Werdegang</a:t>
            </a:r>
            <a:endParaRPr 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434ADC-4F6B-E948-9E79-FB60DCF72496}"/>
              </a:ext>
            </a:extLst>
          </p:cNvPr>
          <p:cNvSpPr txBox="1"/>
          <p:nvPr/>
        </p:nvSpPr>
        <p:spPr>
          <a:xfrm>
            <a:off x="839787" y="1268262"/>
            <a:ext cx="10656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Durch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mein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alternatives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Auslandsjahr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konnte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ich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mich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herausfordern</a:t>
            </a:r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CA4CD2-5583-E24B-96D3-9B218B101BC4}"/>
              </a:ext>
            </a:extLst>
          </p:cNvPr>
          <p:cNvSpPr txBox="1"/>
          <p:nvPr/>
        </p:nvSpPr>
        <p:spPr>
          <a:xfrm>
            <a:off x="839787" y="2059123"/>
            <a:ext cx="11172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Die Situation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Das in </a:t>
            </a:r>
            <a:r>
              <a:rPr lang="en-US" sz="2000" dirty="0" err="1"/>
              <a:t>Frankreich</a:t>
            </a:r>
            <a:r>
              <a:rPr lang="en-US" sz="2000" dirty="0"/>
              <a:t> </a:t>
            </a:r>
            <a:r>
              <a:rPr lang="en-US" sz="2000" dirty="0" err="1"/>
              <a:t>geplante</a:t>
            </a:r>
            <a:r>
              <a:rPr lang="en-US" sz="2000" dirty="0"/>
              <a:t> </a:t>
            </a:r>
            <a:r>
              <a:rPr lang="en-US" sz="2000" dirty="0" err="1"/>
              <a:t>Auslandsjahr</a:t>
            </a:r>
            <a:r>
              <a:rPr lang="en-US" sz="2000" dirty="0"/>
              <a:t> </a:t>
            </a:r>
            <a:r>
              <a:rPr lang="en-US" sz="2000" dirty="0" err="1"/>
              <a:t>wurde</a:t>
            </a:r>
            <a:r>
              <a:rPr lang="en-US" sz="2000" dirty="0"/>
              <a:t> </a:t>
            </a:r>
            <a:r>
              <a:rPr lang="en-US" sz="2000" dirty="0" err="1"/>
              <a:t>wegen</a:t>
            </a:r>
            <a:r>
              <a:rPr lang="en-US" sz="2000" dirty="0"/>
              <a:t> Corona </a:t>
            </a:r>
            <a:r>
              <a:rPr lang="en-US" sz="2000" dirty="0" err="1"/>
              <a:t>abgesagt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Gezwungen</a:t>
            </a:r>
            <a:r>
              <a:rPr lang="en-US" sz="2000" dirty="0"/>
              <a:t> </a:t>
            </a:r>
            <a:r>
              <a:rPr lang="en-US" sz="2000" dirty="0" err="1"/>
              <a:t>unter</a:t>
            </a:r>
            <a:r>
              <a:rPr lang="en-US" sz="2000" dirty="0"/>
              <a:t> </a:t>
            </a:r>
            <a:r>
              <a:rPr lang="en-US" sz="2000" dirty="0" err="1"/>
              <a:t>Druck</a:t>
            </a:r>
            <a:r>
              <a:rPr lang="en-US" sz="2000" dirty="0"/>
              <a:t> </a:t>
            </a:r>
            <a:r>
              <a:rPr lang="en-US" sz="2000" dirty="0" err="1"/>
              <a:t>eine</a:t>
            </a:r>
            <a:r>
              <a:rPr lang="en-US" sz="2000" dirty="0"/>
              <a:t> </a:t>
            </a:r>
            <a:r>
              <a:rPr lang="en-US" sz="2000" dirty="0" err="1"/>
              <a:t>Entscheidung</a:t>
            </a:r>
            <a:r>
              <a:rPr lang="en-US" sz="2000" dirty="0"/>
              <a:t>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treffen</a:t>
            </a:r>
            <a:r>
              <a:rPr lang="en-US" sz="2000" dirty="0"/>
              <a:t>, </a:t>
            </a:r>
            <a:r>
              <a:rPr lang="en-US" sz="2000" dirty="0" err="1"/>
              <a:t>wobei</a:t>
            </a:r>
            <a:r>
              <a:rPr lang="en-US" sz="2000" dirty="0"/>
              <a:t> es </a:t>
            </a:r>
            <a:r>
              <a:rPr lang="en-US" sz="2000" dirty="0" err="1"/>
              <a:t>viele</a:t>
            </a:r>
            <a:r>
              <a:rPr lang="en-US" sz="2000" dirty="0"/>
              <a:t> </a:t>
            </a:r>
            <a:r>
              <a:rPr lang="en-US" sz="2000" dirty="0" err="1"/>
              <a:t>Einschränkungen</a:t>
            </a:r>
            <a:r>
              <a:rPr lang="en-US" sz="2000" dirty="0"/>
              <a:t> gab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Durch</a:t>
            </a:r>
            <a:r>
              <a:rPr lang="en-US" sz="2000" dirty="0"/>
              <a:t> </a:t>
            </a:r>
            <a:r>
              <a:rPr lang="en-US" sz="2000" dirty="0" err="1"/>
              <a:t>analytisches</a:t>
            </a:r>
            <a:r>
              <a:rPr lang="en-US" sz="2000" dirty="0"/>
              <a:t> </a:t>
            </a:r>
            <a:r>
              <a:rPr lang="en-US" sz="2000" dirty="0" err="1"/>
              <a:t>Herangehen</a:t>
            </a:r>
            <a:r>
              <a:rPr lang="en-US" sz="2000" dirty="0"/>
              <a:t> und </a:t>
            </a:r>
            <a:r>
              <a:rPr lang="en-US" sz="2000" dirty="0" err="1"/>
              <a:t>Betrachten</a:t>
            </a:r>
            <a:r>
              <a:rPr lang="en-US" sz="2000" dirty="0"/>
              <a:t> </a:t>
            </a:r>
            <a:r>
              <a:rPr lang="en-US" sz="2000" dirty="0" err="1"/>
              <a:t>meiner</a:t>
            </a:r>
            <a:r>
              <a:rPr lang="en-US" sz="2000" dirty="0"/>
              <a:t> </a:t>
            </a:r>
            <a:r>
              <a:rPr lang="en-US" sz="2000" dirty="0" err="1"/>
              <a:t>Möglichkeiten</a:t>
            </a:r>
            <a:r>
              <a:rPr lang="en-US" sz="2000" dirty="0"/>
              <a:t> bin ich dem </a:t>
            </a:r>
            <a:r>
              <a:rPr lang="en-US" sz="2000" dirty="0" err="1"/>
              <a:t>Druck</a:t>
            </a:r>
            <a:r>
              <a:rPr lang="en-US" sz="2000" dirty="0"/>
              <a:t> </a:t>
            </a:r>
            <a:r>
              <a:rPr lang="en-US" sz="2000" dirty="0" err="1"/>
              <a:t>standgehalten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6F83C-1AE0-3A44-8BCC-EBFCCD8C0FB1}"/>
              </a:ext>
            </a:extLst>
          </p:cNvPr>
          <p:cNvSpPr txBox="1"/>
          <p:nvPr/>
        </p:nvSpPr>
        <p:spPr>
          <a:xfrm>
            <a:off x="848442" y="3534273"/>
            <a:ext cx="9144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Semester 1 – Universität </a:t>
            </a:r>
            <a:r>
              <a:rPr lang="en-US" sz="2000" b="1" dirty="0" err="1"/>
              <a:t>zu</a:t>
            </a:r>
            <a:r>
              <a:rPr lang="en-US" sz="2000" b="1" dirty="0"/>
              <a:t> Köln (Online Semester)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Möglichkeit</a:t>
            </a:r>
            <a:r>
              <a:rPr lang="en-US" sz="2000" dirty="0"/>
              <a:t> </a:t>
            </a:r>
            <a:r>
              <a:rPr lang="en-US" sz="2000" dirty="0" err="1"/>
              <a:t>mich</a:t>
            </a:r>
            <a:r>
              <a:rPr lang="en-US" sz="2000" dirty="0"/>
              <a:t> </a:t>
            </a:r>
            <a:r>
              <a:rPr lang="en-US" sz="2000" dirty="0" err="1"/>
              <a:t>akademisch</a:t>
            </a:r>
            <a:r>
              <a:rPr lang="en-US" sz="2000" dirty="0"/>
              <a:t>, </a:t>
            </a:r>
            <a:r>
              <a:rPr lang="en-US" sz="2000" dirty="0" err="1"/>
              <a:t>besonders</a:t>
            </a:r>
            <a:r>
              <a:rPr lang="en-US" sz="2000" dirty="0"/>
              <a:t> in dem SCM </a:t>
            </a:r>
            <a:r>
              <a:rPr lang="en-US" sz="2000" dirty="0" err="1"/>
              <a:t>Bereich</a:t>
            </a:r>
            <a:r>
              <a:rPr lang="en-US" sz="2000" dirty="0"/>
              <a:t>,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entwickeln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54 ECTS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Schwerpunkt</a:t>
            </a:r>
            <a:r>
              <a:rPr lang="en-US" sz="2000" dirty="0"/>
              <a:t> Supply Chain Management, und </a:t>
            </a:r>
            <a:r>
              <a:rPr lang="en-US" sz="2000" dirty="0" err="1"/>
              <a:t>Modulen</a:t>
            </a:r>
            <a:r>
              <a:rPr lang="en-US" sz="2000" dirty="0"/>
              <a:t> in Operations Research, Design Thinking und Decision Analysis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FEE5B-42E8-2A49-BA39-31EAC94E43A3}"/>
              </a:ext>
            </a:extLst>
          </p:cNvPr>
          <p:cNvSpPr txBox="1"/>
          <p:nvPr/>
        </p:nvSpPr>
        <p:spPr>
          <a:xfrm>
            <a:off x="839787" y="4971731"/>
            <a:ext cx="100807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Semester 2 – Grenoble Ecole de Management (Online Semester)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Risiko</a:t>
            </a:r>
            <a:r>
              <a:rPr lang="en-US" sz="2000" dirty="0"/>
              <a:t> </a:t>
            </a:r>
            <a:r>
              <a:rPr lang="en-US" sz="2000" dirty="0" err="1"/>
              <a:t>minimiert</a:t>
            </a:r>
            <a:r>
              <a:rPr lang="en-US" sz="2000" dirty="0"/>
              <a:t> </a:t>
            </a:r>
            <a:r>
              <a:rPr lang="en-US" sz="2000" dirty="0" err="1"/>
              <a:t>durch</a:t>
            </a:r>
            <a:r>
              <a:rPr lang="en-US" sz="2000" dirty="0"/>
              <a:t> Philips </a:t>
            </a:r>
            <a:r>
              <a:rPr lang="en-US" sz="2000" dirty="0" err="1"/>
              <a:t>Praktikum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Viel</a:t>
            </a:r>
            <a:r>
              <a:rPr lang="en-US" sz="2000" dirty="0"/>
              <a:t> </a:t>
            </a:r>
            <a:r>
              <a:rPr lang="en-US" sz="2000" dirty="0" err="1"/>
              <a:t>Gruppenarbeit</a:t>
            </a:r>
            <a:r>
              <a:rPr lang="en-US" sz="2000" dirty="0"/>
              <a:t>, </a:t>
            </a:r>
            <a:r>
              <a:rPr lang="en-US" sz="2000" dirty="0" err="1"/>
              <a:t>u.a.</a:t>
            </a:r>
            <a:r>
              <a:rPr lang="en-US" sz="2000" dirty="0"/>
              <a:t> Capstone Modul, in dem ich </a:t>
            </a:r>
            <a:r>
              <a:rPr lang="en-US" sz="2000" dirty="0" err="1"/>
              <a:t>für</a:t>
            </a:r>
            <a:r>
              <a:rPr lang="en-US" sz="2000" dirty="0"/>
              <a:t> den </a:t>
            </a:r>
            <a:r>
              <a:rPr lang="en-US" sz="2000" dirty="0" err="1"/>
              <a:t>Operationsteil</a:t>
            </a:r>
            <a:r>
              <a:rPr lang="en-US" sz="2000" dirty="0"/>
              <a:t> </a:t>
            </a:r>
            <a:r>
              <a:rPr lang="en-US" sz="2000" dirty="0" err="1"/>
              <a:t>zuständig</a:t>
            </a:r>
            <a:r>
              <a:rPr lang="en-US" sz="2000" dirty="0"/>
              <a:t> bin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83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86C2237-C6C7-C54A-97D1-1A0AD62B5497}"/>
              </a:ext>
            </a:extLst>
          </p:cNvPr>
          <p:cNvSpPr txBox="1"/>
          <p:nvPr/>
        </p:nvSpPr>
        <p:spPr>
          <a:xfrm>
            <a:off x="848442" y="764407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Stärken</a:t>
            </a:r>
            <a:r>
              <a:rPr lang="en-US" sz="1400" b="1" dirty="0"/>
              <a:t> und </a:t>
            </a:r>
            <a:r>
              <a:rPr lang="en-US" sz="1400" b="1" dirty="0" err="1"/>
              <a:t>Schwächen</a:t>
            </a:r>
            <a:endParaRPr 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434ADC-4F6B-E948-9E79-FB60DCF72496}"/>
              </a:ext>
            </a:extLst>
          </p:cNvPr>
          <p:cNvSpPr txBox="1"/>
          <p:nvPr/>
        </p:nvSpPr>
        <p:spPr>
          <a:xfrm>
            <a:off x="839787" y="1268262"/>
            <a:ext cx="10656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???</a:t>
            </a:r>
          </a:p>
        </p:txBody>
      </p:sp>
      <p:pic>
        <p:nvPicPr>
          <p:cNvPr id="11" name="Picture 10" descr="A black and white drawing of a person's head&#10;&#10;Description automatically generated with low confidence">
            <a:extLst>
              <a:ext uri="{FF2B5EF4-FFF2-40B4-BE49-F238E27FC236}">
                <a16:creationId xmlns:a16="http://schemas.microsoft.com/office/drawing/2014/main" id="{D8CFA53C-59B6-1D45-A40A-5D8AF5EEF3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761" t="20399" r="25275" b="19056"/>
          <a:stretch/>
        </p:blipFill>
        <p:spPr>
          <a:xfrm>
            <a:off x="822367" y="2688697"/>
            <a:ext cx="657583" cy="766179"/>
          </a:xfrm>
          <a:prstGeom prst="rect">
            <a:avLst/>
          </a:prstGeom>
        </p:spPr>
      </p:pic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80C3CE52-A81D-5D43-A35D-DB7F24FCEA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62" t="5867" r="9327" b="3780"/>
          <a:stretch/>
        </p:blipFill>
        <p:spPr>
          <a:xfrm>
            <a:off x="863876" y="3969260"/>
            <a:ext cx="696284" cy="766178"/>
          </a:xfrm>
          <a:prstGeom prst="rect">
            <a:avLst/>
          </a:prstGeom>
        </p:spPr>
      </p:pic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C7D97FB3-D1CB-7F42-BD4A-24CD33C5A9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826" t="4670" r="13629" b="14427"/>
          <a:stretch/>
        </p:blipFill>
        <p:spPr>
          <a:xfrm>
            <a:off x="848442" y="5253999"/>
            <a:ext cx="767529" cy="91185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5B64CC-F088-F541-8934-CCAE9CD1B793}"/>
              </a:ext>
            </a:extLst>
          </p:cNvPr>
          <p:cNvSpPr txBox="1">
            <a:spLocks/>
          </p:cNvSpPr>
          <p:nvPr/>
        </p:nvSpPr>
        <p:spPr>
          <a:xfrm>
            <a:off x="1560160" y="4090428"/>
            <a:ext cx="4890787" cy="12535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000" dirty="0" err="1"/>
              <a:t>Hohe</a:t>
            </a:r>
            <a:r>
              <a:rPr lang="en-US" sz="2000" dirty="0"/>
              <a:t> Motivation und </a:t>
            </a:r>
            <a:r>
              <a:rPr lang="en-US" sz="2000" dirty="0" err="1"/>
              <a:t>Arbeitsbereitschaft</a:t>
            </a:r>
            <a:endParaRPr lang="en-US" sz="20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B516AEE-D744-814C-ABAD-480777344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594" y="2880611"/>
            <a:ext cx="4510464" cy="751138"/>
          </a:xfrm>
        </p:spPr>
        <p:txBody>
          <a:bodyPr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/>
              <a:t>Ich </a:t>
            </a:r>
            <a:r>
              <a:rPr lang="en-US" sz="2000" dirty="0" err="1"/>
              <a:t>ergreife</a:t>
            </a:r>
            <a:r>
              <a:rPr lang="en-US" sz="2000" dirty="0"/>
              <a:t> gerne die Initiative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D2995A-021F-BC44-8B93-E0A56ADB4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747" y="2688697"/>
            <a:ext cx="683482" cy="7039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EFEFB3-E8E1-844D-8DF0-60FF9AF5E5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6390" y="3971629"/>
            <a:ext cx="665839" cy="66583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AB68AF3-1054-5A40-A4D7-F473F8C80E68}"/>
              </a:ext>
            </a:extLst>
          </p:cNvPr>
          <p:cNvSpPr txBox="1">
            <a:spLocks/>
          </p:cNvSpPr>
          <p:nvPr/>
        </p:nvSpPr>
        <p:spPr>
          <a:xfrm>
            <a:off x="1618268" y="5506790"/>
            <a:ext cx="4892374" cy="1072105"/>
          </a:xfrm>
          <a:prstGeom prst="rect">
            <a:avLst/>
          </a:prstGeom>
          <a:ln w="12700">
            <a:noFill/>
          </a:ln>
        </p:spPr>
        <p:txBody>
          <a:bodyPr vert="horz" lIns="91440" tIns="72000" rIns="91440" bIns="7200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hangingPunc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 err="1"/>
              <a:t>Begeisterungsfähigkeit</a:t>
            </a:r>
            <a:r>
              <a:rPr lang="en-US" sz="2000" dirty="0"/>
              <a:t> und </a:t>
            </a:r>
            <a:r>
              <a:rPr lang="en-US" sz="2000" dirty="0" err="1"/>
              <a:t>Auffassungsgabe</a:t>
            </a:r>
            <a:r>
              <a:rPr lang="en-US" sz="2000" dirty="0"/>
              <a:t> </a:t>
            </a:r>
            <a:endParaRPr lang="en-US" sz="2000" b="1" i="1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994E27-8836-1A41-B5BC-7922EFC17F1A}"/>
              </a:ext>
            </a:extLst>
          </p:cNvPr>
          <p:cNvSpPr txBox="1">
            <a:spLocks/>
          </p:cNvSpPr>
          <p:nvPr/>
        </p:nvSpPr>
        <p:spPr>
          <a:xfrm>
            <a:off x="7532673" y="2877865"/>
            <a:ext cx="3508168" cy="7511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/>
              <a:t>Tendenz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viel</a:t>
            </a:r>
            <a:r>
              <a:rPr lang="en-US" sz="2000" dirty="0"/>
              <a:t> </a:t>
            </a:r>
            <a:r>
              <a:rPr lang="en-US" sz="2000" dirty="0" err="1"/>
              <a:t>nachzudenken</a:t>
            </a:r>
            <a:endParaRPr lang="en-US" sz="20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ED72271-99E3-E14A-BBD8-E2B05725ED6D}"/>
              </a:ext>
            </a:extLst>
          </p:cNvPr>
          <p:cNvSpPr txBox="1">
            <a:spLocks/>
          </p:cNvSpPr>
          <p:nvPr/>
        </p:nvSpPr>
        <p:spPr>
          <a:xfrm>
            <a:off x="7597757" y="4090073"/>
            <a:ext cx="3696034" cy="6658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2000" dirty="0"/>
              <a:t>Bei </a:t>
            </a:r>
            <a:r>
              <a:rPr lang="en-US" sz="2000" dirty="0" err="1"/>
              <a:t>Nervosität</a:t>
            </a:r>
            <a:r>
              <a:rPr lang="en-US" sz="2000" dirty="0"/>
              <a:t> rede ich oft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viel</a:t>
            </a:r>
            <a:endParaRPr lang="en-US" sz="2000" dirty="0"/>
          </a:p>
        </p:txBody>
      </p:sp>
      <p:pic>
        <p:nvPicPr>
          <p:cNvPr id="25" name="Picture 24" descr="A picture containing text, tableware, dishware&#10;&#10;Description automatically generated">
            <a:extLst>
              <a:ext uri="{FF2B5EF4-FFF2-40B4-BE49-F238E27FC236}">
                <a16:creationId xmlns:a16="http://schemas.microsoft.com/office/drawing/2014/main" id="{C6F90CEB-0792-FE4F-9B27-019C1FDFA8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4622" y="5407500"/>
            <a:ext cx="908051" cy="665839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780A69A-59B3-DE41-A08E-0809989E3532}"/>
              </a:ext>
            </a:extLst>
          </p:cNvPr>
          <p:cNvSpPr txBox="1">
            <a:spLocks/>
          </p:cNvSpPr>
          <p:nvPr/>
        </p:nvSpPr>
        <p:spPr>
          <a:xfrm>
            <a:off x="7597757" y="5407500"/>
            <a:ext cx="3792206" cy="1072105"/>
          </a:xfrm>
          <a:prstGeom prst="rect">
            <a:avLst/>
          </a:prstGeom>
          <a:ln w="12700">
            <a:noFill/>
          </a:ln>
        </p:spPr>
        <p:txBody>
          <a:bodyPr vert="horz" lIns="91440" tIns="72000" rIns="91440" bIns="7200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hangingPunc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dirty="0" err="1"/>
              <a:t>Schüchternheit</a:t>
            </a:r>
            <a:r>
              <a:rPr lang="en-US" sz="2000" dirty="0"/>
              <a:t> </a:t>
            </a:r>
            <a:r>
              <a:rPr lang="en-US" sz="2000" dirty="0" err="1"/>
              <a:t>bei</a:t>
            </a:r>
            <a:r>
              <a:rPr lang="en-US" sz="2000" dirty="0"/>
              <a:t> </a:t>
            </a:r>
            <a:r>
              <a:rPr lang="en-US" sz="2000" dirty="0" err="1"/>
              <a:t>neuen</a:t>
            </a:r>
            <a:r>
              <a:rPr lang="en-US" sz="2000" dirty="0"/>
              <a:t> </a:t>
            </a:r>
            <a:r>
              <a:rPr lang="en-US" sz="2000" dirty="0" err="1"/>
              <a:t>Leuten</a:t>
            </a:r>
            <a:r>
              <a:rPr lang="en-US" sz="2000" dirty="0"/>
              <a:t> </a:t>
            </a:r>
            <a:endParaRPr lang="en-US" sz="20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6F599C-55B6-3648-B5BB-33C33353EBC7}"/>
              </a:ext>
            </a:extLst>
          </p:cNvPr>
          <p:cNvSpPr txBox="1"/>
          <p:nvPr/>
        </p:nvSpPr>
        <p:spPr>
          <a:xfrm>
            <a:off x="827664" y="2040522"/>
            <a:ext cx="3048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Stärken</a:t>
            </a:r>
            <a:endParaRPr 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0AEE51-3E20-7545-82F7-23C0309BE7D4}"/>
              </a:ext>
            </a:extLst>
          </p:cNvPr>
          <p:cNvSpPr txBox="1"/>
          <p:nvPr/>
        </p:nvSpPr>
        <p:spPr>
          <a:xfrm>
            <a:off x="6614700" y="2029567"/>
            <a:ext cx="3048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Schwächen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5569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64BE19CE-ADDD-4641-9FF7-BA17178E19B3}"/>
              </a:ext>
            </a:extLst>
          </p:cNvPr>
          <p:cNvSpPr txBox="1"/>
          <p:nvPr/>
        </p:nvSpPr>
        <p:spPr>
          <a:xfrm>
            <a:off x="7554686" y="783771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D7E85-7C31-224B-ACC7-A57D1F3E1ED0}"/>
              </a:ext>
            </a:extLst>
          </p:cNvPr>
          <p:cNvSpPr txBox="1"/>
          <p:nvPr/>
        </p:nvSpPr>
        <p:spPr>
          <a:xfrm>
            <a:off x="6096000" y="3577484"/>
            <a:ext cx="57678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Die </a:t>
            </a:r>
            <a:r>
              <a:rPr lang="en-US" sz="2000" b="1" dirty="0" err="1"/>
              <a:t>Beratung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Verschiedene</a:t>
            </a:r>
            <a:r>
              <a:rPr lang="en-US" sz="2000" dirty="0"/>
              <a:t> </a:t>
            </a:r>
            <a:r>
              <a:rPr lang="en-US" sz="2000" dirty="0" err="1"/>
              <a:t>Industrien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Internationales</a:t>
            </a:r>
            <a:r>
              <a:rPr lang="en-GB" sz="2000" dirty="0"/>
              <a:t> </a:t>
            </a:r>
            <a:r>
              <a:rPr lang="en-GB" sz="2000" dirty="0" err="1"/>
              <a:t>Umfeld</a:t>
            </a:r>
            <a:r>
              <a:rPr lang="en-GB" sz="2000" dirty="0"/>
              <a:t> </a:t>
            </a:r>
            <a:r>
              <a:rPr lang="en-GB" sz="2000" dirty="0" err="1"/>
              <a:t>mit</a:t>
            </a:r>
            <a:r>
              <a:rPr lang="en-GB" sz="2000" dirty="0"/>
              <a:t> und </a:t>
            </a:r>
            <a:r>
              <a:rPr lang="en-GB" sz="2000" dirty="0" err="1"/>
              <a:t>zielstrebige</a:t>
            </a:r>
            <a:r>
              <a:rPr lang="en-GB" sz="2000" dirty="0"/>
              <a:t> </a:t>
            </a:r>
            <a:r>
              <a:rPr lang="en-GB" sz="2000" dirty="0" err="1"/>
              <a:t>Kollegen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Abwechslung</a:t>
            </a:r>
            <a:r>
              <a:rPr lang="en-GB" sz="2000" dirty="0"/>
              <a:t> </a:t>
            </a:r>
            <a:r>
              <a:rPr lang="en-GB" sz="2000" dirty="0" err="1"/>
              <a:t>im</a:t>
            </a:r>
            <a:r>
              <a:rPr lang="en-GB" sz="2000" dirty="0"/>
              <a:t> </a:t>
            </a:r>
            <a:r>
              <a:rPr lang="en-GB" sz="2000" dirty="0" err="1"/>
              <a:t>Berufsalltag</a:t>
            </a:r>
            <a:r>
              <a:rPr lang="en-GB" sz="2000" dirty="0"/>
              <a:t> und </a:t>
            </a:r>
            <a:r>
              <a:rPr lang="en-GB" sz="2000" dirty="0" err="1"/>
              <a:t>steile</a:t>
            </a:r>
            <a:r>
              <a:rPr lang="en-GB" sz="2000" dirty="0"/>
              <a:t> </a:t>
            </a:r>
            <a:r>
              <a:rPr lang="en-GB" sz="2000" dirty="0" err="1"/>
              <a:t>Lernkurve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Spaß</a:t>
            </a:r>
            <a:r>
              <a:rPr lang="en-GB" sz="2000" dirty="0"/>
              <a:t> an der </a:t>
            </a:r>
            <a:r>
              <a:rPr lang="en-GB" sz="2000" dirty="0" err="1"/>
              <a:t>Problemlösung</a:t>
            </a:r>
            <a:r>
              <a:rPr lang="en-GB" sz="2000" dirty="0"/>
              <a:t> und </a:t>
            </a:r>
            <a:r>
              <a:rPr lang="en-GB" sz="2000" dirty="0" err="1"/>
              <a:t>Analytische</a:t>
            </a:r>
            <a:r>
              <a:rPr lang="en-GB" sz="2000" dirty="0"/>
              <a:t> </a:t>
            </a:r>
            <a:r>
              <a:rPr lang="en-GB" sz="2000" dirty="0" err="1"/>
              <a:t>Fähigkeiten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Passende</a:t>
            </a:r>
            <a:r>
              <a:rPr lang="en-GB" sz="2000" dirty="0"/>
              <a:t> </a:t>
            </a:r>
            <a:r>
              <a:rPr lang="en-GB" sz="2000" dirty="0" err="1"/>
              <a:t>Stärken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247D8-44D3-2944-9E10-C7D1A5CCA507}"/>
              </a:ext>
            </a:extLst>
          </p:cNvPr>
          <p:cNvSpPr txBox="1"/>
          <p:nvPr/>
        </p:nvSpPr>
        <p:spPr>
          <a:xfrm>
            <a:off x="839787" y="2060942"/>
            <a:ext cx="53535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Value Chain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Kostensenkung</a:t>
            </a:r>
            <a:r>
              <a:rPr lang="en-GB" sz="2000" dirty="0"/>
              <a:t> und </a:t>
            </a:r>
            <a:r>
              <a:rPr lang="en-GB" sz="2000" dirty="0" err="1"/>
              <a:t>Prozessoptimierung</a:t>
            </a:r>
            <a:r>
              <a:rPr lang="en-GB" sz="2000" dirty="0"/>
              <a:t> </a:t>
            </a:r>
            <a:r>
              <a:rPr lang="en-GB" sz="2000" dirty="0" err="1"/>
              <a:t>mit</a:t>
            </a:r>
            <a:r>
              <a:rPr lang="en-GB" sz="2000" dirty="0"/>
              <a:t> </a:t>
            </a:r>
            <a:r>
              <a:rPr lang="en-GB" sz="2000" dirty="0" err="1"/>
              <a:t>Fokus</a:t>
            </a:r>
            <a:r>
              <a:rPr lang="en-GB" sz="2000" dirty="0"/>
              <a:t> auf </a:t>
            </a:r>
            <a:r>
              <a:rPr lang="en-GB" sz="2000" dirty="0" err="1"/>
              <a:t>Daten</a:t>
            </a:r>
            <a:r>
              <a:rPr lang="en-GB" sz="2000" dirty="0"/>
              <a:t> und die </a:t>
            </a:r>
            <a:r>
              <a:rPr lang="en-GB" sz="2000" dirty="0" err="1"/>
              <a:t>Digitale</a:t>
            </a:r>
            <a:r>
              <a:rPr lang="en-GB" sz="2000" dirty="0"/>
              <a:t> Supply Chain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/>
              <a:t>Dynamisch</a:t>
            </a:r>
            <a:r>
              <a:rPr lang="en-GB" sz="2000" dirty="0"/>
              <a:t> und </a:t>
            </a:r>
            <a:r>
              <a:rPr lang="en-GB" sz="2000" b="1" dirty="0" err="1"/>
              <a:t>lösungsorientiert</a:t>
            </a:r>
            <a:r>
              <a:rPr lang="en-GB" sz="20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Zukunftsorientierung</a:t>
            </a:r>
            <a:endParaRPr lang="en-GB" sz="2000" dirty="0"/>
          </a:p>
        </p:txBody>
      </p:sp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2F5C3E11-5159-4D4D-9DD4-6067E7144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908" y="1700213"/>
            <a:ext cx="2652118" cy="1877271"/>
          </a:xfrm>
          <a:prstGeom prst="rect">
            <a:avLst/>
          </a:prstGeom>
        </p:spPr>
      </p:pic>
      <p:pic>
        <p:nvPicPr>
          <p:cNvPr id="18" name="Picture 17" descr="A picture containing wheel, transport, gear&#10;&#10;Description automatically generated">
            <a:extLst>
              <a:ext uri="{FF2B5EF4-FFF2-40B4-BE49-F238E27FC236}">
                <a16:creationId xmlns:a16="http://schemas.microsoft.com/office/drawing/2014/main" id="{0617CFC0-EA48-DB4B-B2C7-E00AE5C53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675" y="3981450"/>
            <a:ext cx="3898900" cy="2184400"/>
          </a:xfrm>
          <a:prstGeom prst="rect">
            <a:avLst/>
          </a:prstGeom>
        </p:spPr>
      </p:pic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38324E36-385D-E749-BE7D-3A96A980C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11481"/>
            <a:ext cx="2653386" cy="18772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900289-7521-E344-96E0-10D89184B8DB}"/>
              </a:ext>
            </a:extLst>
          </p:cNvPr>
          <p:cNvSpPr txBox="1"/>
          <p:nvPr/>
        </p:nvSpPr>
        <p:spPr>
          <a:xfrm>
            <a:off x="839787" y="1268262"/>
            <a:ext cx="10656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Value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Chain Transformation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ist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ein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sehr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dynamischer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und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lösungsorientierter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Bereich</a:t>
            </a:r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154041-D622-1840-8A62-B399AA1C337F}"/>
              </a:ext>
            </a:extLst>
          </p:cNvPr>
          <p:cNvSpPr txBox="1"/>
          <p:nvPr/>
        </p:nvSpPr>
        <p:spPr>
          <a:xfrm>
            <a:off x="848442" y="764407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Warum</a:t>
            </a:r>
            <a:r>
              <a:rPr lang="en-US" sz="1400" b="1" dirty="0"/>
              <a:t> KPMG?</a:t>
            </a:r>
          </a:p>
        </p:txBody>
      </p:sp>
    </p:spTree>
    <p:extLst>
      <p:ext uri="{BB962C8B-B14F-4D97-AF65-F5344CB8AC3E}">
        <p14:creationId xmlns:p14="http://schemas.microsoft.com/office/powerpoint/2010/main" val="12361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64BE19CE-ADDD-4641-9FF7-BA17178E19B3}"/>
              </a:ext>
            </a:extLst>
          </p:cNvPr>
          <p:cNvSpPr txBox="1"/>
          <p:nvPr/>
        </p:nvSpPr>
        <p:spPr>
          <a:xfrm>
            <a:off x="7554686" y="783771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D7E85-7C31-224B-ACC7-A57D1F3E1ED0}"/>
              </a:ext>
            </a:extLst>
          </p:cNvPr>
          <p:cNvSpPr txBox="1"/>
          <p:nvPr/>
        </p:nvSpPr>
        <p:spPr>
          <a:xfrm>
            <a:off x="848442" y="1926005"/>
            <a:ext cx="10512424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Globales</a:t>
            </a:r>
            <a:r>
              <a:rPr lang="en-US" sz="2000" dirty="0"/>
              <a:t> </a:t>
            </a:r>
            <a:r>
              <a:rPr lang="en-US" sz="2000" dirty="0" err="1"/>
              <a:t>Unternehmensnetzwerk</a:t>
            </a:r>
            <a:r>
              <a:rPr lang="en-US" sz="2000" dirty="0"/>
              <a:t> </a:t>
            </a:r>
            <a:r>
              <a:rPr lang="en-US" sz="2000" dirty="0" err="1"/>
              <a:t>basierend</a:t>
            </a:r>
            <a:r>
              <a:rPr lang="en-US" sz="2000" dirty="0"/>
              <a:t> auf </a:t>
            </a:r>
            <a:r>
              <a:rPr lang="en-US" sz="2000" dirty="0" err="1"/>
              <a:t>Europäischen</a:t>
            </a:r>
            <a:r>
              <a:rPr lang="en-US" sz="2000" dirty="0"/>
              <a:t> </a:t>
            </a:r>
            <a:r>
              <a:rPr lang="en-US" sz="2000" dirty="0" err="1"/>
              <a:t>Wurzeln</a:t>
            </a:r>
            <a:r>
              <a:rPr lang="en-US" sz="2000" dirty="0"/>
              <a:t> (</a:t>
            </a:r>
            <a:r>
              <a:rPr lang="en-US" sz="2000" dirty="0" err="1"/>
              <a:t>tätig</a:t>
            </a:r>
            <a:r>
              <a:rPr lang="en-US" sz="2000" dirty="0"/>
              <a:t> in 146 </a:t>
            </a:r>
            <a:r>
              <a:rPr lang="en-US" sz="2000" dirty="0" err="1"/>
              <a:t>Ländern</a:t>
            </a:r>
            <a:r>
              <a:rPr lang="en-US" sz="2000" dirty="0"/>
              <a:t>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Starker Consulting Zweig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Fokus</a:t>
            </a:r>
            <a:r>
              <a:rPr lang="en-US" sz="2000" dirty="0"/>
              <a:t> auf Operations (40% der </a:t>
            </a:r>
            <a:r>
              <a:rPr lang="en-US" sz="2000" dirty="0" err="1"/>
              <a:t>Einnahmen</a:t>
            </a:r>
            <a:r>
              <a:rPr lang="en-US" sz="2000" dirty="0"/>
              <a:t> in 2020)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Dynamische</a:t>
            </a:r>
            <a:r>
              <a:rPr lang="en-US" sz="2000" b="1" dirty="0"/>
              <a:t> </a:t>
            </a:r>
            <a:r>
              <a:rPr lang="en-US" sz="2000" dirty="0"/>
              <a:t>und</a:t>
            </a:r>
            <a:r>
              <a:rPr lang="en-US" sz="2000" b="1" dirty="0"/>
              <a:t> </a:t>
            </a:r>
            <a:r>
              <a:rPr lang="en-US" sz="2000" b="1" dirty="0" err="1"/>
              <a:t>interdisziplinäre</a:t>
            </a:r>
            <a:r>
              <a:rPr lang="en-US" sz="2000" b="1" dirty="0"/>
              <a:t> </a:t>
            </a:r>
            <a:r>
              <a:rPr lang="en-US" sz="2000" dirty="0"/>
              <a:t>Teams – </a:t>
            </a:r>
            <a:r>
              <a:rPr lang="en-US" sz="2000" dirty="0" err="1"/>
              <a:t>verschiedene</a:t>
            </a:r>
            <a:r>
              <a:rPr lang="en-US" sz="2000" dirty="0"/>
              <a:t> </a:t>
            </a:r>
            <a:r>
              <a:rPr lang="en-US" sz="2000" dirty="0" err="1"/>
              <a:t>Blickwinkel</a:t>
            </a:r>
            <a:r>
              <a:rPr lang="en-US" sz="20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Sehr </a:t>
            </a:r>
            <a:r>
              <a:rPr lang="en-US" sz="2000" b="1" dirty="0" err="1"/>
              <a:t>gute</a:t>
            </a:r>
            <a:r>
              <a:rPr lang="en-US" sz="2000" b="1" dirty="0"/>
              <a:t> </a:t>
            </a:r>
            <a:r>
              <a:rPr lang="en-US" sz="2000" b="1" dirty="0" err="1"/>
              <a:t>Unternehmenskultur</a:t>
            </a:r>
            <a:r>
              <a:rPr lang="en-US" sz="2000" b="1" dirty="0"/>
              <a:t> </a:t>
            </a:r>
            <a:r>
              <a:rPr lang="en-US" sz="2000" dirty="0" err="1"/>
              <a:t>durch</a:t>
            </a:r>
            <a:r>
              <a:rPr lang="en-US" sz="2000" dirty="0"/>
              <a:t> den </a:t>
            </a:r>
            <a:r>
              <a:rPr lang="en-US" sz="2000" dirty="0" err="1"/>
              <a:t>Fokus</a:t>
            </a:r>
            <a:r>
              <a:rPr lang="en-US" sz="2000" dirty="0"/>
              <a:t> auf </a:t>
            </a:r>
            <a:r>
              <a:rPr lang="en-US" sz="2000" dirty="0" err="1"/>
              <a:t>individuelle</a:t>
            </a:r>
            <a:r>
              <a:rPr lang="en-US" sz="2000" dirty="0"/>
              <a:t> Mitarbeiter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Positives Feedback </a:t>
            </a:r>
            <a:r>
              <a:rPr lang="en-US" sz="2000" dirty="0" err="1"/>
              <a:t>zu</a:t>
            </a:r>
            <a:r>
              <a:rPr lang="en-US" sz="2000" dirty="0"/>
              <a:t> der Stimmung </a:t>
            </a:r>
            <a:r>
              <a:rPr lang="en-US" sz="2000" dirty="0" err="1"/>
              <a:t>im</a:t>
            </a:r>
            <a:r>
              <a:rPr lang="en-US" sz="2000" dirty="0"/>
              <a:t> Team und das </a:t>
            </a:r>
            <a:r>
              <a:rPr lang="en-US" sz="2000" b="1" dirty="0" err="1"/>
              <a:t>Einbringen</a:t>
            </a:r>
            <a:r>
              <a:rPr lang="en-US" sz="2000" b="1" dirty="0"/>
              <a:t> von </a:t>
            </a:r>
            <a:r>
              <a:rPr lang="en-US" sz="2000" b="1" dirty="0" err="1"/>
              <a:t>Praktikanten</a:t>
            </a:r>
            <a:r>
              <a:rPr lang="en-US" sz="2000" b="1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Verantwortung</a:t>
            </a:r>
            <a:r>
              <a:rPr lang="en-US" sz="2000" dirty="0"/>
              <a:t>, </a:t>
            </a:r>
            <a:r>
              <a:rPr lang="en-US" sz="2000" b="1" dirty="0" err="1"/>
              <a:t>steile</a:t>
            </a:r>
            <a:r>
              <a:rPr lang="en-US" sz="2000" b="1" dirty="0"/>
              <a:t> </a:t>
            </a:r>
            <a:r>
              <a:rPr lang="en-US" sz="2000" b="1" dirty="0" err="1"/>
              <a:t>Lernkurve</a:t>
            </a:r>
            <a:r>
              <a:rPr lang="en-US" sz="2000" dirty="0"/>
              <a:t>, und </a:t>
            </a:r>
            <a:r>
              <a:rPr lang="en-US" sz="2000" b="1" dirty="0" err="1"/>
              <a:t>Teamgeist</a:t>
            </a:r>
            <a:r>
              <a:rPr lang="en-US" sz="2000" b="1" dirty="0"/>
              <a:t>  </a:t>
            </a: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0CC7C3-036C-0945-9A2C-D825A2783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931" y="5162093"/>
            <a:ext cx="2579935" cy="10037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81CD42-9F85-6C49-99BD-5A6DB292C291}"/>
              </a:ext>
            </a:extLst>
          </p:cNvPr>
          <p:cNvSpPr txBox="1"/>
          <p:nvPr/>
        </p:nvSpPr>
        <p:spPr>
          <a:xfrm>
            <a:off x="839787" y="1268262"/>
            <a:ext cx="10656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KPMG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begeistert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durch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Schwerpunkt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und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hervorragende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Unternehmenskultur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B7A02-0941-DA42-ADDE-0DFB8E2190E1}"/>
              </a:ext>
            </a:extLst>
          </p:cNvPr>
          <p:cNvSpPr txBox="1"/>
          <p:nvPr/>
        </p:nvSpPr>
        <p:spPr>
          <a:xfrm>
            <a:off x="848442" y="764407"/>
            <a:ext cx="2800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Warum</a:t>
            </a:r>
            <a:r>
              <a:rPr lang="en-US" sz="1400" b="1" dirty="0"/>
              <a:t> KPMG?</a:t>
            </a:r>
          </a:p>
        </p:txBody>
      </p:sp>
    </p:spTree>
    <p:extLst>
      <p:ext uri="{BB962C8B-B14F-4D97-AF65-F5344CB8AC3E}">
        <p14:creationId xmlns:p14="http://schemas.microsoft.com/office/powerpoint/2010/main" val="29580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5097</TotalTime>
  <Words>410</Words>
  <Application>Microsoft Macintosh PowerPoint</Application>
  <PresentationFormat>Widescreen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Alexandra Muchin</dc:creator>
  <cp:lastModifiedBy>Alexandra Muchin</cp:lastModifiedBy>
  <cp:revision>75</cp:revision>
  <dcterms:created xsi:type="dcterms:W3CDTF">2021-04-01T16:30:35Z</dcterms:created>
  <dcterms:modified xsi:type="dcterms:W3CDTF">2021-04-05T21:47:26Z</dcterms:modified>
</cp:coreProperties>
</file>