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tmp" ContentType="image/p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</p:sldMasterIdLst>
  <p:notesMasterIdLst>
    <p:notesMasterId r:id="rId10"/>
  </p:notesMasterIdLst>
  <p:sldIdLst>
    <p:sldId id="256" r:id="rId2"/>
    <p:sldId id="259" r:id="rId3"/>
    <p:sldId id="260" r:id="rId4"/>
    <p:sldId id="264" r:id="rId5"/>
    <p:sldId id="258" r:id="rId6"/>
    <p:sldId id="265" r:id="rId7"/>
    <p:sldId id="266" r:id="rId8"/>
    <p:sldId id="262" r:id="rId9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3" d="100"/>
          <a:sy n="103" d="100"/>
        </p:scale>
        <p:origin x="64" y="5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r>
              <a:rPr lang="de-DE" sz="900" dirty="0">
                <a:latin typeface="Montserrat" panose="00000500000000000000" pitchFamily="2" charset="0"/>
              </a:rPr>
              <a:t>E-Commerce Umsatz in den Jahren 2011 bis 2020 von Augenoptiker in Milliarden</a:t>
            </a:r>
          </a:p>
        </c:rich>
      </c:tx>
      <c:layout>
        <c:manualLayout>
          <c:xMode val="edge"/>
          <c:yMode val="edge"/>
          <c:x val="0.13421723869681865"/>
          <c:y val="2.434864965648273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E Commerce Umsatz von Augenoptiker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6"/>
              </a:solidFill>
            </a:ln>
            <a:effectLst/>
            <a:sp3d>
              <a:contourClr>
                <a:schemeClr val="accent6"/>
              </a:contourClr>
            </a:sp3d>
          </c:spPr>
          <c:invertIfNegative val="0"/>
          <c:cat>
            <c:numRef>
              <c:f>Tabelle1!$A$2:$A$15</c:f>
              <c:numCache>
                <c:formatCode>General</c:formatCode>
                <c:ptCount val="10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numCache>
              <c:extLst/>
            </c:numRef>
          </c:cat>
          <c:val>
            <c:numRef>
              <c:f>Tabelle1!$B$2:$B$15</c:f>
              <c:numCache>
                <c:formatCode>General</c:formatCode>
                <c:ptCount val="10"/>
                <c:pt idx="0">
                  <c:v>0.1</c:v>
                </c:pt>
                <c:pt idx="1">
                  <c:v>0.13</c:v>
                </c:pt>
                <c:pt idx="2">
                  <c:v>0.17</c:v>
                </c:pt>
                <c:pt idx="3">
                  <c:v>0.21</c:v>
                </c:pt>
                <c:pt idx="4">
                  <c:v>0.23</c:v>
                </c:pt>
                <c:pt idx="5">
                  <c:v>0.25</c:v>
                </c:pt>
                <c:pt idx="6">
                  <c:v>0.26</c:v>
                </c:pt>
                <c:pt idx="7">
                  <c:v>0.36</c:v>
                </c:pt>
                <c:pt idx="8">
                  <c:v>0.38</c:v>
                </c:pt>
                <c:pt idx="9">
                  <c:v>0.45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5CB9-4835-9A88-FBB6D413D6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68040880"/>
        <c:axId val="445638576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Tabelle1!$C$1</c15:sqref>
                        </c15:formulaRef>
                      </c:ext>
                    </c:extLst>
                    <c:strCache>
                      <c:ptCount val="1"/>
                      <c:pt idx="0">
                        <c:v>Spalte1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cat>
                  <c:numRef>
                    <c:extLst>
                      <c:ext uri="{02D57815-91ED-43cb-92C2-25804820EDAC}">
                        <c15:formulaRef>
                          <c15:sqref>Tabelle1!$A$2:$A$15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2011</c:v>
                      </c:pt>
                      <c:pt idx="1">
                        <c:v>2012</c:v>
                      </c:pt>
                      <c:pt idx="2">
                        <c:v>2013</c:v>
                      </c:pt>
                      <c:pt idx="3">
                        <c:v>2014</c:v>
                      </c:pt>
                      <c:pt idx="4">
                        <c:v>2015</c:v>
                      </c:pt>
                      <c:pt idx="5">
                        <c:v>2016</c:v>
                      </c:pt>
                      <c:pt idx="6">
                        <c:v>2017</c:v>
                      </c:pt>
                      <c:pt idx="7">
                        <c:v>2018</c:v>
                      </c:pt>
                      <c:pt idx="8">
                        <c:v>2019</c:v>
                      </c:pt>
                      <c:pt idx="9">
                        <c:v>2020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Tabelle1!$C$2:$C$15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5CB9-4835-9A88-FBB6D413D696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Tabelle1!$D$1</c15:sqref>
                        </c15:formulaRef>
                      </c:ext>
                    </c:extLst>
                    <c:strCache>
                      <c:ptCount val="1"/>
                      <c:pt idx="0">
                        <c:v>Spalte2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Tabelle1!$A$2:$A$15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2011</c:v>
                      </c:pt>
                      <c:pt idx="1">
                        <c:v>2012</c:v>
                      </c:pt>
                      <c:pt idx="2">
                        <c:v>2013</c:v>
                      </c:pt>
                      <c:pt idx="3">
                        <c:v>2014</c:v>
                      </c:pt>
                      <c:pt idx="4">
                        <c:v>2015</c:v>
                      </c:pt>
                      <c:pt idx="5">
                        <c:v>2016</c:v>
                      </c:pt>
                      <c:pt idx="6">
                        <c:v>2017</c:v>
                      </c:pt>
                      <c:pt idx="7">
                        <c:v>2018</c:v>
                      </c:pt>
                      <c:pt idx="8">
                        <c:v>2019</c:v>
                      </c:pt>
                      <c:pt idx="9">
                        <c:v>2020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Tabelle1!$D$2:$D$15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5CB9-4835-9A88-FBB6D413D696}"/>
                  </c:ext>
                </c:extLst>
              </c15:ser>
            </c15:filteredBarSeries>
          </c:ext>
        </c:extLst>
      </c:barChart>
      <c:catAx>
        <c:axId val="368040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6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445638576"/>
        <c:crosses val="autoZero"/>
        <c:auto val="1"/>
        <c:lblAlgn val="ctr"/>
        <c:lblOffset val="100"/>
        <c:noMultiLvlLbl val="0"/>
      </c:catAx>
      <c:valAx>
        <c:axId val="4456385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368040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accent6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r>
              <a:rPr lang="de-DE" sz="900" dirty="0"/>
              <a:t>Umsatz mit Brillen in Deutschland in den Jahren 2012 bis 2021 in Milliarden</a:t>
            </a:r>
          </a:p>
        </c:rich>
      </c:tx>
      <c:layout>
        <c:manualLayout>
          <c:xMode val="edge"/>
          <c:yMode val="edge"/>
          <c:x val="0.1401920951163878"/>
          <c:y val="6.7053224498736996E-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Umsatz mit Brillen in Deutschland in den Jahren 2012 bis 2021 in Milliarden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Tabelle1!$A$2:$A$10</c:f>
              <c:numCache>
                <c:formatCode>General</c:formatCode>
                <c:ptCount val="9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</c:numCache>
            </c:numRef>
          </c:cat>
          <c:val>
            <c:numRef>
              <c:f>Tabelle1!$B$2:$B$10</c:f>
              <c:numCache>
                <c:formatCode>General</c:formatCode>
                <c:ptCount val="9"/>
                <c:pt idx="0">
                  <c:v>5.7850000000000001</c:v>
                </c:pt>
                <c:pt idx="1">
                  <c:v>5.9249999999999998</c:v>
                </c:pt>
                <c:pt idx="2">
                  <c:v>6.0670000000000002</c:v>
                </c:pt>
                <c:pt idx="3">
                  <c:v>6.21</c:v>
                </c:pt>
                <c:pt idx="4">
                  <c:v>6.3540000000000001</c:v>
                </c:pt>
                <c:pt idx="5">
                  <c:v>6.4980000000000002</c:v>
                </c:pt>
                <c:pt idx="6">
                  <c:v>6.64</c:v>
                </c:pt>
                <c:pt idx="7">
                  <c:v>6.7809999999999997</c:v>
                </c:pt>
                <c:pt idx="8">
                  <c:v>5.8849999999999998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08-4490-B78B-53D4C244EC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48322680"/>
        <c:axId val="548323000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Tabelle1!$C$1</c15:sqref>
                        </c15:formulaRef>
                      </c:ext>
                    </c:extLst>
                    <c:strCache>
                      <c:ptCount val="1"/>
                      <c:pt idx="0">
                        <c:v>Spalte1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cat>
                  <c:numRef>
                    <c:extLst>
                      <c:ext uri="{02D57815-91ED-43cb-92C2-25804820EDAC}">
                        <c15:formulaRef>
                          <c15:sqref>Tabelle1!$A$2:$A$10</c15:sqref>
                        </c15:formulaRef>
                      </c:ext>
                    </c:extLst>
                    <c:numCache>
                      <c:formatCode>General</c:formatCode>
                      <c:ptCount val="9"/>
                      <c:pt idx="0">
                        <c:v>2012</c:v>
                      </c:pt>
                      <c:pt idx="1">
                        <c:v>2013</c:v>
                      </c:pt>
                      <c:pt idx="2">
                        <c:v>2014</c:v>
                      </c:pt>
                      <c:pt idx="3">
                        <c:v>2015</c:v>
                      </c:pt>
                      <c:pt idx="4">
                        <c:v>2016</c:v>
                      </c:pt>
                      <c:pt idx="5">
                        <c:v>2017</c:v>
                      </c:pt>
                      <c:pt idx="6">
                        <c:v>2018</c:v>
                      </c:pt>
                      <c:pt idx="7">
                        <c:v>2019</c:v>
                      </c:pt>
                      <c:pt idx="8">
                        <c:v>2020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Tabelle1!$C$2:$C$10</c15:sqref>
                        </c15:formulaRef>
                      </c:ext>
                    </c:extLst>
                    <c:numCache>
                      <c:formatCode>General</c:formatCode>
                      <c:ptCount val="9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1C08-4490-B78B-53D4C244EC64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Tabelle1!$D$1</c15:sqref>
                        </c15:formulaRef>
                      </c:ext>
                    </c:extLst>
                    <c:strCache>
                      <c:ptCount val="1"/>
                      <c:pt idx="0">
                        <c:v>Spalte2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Tabelle1!$A$2:$A$10</c15:sqref>
                        </c15:formulaRef>
                      </c:ext>
                    </c:extLst>
                    <c:numCache>
                      <c:formatCode>General</c:formatCode>
                      <c:ptCount val="9"/>
                      <c:pt idx="0">
                        <c:v>2012</c:v>
                      </c:pt>
                      <c:pt idx="1">
                        <c:v>2013</c:v>
                      </c:pt>
                      <c:pt idx="2">
                        <c:v>2014</c:v>
                      </c:pt>
                      <c:pt idx="3">
                        <c:v>2015</c:v>
                      </c:pt>
                      <c:pt idx="4">
                        <c:v>2016</c:v>
                      </c:pt>
                      <c:pt idx="5">
                        <c:v>2017</c:v>
                      </c:pt>
                      <c:pt idx="6">
                        <c:v>2018</c:v>
                      </c:pt>
                      <c:pt idx="7">
                        <c:v>2019</c:v>
                      </c:pt>
                      <c:pt idx="8">
                        <c:v>2020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Tabelle1!$D$2:$D$10</c15:sqref>
                        </c15:formulaRef>
                      </c:ext>
                    </c:extLst>
                    <c:numCache>
                      <c:formatCode>General</c:formatCode>
                      <c:ptCount val="9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1C08-4490-B78B-53D4C244EC64}"/>
                  </c:ext>
                </c:extLst>
              </c15:ser>
            </c15:filteredBarSeries>
          </c:ext>
        </c:extLst>
      </c:barChart>
      <c:catAx>
        <c:axId val="548322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548323000"/>
        <c:crosses val="autoZero"/>
        <c:auto val="1"/>
        <c:lblAlgn val="ctr"/>
        <c:lblOffset val="100"/>
        <c:noMultiLvlLbl val="0"/>
      </c:catAx>
      <c:valAx>
        <c:axId val="548323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54832268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 sz="900" dirty="0">
                <a:latin typeface="Montserrat" panose="00000500000000000000" pitchFamily="2" charset="0"/>
              </a:rPr>
              <a:t>Prozentualer Anteil vom E-Commerce Umsatz von Augenoptikern am Gesamtumsatz durch Brillen in Deutschland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Prozentualer Anteil vom E-Commerce Umsatz von Augenoptikern am Gesamtumsatz durch Brillen in Deutschland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Tabelle1!$A$2:$A$10</c:f>
              <c:numCache>
                <c:formatCode>General</c:formatCode>
                <c:ptCount val="9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</c:numCache>
            </c:numRef>
          </c:cat>
          <c:val>
            <c:numRef>
              <c:f>Tabelle1!$B$2:$B$10</c:f>
              <c:numCache>
                <c:formatCode>0.00%</c:formatCode>
                <c:ptCount val="9"/>
                <c:pt idx="0">
                  <c:v>2.1940928270042195E-2</c:v>
                </c:pt>
                <c:pt idx="1">
                  <c:v>2.8020438437448492E-2</c:v>
                </c:pt>
                <c:pt idx="2">
                  <c:v>3.3816425120772944E-2</c:v>
                </c:pt>
                <c:pt idx="3">
                  <c:v>3.6197670758577279E-2</c:v>
                </c:pt>
                <c:pt idx="4">
                  <c:v>3.8473376423514928E-2</c:v>
                </c:pt>
                <c:pt idx="5">
                  <c:v>3.9015606242497003E-2</c:v>
                </c:pt>
                <c:pt idx="6">
                  <c:v>5.3089514820822886E-2</c:v>
                </c:pt>
                <c:pt idx="7">
                  <c:v>6.4570943075615977E-2</c:v>
                </c:pt>
                <c:pt idx="8">
                  <c:v>6.8192150325806944E-2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B54-4A8A-AB66-6A5322C014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61019216"/>
        <c:axId val="561022416"/>
        <c:extLst>
          <c:ext xmlns:c15="http://schemas.microsoft.com/office/drawing/2012/chart" uri="{02D57815-91ED-43cb-92C2-25804820EDAC}">
            <c15:filteredLine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Tabelle1!$C$1</c15:sqref>
                        </c15:formulaRef>
                      </c:ext>
                    </c:extLst>
                    <c:strCache>
                      <c:ptCount val="1"/>
                      <c:pt idx="0">
                        <c:v>Spalte1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Tabelle1!$A$2:$A$10</c15:sqref>
                        </c15:formulaRef>
                      </c:ext>
                    </c:extLst>
                    <c:numCache>
                      <c:formatCode>General</c:formatCode>
                      <c:ptCount val="9"/>
                      <c:pt idx="0">
                        <c:v>2012</c:v>
                      </c:pt>
                      <c:pt idx="1">
                        <c:v>2013</c:v>
                      </c:pt>
                      <c:pt idx="2">
                        <c:v>2014</c:v>
                      </c:pt>
                      <c:pt idx="3">
                        <c:v>2015</c:v>
                      </c:pt>
                      <c:pt idx="4">
                        <c:v>2016</c:v>
                      </c:pt>
                      <c:pt idx="5">
                        <c:v>2017</c:v>
                      </c:pt>
                      <c:pt idx="6">
                        <c:v>2018</c:v>
                      </c:pt>
                      <c:pt idx="7">
                        <c:v>2019</c:v>
                      </c:pt>
                      <c:pt idx="8">
                        <c:v>2020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Tabelle1!$C$2:$C$10</c15:sqref>
                        </c15:formulaRef>
                      </c:ext>
                    </c:extLst>
                    <c:numCache>
                      <c:formatCode>General</c:formatCode>
                      <c:ptCount val="9"/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0B54-4A8A-AB66-6A5322C014A9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Tabelle1!$D$1</c15:sqref>
                        </c15:formulaRef>
                      </c:ext>
                    </c:extLst>
                    <c:strCache>
                      <c:ptCount val="1"/>
                      <c:pt idx="0">
                        <c:v>Spalte2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Tabelle1!$A$2:$A$10</c15:sqref>
                        </c15:formulaRef>
                      </c:ext>
                    </c:extLst>
                    <c:numCache>
                      <c:formatCode>General</c:formatCode>
                      <c:ptCount val="9"/>
                      <c:pt idx="0">
                        <c:v>2012</c:v>
                      </c:pt>
                      <c:pt idx="1">
                        <c:v>2013</c:v>
                      </c:pt>
                      <c:pt idx="2">
                        <c:v>2014</c:v>
                      </c:pt>
                      <c:pt idx="3">
                        <c:v>2015</c:v>
                      </c:pt>
                      <c:pt idx="4">
                        <c:v>2016</c:v>
                      </c:pt>
                      <c:pt idx="5">
                        <c:v>2017</c:v>
                      </c:pt>
                      <c:pt idx="6">
                        <c:v>2018</c:v>
                      </c:pt>
                      <c:pt idx="7">
                        <c:v>2019</c:v>
                      </c:pt>
                      <c:pt idx="8">
                        <c:v>2020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Tabelle1!$D$2:$D$10</c15:sqref>
                        </c15:formulaRef>
                      </c:ext>
                    </c:extLst>
                    <c:numCache>
                      <c:formatCode>General</c:formatCode>
                      <c:ptCount val="9"/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0B54-4A8A-AB66-6A5322C014A9}"/>
                  </c:ext>
                </c:extLst>
              </c15:ser>
            </c15:filteredLineSeries>
          </c:ext>
        </c:extLst>
      </c:lineChart>
      <c:catAx>
        <c:axId val="5610192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561022416"/>
        <c:crosses val="autoZero"/>
        <c:auto val="1"/>
        <c:lblAlgn val="ctr"/>
        <c:lblOffset val="100"/>
        <c:noMultiLvlLbl val="0"/>
      </c:catAx>
      <c:valAx>
        <c:axId val="5610224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5610192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0BA3A7-65D0-4265-92A7-2C5B0EBB2BF1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35643618-489B-4F46-9504-ED082DBDFA1A}">
      <dgm:prSet phldrT="[Text]"/>
      <dgm:spPr/>
      <dgm:t>
        <a:bodyPr/>
        <a:lstStyle/>
        <a:p>
          <a:r>
            <a:rPr lang="de-DE" dirty="0">
              <a:latin typeface="Montserrat" panose="00000500000000000000" pitchFamily="2" charset="0"/>
            </a:rPr>
            <a:t>Brillenglas Herstellung</a:t>
          </a:r>
          <a:endParaRPr lang="en-GB" dirty="0">
            <a:latin typeface="Montserrat" panose="00000500000000000000" pitchFamily="2" charset="0"/>
          </a:endParaRPr>
        </a:p>
      </dgm:t>
    </dgm:pt>
    <dgm:pt modelId="{56DF8CE8-83BE-4139-96A4-30E0236E4BCC}" type="parTrans" cxnId="{B31C5BA4-D75E-44BD-936D-5F6904D42F23}">
      <dgm:prSet/>
      <dgm:spPr/>
      <dgm:t>
        <a:bodyPr/>
        <a:lstStyle/>
        <a:p>
          <a:endParaRPr lang="en-GB"/>
        </a:p>
      </dgm:t>
    </dgm:pt>
    <dgm:pt modelId="{54332646-95CA-4B37-9E65-C8662E594388}" type="sibTrans" cxnId="{B31C5BA4-D75E-44BD-936D-5F6904D42F23}">
      <dgm:prSet/>
      <dgm:spPr/>
      <dgm:t>
        <a:bodyPr/>
        <a:lstStyle/>
        <a:p>
          <a:endParaRPr lang="en-GB"/>
        </a:p>
      </dgm:t>
    </dgm:pt>
    <dgm:pt modelId="{0F9C3FE2-8CD9-4626-A976-489ECB21FF7A}">
      <dgm:prSet phldrT="[Text]"/>
      <dgm:spPr/>
      <dgm:t>
        <a:bodyPr/>
        <a:lstStyle/>
        <a:p>
          <a:r>
            <a:rPr lang="de-DE" dirty="0">
              <a:latin typeface="Montserrat" panose="00000500000000000000" pitchFamily="2" charset="0"/>
            </a:rPr>
            <a:t>Brillen Herstellung </a:t>
          </a:r>
          <a:endParaRPr lang="en-GB" dirty="0">
            <a:latin typeface="Montserrat" panose="00000500000000000000" pitchFamily="2" charset="0"/>
          </a:endParaRPr>
        </a:p>
      </dgm:t>
    </dgm:pt>
    <dgm:pt modelId="{8E8C6A73-1708-478D-BE74-2328EB52569F}" type="parTrans" cxnId="{4D7EC84B-F8C7-4C77-AD0D-B60AEC891FB2}">
      <dgm:prSet/>
      <dgm:spPr/>
      <dgm:t>
        <a:bodyPr/>
        <a:lstStyle/>
        <a:p>
          <a:endParaRPr lang="en-GB"/>
        </a:p>
      </dgm:t>
    </dgm:pt>
    <dgm:pt modelId="{9B8F5842-8F1C-4D7C-A6E7-8CE4580F9C2A}" type="sibTrans" cxnId="{4D7EC84B-F8C7-4C77-AD0D-B60AEC891FB2}">
      <dgm:prSet/>
      <dgm:spPr/>
      <dgm:t>
        <a:bodyPr/>
        <a:lstStyle/>
        <a:p>
          <a:endParaRPr lang="en-GB"/>
        </a:p>
      </dgm:t>
    </dgm:pt>
    <dgm:pt modelId="{2CA92626-31A7-4065-8716-8957086D970F}">
      <dgm:prSet phldrT="[Text]"/>
      <dgm:spPr/>
      <dgm:t>
        <a:bodyPr/>
        <a:lstStyle/>
        <a:p>
          <a:r>
            <a:rPr lang="de-DE" dirty="0">
              <a:latin typeface="Montserrat" panose="00000500000000000000" pitchFamily="2" charset="0"/>
            </a:rPr>
            <a:t>Verkauf der Brillen</a:t>
          </a:r>
          <a:endParaRPr lang="en-GB" dirty="0">
            <a:latin typeface="Montserrat" panose="00000500000000000000" pitchFamily="2" charset="0"/>
          </a:endParaRPr>
        </a:p>
      </dgm:t>
    </dgm:pt>
    <dgm:pt modelId="{B681E31A-092F-4B99-8591-2EA30B22C2B2}" type="parTrans" cxnId="{F7A7CE26-6BD2-4DC7-A069-6C113520DB73}">
      <dgm:prSet/>
      <dgm:spPr/>
      <dgm:t>
        <a:bodyPr/>
        <a:lstStyle/>
        <a:p>
          <a:endParaRPr lang="en-GB"/>
        </a:p>
      </dgm:t>
    </dgm:pt>
    <dgm:pt modelId="{EDCC8249-1AF1-4DEA-B48E-79BFC6E1ADFB}" type="sibTrans" cxnId="{F7A7CE26-6BD2-4DC7-A069-6C113520DB73}">
      <dgm:prSet/>
      <dgm:spPr/>
      <dgm:t>
        <a:bodyPr/>
        <a:lstStyle/>
        <a:p>
          <a:endParaRPr lang="en-GB"/>
        </a:p>
      </dgm:t>
    </dgm:pt>
    <dgm:pt modelId="{D51D9692-8A0F-4F5C-8B12-DBA2425F0370}" type="pres">
      <dgm:prSet presAssocID="{BF0BA3A7-65D0-4265-92A7-2C5B0EBB2BF1}" presName="CompostProcess" presStyleCnt="0">
        <dgm:presLayoutVars>
          <dgm:dir/>
          <dgm:resizeHandles val="exact"/>
        </dgm:presLayoutVars>
      </dgm:prSet>
      <dgm:spPr/>
    </dgm:pt>
    <dgm:pt modelId="{E24712FE-8BB2-4935-904D-40311B56BAC2}" type="pres">
      <dgm:prSet presAssocID="{BF0BA3A7-65D0-4265-92A7-2C5B0EBB2BF1}" presName="arrow" presStyleLbl="bgShp" presStyleIdx="0" presStyleCnt="1"/>
      <dgm:spPr/>
    </dgm:pt>
    <dgm:pt modelId="{BC6646B8-058B-40DE-8C70-B4271320C9C8}" type="pres">
      <dgm:prSet presAssocID="{BF0BA3A7-65D0-4265-92A7-2C5B0EBB2BF1}" presName="linearProcess" presStyleCnt="0"/>
      <dgm:spPr/>
    </dgm:pt>
    <dgm:pt modelId="{290CF410-1282-4F7F-B848-BAFC4125243E}" type="pres">
      <dgm:prSet presAssocID="{35643618-489B-4F46-9504-ED082DBDFA1A}" presName="textNode" presStyleLbl="node1" presStyleIdx="0" presStyleCnt="3">
        <dgm:presLayoutVars>
          <dgm:bulletEnabled val="1"/>
        </dgm:presLayoutVars>
      </dgm:prSet>
      <dgm:spPr/>
    </dgm:pt>
    <dgm:pt modelId="{8D2364B9-7172-468B-8CB7-781DD38B0900}" type="pres">
      <dgm:prSet presAssocID="{54332646-95CA-4B37-9E65-C8662E594388}" presName="sibTrans" presStyleCnt="0"/>
      <dgm:spPr/>
    </dgm:pt>
    <dgm:pt modelId="{EC35C1EC-3F02-4FFC-BCD2-4C06B38ABFF6}" type="pres">
      <dgm:prSet presAssocID="{0F9C3FE2-8CD9-4626-A976-489ECB21FF7A}" presName="textNode" presStyleLbl="node1" presStyleIdx="1" presStyleCnt="3">
        <dgm:presLayoutVars>
          <dgm:bulletEnabled val="1"/>
        </dgm:presLayoutVars>
      </dgm:prSet>
      <dgm:spPr/>
    </dgm:pt>
    <dgm:pt modelId="{1FB84447-6024-42F8-8626-976E95DBBBA2}" type="pres">
      <dgm:prSet presAssocID="{9B8F5842-8F1C-4D7C-A6E7-8CE4580F9C2A}" presName="sibTrans" presStyleCnt="0"/>
      <dgm:spPr/>
    </dgm:pt>
    <dgm:pt modelId="{B7EC1849-A88F-4B65-8A86-17E380BC69A2}" type="pres">
      <dgm:prSet presAssocID="{2CA92626-31A7-4065-8716-8957086D970F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F7A7CE26-6BD2-4DC7-A069-6C113520DB73}" srcId="{BF0BA3A7-65D0-4265-92A7-2C5B0EBB2BF1}" destId="{2CA92626-31A7-4065-8716-8957086D970F}" srcOrd="2" destOrd="0" parTransId="{B681E31A-092F-4B99-8591-2EA30B22C2B2}" sibTransId="{EDCC8249-1AF1-4DEA-B48E-79BFC6E1ADFB}"/>
    <dgm:cxn modelId="{F261A930-4810-4FB1-A123-DB763D4E67C0}" type="presOf" srcId="{35643618-489B-4F46-9504-ED082DBDFA1A}" destId="{290CF410-1282-4F7F-B848-BAFC4125243E}" srcOrd="0" destOrd="0" presId="urn:microsoft.com/office/officeart/2005/8/layout/hProcess9"/>
    <dgm:cxn modelId="{4D7EC84B-F8C7-4C77-AD0D-B60AEC891FB2}" srcId="{BF0BA3A7-65D0-4265-92A7-2C5B0EBB2BF1}" destId="{0F9C3FE2-8CD9-4626-A976-489ECB21FF7A}" srcOrd="1" destOrd="0" parTransId="{8E8C6A73-1708-478D-BE74-2328EB52569F}" sibTransId="{9B8F5842-8F1C-4D7C-A6E7-8CE4580F9C2A}"/>
    <dgm:cxn modelId="{7B0D6E72-92CC-48E1-96B7-BC8770142E08}" type="presOf" srcId="{2CA92626-31A7-4065-8716-8957086D970F}" destId="{B7EC1849-A88F-4B65-8A86-17E380BC69A2}" srcOrd="0" destOrd="0" presId="urn:microsoft.com/office/officeart/2005/8/layout/hProcess9"/>
    <dgm:cxn modelId="{08AD7B53-FDB5-491F-BA09-60F5EF1B5908}" type="presOf" srcId="{0F9C3FE2-8CD9-4626-A976-489ECB21FF7A}" destId="{EC35C1EC-3F02-4FFC-BCD2-4C06B38ABFF6}" srcOrd="0" destOrd="0" presId="urn:microsoft.com/office/officeart/2005/8/layout/hProcess9"/>
    <dgm:cxn modelId="{40B43C7B-01D6-41E4-AE52-35E6B97BD79C}" type="presOf" srcId="{BF0BA3A7-65D0-4265-92A7-2C5B0EBB2BF1}" destId="{D51D9692-8A0F-4F5C-8B12-DBA2425F0370}" srcOrd="0" destOrd="0" presId="urn:microsoft.com/office/officeart/2005/8/layout/hProcess9"/>
    <dgm:cxn modelId="{B31C5BA4-D75E-44BD-936D-5F6904D42F23}" srcId="{BF0BA3A7-65D0-4265-92A7-2C5B0EBB2BF1}" destId="{35643618-489B-4F46-9504-ED082DBDFA1A}" srcOrd="0" destOrd="0" parTransId="{56DF8CE8-83BE-4139-96A4-30E0236E4BCC}" sibTransId="{54332646-95CA-4B37-9E65-C8662E594388}"/>
    <dgm:cxn modelId="{F74FF9A5-E2B9-4634-84CB-C1D72883CFBB}" type="presParOf" srcId="{D51D9692-8A0F-4F5C-8B12-DBA2425F0370}" destId="{E24712FE-8BB2-4935-904D-40311B56BAC2}" srcOrd="0" destOrd="0" presId="urn:microsoft.com/office/officeart/2005/8/layout/hProcess9"/>
    <dgm:cxn modelId="{B035E61A-6AE8-4B8F-8125-784AD9C58486}" type="presParOf" srcId="{D51D9692-8A0F-4F5C-8B12-DBA2425F0370}" destId="{BC6646B8-058B-40DE-8C70-B4271320C9C8}" srcOrd="1" destOrd="0" presId="urn:microsoft.com/office/officeart/2005/8/layout/hProcess9"/>
    <dgm:cxn modelId="{BBD50A7B-3E5F-4B4E-A2CD-45AD7163DC86}" type="presParOf" srcId="{BC6646B8-058B-40DE-8C70-B4271320C9C8}" destId="{290CF410-1282-4F7F-B848-BAFC4125243E}" srcOrd="0" destOrd="0" presId="urn:microsoft.com/office/officeart/2005/8/layout/hProcess9"/>
    <dgm:cxn modelId="{7EB84F6D-396D-4A56-8525-653CC7F9FA48}" type="presParOf" srcId="{BC6646B8-058B-40DE-8C70-B4271320C9C8}" destId="{8D2364B9-7172-468B-8CB7-781DD38B0900}" srcOrd="1" destOrd="0" presId="urn:microsoft.com/office/officeart/2005/8/layout/hProcess9"/>
    <dgm:cxn modelId="{6739B543-5CEF-4C95-BD58-CD9A85356870}" type="presParOf" srcId="{BC6646B8-058B-40DE-8C70-B4271320C9C8}" destId="{EC35C1EC-3F02-4FFC-BCD2-4C06B38ABFF6}" srcOrd="2" destOrd="0" presId="urn:microsoft.com/office/officeart/2005/8/layout/hProcess9"/>
    <dgm:cxn modelId="{F311E266-96DA-4FFE-A902-1B0F6DE89B82}" type="presParOf" srcId="{BC6646B8-058B-40DE-8C70-B4271320C9C8}" destId="{1FB84447-6024-42F8-8626-976E95DBBBA2}" srcOrd="3" destOrd="0" presId="urn:microsoft.com/office/officeart/2005/8/layout/hProcess9"/>
    <dgm:cxn modelId="{A11BF70E-59BD-4E61-B8B1-92A1C0BD5674}" type="presParOf" srcId="{BC6646B8-058B-40DE-8C70-B4271320C9C8}" destId="{B7EC1849-A88F-4B65-8A86-17E380BC69A2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4712FE-8BB2-4935-904D-40311B56BAC2}">
      <dsp:nvSpPr>
        <dsp:cNvPr id="0" name=""/>
        <dsp:cNvSpPr/>
      </dsp:nvSpPr>
      <dsp:spPr>
        <a:xfrm>
          <a:off x="281239" y="0"/>
          <a:ext cx="3187379" cy="1983843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0CF410-1282-4F7F-B848-BAFC4125243E}">
      <dsp:nvSpPr>
        <dsp:cNvPr id="0" name=""/>
        <dsp:cNvSpPr/>
      </dsp:nvSpPr>
      <dsp:spPr>
        <a:xfrm>
          <a:off x="4028" y="595152"/>
          <a:ext cx="1206985" cy="7935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 dirty="0">
              <a:latin typeface="Montserrat" panose="00000500000000000000" pitchFamily="2" charset="0"/>
            </a:rPr>
            <a:t>Brillenglas Herstellung</a:t>
          </a:r>
          <a:endParaRPr lang="en-GB" sz="1300" kern="1200" dirty="0">
            <a:latin typeface="Montserrat" panose="00000500000000000000" pitchFamily="2" charset="0"/>
          </a:endParaRPr>
        </a:p>
      </dsp:txBody>
      <dsp:txXfrm>
        <a:off x="42765" y="633889"/>
        <a:ext cx="1129511" cy="716063"/>
      </dsp:txXfrm>
    </dsp:sp>
    <dsp:sp modelId="{EC35C1EC-3F02-4FFC-BCD2-4C06B38ABFF6}">
      <dsp:nvSpPr>
        <dsp:cNvPr id="0" name=""/>
        <dsp:cNvSpPr/>
      </dsp:nvSpPr>
      <dsp:spPr>
        <a:xfrm>
          <a:off x="1271436" y="595152"/>
          <a:ext cx="1206985" cy="7935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 dirty="0">
              <a:latin typeface="Montserrat" panose="00000500000000000000" pitchFamily="2" charset="0"/>
            </a:rPr>
            <a:t>Brillen Herstellung </a:t>
          </a:r>
          <a:endParaRPr lang="en-GB" sz="1300" kern="1200" dirty="0">
            <a:latin typeface="Montserrat" panose="00000500000000000000" pitchFamily="2" charset="0"/>
          </a:endParaRPr>
        </a:p>
      </dsp:txBody>
      <dsp:txXfrm>
        <a:off x="1310173" y="633889"/>
        <a:ext cx="1129511" cy="716063"/>
      </dsp:txXfrm>
    </dsp:sp>
    <dsp:sp modelId="{B7EC1849-A88F-4B65-8A86-17E380BC69A2}">
      <dsp:nvSpPr>
        <dsp:cNvPr id="0" name=""/>
        <dsp:cNvSpPr/>
      </dsp:nvSpPr>
      <dsp:spPr>
        <a:xfrm>
          <a:off x="2538844" y="595152"/>
          <a:ext cx="1206985" cy="7935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 dirty="0">
              <a:latin typeface="Montserrat" panose="00000500000000000000" pitchFamily="2" charset="0"/>
            </a:rPr>
            <a:t>Verkauf der Brillen</a:t>
          </a:r>
          <a:endParaRPr lang="en-GB" sz="1300" kern="1200" dirty="0">
            <a:latin typeface="Montserrat" panose="00000500000000000000" pitchFamily="2" charset="0"/>
          </a:endParaRPr>
        </a:p>
      </dsp:txBody>
      <dsp:txXfrm>
        <a:off x="2577581" y="633889"/>
        <a:ext cx="1129511" cy="7160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768c66d65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768c66d65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8c42debf4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8c42debf4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8c42debf4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8c42debf47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8c42debf47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8c42debf47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142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7eed8f4a8e_0_1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7eed8f4a8e_0_1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7eed8f4a8e_0_1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7eed8f4a8e_0_1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7eed8f4a8e_0_1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7eed8f4a8e_0_1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99886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6c707a6e0c_0_9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6c707a6e0c_0_9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hyperlink" Target="https://www.linkedin.com/company/etribes-connect-gmbh/" TargetMode="External"/><Relationship Id="rId3" Type="http://schemas.openxmlformats.org/officeDocument/2006/relationships/image" Target="../media/image10.png"/><Relationship Id="rId7" Type="http://schemas.openxmlformats.org/officeDocument/2006/relationships/hyperlink" Target="https://www.instagram.com/etribes.connect/?hl=de" TargetMode="External"/><Relationship Id="rId12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hyperlink" Target="https://www.facebook.com/EtribesConnect/?rf=1975166236057072" TargetMode="External"/><Relationship Id="rId5" Type="http://schemas.openxmlformats.org/officeDocument/2006/relationships/hyperlink" Target="https://www.xing.com/companies/etribes" TargetMode="External"/><Relationship Id="rId15" Type="http://schemas.openxmlformats.org/officeDocument/2006/relationships/image" Target="../media/image16.png"/><Relationship Id="rId10" Type="http://schemas.openxmlformats.org/officeDocument/2006/relationships/image" Target="../media/image13.png"/><Relationship Id="rId4" Type="http://schemas.openxmlformats.org/officeDocument/2006/relationships/hyperlink" Target="http://wwww.etribes.de" TargetMode="External"/><Relationship Id="rId9" Type="http://schemas.openxmlformats.org/officeDocument/2006/relationships/hyperlink" Target="https://twitter.com/etribesconnect" TargetMode="External"/><Relationship Id="rId14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v1">
  <p:cSld name="TITLE_1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"/>
            <a:ext cx="9144000" cy="514349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/>
          <p:nvPr/>
        </p:nvSpPr>
        <p:spPr>
          <a:xfrm>
            <a:off x="4785325" y="2016775"/>
            <a:ext cx="3961800" cy="2699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"/>
          <p:cNvSpPr/>
          <p:nvPr/>
        </p:nvSpPr>
        <p:spPr>
          <a:xfrm rot="5400000">
            <a:off x="2443075" y="281425"/>
            <a:ext cx="41700" cy="4213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" name="Google Shape;18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0123" y="4141237"/>
            <a:ext cx="1266749" cy="45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body" idx="1"/>
          </p:nvPr>
        </p:nvSpPr>
        <p:spPr>
          <a:xfrm>
            <a:off x="7112600" y="4199075"/>
            <a:ext cx="1464000" cy="343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210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title"/>
          </p:nvPr>
        </p:nvSpPr>
        <p:spPr>
          <a:xfrm>
            <a:off x="4934400" y="2188736"/>
            <a:ext cx="36423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title" idx="2"/>
          </p:nvPr>
        </p:nvSpPr>
        <p:spPr>
          <a:xfrm>
            <a:off x="4934400" y="3428675"/>
            <a:ext cx="3642300" cy="5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 b="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_AND_BODY_7_2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88" y="1588"/>
            <a:ext cx="1588" cy="1588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360375" y="72475"/>
            <a:ext cx="67845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 b="1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9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88" y="1588"/>
            <a:ext cx="1588" cy="1588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360000" y="982650"/>
            <a:ext cx="8472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Montserrat"/>
              <a:buChar char="■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2921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Montserrat"/>
              <a:buChar char="■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2921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Montserrat"/>
              <a:buChar char="■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2921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Montserrat"/>
              <a:buChar char="■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2921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Montserrat"/>
              <a:buChar char="■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2921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Montserrat"/>
              <a:buChar char="■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2921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Montserrat"/>
              <a:buChar char="■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2921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Montserrat"/>
              <a:buChar char="■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2921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Montserrat"/>
              <a:buChar char="■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360375" y="72475"/>
            <a:ext cx="67845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 b="1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ase Details with Visualization (de)">
  <p:cSld name="CUSTOM_1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>
            <a:off x="3478975" y="1190225"/>
            <a:ext cx="5268300" cy="36543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4214825" y="3604600"/>
            <a:ext cx="4567200" cy="63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5"/>
          <p:cNvSpPr/>
          <p:nvPr/>
        </p:nvSpPr>
        <p:spPr>
          <a:xfrm>
            <a:off x="4214825" y="2365400"/>
            <a:ext cx="4567200" cy="63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360000" y="1190225"/>
            <a:ext cx="4002000" cy="3654300"/>
          </a:xfrm>
          <a:prstGeom prst="homePlate">
            <a:avLst>
              <a:gd name="adj" fmla="val 9950"/>
            </a:avLst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5"/>
          <p:cNvSpPr/>
          <p:nvPr/>
        </p:nvSpPr>
        <p:spPr>
          <a:xfrm>
            <a:off x="360000" y="1190225"/>
            <a:ext cx="3917400" cy="3654300"/>
          </a:xfrm>
          <a:prstGeom prst="homePlate">
            <a:avLst>
              <a:gd name="adj" fmla="val 9950"/>
            </a:avLst>
          </a:prstGeom>
          <a:solidFill>
            <a:srgbClr val="FFFFFF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4543212" y="1225500"/>
            <a:ext cx="1398000" cy="1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900" b="1">
                <a:solidFill>
                  <a:srgbClr val="0E1235"/>
                </a:solidFill>
                <a:latin typeface="Montserrat"/>
                <a:ea typeface="Montserrat"/>
                <a:cs typeface="Montserrat"/>
                <a:sym typeface="Montserrat"/>
              </a:rPr>
              <a:t> Ziele | </a:t>
            </a:r>
            <a:r>
              <a:rPr lang="de" sz="900" b="1">
                <a:solidFill>
                  <a:srgbClr val="E31A50"/>
                </a:solidFill>
                <a:latin typeface="Montserrat"/>
                <a:ea typeface="Montserrat"/>
                <a:cs typeface="Montserrat"/>
                <a:sym typeface="Montserrat"/>
              </a:rPr>
              <a:t>Warum?</a:t>
            </a:r>
            <a:endParaRPr sz="900" b="1">
              <a:solidFill>
                <a:srgbClr val="E31A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6" name="Google Shape;36;p5" descr="Volltreffer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61837" y="1227487"/>
            <a:ext cx="140125" cy="14484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5"/>
          <p:cNvSpPr txBox="1"/>
          <p:nvPr/>
        </p:nvSpPr>
        <p:spPr>
          <a:xfrm>
            <a:off x="4544192" y="2481411"/>
            <a:ext cx="1398000" cy="1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900" b="1">
                <a:solidFill>
                  <a:srgbClr val="0E1235"/>
                </a:solidFill>
                <a:latin typeface="Montserrat"/>
                <a:ea typeface="Montserrat"/>
                <a:cs typeface="Montserrat"/>
                <a:sym typeface="Montserrat"/>
              </a:rPr>
              <a:t> Vorgehen | </a:t>
            </a:r>
            <a:r>
              <a:rPr lang="de" sz="900" b="1">
                <a:solidFill>
                  <a:srgbClr val="E31A50"/>
                </a:solidFill>
                <a:latin typeface="Montserrat"/>
                <a:ea typeface="Montserrat"/>
                <a:cs typeface="Montserrat"/>
                <a:sym typeface="Montserrat"/>
              </a:rPr>
              <a:t>Was?</a:t>
            </a:r>
            <a:endParaRPr sz="900" b="1">
              <a:solidFill>
                <a:srgbClr val="E31A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8" name="Google Shape;3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4484" y="2482229"/>
            <a:ext cx="140137" cy="14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4534297" y="3720115"/>
            <a:ext cx="1398000" cy="1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900" b="1">
                <a:solidFill>
                  <a:srgbClr val="0E1235"/>
                </a:solidFill>
                <a:latin typeface="Montserrat"/>
                <a:ea typeface="Montserrat"/>
                <a:cs typeface="Montserrat"/>
                <a:sym typeface="Montserrat"/>
              </a:rPr>
              <a:t> Methoden | </a:t>
            </a:r>
            <a:r>
              <a:rPr lang="de" sz="900" b="1">
                <a:solidFill>
                  <a:srgbClr val="E31A50"/>
                </a:solidFill>
                <a:latin typeface="Montserrat"/>
                <a:ea typeface="Montserrat"/>
                <a:cs typeface="Montserrat"/>
                <a:sym typeface="Montserrat"/>
              </a:rPr>
              <a:t>Wie?</a:t>
            </a:r>
            <a:endParaRPr sz="900" b="1">
              <a:solidFill>
                <a:srgbClr val="E31A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" name="Google Shape;40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3512" y="3716375"/>
            <a:ext cx="140125" cy="140125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5"/>
          <p:cNvSpPr txBox="1"/>
          <p:nvPr/>
        </p:nvSpPr>
        <p:spPr>
          <a:xfrm>
            <a:off x="6563099" y="3711850"/>
            <a:ext cx="1496100" cy="142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288000" tIns="36000" rIns="36000" bIns="36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900" b="1">
                <a:solidFill>
                  <a:srgbClr val="0E1235"/>
                </a:solidFill>
                <a:latin typeface="Montserrat"/>
                <a:ea typeface="Montserrat"/>
                <a:cs typeface="Montserrat"/>
                <a:sym typeface="Montserrat"/>
              </a:rPr>
              <a:t>Ergebnisse / Scope</a:t>
            </a:r>
            <a:endParaRPr sz="900" b="1">
              <a:solidFill>
                <a:srgbClr val="E31A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" name="Google Shape;42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78627" y="3724662"/>
            <a:ext cx="119550" cy="11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5"/>
          <p:cNvSpPr txBox="1">
            <a:spLocks noGrp="1"/>
          </p:cNvSpPr>
          <p:nvPr>
            <p:ph type="body" idx="1"/>
          </p:nvPr>
        </p:nvSpPr>
        <p:spPr>
          <a:xfrm>
            <a:off x="4393550" y="1405800"/>
            <a:ext cx="4353600" cy="959100"/>
          </a:xfrm>
          <a:prstGeom prst="rect">
            <a:avLst/>
          </a:prstGeom>
        </p:spPr>
        <p:txBody>
          <a:bodyPr spcFirstLastPara="1" wrap="square" lIns="0" tIns="36000" rIns="7200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■"/>
              <a:defRPr>
                <a:solidFill>
                  <a:schemeClr val="accent1"/>
                </a:solidFill>
              </a:defRPr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■"/>
              <a:defRPr>
                <a:solidFill>
                  <a:schemeClr val="accent1"/>
                </a:solidFill>
              </a:defRPr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■"/>
              <a:defRPr>
                <a:solidFill>
                  <a:schemeClr val="accent1"/>
                </a:solidFill>
              </a:defRPr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■"/>
              <a:defRPr>
                <a:solidFill>
                  <a:schemeClr val="accent1"/>
                </a:solidFill>
              </a:defRPr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■"/>
              <a:defRPr>
                <a:solidFill>
                  <a:schemeClr val="accent1"/>
                </a:solidFill>
              </a:defRPr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■"/>
              <a:defRPr>
                <a:solidFill>
                  <a:schemeClr val="accent1"/>
                </a:solidFill>
              </a:defRPr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2"/>
          </p:nvPr>
        </p:nvSpPr>
        <p:spPr>
          <a:xfrm>
            <a:off x="4393550" y="3885425"/>
            <a:ext cx="2055000" cy="959100"/>
          </a:xfrm>
          <a:prstGeom prst="rect">
            <a:avLst/>
          </a:prstGeom>
        </p:spPr>
        <p:txBody>
          <a:bodyPr spcFirstLastPara="1" wrap="square" lIns="0" tIns="36000" rIns="7200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■"/>
              <a:defRPr>
                <a:solidFill>
                  <a:schemeClr val="accent1"/>
                </a:solidFill>
              </a:defRPr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■"/>
              <a:defRPr>
                <a:solidFill>
                  <a:schemeClr val="accent1"/>
                </a:solidFill>
              </a:defRPr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■"/>
              <a:defRPr>
                <a:solidFill>
                  <a:schemeClr val="accent1"/>
                </a:solidFill>
              </a:defRPr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■"/>
              <a:defRPr>
                <a:solidFill>
                  <a:schemeClr val="accent1"/>
                </a:solidFill>
              </a:defRPr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■"/>
              <a:defRPr>
                <a:solidFill>
                  <a:schemeClr val="accent1"/>
                </a:solidFill>
              </a:defRPr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■"/>
              <a:defRPr>
                <a:solidFill>
                  <a:schemeClr val="accent1"/>
                </a:solidFill>
              </a:defRPr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body" idx="3"/>
          </p:nvPr>
        </p:nvSpPr>
        <p:spPr>
          <a:xfrm>
            <a:off x="6625675" y="3885425"/>
            <a:ext cx="2121600" cy="959100"/>
          </a:xfrm>
          <a:prstGeom prst="rect">
            <a:avLst/>
          </a:prstGeom>
        </p:spPr>
        <p:txBody>
          <a:bodyPr spcFirstLastPara="1" wrap="square" lIns="0" tIns="36000" rIns="7200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■"/>
              <a:defRPr>
                <a:solidFill>
                  <a:schemeClr val="accent1"/>
                </a:solidFill>
              </a:defRPr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■"/>
              <a:defRPr>
                <a:solidFill>
                  <a:schemeClr val="accent1"/>
                </a:solidFill>
              </a:defRPr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■"/>
              <a:defRPr>
                <a:solidFill>
                  <a:schemeClr val="accent1"/>
                </a:solidFill>
              </a:defRPr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■"/>
              <a:defRPr>
                <a:solidFill>
                  <a:schemeClr val="accent1"/>
                </a:solidFill>
              </a:defRPr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■"/>
              <a:defRPr>
                <a:solidFill>
                  <a:schemeClr val="accent1"/>
                </a:solidFill>
              </a:defRPr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■"/>
              <a:defRPr>
                <a:solidFill>
                  <a:schemeClr val="accent1"/>
                </a:solidFill>
              </a:defRPr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6448425" y="3667900"/>
            <a:ext cx="66600" cy="120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4"/>
          </p:nvPr>
        </p:nvSpPr>
        <p:spPr>
          <a:xfrm>
            <a:off x="4393550" y="2645500"/>
            <a:ext cx="4353600" cy="959100"/>
          </a:xfrm>
          <a:prstGeom prst="rect">
            <a:avLst/>
          </a:prstGeom>
        </p:spPr>
        <p:txBody>
          <a:bodyPr spcFirstLastPara="1" wrap="square" lIns="0" tIns="36000" rIns="7200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■"/>
              <a:defRPr>
                <a:solidFill>
                  <a:schemeClr val="accent1"/>
                </a:solidFill>
              </a:defRPr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■"/>
              <a:defRPr>
                <a:solidFill>
                  <a:schemeClr val="accent1"/>
                </a:solidFill>
              </a:defRPr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■"/>
              <a:defRPr>
                <a:solidFill>
                  <a:schemeClr val="accent1"/>
                </a:solidFill>
              </a:defRPr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■"/>
              <a:defRPr>
                <a:solidFill>
                  <a:schemeClr val="accent1"/>
                </a:solidFill>
              </a:defRPr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■"/>
              <a:defRPr>
                <a:solidFill>
                  <a:schemeClr val="accent1"/>
                </a:solidFill>
              </a:defRPr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■"/>
              <a:defRPr>
                <a:solidFill>
                  <a:schemeClr val="accent1"/>
                </a:solidFill>
              </a:defRPr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title"/>
          </p:nvPr>
        </p:nvSpPr>
        <p:spPr>
          <a:xfrm>
            <a:off x="360375" y="72475"/>
            <a:ext cx="67845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 b="1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tuation, Challenges, Solution 2 (de)">
  <p:cSld name="TITLE_AND_BODY_4_2_1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/>
          <p:nvPr/>
        </p:nvSpPr>
        <p:spPr>
          <a:xfrm>
            <a:off x="2878150" y="762650"/>
            <a:ext cx="3347700" cy="3865500"/>
          </a:xfrm>
          <a:prstGeom prst="rect">
            <a:avLst/>
          </a:prstGeom>
          <a:solidFill>
            <a:schemeClr val="accent2"/>
          </a:solidFill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684000" bIns="0" anchor="t" anchorCtr="0">
            <a:noAutofit/>
          </a:bodyPr>
          <a:lstStyle/>
          <a:p>
            <a:pPr marL="62547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d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ZIEL</a:t>
            </a:r>
            <a:endParaRPr sz="1200">
              <a:solidFill>
                <a:srgbClr val="0E123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" name="Google Shape;51;p6"/>
          <p:cNvSpPr txBox="1">
            <a:spLocks noGrp="1"/>
          </p:cNvSpPr>
          <p:nvPr>
            <p:ph type="body" idx="1"/>
          </p:nvPr>
        </p:nvSpPr>
        <p:spPr>
          <a:xfrm>
            <a:off x="3512384" y="1184950"/>
            <a:ext cx="2082300" cy="34095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>
            <a:lvl1pPr marL="457200" lvl="0" indent="-3048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 b="1">
                <a:solidFill>
                  <a:srgbClr val="FFFFFF"/>
                </a:solidFill>
              </a:defRPr>
            </a:lvl1pPr>
            <a:lvl2pPr marL="914400" lvl="1" indent="-304800" algn="ctr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 b="1">
                <a:solidFill>
                  <a:srgbClr val="FFFFFF"/>
                </a:solidFill>
              </a:defRPr>
            </a:lvl2pPr>
            <a:lvl3pPr marL="1371600" lvl="2" indent="-304800" algn="ctr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 b="1">
                <a:solidFill>
                  <a:srgbClr val="FFFFFF"/>
                </a:solidFill>
              </a:defRPr>
            </a:lvl3pPr>
            <a:lvl4pPr marL="1828800" lvl="3" indent="-304800" algn="ctr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 b="1">
                <a:solidFill>
                  <a:srgbClr val="FFFFFF"/>
                </a:solidFill>
              </a:defRPr>
            </a:lvl4pPr>
            <a:lvl5pPr marL="2286000" lvl="4" indent="-304800" algn="ctr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 b="1">
                <a:solidFill>
                  <a:srgbClr val="FFFFFF"/>
                </a:solidFill>
              </a:defRPr>
            </a:lvl5pPr>
            <a:lvl6pPr marL="2743200" lvl="5" indent="-304800" algn="ctr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 b="1">
                <a:solidFill>
                  <a:srgbClr val="FFFFFF"/>
                </a:solidFill>
              </a:defRPr>
            </a:lvl6pPr>
            <a:lvl7pPr marL="3200400" lvl="6" indent="-304800" algn="ctr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 b="1">
                <a:solidFill>
                  <a:srgbClr val="FFFFFF"/>
                </a:solidFill>
              </a:defRPr>
            </a:lvl7pPr>
            <a:lvl8pPr marL="3657600" lvl="7" indent="-304800" algn="ctr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 b="1">
                <a:solidFill>
                  <a:srgbClr val="FFFFFF"/>
                </a:solidFill>
              </a:defRPr>
            </a:lvl8pPr>
            <a:lvl9pPr marL="4114800" lvl="8" indent="-304800" algn="ctr" rtl="0">
              <a:spcBef>
                <a:spcPts val="500"/>
              </a:spcBef>
              <a:spcAft>
                <a:spcPts val="500"/>
              </a:spcAft>
              <a:buClr>
                <a:srgbClr val="FFFFFF"/>
              </a:buClr>
              <a:buSzPts val="1200"/>
              <a:buChar char="■"/>
              <a:defRPr sz="1200" b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pic>
        <p:nvPicPr>
          <p:cNvPr id="52" name="Google Shape;52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88" y="1588"/>
            <a:ext cx="1588" cy="15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>
            <a:spLocks noGrp="1"/>
          </p:cNvSpPr>
          <p:nvPr>
            <p:ph type="title"/>
          </p:nvPr>
        </p:nvSpPr>
        <p:spPr>
          <a:xfrm>
            <a:off x="360375" y="88900"/>
            <a:ext cx="67845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 b="1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6"/>
          <p:cNvSpPr/>
          <p:nvPr/>
        </p:nvSpPr>
        <p:spPr>
          <a:xfrm flipH="1">
            <a:off x="5610850" y="1075200"/>
            <a:ext cx="3162300" cy="3667200"/>
          </a:xfrm>
          <a:prstGeom prst="homePlate">
            <a:avLst>
              <a:gd name="adj" fmla="val 11821"/>
            </a:avLst>
          </a:prstGeom>
          <a:solidFill>
            <a:srgbClr val="0E1235"/>
          </a:solidFill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144000" rIns="108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sz="12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263675" y="850060"/>
            <a:ext cx="25707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latin typeface="Montserrat"/>
                <a:ea typeface="Montserrat"/>
                <a:cs typeface="Montserrat"/>
                <a:sym typeface="Montserrat"/>
              </a:rPr>
              <a:t>SITUATION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6"/>
          <p:cNvSpPr txBox="1"/>
          <p:nvPr/>
        </p:nvSpPr>
        <p:spPr>
          <a:xfrm>
            <a:off x="6263275" y="850060"/>
            <a:ext cx="25707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latin typeface="Montserrat"/>
                <a:ea typeface="Montserrat"/>
                <a:cs typeface="Montserrat"/>
                <a:sym typeface="Montserrat"/>
              </a:rPr>
              <a:t>HERAUSFORDERUNG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330834" y="1075200"/>
            <a:ext cx="3162300" cy="3667200"/>
          </a:xfrm>
          <a:prstGeom prst="homePlate">
            <a:avLst>
              <a:gd name="adj" fmla="val 11821"/>
            </a:avLst>
          </a:prstGeom>
          <a:solidFill>
            <a:srgbClr val="0E1235"/>
          </a:solidFill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144000" rIns="108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sz="12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6"/>
          <p:cNvSpPr txBox="1">
            <a:spLocks noGrp="1"/>
          </p:cNvSpPr>
          <p:nvPr>
            <p:ph type="body" idx="2"/>
          </p:nvPr>
        </p:nvSpPr>
        <p:spPr>
          <a:xfrm>
            <a:off x="359975" y="1108300"/>
            <a:ext cx="2735100" cy="36081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1pPr>
            <a:lvl2pPr marL="914400" lvl="1" indent="-3048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2pPr>
            <a:lvl3pPr marL="1371600" lvl="2" indent="-3048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3pPr>
            <a:lvl4pPr marL="1828800" lvl="3" indent="-3048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4pPr>
            <a:lvl5pPr marL="2286000" lvl="4" indent="-3048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5pPr>
            <a:lvl6pPr marL="2743200" lvl="5" indent="-3048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6pPr>
            <a:lvl7pPr marL="3200400" lvl="6" indent="-3048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7pPr>
            <a:lvl8pPr marL="3657600" lvl="7" indent="-3048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8pPr>
            <a:lvl9pPr marL="4114800" lvl="8" indent="-304800" rtl="0">
              <a:spcBef>
                <a:spcPts val="500"/>
              </a:spcBef>
              <a:spcAft>
                <a:spcPts val="50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6"/>
          <p:cNvSpPr txBox="1">
            <a:spLocks noGrp="1"/>
          </p:cNvSpPr>
          <p:nvPr>
            <p:ph type="body" idx="3"/>
          </p:nvPr>
        </p:nvSpPr>
        <p:spPr>
          <a:xfrm>
            <a:off x="6011975" y="1108425"/>
            <a:ext cx="2735100" cy="36081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1pPr>
            <a:lvl2pPr marL="914400" lvl="1" indent="-3048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2pPr>
            <a:lvl3pPr marL="1371600" lvl="2" indent="-3048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3pPr>
            <a:lvl4pPr marL="1828800" lvl="3" indent="-3048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4pPr>
            <a:lvl5pPr marL="2286000" lvl="4" indent="-3048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5pPr>
            <a:lvl6pPr marL="2743200" lvl="5" indent="-3048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6pPr>
            <a:lvl7pPr marL="3200400" lvl="6" indent="-3048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7pPr>
            <a:lvl8pPr marL="3657600" lvl="7" indent="-3048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8pPr>
            <a:lvl9pPr marL="4114800" lvl="8" indent="-304800" rtl="0">
              <a:spcBef>
                <a:spcPts val="500"/>
              </a:spcBef>
              <a:spcAft>
                <a:spcPts val="50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ücktitel 1 Partner">
  <p:cSld name="Slide empty blue_1_2_1_1">
    <p:bg>
      <p:bgPr>
        <a:solidFill>
          <a:schemeClr val="accent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"/>
            <a:ext cx="9144000" cy="514349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/>
          <p:nvPr/>
        </p:nvSpPr>
        <p:spPr>
          <a:xfrm>
            <a:off x="7024575" y="0"/>
            <a:ext cx="1722600" cy="37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81662" y="56375"/>
            <a:ext cx="307475" cy="3074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497050" y="2553000"/>
            <a:ext cx="28323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Etribes Connect GmbH</a:t>
            </a:r>
            <a:r>
              <a:rPr lang="de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Valentinskamp 70 | Emporio</a:t>
            </a:r>
            <a:endParaRPr sz="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20355 Hamburg</a:t>
            </a:r>
            <a:endParaRPr sz="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+49 (0) 40 32 89 29 631 </a:t>
            </a:r>
            <a:endParaRPr sz="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rgbClr val="FFFFFF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etribes.de</a:t>
            </a:r>
            <a:endParaRPr sz="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1" name="Google Shape;71;p8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49805" y="3156800"/>
            <a:ext cx="158140" cy="21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8">
            <a:hlinkClick r:id="rId7"/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07138" y="3160604"/>
            <a:ext cx="177999" cy="21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>
            <a:hlinkClick r:id="rId9"/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7055" y="3173770"/>
            <a:ext cx="177999" cy="184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>
            <a:hlinkClick r:id="rId11"/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94332" y="3172380"/>
            <a:ext cx="158147" cy="187612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8"/>
          <p:cNvSpPr/>
          <p:nvPr/>
        </p:nvSpPr>
        <p:spPr>
          <a:xfrm>
            <a:off x="497049" y="1259188"/>
            <a:ext cx="1085100" cy="1085100"/>
          </a:xfrm>
          <a:prstGeom prst="frame">
            <a:avLst>
              <a:gd name="adj1" fmla="val 8246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3F42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8">
            <a:hlinkClick r:id="rId13"/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336730" y="3160618"/>
            <a:ext cx="177999" cy="211143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8"/>
          <p:cNvSpPr txBox="1">
            <a:spLocks noGrp="1"/>
          </p:cNvSpPr>
          <p:nvPr>
            <p:ph type="title"/>
          </p:nvPr>
        </p:nvSpPr>
        <p:spPr>
          <a:xfrm>
            <a:off x="866800" y="1432500"/>
            <a:ext cx="2462400" cy="857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8"/>
          <p:cNvSpPr txBox="1">
            <a:spLocks noGrp="1"/>
          </p:cNvSpPr>
          <p:nvPr>
            <p:ph type="body" idx="1"/>
          </p:nvPr>
        </p:nvSpPr>
        <p:spPr>
          <a:xfrm>
            <a:off x="6828076" y="3248099"/>
            <a:ext cx="1435500" cy="2187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1pPr>
            <a:lvl2pPr marL="914400" lvl="1" indent="-2794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2pPr>
            <a:lvl3pPr marL="1371600" lvl="2" indent="-2794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4pPr>
            <a:lvl5pPr marL="2286000" lvl="4" indent="-2794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5pPr>
            <a:lvl6pPr marL="2743200" lvl="5" indent="-2794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7pPr>
            <a:lvl8pPr marL="3657600" lvl="7" indent="-2794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8pPr>
            <a:lvl9pPr marL="4114800" lvl="8" indent="-2794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79" name="Google Shape;79;p8"/>
          <p:cNvSpPr txBox="1">
            <a:spLocks noGrp="1"/>
          </p:cNvSpPr>
          <p:nvPr>
            <p:ph type="body" idx="2"/>
          </p:nvPr>
        </p:nvSpPr>
        <p:spPr>
          <a:xfrm>
            <a:off x="6828076" y="2998850"/>
            <a:ext cx="1435500" cy="2187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Char char="■"/>
              <a:defRPr b="1">
                <a:solidFill>
                  <a:srgbClr val="FFFFFF"/>
                </a:solidFill>
              </a:defRPr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0" name="Google Shape;80;p8"/>
          <p:cNvSpPr txBox="1">
            <a:spLocks noGrp="1"/>
          </p:cNvSpPr>
          <p:nvPr>
            <p:ph type="body" idx="3"/>
          </p:nvPr>
        </p:nvSpPr>
        <p:spPr>
          <a:xfrm>
            <a:off x="6828076" y="3497348"/>
            <a:ext cx="1435500" cy="6870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1pPr>
            <a:lvl2pPr marL="914400" lvl="1" indent="-2794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2pPr>
            <a:lvl3pPr marL="1371600" lvl="2" indent="-2794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4pPr>
            <a:lvl5pPr marL="2286000" lvl="4" indent="-2794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5pPr>
            <a:lvl6pPr marL="2743200" lvl="5" indent="-2794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7pPr>
            <a:lvl8pPr marL="3657600" lvl="7" indent="-2794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8pPr>
            <a:lvl9pPr marL="4114800" lvl="8" indent="-2794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pic>
        <p:nvPicPr>
          <p:cNvPr id="81" name="Google Shape;81;p8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117012" y="4433325"/>
            <a:ext cx="1046138" cy="37522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8"/>
          <p:cNvSpPr/>
          <p:nvPr/>
        </p:nvSpPr>
        <p:spPr>
          <a:xfrm>
            <a:off x="6828076" y="862600"/>
            <a:ext cx="1307700" cy="1992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000" i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FOTO</a:t>
            </a:r>
            <a:endParaRPr sz="1000" i="1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 i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(3.63 x 5.53cm)</a:t>
            </a:r>
            <a:endParaRPr sz="1000" b="1" i="1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88" y="1588"/>
            <a:ext cx="1588" cy="158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60375" y="72475"/>
            <a:ext cx="67845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359994" y="982650"/>
            <a:ext cx="8472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921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E123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21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E123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E123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E123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E123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E123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E123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E123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E123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6485644" y="5016559"/>
            <a:ext cx="2033100" cy="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de" sz="600" b="0" i="0" u="none" strike="noStrike" cap="non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© ETRIBES CONNECT GMBH ALL RIGHTS RESERVED</a:t>
            </a:r>
            <a:endParaRPr sz="600" b="0" i="0" u="none" strike="noStrike" cap="none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Google Shape;10;p1"/>
          <p:cNvSpPr txBox="1"/>
          <p:nvPr/>
        </p:nvSpPr>
        <p:spPr>
          <a:xfrm>
            <a:off x="8747351" y="5013675"/>
            <a:ext cx="407700" cy="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de" sz="600" b="0" i="0" u="none" strike="noStrike" cap="non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‹Nr.›</a:t>
            </a:fld>
            <a:endParaRPr sz="600" b="0" i="0" u="none" strike="noStrike" cap="none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359994" y="5013234"/>
            <a:ext cx="2033100" cy="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" name="Google Shape;12;p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781662" y="56375"/>
            <a:ext cx="307475" cy="307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/>
          <p:nvPr/>
        </p:nvSpPr>
        <p:spPr>
          <a:xfrm>
            <a:off x="359994" y="5013234"/>
            <a:ext cx="2033100" cy="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de" sz="6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TITLE OF PRESENTATION</a:t>
            </a:r>
            <a:endParaRPr sz="600" b="0" i="0" u="none" strike="noStrike" cap="none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27">
          <p15:clr>
            <a:srgbClr val="F06B4A"/>
          </p15:clr>
        </p15:guide>
        <p15:guide id="2" orient="horz" pos="214">
          <p15:clr>
            <a:srgbClr val="F06B4A"/>
          </p15:clr>
        </p15:guide>
        <p15:guide id="3" pos="5510">
          <p15:clr>
            <a:srgbClr val="F06B4A"/>
          </p15:clr>
        </p15:guide>
        <p15:guide id="4" pos="2880">
          <p15:clr>
            <a:srgbClr val="F06B4A"/>
          </p15:clr>
        </p15:guide>
        <p15:guide id="5" orient="horz" pos="2971">
          <p15:clr>
            <a:srgbClr val="F06B4A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tmp"/><Relationship Id="rId3" Type="http://schemas.openxmlformats.org/officeDocument/2006/relationships/image" Target="../media/image17.tmp"/><Relationship Id="rId7" Type="http://schemas.openxmlformats.org/officeDocument/2006/relationships/image" Target="../media/image21.tm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tmp"/><Relationship Id="rId5" Type="http://schemas.openxmlformats.org/officeDocument/2006/relationships/image" Target="../media/image19.tmp"/><Relationship Id="rId4" Type="http://schemas.openxmlformats.org/officeDocument/2006/relationships/image" Target="../media/image18.tmp"/><Relationship Id="rId9" Type="http://schemas.openxmlformats.org/officeDocument/2006/relationships/image" Target="../media/image23.tm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>
            <a:spLocks noGrp="1"/>
          </p:cNvSpPr>
          <p:nvPr>
            <p:ph type="title"/>
          </p:nvPr>
        </p:nvSpPr>
        <p:spPr>
          <a:xfrm>
            <a:off x="4934400" y="2188736"/>
            <a:ext cx="3642300" cy="116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Außenanalyse des Brillengläser-Marktes</a:t>
            </a:r>
            <a:endParaRPr dirty="0"/>
          </a:p>
        </p:txBody>
      </p:sp>
      <p:sp>
        <p:nvSpPr>
          <p:cNvPr id="88" name="Google Shape;88;p9"/>
          <p:cNvSpPr txBox="1">
            <a:spLocks noGrp="1"/>
          </p:cNvSpPr>
          <p:nvPr>
            <p:ph type="title" idx="2"/>
          </p:nvPr>
        </p:nvSpPr>
        <p:spPr>
          <a:xfrm>
            <a:off x="4934400" y="3428675"/>
            <a:ext cx="3642300" cy="56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Zur Schaffung eines neuen Absatzmarktes sowie zum besseren Verständnis der Konsumenten </a:t>
            </a:r>
            <a:endParaRPr dirty="0"/>
          </a:p>
        </p:txBody>
      </p:sp>
      <p:sp>
        <p:nvSpPr>
          <p:cNvPr id="89" name="Google Shape;89;p9"/>
          <p:cNvSpPr txBox="1">
            <a:spLocks noGrp="1"/>
          </p:cNvSpPr>
          <p:nvPr>
            <p:ph type="body" idx="1"/>
          </p:nvPr>
        </p:nvSpPr>
        <p:spPr>
          <a:xfrm>
            <a:off x="7112600" y="4199075"/>
            <a:ext cx="1464000" cy="343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Samer Mohammed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>
            <a:spLocks noGrp="1"/>
          </p:cNvSpPr>
          <p:nvPr>
            <p:ph type="body" idx="1"/>
          </p:nvPr>
        </p:nvSpPr>
        <p:spPr>
          <a:xfrm>
            <a:off x="4393550" y="1405800"/>
            <a:ext cx="4353600" cy="959100"/>
          </a:xfrm>
          <a:prstGeom prst="rect">
            <a:avLst/>
          </a:prstGeom>
        </p:spPr>
        <p:txBody>
          <a:bodyPr spcFirstLastPara="1" wrap="square" lIns="0" tIns="36000" rIns="72000" bIns="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de-DE" dirty="0"/>
              <a:t>Neukonzept um näher am Endverbraucher zu seinen und dementsprechend mehr Information über die Kunden zu bekommen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de-DE" dirty="0"/>
              <a:t>Erschließung neuer Marktanteile </a:t>
            </a:r>
            <a:endParaRPr dirty="0"/>
          </a:p>
        </p:txBody>
      </p:sp>
      <p:sp>
        <p:nvSpPr>
          <p:cNvPr id="106" name="Google Shape;106;p12"/>
          <p:cNvSpPr txBox="1">
            <a:spLocks noGrp="1"/>
          </p:cNvSpPr>
          <p:nvPr>
            <p:ph type="title"/>
          </p:nvPr>
        </p:nvSpPr>
        <p:spPr>
          <a:xfrm>
            <a:off x="360375" y="72475"/>
            <a:ext cx="6784500" cy="26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Außenanalyse – unser Vorgehen, Status Quo als auch das Ziel</a:t>
            </a:r>
            <a:endParaRPr dirty="0"/>
          </a:p>
        </p:txBody>
      </p:sp>
      <p:sp>
        <p:nvSpPr>
          <p:cNvPr id="107" name="Google Shape;107;p12"/>
          <p:cNvSpPr txBox="1">
            <a:spLocks noGrp="1"/>
          </p:cNvSpPr>
          <p:nvPr>
            <p:ph type="body" idx="2"/>
          </p:nvPr>
        </p:nvSpPr>
        <p:spPr>
          <a:xfrm>
            <a:off x="4393550" y="3885425"/>
            <a:ext cx="2055000" cy="959100"/>
          </a:xfrm>
          <a:prstGeom prst="rect">
            <a:avLst/>
          </a:prstGeom>
        </p:spPr>
        <p:txBody>
          <a:bodyPr spcFirstLastPara="1" wrap="square" lIns="0" tIns="36000" rIns="72000" bIns="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de-DE" dirty="0"/>
              <a:t>Erschließung einer Marktlücke durch Analyse bestehender Anbieter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de-DE" dirty="0"/>
              <a:t>Analyse vom Satus Quo des Online Handels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  <p:sp>
        <p:nvSpPr>
          <p:cNvPr id="108" name="Google Shape;108;p12"/>
          <p:cNvSpPr txBox="1">
            <a:spLocks noGrp="1"/>
          </p:cNvSpPr>
          <p:nvPr>
            <p:ph type="body" idx="3"/>
          </p:nvPr>
        </p:nvSpPr>
        <p:spPr>
          <a:xfrm>
            <a:off x="6625675" y="3885425"/>
            <a:ext cx="2121600" cy="959100"/>
          </a:xfrm>
          <a:prstGeom prst="rect">
            <a:avLst/>
          </a:prstGeom>
        </p:spPr>
        <p:txBody>
          <a:bodyPr spcFirstLastPara="1" wrap="square" lIns="0" tIns="36000" rIns="72000" bIns="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de-DE" dirty="0"/>
              <a:t>Aufbau eines B2C E-Commerce um näher am Kunden zu sein </a:t>
            </a:r>
          </a:p>
        </p:txBody>
      </p:sp>
      <p:sp>
        <p:nvSpPr>
          <p:cNvPr id="109" name="Google Shape;109;p12"/>
          <p:cNvSpPr txBox="1">
            <a:spLocks noGrp="1"/>
          </p:cNvSpPr>
          <p:nvPr>
            <p:ph type="body" idx="4"/>
          </p:nvPr>
        </p:nvSpPr>
        <p:spPr>
          <a:xfrm>
            <a:off x="4393550" y="2645500"/>
            <a:ext cx="4353600" cy="959100"/>
          </a:xfrm>
          <a:prstGeom prst="rect">
            <a:avLst/>
          </a:prstGeom>
        </p:spPr>
        <p:txBody>
          <a:bodyPr spcFirstLastPara="1" wrap="square" lIns="0" tIns="36000" rIns="72000" bIns="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de-DE" dirty="0"/>
              <a:t>Recherche zu den bestehenden Angeboten aller bekannten Herstellern von Brillengläsern (Marktanalyse)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de-DE" dirty="0"/>
              <a:t>Recherche zu aktuellen Digitaltrends im Brillenglas Markt (Trendanalyse)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de-DE" dirty="0"/>
              <a:t>Entwicklung einer Digitalstrategie 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3093D2A7-94C1-41C9-909F-8197B99217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7802841"/>
              </p:ext>
            </p:extLst>
          </p:nvPr>
        </p:nvGraphicFramePr>
        <p:xfrm>
          <a:off x="396725" y="1982742"/>
          <a:ext cx="3749858" cy="19838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feld 4">
            <a:extLst>
              <a:ext uri="{FF2B5EF4-FFF2-40B4-BE49-F238E27FC236}">
                <a16:creationId xmlns:a16="http://schemas.microsoft.com/office/drawing/2014/main" id="{CACFC8E6-8EDC-4B99-8FF7-0E4E63A6D56C}"/>
              </a:ext>
            </a:extLst>
          </p:cNvPr>
          <p:cNvSpPr txBox="1"/>
          <p:nvPr/>
        </p:nvSpPr>
        <p:spPr>
          <a:xfrm>
            <a:off x="449084" y="1251911"/>
            <a:ext cx="3414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latin typeface="Montserrat" panose="00000500000000000000" pitchFamily="2" charset="0"/>
              </a:rPr>
              <a:t>Wertschöpfungskette bis zum Endkunden</a:t>
            </a:r>
            <a:endParaRPr lang="en-GB" b="1" dirty="0">
              <a:latin typeface="Montserrat" panose="000005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"/>
          <p:cNvSpPr txBox="1">
            <a:spLocks noGrp="1"/>
          </p:cNvSpPr>
          <p:nvPr>
            <p:ph type="body" idx="2"/>
          </p:nvPr>
        </p:nvSpPr>
        <p:spPr>
          <a:xfrm>
            <a:off x="359975" y="1108300"/>
            <a:ext cx="2735100" cy="36081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5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de-DE" dirty="0">
                <a:latin typeface="Montserrat" panose="00000500000000000000" pitchFamily="2" charset="0"/>
              </a:rPr>
              <a:t>Absatzmarkt und Informationen verlaufen lediglich über die Partneroptiker</a:t>
            </a:r>
          </a:p>
          <a:p>
            <a:pPr marL="171450" lvl="0" indent="-171450" algn="l" rtl="0">
              <a:spcBef>
                <a:spcPts val="0"/>
              </a:spcBef>
              <a:spcAft>
                <a:spcPts val="5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de-DE" dirty="0">
                <a:latin typeface="Montserrat" panose="00000500000000000000" pitchFamily="2" charset="0"/>
              </a:rPr>
              <a:t>Kein Kontakt zum Endkonsumenten</a:t>
            </a:r>
          </a:p>
          <a:p>
            <a:pPr marL="171450" indent="-171450">
              <a:spcAft>
                <a:spcPts val="5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de-DE" dirty="0">
                <a:latin typeface="Montserrat" panose="00000500000000000000" pitchFamily="2" charset="0"/>
              </a:rPr>
              <a:t>Evaluation der Marktveränderungen können schlecht durchgeführt werden</a:t>
            </a:r>
          </a:p>
          <a:p>
            <a:pPr marL="171450" indent="-171450">
              <a:spcAft>
                <a:spcPts val="5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de-DE" dirty="0">
                <a:latin typeface="Montserrat" panose="00000500000000000000" pitchFamily="2" charset="0"/>
              </a:rPr>
              <a:t>Fehlendes direktes B2C online Angebot hält jüngere Käufer vom Kauf weg</a:t>
            </a:r>
          </a:p>
          <a:p>
            <a:pPr marL="171450" lvl="0" indent="-171450" algn="l" rtl="0">
              <a:spcBef>
                <a:spcPts val="0"/>
              </a:spcBef>
              <a:spcAft>
                <a:spcPts val="5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dirty="0"/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/>
          </p:nvPr>
        </p:nvSpPr>
        <p:spPr>
          <a:xfrm>
            <a:off x="360375" y="88900"/>
            <a:ext cx="6784500" cy="26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Herausforderungen an diesem Projekt</a:t>
            </a:r>
            <a:endParaRPr dirty="0"/>
          </a:p>
        </p:txBody>
      </p:sp>
      <p:sp>
        <p:nvSpPr>
          <p:cNvPr id="116" name="Google Shape;116;p13"/>
          <p:cNvSpPr txBox="1">
            <a:spLocks noGrp="1"/>
          </p:cNvSpPr>
          <p:nvPr>
            <p:ph type="body" idx="1"/>
          </p:nvPr>
        </p:nvSpPr>
        <p:spPr>
          <a:xfrm>
            <a:off x="3512384" y="1184950"/>
            <a:ext cx="2082300" cy="34095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Digitalstrategie zur Schaffung eines neuen Absatzmarktes, welcher valide Daten für interne Evaluationen liefert</a:t>
            </a:r>
          </a:p>
          <a:p>
            <a:pPr marL="0" lvl="0" indent="0" algn="ctr" rtl="0">
              <a:spcBef>
                <a:spcPts val="0"/>
              </a:spcBef>
              <a:spcAft>
                <a:spcPts val="500"/>
              </a:spcAft>
              <a:buNone/>
            </a:pPr>
            <a:endParaRPr lang="de-DE" dirty="0"/>
          </a:p>
          <a:p>
            <a:pPr marL="0" lvl="0" indent="0" algn="ctr" rtl="0">
              <a:spcBef>
                <a:spcPts val="0"/>
              </a:spcBef>
              <a:spcAft>
                <a:spcPts val="500"/>
              </a:spcAft>
              <a:buNone/>
            </a:pPr>
            <a:endParaRPr dirty="0"/>
          </a:p>
        </p:txBody>
      </p:sp>
      <p:sp>
        <p:nvSpPr>
          <p:cNvPr id="117" name="Google Shape;117;p13"/>
          <p:cNvSpPr txBox="1">
            <a:spLocks noGrp="1"/>
          </p:cNvSpPr>
          <p:nvPr>
            <p:ph type="body" idx="3"/>
          </p:nvPr>
        </p:nvSpPr>
        <p:spPr>
          <a:xfrm>
            <a:off x="6011975" y="1108425"/>
            <a:ext cx="2735100" cy="36081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marL="171450" indent="-171450"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de-DE" dirty="0">
                <a:latin typeface="Montserrat" panose="00000500000000000000" pitchFamily="2" charset="0"/>
              </a:rPr>
              <a:t>Verkleinerung der Zielgruppe aufgrund des demografischen Wandels</a:t>
            </a:r>
          </a:p>
          <a:p>
            <a:pPr marL="171450" indent="-171450"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de-DE" dirty="0">
                <a:latin typeface="Montserrat" panose="00000500000000000000" pitchFamily="2" charset="0"/>
              </a:rPr>
              <a:t>Ungeeignete Preispolitik sorgt dafür, dass jüngere Kunden nicht beim Partneroptiker ihre Brille kaufen </a:t>
            </a:r>
          </a:p>
          <a:p>
            <a:pPr marL="171450" indent="-171450"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de-DE" dirty="0">
                <a:latin typeface="Montserrat" panose="00000500000000000000" pitchFamily="2" charset="0"/>
              </a:rPr>
              <a:t>Online Präsenz gewinnt an Beliebtheit</a:t>
            </a:r>
          </a:p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0"/>
          <p:cNvSpPr txBox="1">
            <a:spLocks noGrp="1"/>
          </p:cNvSpPr>
          <p:nvPr>
            <p:ph type="title"/>
          </p:nvPr>
        </p:nvSpPr>
        <p:spPr>
          <a:xfrm>
            <a:off x="360375" y="72475"/>
            <a:ext cx="6784500" cy="26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Marktlücke im Markt für Brillengläser</a:t>
            </a:r>
            <a:endParaRPr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6053950E-AAED-4BCD-AED9-190E21E371D7}"/>
              </a:ext>
            </a:extLst>
          </p:cNvPr>
          <p:cNvSpPr txBox="1"/>
          <p:nvPr/>
        </p:nvSpPr>
        <p:spPr>
          <a:xfrm>
            <a:off x="360375" y="964641"/>
            <a:ext cx="7648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de-DE" dirty="0">
              <a:latin typeface="Montserrat" panose="00000500000000000000" pitchFamily="2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>
              <a:latin typeface="Montserrat" panose="00000500000000000000" pitchFamily="2" charset="0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FE388A3-6830-4AF4-B912-8405206C8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0410" y="4070906"/>
            <a:ext cx="508026" cy="53342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CF2020E-7095-4CE5-8A48-A5BE7F6F18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1516" y="1083759"/>
            <a:ext cx="805877" cy="48951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31E2182B-06C0-41BA-8EDD-A54157407E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0133" y="1006000"/>
            <a:ext cx="712082" cy="69812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BBA7AA47-6982-4DEC-881F-4AAFB76499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0779" y="4145881"/>
            <a:ext cx="834183" cy="400068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235E0885-B71F-4B55-B059-8CF013A02A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6318" y="3157283"/>
            <a:ext cx="1259910" cy="369447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C0A6CAE7-4B26-4DB2-9923-9320D9B139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98473" y="3715839"/>
            <a:ext cx="863644" cy="209561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EA510DD1-4C34-41C7-9C00-3636562C1C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07709" y="3693653"/>
            <a:ext cx="857253" cy="329146"/>
          </a:xfrm>
          <a:prstGeom prst="rect">
            <a:avLst/>
          </a:prstGeom>
        </p:spPr>
      </p:pic>
      <p:sp>
        <p:nvSpPr>
          <p:cNvPr id="7" name="Pfeil: nach rechts 6">
            <a:extLst>
              <a:ext uri="{FF2B5EF4-FFF2-40B4-BE49-F238E27FC236}">
                <a16:creationId xmlns:a16="http://schemas.microsoft.com/office/drawing/2014/main" id="{4B173FA1-6009-4D3F-91CB-6D9533507894}"/>
              </a:ext>
            </a:extLst>
          </p:cNvPr>
          <p:cNvSpPr/>
          <p:nvPr/>
        </p:nvSpPr>
        <p:spPr>
          <a:xfrm>
            <a:off x="1075174" y="4597705"/>
            <a:ext cx="6737419" cy="2095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Pfeil: nach oben 8">
            <a:extLst>
              <a:ext uri="{FF2B5EF4-FFF2-40B4-BE49-F238E27FC236}">
                <a16:creationId xmlns:a16="http://schemas.microsoft.com/office/drawing/2014/main" id="{4E3B3282-6315-488D-970E-0D11750220C9}"/>
              </a:ext>
            </a:extLst>
          </p:cNvPr>
          <p:cNvSpPr/>
          <p:nvPr/>
        </p:nvSpPr>
        <p:spPr>
          <a:xfrm>
            <a:off x="847291" y="613533"/>
            <a:ext cx="216138" cy="398417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6D4D52C-F3EF-44D8-AC4F-C38E88F70D23}"/>
              </a:ext>
            </a:extLst>
          </p:cNvPr>
          <p:cNvSpPr txBox="1"/>
          <p:nvPr/>
        </p:nvSpPr>
        <p:spPr>
          <a:xfrm>
            <a:off x="7812593" y="4533208"/>
            <a:ext cx="13263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>
                <a:latin typeface="Montserrat" panose="00000500000000000000" pitchFamily="2" charset="0"/>
              </a:rPr>
              <a:t>Wertschöpfungsstufe des Herstellers</a:t>
            </a:r>
            <a:endParaRPr lang="en-GB" sz="800" dirty="0">
              <a:latin typeface="Montserrat" panose="00000500000000000000" pitchFamily="2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BB45D4B-3326-40C1-924D-4057DF2E07CE}"/>
              </a:ext>
            </a:extLst>
          </p:cNvPr>
          <p:cNvSpPr txBox="1"/>
          <p:nvPr/>
        </p:nvSpPr>
        <p:spPr>
          <a:xfrm>
            <a:off x="312292" y="286717"/>
            <a:ext cx="1286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>
                <a:latin typeface="Montserrat" panose="00000500000000000000" pitchFamily="2" charset="0"/>
              </a:rPr>
              <a:t>Digitalisierungsgrad mit Bezug auf den Vertrieb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61604739-5D79-4ED7-9DC0-BDED7140EAA2}"/>
              </a:ext>
            </a:extLst>
          </p:cNvPr>
          <p:cNvSpPr txBox="1"/>
          <p:nvPr/>
        </p:nvSpPr>
        <p:spPr>
          <a:xfrm>
            <a:off x="256233" y="879231"/>
            <a:ext cx="5793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>
                <a:latin typeface="Montserrat" panose="00000500000000000000" pitchFamily="2" charset="0"/>
              </a:rPr>
              <a:t>Hoch</a:t>
            </a:r>
            <a:endParaRPr lang="en-GB" sz="800" dirty="0">
              <a:latin typeface="Montserrat" panose="00000500000000000000" pitchFamily="2" charset="0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BE9169A2-04D4-4CBB-A312-F7C2CA70DA0E}"/>
              </a:ext>
            </a:extLst>
          </p:cNvPr>
          <p:cNvSpPr txBox="1"/>
          <p:nvPr/>
        </p:nvSpPr>
        <p:spPr>
          <a:xfrm>
            <a:off x="291402" y="4275574"/>
            <a:ext cx="5441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>
                <a:latin typeface="Montserrat" panose="00000500000000000000" pitchFamily="2" charset="0"/>
              </a:rPr>
              <a:t>gering</a:t>
            </a:r>
            <a:endParaRPr lang="en-GB" sz="800" dirty="0">
              <a:latin typeface="Montserrat" panose="00000500000000000000" pitchFamily="2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3EEAB985-93E8-4440-962D-D6D1A33B87EF}"/>
              </a:ext>
            </a:extLst>
          </p:cNvPr>
          <p:cNvSpPr txBox="1"/>
          <p:nvPr/>
        </p:nvSpPr>
        <p:spPr>
          <a:xfrm>
            <a:off x="1326382" y="4740831"/>
            <a:ext cx="10199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>
                <a:latin typeface="Montserrat" panose="00000500000000000000" pitchFamily="2" charset="0"/>
              </a:rPr>
              <a:t>Herstellung von Brillengläser </a:t>
            </a:r>
            <a:endParaRPr lang="en-GB" sz="800" dirty="0">
              <a:latin typeface="Montserrat" panose="00000500000000000000" pitchFamily="2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4C7DE8BB-33AE-4B81-A79D-FA771704B880}"/>
              </a:ext>
            </a:extLst>
          </p:cNvPr>
          <p:cNvSpPr txBox="1"/>
          <p:nvPr/>
        </p:nvSpPr>
        <p:spPr>
          <a:xfrm>
            <a:off x="3506875" y="4807266"/>
            <a:ext cx="1361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>
                <a:latin typeface="Montserrat" panose="00000500000000000000" pitchFamily="2" charset="0"/>
              </a:rPr>
              <a:t>Stufe 1 + Herstellung von Brillen </a:t>
            </a:r>
            <a:endParaRPr lang="en-GB" sz="800" dirty="0">
              <a:latin typeface="Montserrat" panose="00000500000000000000" pitchFamily="2" charset="0"/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6508EEA3-DC72-48B8-AC4B-ABC396A3ECAB}"/>
              </a:ext>
            </a:extLst>
          </p:cNvPr>
          <p:cNvSpPr txBox="1"/>
          <p:nvPr/>
        </p:nvSpPr>
        <p:spPr>
          <a:xfrm>
            <a:off x="5833068" y="4765722"/>
            <a:ext cx="14067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>
                <a:latin typeface="Montserrat" panose="00000500000000000000" pitchFamily="2" charset="0"/>
              </a:rPr>
              <a:t>Stufe 1+ 2+Verkauf von Brillen </a:t>
            </a:r>
            <a:endParaRPr lang="en-GB" sz="800" dirty="0">
              <a:latin typeface="Montserrat" panose="00000500000000000000" pitchFamily="2" charset="0"/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2ED77B05-9249-4E82-96A4-9D15871CDA77}"/>
              </a:ext>
            </a:extLst>
          </p:cNvPr>
          <p:cNvSpPr txBox="1"/>
          <p:nvPr/>
        </p:nvSpPr>
        <p:spPr>
          <a:xfrm>
            <a:off x="5664759" y="1031765"/>
            <a:ext cx="2245806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Montserrat" panose="00000500000000000000" pitchFamily="2" charset="0"/>
              </a:rPr>
              <a:t>Marktlücke: Direkter online Absatzmarkt von Brillen aus eigener Herstellung des Glases und des Gestells.</a:t>
            </a:r>
            <a:endParaRPr lang="en-GB" sz="1000" dirty="0">
              <a:latin typeface="Montserrat" panose="00000500000000000000" pitchFamily="2" charset="0"/>
            </a:endParaRPr>
          </a:p>
        </p:txBody>
      </p:sp>
      <p:sp>
        <p:nvSpPr>
          <p:cNvPr id="23" name="Pfeil: nach rechts 22">
            <a:extLst>
              <a:ext uri="{FF2B5EF4-FFF2-40B4-BE49-F238E27FC236}">
                <a16:creationId xmlns:a16="http://schemas.microsoft.com/office/drawing/2014/main" id="{5879686D-BA16-47D1-9DAA-63F4D695AB02}"/>
              </a:ext>
            </a:extLst>
          </p:cNvPr>
          <p:cNvSpPr/>
          <p:nvPr/>
        </p:nvSpPr>
        <p:spPr>
          <a:xfrm>
            <a:off x="5164853" y="1338957"/>
            <a:ext cx="351692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Pfeil: nach oben 23">
            <a:extLst>
              <a:ext uri="{FF2B5EF4-FFF2-40B4-BE49-F238E27FC236}">
                <a16:creationId xmlns:a16="http://schemas.microsoft.com/office/drawing/2014/main" id="{9751032B-BD66-4D22-B8F7-17A8615B3E5E}"/>
              </a:ext>
            </a:extLst>
          </p:cNvPr>
          <p:cNvSpPr/>
          <p:nvPr/>
        </p:nvSpPr>
        <p:spPr>
          <a:xfrm>
            <a:off x="6586193" y="1907668"/>
            <a:ext cx="45719" cy="26277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9701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 txBox="1">
            <a:spLocks noGrp="1"/>
          </p:cNvSpPr>
          <p:nvPr>
            <p:ph type="title"/>
          </p:nvPr>
        </p:nvSpPr>
        <p:spPr>
          <a:xfrm>
            <a:off x="360375" y="72475"/>
            <a:ext cx="7376856" cy="26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Online Handel von Brillen – junger Markt mit enormem Wachstumschancen</a:t>
            </a:r>
            <a:endParaRPr dirty="0"/>
          </a:p>
        </p:txBody>
      </p:sp>
      <p:graphicFrame>
        <p:nvGraphicFramePr>
          <p:cNvPr id="7" name="Diagramm 6">
            <a:extLst>
              <a:ext uri="{FF2B5EF4-FFF2-40B4-BE49-F238E27FC236}">
                <a16:creationId xmlns:a16="http://schemas.microsoft.com/office/drawing/2014/main" id="{2CFCBE97-D5F6-41CB-853C-74CBF35CFA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3313680"/>
              </p:ext>
            </p:extLst>
          </p:nvPr>
        </p:nvGraphicFramePr>
        <p:xfrm>
          <a:off x="360375" y="362166"/>
          <a:ext cx="2950165" cy="20863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Diagramm 9">
            <a:extLst>
              <a:ext uri="{FF2B5EF4-FFF2-40B4-BE49-F238E27FC236}">
                <a16:creationId xmlns:a16="http://schemas.microsoft.com/office/drawing/2014/main" id="{26D3A1E6-2B71-4760-937A-BCAF448B56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2616980"/>
              </p:ext>
            </p:extLst>
          </p:nvPr>
        </p:nvGraphicFramePr>
        <p:xfrm>
          <a:off x="3552092" y="362166"/>
          <a:ext cx="3510262" cy="20863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6" name="Diagramm 15">
            <a:extLst>
              <a:ext uri="{FF2B5EF4-FFF2-40B4-BE49-F238E27FC236}">
                <a16:creationId xmlns:a16="http://schemas.microsoft.com/office/drawing/2014/main" id="{3C0A418D-26CA-456E-B8EC-FAE6039D8A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0614487"/>
              </p:ext>
            </p:extLst>
          </p:nvPr>
        </p:nvGraphicFramePr>
        <p:xfrm>
          <a:off x="360375" y="2517112"/>
          <a:ext cx="4546229" cy="24332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8" name="Textfeld 17">
            <a:extLst>
              <a:ext uri="{FF2B5EF4-FFF2-40B4-BE49-F238E27FC236}">
                <a16:creationId xmlns:a16="http://schemas.microsoft.com/office/drawing/2014/main" id="{EE618F0A-C1C2-4562-8777-12A5CE58F8C3}"/>
              </a:ext>
            </a:extLst>
          </p:cNvPr>
          <p:cNvSpPr txBox="1"/>
          <p:nvPr/>
        </p:nvSpPr>
        <p:spPr>
          <a:xfrm>
            <a:off x="4906604" y="2554794"/>
            <a:ext cx="419518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latin typeface="Montserrat" panose="00000500000000000000" pitchFamily="2" charset="0"/>
              </a:rPr>
              <a:t>Schlussfolgerung der letzten beiden Folien</a:t>
            </a:r>
          </a:p>
          <a:p>
            <a:endParaRPr lang="de-DE" sz="1200" b="1" dirty="0"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>
                <a:latin typeface="Montserrat" panose="00000500000000000000" pitchFamily="2" charset="0"/>
              </a:rPr>
              <a:t>Kein bekannter Hersteller von Brillenglas mit einem direkten Online Vertrieb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>
                <a:latin typeface="Montserrat" panose="00000500000000000000" pitchFamily="2" charset="0"/>
              </a:rPr>
              <a:t>Lediglich Rodenstock stellt Brillen als Endprodukte her und bietet dabei den Kunden zumindest eine Online Anprobe an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>
                <a:latin typeface="Montserrat" panose="00000500000000000000" pitchFamily="2" charset="0"/>
              </a:rPr>
              <a:t>Online Handel in Deutschland von Brillen noch sehr klein jedoch mit stark steigender Tendenz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>
                <a:latin typeface="Montserrat" panose="00000500000000000000" pitchFamily="2" charset="0"/>
              </a:rPr>
              <a:t>Großes Marktpotenzial mit enormen Wachstumschancen bei einem direkten Eintritt in den Markt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sz="1200" dirty="0">
              <a:latin typeface="Montserrat" panose="00000500000000000000" pitchFamily="2" charset="0"/>
            </a:endParaRPr>
          </a:p>
          <a:p>
            <a:endParaRPr lang="en-GB" sz="1200" dirty="0">
              <a:latin typeface="Montserrat" panose="00000500000000000000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1"/>
          <p:cNvSpPr txBox="1">
            <a:spLocks noGrp="1"/>
          </p:cNvSpPr>
          <p:nvPr>
            <p:ph type="body" idx="1"/>
          </p:nvPr>
        </p:nvSpPr>
        <p:spPr>
          <a:xfrm>
            <a:off x="360375" y="545547"/>
            <a:ext cx="7025163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71450" lvl="0" indent="-171450" algn="l" rtl="0"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de-DE" dirty="0"/>
              <a:t>Da Endverbraucher kein Interesse an Brillengläser haben sondern lediglich an einer Brille, wird eine direkte E-Commerce Plattform für Brillengläser keine erheblichen Umsätze erzielen </a:t>
            </a:r>
          </a:p>
          <a:p>
            <a:pPr marL="171450" lvl="0" indent="-171450" algn="l" rtl="0"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de-DE" dirty="0"/>
              <a:t>Unternehmen sollten um immensen kurzfristigen Aufwand zu vermeiden sich einen Partner suchen, welcher das </a:t>
            </a:r>
            <a:r>
              <a:rPr lang="de-DE" dirty="0" err="1"/>
              <a:t>Know-How</a:t>
            </a:r>
            <a:r>
              <a:rPr lang="de-DE" dirty="0"/>
              <a:t> sowie die Erfahrung im Zusammenhang mit der Herstellung von Brillen besitzt </a:t>
            </a:r>
          </a:p>
          <a:p>
            <a:pPr marL="171450" lvl="0" indent="-171450" algn="l" rtl="0"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de-DE" dirty="0"/>
              <a:t>Gemeinsam sollten die Unternehmen eine online B2C Plattform mit einem direkten Online Vertrieb eröffnen</a:t>
            </a:r>
          </a:p>
          <a:p>
            <a:pPr marL="171450" lvl="0" indent="-171450" algn="l" rtl="0"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de-DE" dirty="0"/>
              <a:t>Die Einsparung der bürokratischen Hürden, welche ursprünglicher Weise durch die zusätzlichen Stationen (Partneroptiker – Brillenglas Hersteller) entstehen, sorgen für geminderte Kosten als auch für Zeiteinsparungen für den Kunden</a:t>
            </a:r>
          </a:p>
          <a:p>
            <a:pPr marL="171450" lvl="0" indent="-171450" algn="l" rtl="0"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de-DE" dirty="0"/>
              <a:t>Die Zielgruppe der Maßnahme sind vorwiegend junge Leute mit wahrscheinlich niedrigen Einkünfte, daher sollte das Unternehmen die günstigeren Preise als Werbemaßnahme verwenden</a:t>
            </a:r>
          </a:p>
          <a:p>
            <a:pPr marL="171450" lvl="0" indent="-171450" algn="l" rtl="0"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de-DE" dirty="0"/>
              <a:t>Digitale Marketingmaßnahmen sollten zu Beginn möglichst umfänglich durchgeführt werden, um sich gegen bekannte Online Optiker einen Markennamen zu verschaffen</a:t>
            </a:r>
          </a:p>
          <a:p>
            <a:pPr marL="171450" lvl="0" indent="-171450" algn="l" rtl="0"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de-DE" dirty="0"/>
              <a:t>Ein hoher Service-Grad in Form eine digitalen Anprobe der Brille sowie die Möglichkeit digital mit einem Optiker zu sprechen sollten genutzt werden um in der Hinsicht keinen Wettbewerbsnachteil zu erlangen</a:t>
            </a:r>
          </a:p>
          <a:p>
            <a:pPr marL="171450" lvl="0" indent="-171450" algn="l" rtl="0"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de-DE" dirty="0"/>
              <a:t>Der Brillenglas Hersteller würde sein Ziel erreichen näher am Kunden zu sein und die Bedürfnisse besser verstehen zu können</a:t>
            </a:r>
          </a:p>
          <a:p>
            <a:pPr marL="171450" lvl="0" indent="-171450" algn="l" rtl="0"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de-DE" dirty="0"/>
              <a:t>Durch Skalierungstools kann der Brillenglas Hersteller gemeinsam mit dem Hersteller des Gestells das Kaufverhalten der Kunden evaluieren und dementsprechend sich einen weiteren Wettbewerbsvorteil sichern</a:t>
            </a:r>
          </a:p>
          <a:p>
            <a:pPr marL="171450" lvl="0" indent="-171450" algn="l" rtl="0"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de-DE" dirty="0"/>
          </a:p>
          <a:p>
            <a:pPr marL="171450" lvl="0" indent="-171450" algn="l" rtl="0"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  <p:sp>
        <p:nvSpPr>
          <p:cNvPr id="100" name="Google Shape;100;p11"/>
          <p:cNvSpPr txBox="1">
            <a:spLocks noGrp="1"/>
          </p:cNvSpPr>
          <p:nvPr>
            <p:ph type="title"/>
          </p:nvPr>
        </p:nvSpPr>
        <p:spPr>
          <a:xfrm>
            <a:off x="360375" y="72475"/>
            <a:ext cx="6784500" cy="26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Digitalstrategie die anzuwenden ist…  </a:t>
            </a:r>
            <a:endParaRPr dirty="0"/>
          </a:p>
        </p:txBody>
      </p:sp>
      <p:sp>
        <p:nvSpPr>
          <p:cNvPr id="2" name="Pfeil: nach unten 1">
            <a:extLst>
              <a:ext uri="{FF2B5EF4-FFF2-40B4-BE49-F238E27FC236}">
                <a16:creationId xmlns:a16="http://schemas.microsoft.com/office/drawing/2014/main" id="{522E0599-3C7F-4D72-A093-E80BF8761CE2}"/>
              </a:ext>
            </a:extLst>
          </p:cNvPr>
          <p:cNvSpPr/>
          <p:nvPr/>
        </p:nvSpPr>
        <p:spPr>
          <a:xfrm>
            <a:off x="7852786" y="657539"/>
            <a:ext cx="125605" cy="382842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C708B7C-A555-41C7-B789-65227A07D7F8}"/>
              </a:ext>
            </a:extLst>
          </p:cNvPr>
          <p:cNvSpPr txBox="1"/>
          <p:nvPr/>
        </p:nvSpPr>
        <p:spPr>
          <a:xfrm>
            <a:off x="7206094" y="4553465"/>
            <a:ext cx="1544594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Montserrat" panose="00000500000000000000" pitchFamily="2" charset="0"/>
              </a:rPr>
              <a:t>Optimierte B2C Plattform</a:t>
            </a:r>
            <a:endParaRPr lang="en-GB" sz="1000" dirty="0">
              <a:latin typeface="Montserrat" panose="00000500000000000000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1"/>
          <p:cNvSpPr txBox="1">
            <a:spLocks noGrp="1"/>
          </p:cNvSpPr>
          <p:nvPr>
            <p:ph type="body" idx="1"/>
          </p:nvPr>
        </p:nvSpPr>
        <p:spPr>
          <a:xfrm>
            <a:off x="360375" y="916107"/>
            <a:ext cx="7974257" cy="241311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71450" lvl="0" indent="-171450" algn="l" rtl="0"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de-DE" sz="1400" dirty="0"/>
              <a:t>Aufbau einer Digital Unit im Unternehmen um langfristig den Projekterfolg beizubehalten</a:t>
            </a:r>
          </a:p>
          <a:p>
            <a:pPr marL="171450" lvl="0" indent="-171450" algn="l" rtl="0"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de-DE" sz="1400" dirty="0"/>
              <a:t>Direkte E-Commerce Plattform für den Hersteller von Brillengläser und Brillengestellen </a:t>
            </a:r>
          </a:p>
          <a:p>
            <a:pPr marL="171450" lvl="0" indent="-171450" algn="l" rtl="0"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de-DE" sz="1400" dirty="0"/>
              <a:t>Implementierung eines Online Vertrieb für die richtige Umsetzung </a:t>
            </a:r>
          </a:p>
          <a:p>
            <a:pPr marL="171450" lvl="0" indent="-171450" algn="l" rtl="0"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de-DE" sz="1400" dirty="0"/>
              <a:t>Möglichst digitale Tools implementieren welche eine gewisse Agilität beibehalten </a:t>
            </a:r>
          </a:p>
          <a:p>
            <a:pPr marL="171450" lvl="0" indent="-171450" algn="l" rtl="0"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de-DE" sz="1400" dirty="0"/>
              <a:t>Unterstützung bei digitalen Werbemaßnahmen um schnell erkennbare Erfolge zu erzielen </a:t>
            </a:r>
          </a:p>
          <a:p>
            <a:pPr marL="171450" lvl="0" indent="-171450" algn="l" rtl="0"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de-DE" sz="1400" dirty="0"/>
              <a:t>Unterstützung bei der Implementierung von Skalierungstools um mithilfe von Big Data und künstlicher Intelligenz die Daten der Kunden auszuwerten und dementsprechend sich einen Wettbewerbsvorteil zu sichern</a:t>
            </a:r>
          </a:p>
          <a:p>
            <a:pPr marL="171450" lvl="0" indent="-171450" algn="l" rtl="0"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de-DE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de-DE" dirty="0"/>
          </a:p>
          <a:p>
            <a:pPr marL="171450" lvl="0" indent="-171450" algn="l" rtl="0"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  <p:sp>
        <p:nvSpPr>
          <p:cNvPr id="100" name="Google Shape;100;p11"/>
          <p:cNvSpPr txBox="1">
            <a:spLocks noGrp="1"/>
          </p:cNvSpPr>
          <p:nvPr>
            <p:ph type="title"/>
          </p:nvPr>
        </p:nvSpPr>
        <p:spPr>
          <a:xfrm>
            <a:off x="360375" y="72475"/>
            <a:ext cx="6784500" cy="26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Wie kann </a:t>
            </a:r>
            <a:r>
              <a:rPr lang="de-DE" dirty="0" err="1"/>
              <a:t>Etribes</a:t>
            </a:r>
            <a:r>
              <a:rPr lang="de-DE" dirty="0"/>
              <a:t> dabei konkret unterstützen 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61737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 txBox="1">
            <a:spLocks noGrp="1"/>
          </p:cNvSpPr>
          <p:nvPr>
            <p:ph type="title"/>
          </p:nvPr>
        </p:nvSpPr>
        <p:spPr>
          <a:xfrm>
            <a:off x="866800" y="1432500"/>
            <a:ext cx="2462400" cy="857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Entrepreneurs for your business.</a:t>
            </a:r>
            <a:endParaRPr/>
          </a:p>
        </p:txBody>
      </p:sp>
      <p:sp>
        <p:nvSpPr>
          <p:cNvPr id="129" name="Google Shape;129;p15"/>
          <p:cNvSpPr txBox="1">
            <a:spLocks noGrp="1"/>
          </p:cNvSpPr>
          <p:nvPr>
            <p:ph type="body" idx="2"/>
          </p:nvPr>
        </p:nvSpPr>
        <p:spPr>
          <a:xfrm>
            <a:off x="6828076" y="2998850"/>
            <a:ext cx="1435500" cy="21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Vielen Dank für Ihre Aufmerksamkeit </a:t>
            </a:r>
            <a:endParaRPr dirty="0"/>
          </a:p>
        </p:txBody>
      </p:sp>
      <p:sp>
        <p:nvSpPr>
          <p:cNvPr id="130" name="Google Shape;130;p15"/>
          <p:cNvSpPr txBox="1">
            <a:spLocks noGrp="1"/>
          </p:cNvSpPr>
          <p:nvPr>
            <p:ph type="body" idx="3"/>
          </p:nvPr>
        </p:nvSpPr>
        <p:spPr>
          <a:xfrm>
            <a:off x="6828076" y="3497348"/>
            <a:ext cx="1435500" cy="68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Für Rückfragen stehen wir Ihnen gerne noch zur Verfügung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tribes - Masterdesign">
  <a:themeElements>
    <a:clrScheme name="Etribes">
      <a:dk1>
        <a:srgbClr val="3F425E"/>
      </a:dk1>
      <a:lt1>
        <a:srgbClr val="FFFFFF"/>
      </a:lt1>
      <a:dk2>
        <a:srgbClr val="6F7287"/>
      </a:dk2>
      <a:lt2>
        <a:srgbClr val="B8B9C4"/>
      </a:lt2>
      <a:accent1>
        <a:srgbClr val="0E1235"/>
      </a:accent1>
      <a:accent2>
        <a:srgbClr val="E31A50"/>
      </a:accent2>
      <a:accent3>
        <a:srgbClr val="33AFFF"/>
      </a:accent3>
      <a:accent4>
        <a:srgbClr val="F0F0F0"/>
      </a:accent4>
      <a:accent5>
        <a:srgbClr val="6F7287"/>
      </a:accent5>
      <a:accent6>
        <a:srgbClr val="3F425E"/>
      </a:accent6>
      <a:hlink>
        <a:srgbClr val="E31A50"/>
      </a:hlink>
      <a:folHlink>
        <a:srgbClr val="33A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657</Words>
  <Application>Microsoft Office PowerPoint</Application>
  <PresentationFormat>Bildschirmpräsentation (16:9)</PresentationFormat>
  <Paragraphs>67</Paragraphs>
  <Slides>8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Montserrat</vt:lpstr>
      <vt:lpstr>Wingdings</vt:lpstr>
      <vt:lpstr>Arial</vt:lpstr>
      <vt:lpstr>Etribes - Masterdesign</vt:lpstr>
      <vt:lpstr>Außenanalyse des Brillengläser-Marktes</vt:lpstr>
      <vt:lpstr>Außenanalyse – unser Vorgehen, Status Quo als auch das Ziel</vt:lpstr>
      <vt:lpstr>Herausforderungen an diesem Projekt</vt:lpstr>
      <vt:lpstr>Marktlücke im Markt für Brillengläser</vt:lpstr>
      <vt:lpstr>Online Handel von Brillen – junger Markt mit enormem Wachstumschancen</vt:lpstr>
      <vt:lpstr>Digitalstrategie die anzuwenden ist…  </vt:lpstr>
      <vt:lpstr>Wie kann Etribes dabei konkret unterstützen ?</vt:lpstr>
      <vt:lpstr>Entrepreneurs for your business.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Außenanalyse des Brillengläser-Marktes</dc:title>
  <dc:creator>samer</dc:creator>
  <cp:lastModifiedBy>Samer Mohammed</cp:lastModifiedBy>
  <cp:revision>3</cp:revision>
  <dcterms:modified xsi:type="dcterms:W3CDTF">2021-12-22T13:15:48Z</dcterms:modified>
</cp:coreProperties>
</file>