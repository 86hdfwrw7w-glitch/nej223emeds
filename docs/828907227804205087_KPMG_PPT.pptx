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7" r:id="rId2"/>
    <p:sldId id="265" r:id="rId3"/>
    <p:sldId id="266" r:id="rId4"/>
    <p:sldId id="270" r:id="rId5"/>
    <p:sldId id="268" r:id="rId6"/>
    <p:sldId id="26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exandra Muchin" initials="AM" lastIdx="6" clrIdx="0">
    <p:extLst>
      <p:ext uri="{19B8F6BF-5375-455C-9EA6-DF929625EA0E}">
        <p15:presenceInfo xmlns:p15="http://schemas.microsoft.com/office/powerpoint/2012/main" userId="S::alexandra.muchin@uzk.onmicrosoft.com::a7452f00-9308-448d-a5e6-5dce36d12a2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92"/>
    <p:restoredTop sz="94648"/>
  </p:normalViewPr>
  <p:slideViewPr>
    <p:cSldViewPr snapToObjects="1">
      <p:cViewPr>
        <p:scale>
          <a:sx n="150" d="100"/>
          <a:sy n="150" d="100"/>
        </p:scale>
        <p:origin x="280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1-04-05T16:01:59.423" idx="4">
    <p:pos x="4978" y="1533"/>
    <p:text/>
    <p:extLst>
      <p:ext uri="{C676402C-5697-4E1C-873F-D02D1690AC5C}">
        <p15:threadingInfo xmlns:p15="http://schemas.microsoft.com/office/powerpoint/2012/main" timeZoneBias="-12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09A4B0-6054-424F-8BA6-A2F7C6E81F5B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052FCA-0C6C-3447-891C-D9C7F4FBCA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449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Schule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052FCA-0C6C-3447-891C-D9C7F4FBCAD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7259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Praktikum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052FCA-0C6C-3447-891C-D9C7F4FBCAD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9749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052FCA-0C6C-3447-891C-D9C7F4FBCAD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2387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052FCA-0C6C-3447-891C-D9C7F4FBCAD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7247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052FCA-0C6C-3447-891C-D9C7F4FBCAD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4171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052FCA-0C6C-3447-891C-D9C7F4FBCAD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5908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EC966-9867-5947-9F0C-ED82B014F6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96531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FA3947-CC0D-4C40-B1E9-1DFDD270D4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6118B-EC4D-9049-998F-C5E6CB6FF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929E4-B680-BC4A-8756-2BBA528D368C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C412D-CB71-BD41-B58A-5E58AE420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BAC317-5822-5648-9638-AA959C1CC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D6163-D451-6D48-9990-DADFE9CA8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6052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E3DB2-53DC-9B45-BB9C-5D37370B1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7257D-18BF-ED47-8094-81ADCE499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788" y="1834631"/>
            <a:ext cx="10515600" cy="4351338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E6B3CB-E4F4-374F-A9D0-EA33298FC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929E4-B680-BC4A-8756-2BBA528D368C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1275D-8DDE-A54F-9253-613C767FE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63D1AE-D8A4-6740-BEDA-620A16CDA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D6163-D451-6D48-9990-DADFE9CA8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149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9" userDrawn="1">
          <p15:clr>
            <a:srgbClr val="FBAE40"/>
          </p15:clr>
        </p15:guide>
        <p15:guide id="2" orient="horz" pos="1071" userDrawn="1">
          <p15:clr>
            <a:srgbClr val="FBAE40"/>
          </p15:clr>
        </p15:guide>
        <p15:guide id="3" pos="7151" userDrawn="1">
          <p15:clr>
            <a:srgbClr val="FBAE40"/>
          </p15:clr>
        </p15:guide>
        <p15:guide id="4" orient="horz" pos="3884" userDrawn="1">
          <p15:clr>
            <a:srgbClr val="FBAE40"/>
          </p15:clr>
        </p15:guide>
        <p15:guide id="5" orient="horz" pos="210" userDrawn="1">
          <p15:clr>
            <a:srgbClr val="FBAE40"/>
          </p15:clr>
        </p15:guide>
        <p15:guide id="6" orient="horz" pos="482" userDrawn="1">
          <p15:clr>
            <a:srgbClr val="FBAE40"/>
          </p15:clr>
        </p15:guide>
        <p15:guide id="7" orient="horz" pos="3249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C1002-1C98-984E-9021-0AC0F77A7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5EAD97-E514-F944-9DC1-5A49977FAC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30C691-707B-C94F-8B6F-2D108F33A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929E4-B680-BC4A-8756-2BBA528D368C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C5208E-2212-EB46-814C-B4B01EB73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4B197B-BCC5-1641-8DAD-264A51F64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D6163-D451-6D48-9990-DADFE9CA8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397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0050A-C9C0-1346-A76B-3C2B26B0E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AFC3F3-2F5E-F24B-A62F-31E75E8C0D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FBD0DB-E6AB-2542-9F52-95489E2771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49B0F1-7A26-F046-9B61-4DFE77909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929E4-B680-BC4A-8756-2BBA528D368C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A2C073-FC9D-7D43-B06C-4EE002069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BD8A6D-6C36-4943-B031-D2F16335D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D6163-D451-6D48-9990-DADFE9CA8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727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251E4-FBF5-D341-823A-AB02AE8A5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E24E9E-DBEB-384B-8DCD-11A564A6BD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384AA8-4C42-1D40-8979-FCDF79F0F0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E91FDB-C7F6-BB46-A054-33F5F4243B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9AA561-C7DD-D345-8A3C-D13BF98CA9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C6C3E2-5AE3-6147-9836-D82D2C0F9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929E4-B680-BC4A-8756-2BBA528D368C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8B9340-85FB-2E4C-9418-FB4DA683A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6FCAF7-1785-8846-A66B-BD990FAC9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D6163-D451-6D48-9990-DADFE9CA8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231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0808A-1494-2343-9B5F-EBDBF1BD5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BBB0A6-63F2-5840-90AF-AA83A7E0F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929E4-B680-BC4A-8756-2BBA528D368C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830F8C-FB48-024D-8ACE-1838351B0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BAE31-29C8-5E4E-8561-4AFE1E03A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D6163-D451-6D48-9990-DADFE9CA8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381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FE725B-A378-D149-995C-047E16D14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929E4-B680-BC4A-8756-2BBA528D368C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5E2AE7-B6F8-1F40-BF9B-EC134F461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3454F6-BAB4-CB4E-9A1A-074215A57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D6163-D451-6D48-9990-DADFE9CA8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582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DFB88-A1B2-E141-9BD0-2EF6FE3B9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D451AC-F1CD-004A-B5E0-A34C1FAA90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222B74-B0D7-554B-A360-FFF73D12D3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683474-2CC7-9C43-8BBC-4F477FE74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929E4-B680-BC4A-8756-2BBA528D368C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F83857-88DD-3044-90CE-0969891AB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E30E8B-8998-3E44-B1F4-2C3B9C89C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D6163-D451-6D48-9990-DADFE9CA8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737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60DF5-1E18-A14E-A373-81F91547E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E731D9-4FA4-D340-903C-35833FC36C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5DDF41-6939-1843-BC44-611E8D9BBD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2EC656-3F28-F74B-8D3C-67F35B30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929E4-B680-BC4A-8756-2BBA528D368C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468C68-F0FA-B04D-8008-3F7B249E4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97CED3-F6B6-A441-965A-F2B08FD05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D6163-D451-6D48-9990-DADFE9CA8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131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CA810-1746-AD45-9308-F0FBD75AF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87C7B2-B3B5-D44B-AE28-39D2F756B5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77383E-67A9-4A4C-AE36-FA6BEB381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929E4-B680-BC4A-8756-2BBA528D368C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E9D0F-F01F-6146-9DB1-C9398D647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583BE5-E741-4045-BE8B-F64468A38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D6163-D451-6D48-9990-DADFE9CA8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837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C0F58C-0F12-AF46-BE64-601125DF8E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10B12A-90F1-2946-8C63-9F2DE4552F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81F323-34A2-F142-BFAB-9A9342C4B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929E4-B680-BC4A-8756-2BBA528D368C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539FE2-F034-A744-8DAA-559E4FC2F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144250-E415-0048-AA67-79D81B93F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D6163-D451-6D48-9990-DADFE9CA8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265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F7CD79-FD55-924E-A79E-BB5CB0143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F5EC6E-AF16-4D4E-8564-B9F1375C50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55756B-6361-AC44-BAEB-5625636036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E929E4-B680-BC4A-8756-2BBA528D368C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3618E9-E09C-5A4A-8409-507C26D0DF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17C067-B716-5943-B06B-EB29B46649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BD6163-D451-6D48-9990-DADFE9CA8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81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14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comments" Target="../comments/comment1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jp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Logo&#10;&#10;Description automatically generated with medium confidence">
            <a:extLst>
              <a:ext uri="{FF2B5EF4-FFF2-40B4-BE49-F238E27FC236}">
                <a16:creationId xmlns:a16="http://schemas.microsoft.com/office/drawing/2014/main" id="{68306870-47DE-474A-AE3A-50FC359EE4A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357" b="4357"/>
          <a:stretch/>
        </p:blipFill>
        <p:spPr>
          <a:xfrm>
            <a:off x="10076723" y="1555037"/>
            <a:ext cx="1275490" cy="78593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A6BE8BE-C890-4A4F-B5A1-A8D99EF8AB9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1832" t="32796" r="6737" b="34019"/>
          <a:stretch/>
        </p:blipFill>
        <p:spPr>
          <a:xfrm>
            <a:off x="6118212" y="1585163"/>
            <a:ext cx="1675266" cy="72568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BAA8A46-90B4-F24B-B469-0AC48F6E1F7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7064" t="25237" r="12656" b="25144"/>
          <a:stretch/>
        </p:blipFill>
        <p:spPr>
          <a:xfrm>
            <a:off x="8059933" y="1620390"/>
            <a:ext cx="1833554" cy="655229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80BDA420-54D8-7447-AA90-612BBA04A559}"/>
              </a:ext>
            </a:extLst>
          </p:cNvPr>
          <p:cNvSpPr txBox="1"/>
          <p:nvPr/>
        </p:nvSpPr>
        <p:spPr>
          <a:xfrm>
            <a:off x="432000" y="234306"/>
            <a:ext cx="2800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/>
              <a:t>Werdegang</a:t>
            </a:r>
            <a:endParaRPr lang="en-US" sz="1400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D77F8CD-E37C-F148-B6F1-A5216CBC41CF}"/>
              </a:ext>
            </a:extLst>
          </p:cNvPr>
          <p:cNvSpPr txBox="1"/>
          <p:nvPr/>
        </p:nvSpPr>
        <p:spPr>
          <a:xfrm>
            <a:off x="432000" y="432000"/>
            <a:ext cx="113526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Interesse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</a:rPr>
              <a:t> an </a:t>
            </a:r>
            <a:r>
              <a:rPr lang="en-US" sz="2800" b="1" dirty="0" err="1">
                <a:solidFill>
                  <a:schemeClr val="accent1">
                    <a:lumMod val="75000"/>
                  </a:schemeClr>
                </a:solidFill>
              </a:rPr>
              <a:t>globaler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accent1">
                    <a:lumMod val="75000"/>
                  </a:schemeClr>
                </a:solidFill>
              </a:rPr>
              <a:t>Wirtschaft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accent1">
                    <a:lumMod val="75000"/>
                  </a:schemeClr>
                </a:solidFill>
              </a:rPr>
              <a:t>durch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accent1">
                    <a:lumMod val="75000"/>
                  </a:schemeClr>
                </a:solidFill>
              </a:rPr>
              <a:t>internationale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</a:rPr>
              <a:t> Schul-</a:t>
            </a:r>
            <a:r>
              <a:rPr lang="en-US" sz="2800" b="1" dirty="0" err="1">
                <a:solidFill>
                  <a:schemeClr val="accent1">
                    <a:lumMod val="75000"/>
                  </a:schemeClr>
                </a:solidFill>
              </a:rPr>
              <a:t>Laufbahn</a:t>
            </a:r>
            <a:endParaRPr lang="en-US" sz="28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41" name="Picture 40" descr="A picture containing text, guitar&#10;&#10;Description automatically generated">
            <a:extLst>
              <a:ext uri="{FF2B5EF4-FFF2-40B4-BE49-F238E27FC236}">
                <a16:creationId xmlns:a16="http://schemas.microsoft.com/office/drawing/2014/main" id="{D4ECF5B3-5849-B14B-85FA-88B1B0582000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18812" b="8836"/>
          <a:stretch/>
        </p:blipFill>
        <p:spPr>
          <a:xfrm>
            <a:off x="6118211" y="5145449"/>
            <a:ext cx="3628720" cy="930271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CA2B0314-F9CE-5B48-BBA7-D54C93C37656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904"/>
          <a:stretch/>
        </p:blipFill>
        <p:spPr>
          <a:xfrm>
            <a:off x="10091930" y="5024255"/>
            <a:ext cx="1143000" cy="117265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4B44422-C229-4A48-A928-7A503A6AFAE0}"/>
              </a:ext>
            </a:extLst>
          </p:cNvPr>
          <p:cNvSpPr txBox="1"/>
          <p:nvPr/>
        </p:nvSpPr>
        <p:spPr>
          <a:xfrm>
            <a:off x="812795" y="5287419"/>
            <a:ext cx="52269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BSc (Hons) International Business Management (French) an der Newcastle University in England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2D4999-5976-E84A-B142-C50DA4D7F057}"/>
              </a:ext>
            </a:extLst>
          </p:cNvPr>
          <p:cNvSpPr txBox="1"/>
          <p:nvPr/>
        </p:nvSpPr>
        <p:spPr>
          <a:xfrm>
            <a:off x="812795" y="1763338"/>
            <a:ext cx="4929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Aufgewachsen</a:t>
            </a:r>
            <a:r>
              <a:rPr lang="en-US" dirty="0"/>
              <a:t> in Hamburg und </a:t>
            </a:r>
            <a:r>
              <a:rPr lang="en-US" dirty="0" err="1"/>
              <a:t>Moskau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40472D9-CD6B-4E77-BB09-B23266B18FFA}"/>
              </a:ext>
            </a:extLst>
          </p:cNvPr>
          <p:cNvGrpSpPr/>
          <p:nvPr/>
        </p:nvGrpSpPr>
        <p:grpSpPr>
          <a:xfrm>
            <a:off x="812795" y="2881856"/>
            <a:ext cx="10361996" cy="1596279"/>
            <a:chOff x="812795" y="2887926"/>
            <a:chExt cx="10361996" cy="1596279"/>
          </a:xfrm>
        </p:grpSpPr>
        <p:pic>
          <p:nvPicPr>
            <p:cNvPr id="10" name="Picture 9" descr="Logo, company name&#10;&#10;Description automatically generated">
              <a:extLst>
                <a:ext uri="{FF2B5EF4-FFF2-40B4-BE49-F238E27FC236}">
                  <a16:creationId xmlns:a16="http://schemas.microsoft.com/office/drawing/2014/main" id="{BDA77909-2710-C945-8E29-F79E51C854C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l="19004" t="17626" r="18905" b="13509"/>
            <a:stretch/>
          </p:blipFill>
          <p:spPr>
            <a:xfrm>
              <a:off x="10152069" y="3292418"/>
              <a:ext cx="1022722" cy="1134292"/>
            </a:xfrm>
            <a:prstGeom prst="rect">
              <a:avLst/>
            </a:prstGeom>
          </p:spPr>
        </p:pic>
        <p:pic>
          <p:nvPicPr>
            <p:cNvPr id="31" name="Picture 30" descr="A picture containing text, sky, outdoor, white&#10;&#10;Description automatically generated">
              <a:extLst>
                <a:ext uri="{FF2B5EF4-FFF2-40B4-BE49-F238E27FC236}">
                  <a16:creationId xmlns:a16="http://schemas.microsoft.com/office/drawing/2014/main" id="{71B7B294-3359-A24C-B1AF-D86AE5067BB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l="14130" t="1" r="23907" b="690"/>
            <a:stretch/>
          </p:blipFill>
          <p:spPr>
            <a:xfrm>
              <a:off x="6245573" y="2889908"/>
              <a:ext cx="3628719" cy="1594297"/>
            </a:xfrm>
            <a:prstGeom prst="rect">
              <a:avLst/>
            </a:prstGeom>
          </p:spPr>
        </p:pic>
        <p:sp>
          <p:nvSpPr>
            <p:cNvPr id="467" name="TextBox 466">
              <a:extLst>
                <a:ext uri="{FF2B5EF4-FFF2-40B4-BE49-F238E27FC236}">
                  <a16:creationId xmlns:a16="http://schemas.microsoft.com/office/drawing/2014/main" id="{9AA9C4AD-BC31-674A-9846-FA91ADB10AE3}"/>
                </a:ext>
              </a:extLst>
            </p:cNvPr>
            <p:cNvSpPr txBox="1"/>
            <p:nvPr/>
          </p:nvSpPr>
          <p:spPr>
            <a:xfrm>
              <a:off x="812795" y="2887926"/>
              <a:ext cx="5787292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dirty="0" err="1"/>
                <a:t>Mit</a:t>
              </a:r>
              <a:r>
                <a:rPr lang="en-US" dirty="0"/>
                <a:t> 14 - </a:t>
              </a:r>
              <a:r>
                <a:rPr lang="en-US" dirty="0" err="1"/>
                <a:t>Wechsel</a:t>
              </a:r>
              <a:r>
                <a:rPr lang="en-US" dirty="0"/>
                <a:t> auf </a:t>
              </a:r>
              <a:r>
                <a:rPr lang="en-US" dirty="0" err="1"/>
                <a:t>ein</a:t>
              </a:r>
              <a:r>
                <a:rPr lang="en-US" dirty="0"/>
                <a:t> </a:t>
              </a:r>
              <a:r>
                <a:rPr lang="en-US" dirty="0" err="1"/>
                <a:t>Internat</a:t>
              </a:r>
              <a:r>
                <a:rPr lang="en-US" dirty="0"/>
                <a:t> in England </a:t>
              </a:r>
            </a:p>
            <a:p>
              <a:pPr algn="just"/>
              <a:endParaRPr lang="en-US" dirty="0"/>
            </a:p>
            <a:p>
              <a:pPr algn="just"/>
              <a:r>
                <a:rPr lang="en-US" dirty="0" err="1"/>
                <a:t>Selbständigkeit</a:t>
              </a:r>
              <a:r>
                <a:rPr lang="en-US" dirty="0"/>
                <a:t>, </a:t>
              </a:r>
              <a:r>
                <a:rPr lang="en-US" dirty="0" err="1"/>
                <a:t>Disziplin</a:t>
              </a:r>
              <a:r>
                <a:rPr lang="en-US" dirty="0"/>
                <a:t>, </a:t>
              </a:r>
              <a:r>
                <a:rPr lang="en-US" dirty="0" err="1"/>
                <a:t>Anpassungsfähigkeit</a:t>
              </a:r>
              <a:endParaRPr lang="en-US" dirty="0"/>
            </a:p>
            <a:p>
              <a:pPr algn="just"/>
              <a:endParaRPr lang="en-US" dirty="0"/>
            </a:p>
            <a:p>
              <a:pPr algn="just"/>
              <a:r>
                <a:rPr lang="en-US" dirty="0" err="1"/>
                <a:t>Wirtschaft</a:t>
              </a:r>
              <a:r>
                <a:rPr lang="en-US" dirty="0"/>
                <a:t>, </a:t>
              </a:r>
              <a:r>
                <a:rPr lang="en-US" dirty="0" err="1"/>
                <a:t>Französisch</a:t>
              </a:r>
              <a:r>
                <a:rPr lang="en-US" dirty="0"/>
                <a:t> &amp; </a:t>
              </a:r>
              <a:r>
                <a:rPr lang="en-US" dirty="0" err="1"/>
                <a:t>Englisch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518156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Text&#10;&#10;Description automatically generated">
            <a:extLst>
              <a:ext uri="{FF2B5EF4-FFF2-40B4-BE49-F238E27FC236}">
                <a16:creationId xmlns:a16="http://schemas.microsoft.com/office/drawing/2014/main" id="{F28C7791-3B0B-D541-9562-4DB295D9E2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7485" y="1500169"/>
            <a:ext cx="2375476" cy="369332"/>
          </a:xfrm>
        </p:spPr>
      </p:pic>
      <p:sp>
        <p:nvSpPr>
          <p:cNvPr id="492" name="TextBox 491">
            <a:extLst>
              <a:ext uri="{FF2B5EF4-FFF2-40B4-BE49-F238E27FC236}">
                <a16:creationId xmlns:a16="http://schemas.microsoft.com/office/drawing/2014/main" id="{DA92DD56-5DE1-2840-9ADB-843C4C9546F7}"/>
              </a:ext>
            </a:extLst>
          </p:cNvPr>
          <p:cNvSpPr txBox="1"/>
          <p:nvPr/>
        </p:nvSpPr>
        <p:spPr>
          <a:xfrm>
            <a:off x="837485" y="1902593"/>
            <a:ext cx="754708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B2B Customer Service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Sehr </a:t>
            </a:r>
            <a:r>
              <a:rPr lang="en-US" sz="2000" dirty="0" err="1"/>
              <a:t>integriert</a:t>
            </a:r>
            <a:r>
              <a:rPr lang="en-US" sz="2000" dirty="0"/>
              <a:t> </a:t>
            </a:r>
            <a:r>
              <a:rPr lang="en-US" sz="2000" dirty="0" err="1"/>
              <a:t>mit</a:t>
            </a:r>
            <a:r>
              <a:rPr lang="en-US" sz="2000" dirty="0"/>
              <a:t> der </a:t>
            </a:r>
            <a:r>
              <a:rPr lang="en-US" sz="2000" dirty="0" err="1"/>
              <a:t>Logistik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Dynamik</a:t>
            </a:r>
            <a:r>
              <a:rPr lang="en-US" sz="2000" dirty="0"/>
              <a:t> der </a:t>
            </a:r>
            <a:r>
              <a:rPr lang="en-US" sz="2000" dirty="0" err="1"/>
              <a:t>Lieferkette</a:t>
            </a:r>
            <a:r>
              <a:rPr lang="en-US" sz="2000" dirty="0"/>
              <a:t> live </a:t>
            </a:r>
            <a:r>
              <a:rPr lang="en-US" sz="2000" dirty="0" err="1"/>
              <a:t>miterlebt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Begeisterung</a:t>
            </a:r>
            <a:r>
              <a:rPr lang="en-US" sz="2000" dirty="0"/>
              <a:t> </a:t>
            </a:r>
            <a:r>
              <a:rPr lang="en-US" sz="2000" dirty="0" err="1"/>
              <a:t>für</a:t>
            </a:r>
            <a:r>
              <a:rPr lang="en-US" sz="2000" dirty="0"/>
              <a:t> den SCM </a:t>
            </a:r>
            <a:r>
              <a:rPr lang="en-US" sz="2000" dirty="0" err="1"/>
              <a:t>Bereich</a:t>
            </a:r>
            <a:r>
              <a:rPr lang="en-US" sz="2000" dirty="0"/>
              <a:t> </a:t>
            </a:r>
            <a:r>
              <a:rPr lang="en-US" sz="2000" dirty="0" err="1"/>
              <a:t>entwickelt</a:t>
            </a:r>
            <a:endParaRPr lang="en-US" sz="2000" dirty="0"/>
          </a:p>
        </p:txBody>
      </p:sp>
      <p:sp>
        <p:nvSpPr>
          <p:cNvPr id="562" name="TextBox 561">
            <a:extLst>
              <a:ext uri="{FF2B5EF4-FFF2-40B4-BE49-F238E27FC236}">
                <a16:creationId xmlns:a16="http://schemas.microsoft.com/office/drawing/2014/main" id="{A64A4B5E-513C-EB4E-89AA-015E16D692D7}"/>
              </a:ext>
            </a:extLst>
          </p:cNvPr>
          <p:cNvSpPr txBox="1"/>
          <p:nvPr/>
        </p:nvSpPr>
        <p:spPr>
          <a:xfrm>
            <a:off x="837485" y="4318640"/>
            <a:ext cx="806682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Supply Chain Management – Order Management (</a:t>
            </a:r>
            <a:r>
              <a:rPr lang="en-US" sz="2000" b="1" dirty="0" err="1"/>
              <a:t>Französischsprachig</a:t>
            </a:r>
            <a:r>
              <a:rPr lang="en-US" sz="2000" b="1" dirty="0"/>
              <a:t>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Behandlung</a:t>
            </a:r>
            <a:r>
              <a:rPr lang="en-US" sz="2000" dirty="0"/>
              <a:t> von </a:t>
            </a:r>
            <a:r>
              <a:rPr lang="en-US" sz="2000" dirty="0" err="1"/>
              <a:t>Problemen</a:t>
            </a:r>
            <a:r>
              <a:rPr lang="en-US" sz="2000" dirty="0"/>
              <a:t> </a:t>
            </a:r>
            <a:r>
              <a:rPr lang="en-US" sz="2000" dirty="0" err="1"/>
              <a:t>mit</a:t>
            </a:r>
            <a:r>
              <a:rPr lang="en-US" sz="2000" dirty="0"/>
              <a:t> </a:t>
            </a:r>
            <a:r>
              <a:rPr lang="en-US" sz="2000" dirty="0" err="1"/>
              <a:t>Zustellungen</a:t>
            </a:r>
            <a:r>
              <a:rPr lang="en-US" sz="2000" dirty="0"/>
              <a:t> und </a:t>
            </a:r>
            <a:r>
              <a:rPr lang="en-US" sz="2000" dirty="0" err="1"/>
              <a:t>organisiere</a:t>
            </a:r>
            <a:r>
              <a:rPr lang="en-US" sz="2000" dirty="0"/>
              <a:t> </a:t>
            </a:r>
            <a:r>
              <a:rPr lang="en-US" sz="2000" dirty="0" err="1"/>
              <a:t>Abholungen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Zuständig</a:t>
            </a:r>
            <a:r>
              <a:rPr lang="en-US" sz="2000" dirty="0"/>
              <a:t> </a:t>
            </a:r>
            <a:r>
              <a:rPr lang="en-US" sz="2000" dirty="0" err="1"/>
              <a:t>für</a:t>
            </a:r>
            <a:r>
              <a:rPr lang="en-US" sz="2000" dirty="0"/>
              <a:t> das Training </a:t>
            </a:r>
            <a:r>
              <a:rPr lang="en-US" sz="2000" dirty="0" err="1"/>
              <a:t>neuer</a:t>
            </a:r>
            <a:r>
              <a:rPr lang="en-US" sz="2000" dirty="0"/>
              <a:t> </a:t>
            </a:r>
            <a:r>
              <a:rPr lang="en-US" sz="2000" dirty="0" err="1"/>
              <a:t>Praktikanten</a:t>
            </a:r>
            <a:r>
              <a:rPr lang="en-US" sz="2000" dirty="0"/>
              <a:t> und Mitarbeiter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Spannend</a:t>
            </a:r>
            <a:r>
              <a:rPr lang="en-US" sz="2000" dirty="0"/>
              <a:t>, da es </a:t>
            </a:r>
            <a:r>
              <a:rPr lang="en-US" sz="2000" dirty="0" err="1"/>
              <a:t>Kundennähe</a:t>
            </a:r>
            <a:r>
              <a:rPr lang="en-US" sz="2000" dirty="0"/>
              <a:t> </a:t>
            </a:r>
            <a:r>
              <a:rPr lang="en-US" sz="2000" dirty="0" err="1"/>
              <a:t>mit</a:t>
            </a:r>
            <a:r>
              <a:rPr lang="en-US" sz="2000" dirty="0"/>
              <a:t> </a:t>
            </a:r>
            <a:r>
              <a:rPr lang="en-US" sz="2000" dirty="0" err="1"/>
              <a:t>analytischen</a:t>
            </a:r>
            <a:r>
              <a:rPr lang="en-US" sz="2000" dirty="0"/>
              <a:t> </a:t>
            </a:r>
            <a:r>
              <a:rPr lang="en-US" sz="2000" dirty="0" err="1"/>
              <a:t>Tätigkeiten</a:t>
            </a:r>
            <a:r>
              <a:rPr lang="en-US" sz="2000" dirty="0"/>
              <a:t> und </a:t>
            </a:r>
            <a:r>
              <a:rPr lang="en-US" sz="2000" dirty="0" err="1"/>
              <a:t>Problemlösung</a:t>
            </a:r>
            <a:r>
              <a:rPr lang="en-US" sz="2000" dirty="0"/>
              <a:t> </a:t>
            </a:r>
            <a:r>
              <a:rPr lang="en-US" sz="2000" dirty="0" err="1"/>
              <a:t>kombiniert</a:t>
            </a:r>
            <a:r>
              <a:rPr lang="en-US" sz="2000" dirty="0"/>
              <a:t> </a:t>
            </a:r>
          </a:p>
        </p:txBody>
      </p:sp>
      <p:pic>
        <p:nvPicPr>
          <p:cNvPr id="3" name="Picture 2" descr="A picture containing cable, connector&#10;&#10;Description automatically generated">
            <a:extLst>
              <a:ext uri="{FF2B5EF4-FFF2-40B4-BE49-F238E27FC236}">
                <a16:creationId xmlns:a16="http://schemas.microsoft.com/office/drawing/2014/main" id="{8F152A54-3740-E942-B6E0-667EA24340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357807">
            <a:off x="9613851" y="1588759"/>
            <a:ext cx="1309656" cy="1309656"/>
          </a:xfrm>
          <a:prstGeom prst="rect">
            <a:avLst/>
          </a:prstGeom>
        </p:spPr>
      </p:pic>
      <p:pic>
        <p:nvPicPr>
          <p:cNvPr id="6" name="Picture 5" descr="Icon&#10;&#10;Description automatically generated">
            <a:extLst>
              <a:ext uri="{FF2B5EF4-FFF2-40B4-BE49-F238E27FC236}">
                <a16:creationId xmlns:a16="http://schemas.microsoft.com/office/drawing/2014/main" id="{62D38524-042A-DA4C-9112-753D69AD5D2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28569" b="29298"/>
          <a:stretch/>
        </p:blipFill>
        <p:spPr>
          <a:xfrm>
            <a:off x="837484" y="3879023"/>
            <a:ext cx="1947703" cy="43551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F360B1E-BD69-8440-8301-CE9D3708EA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74927" y="4653136"/>
            <a:ext cx="1587500" cy="127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18C915B-5366-4BE8-A496-5D469C1A8E55}"/>
              </a:ext>
            </a:extLst>
          </p:cNvPr>
          <p:cNvSpPr txBox="1"/>
          <p:nvPr/>
        </p:nvSpPr>
        <p:spPr>
          <a:xfrm>
            <a:off x="432000" y="234306"/>
            <a:ext cx="2800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/>
              <a:t>Werdegang</a:t>
            </a:r>
            <a:endParaRPr lang="en-US" sz="14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32F449-FF98-45CC-96A0-9E4B1FC5E054}"/>
              </a:ext>
            </a:extLst>
          </p:cNvPr>
          <p:cNvSpPr txBox="1"/>
          <p:nvPr/>
        </p:nvSpPr>
        <p:spPr>
          <a:xfrm>
            <a:off x="432000" y="432000"/>
            <a:ext cx="113526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</a:rPr>
              <a:t>Spezifische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</a:rPr>
              <a:t>Begeisterung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</a:rPr>
              <a:t>für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 SCM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</a:rPr>
              <a:t>durch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</a:rPr>
              <a:t>vorherige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</a:rPr>
              <a:t>Praktika</a:t>
            </a:r>
            <a:endParaRPr lang="en-US" sz="32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1945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38167EEF-9BDC-7C4D-BE24-E1F65659B1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1153" y="3304408"/>
            <a:ext cx="976481" cy="971599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FEDFB549-1E67-D14C-8E8B-1A949BCC5B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76520" y="4937964"/>
            <a:ext cx="931114" cy="132642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5CA4CD2-5583-E24B-96D3-9B218B101BC4}"/>
              </a:ext>
            </a:extLst>
          </p:cNvPr>
          <p:cNvSpPr txBox="1"/>
          <p:nvPr/>
        </p:nvSpPr>
        <p:spPr>
          <a:xfrm>
            <a:off x="839787" y="1285246"/>
            <a:ext cx="1117241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Die Situation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Das in </a:t>
            </a:r>
            <a:r>
              <a:rPr lang="en-US" sz="2000" dirty="0" err="1"/>
              <a:t>Frankreich</a:t>
            </a:r>
            <a:r>
              <a:rPr lang="en-US" sz="2000" dirty="0"/>
              <a:t> </a:t>
            </a:r>
            <a:r>
              <a:rPr lang="en-US" sz="2000" dirty="0" err="1"/>
              <a:t>geplante</a:t>
            </a:r>
            <a:r>
              <a:rPr lang="en-US" sz="2000" dirty="0"/>
              <a:t> </a:t>
            </a:r>
            <a:r>
              <a:rPr lang="en-US" sz="2000" dirty="0" err="1"/>
              <a:t>Auslandsjahr</a:t>
            </a:r>
            <a:r>
              <a:rPr lang="en-US" sz="2000" dirty="0"/>
              <a:t> </a:t>
            </a:r>
            <a:r>
              <a:rPr lang="en-US" sz="2000" dirty="0" err="1"/>
              <a:t>wurde</a:t>
            </a:r>
            <a:r>
              <a:rPr lang="en-US" sz="2000" dirty="0"/>
              <a:t> </a:t>
            </a:r>
            <a:r>
              <a:rPr lang="en-US" sz="2000" dirty="0" err="1"/>
              <a:t>wegen</a:t>
            </a:r>
            <a:r>
              <a:rPr lang="en-US" sz="2000" dirty="0"/>
              <a:t> Corona </a:t>
            </a:r>
            <a:r>
              <a:rPr lang="en-US" sz="2000" dirty="0" err="1"/>
              <a:t>abgesagt</a:t>
            </a: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Gezwungen</a:t>
            </a:r>
            <a:r>
              <a:rPr lang="en-US" sz="2000" dirty="0"/>
              <a:t> </a:t>
            </a:r>
            <a:r>
              <a:rPr lang="en-US" sz="2000" dirty="0" err="1"/>
              <a:t>unter</a:t>
            </a:r>
            <a:r>
              <a:rPr lang="en-US" sz="2000" dirty="0"/>
              <a:t> </a:t>
            </a:r>
            <a:r>
              <a:rPr lang="en-US" sz="2000" dirty="0" err="1"/>
              <a:t>Druck</a:t>
            </a:r>
            <a:r>
              <a:rPr lang="en-US" sz="2000" dirty="0"/>
              <a:t> </a:t>
            </a:r>
            <a:r>
              <a:rPr lang="en-US" sz="2000" dirty="0" err="1"/>
              <a:t>eine</a:t>
            </a:r>
            <a:r>
              <a:rPr lang="en-US" sz="2000" dirty="0"/>
              <a:t> </a:t>
            </a:r>
            <a:r>
              <a:rPr lang="en-US" sz="2000" dirty="0" err="1"/>
              <a:t>Entscheidung</a:t>
            </a:r>
            <a:r>
              <a:rPr lang="en-US" sz="2000" dirty="0"/>
              <a:t> </a:t>
            </a:r>
            <a:r>
              <a:rPr lang="en-US" sz="2000" dirty="0" err="1"/>
              <a:t>zu</a:t>
            </a:r>
            <a:r>
              <a:rPr lang="en-US" sz="2000" dirty="0"/>
              <a:t> </a:t>
            </a:r>
            <a:r>
              <a:rPr lang="en-US" sz="2000" dirty="0" err="1"/>
              <a:t>treffen</a:t>
            </a:r>
            <a:r>
              <a:rPr lang="en-US" sz="2000" dirty="0"/>
              <a:t>, </a:t>
            </a:r>
            <a:r>
              <a:rPr lang="en-US" sz="2000" dirty="0" err="1"/>
              <a:t>wobei</a:t>
            </a:r>
            <a:r>
              <a:rPr lang="en-US" sz="2000" dirty="0"/>
              <a:t> es </a:t>
            </a:r>
            <a:r>
              <a:rPr lang="en-US" sz="2000" dirty="0" err="1"/>
              <a:t>viele</a:t>
            </a:r>
            <a:r>
              <a:rPr lang="en-US" sz="2000" dirty="0"/>
              <a:t> </a:t>
            </a:r>
            <a:r>
              <a:rPr lang="en-US" sz="2000" dirty="0" err="1"/>
              <a:t>Einschränkungen</a:t>
            </a:r>
            <a:r>
              <a:rPr lang="en-US" sz="2000" dirty="0"/>
              <a:t> gab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Durch</a:t>
            </a:r>
            <a:r>
              <a:rPr lang="en-US" sz="2000" dirty="0"/>
              <a:t> </a:t>
            </a:r>
            <a:r>
              <a:rPr lang="en-US" sz="2000" dirty="0" err="1"/>
              <a:t>analytisches</a:t>
            </a:r>
            <a:r>
              <a:rPr lang="en-US" sz="2000" dirty="0"/>
              <a:t> </a:t>
            </a:r>
            <a:r>
              <a:rPr lang="en-US" sz="2000" dirty="0" err="1"/>
              <a:t>Herangehen</a:t>
            </a:r>
            <a:r>
              <a:rPr lang="en-US" sz="2000" dirty="0"/>
              <a:t> und </a:t>
            </a:r>
            <a:r>
              <a:rPr lang="en-US" sz="2000" dirty="0" err="1"/>
              <a:t>Betrachten</a:t>
            </a:r>
            <a:r>
              <a:rPr lang="en-US" sz="2000" dirty="0"/>
              <a:t> </a:t>
            </a:r>
            <a:r>
              <a:rPr lang="en-US" sz="2000" dirty="0" err="1"/>
              <a:t>meiner</a:t>
            </a:r>
            <a:r>
              <a:rPr lang="en-US" sz="2000" dirty="0"/>
              <a:t> </a:t>
            </a:r>
            <a:r>
              <a:rPr lang="en-US" sz="2000" dirty="0" err="1"/>
              <a:t>Möglichkeiten</a:t>
            </a:r>
            <a:r>
              <a:rPr lang="en-US" sz="2000" dirty="0"/>
              <a:t> bin ich dem </a:t>
            </a:r>
            <a:r>
              <a:rPr lang="en-US" sz="2000" dirty="0" err="1"/>
              <a:t>Druck</a:t>
            </a:r>
            <a:r>
              <a:rPr lang="en-US" sz="2000" dirty="0"/>
              <a:t> </a:t>
            </a:r>
            <a:r>
              <a:rPr lang="en-US" sz="2000" dirty="0" err="1"/>
              <a:t>standgehalten</a:t>
            </a:r>
            <a:endParaRPr lang="en-US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C6F83C-1AE0-3A44-8BCC-EBFCCD8C0FB1}"/>
              </a:ext>
            </a:extLst>
          </p:cNvPr>
          <p:cNvSpPr txBox="1"/>
          <p:nvPr/>
        </p:nvSpPr>
        <p:spPr>
          <a:xfrm>
            <a:off x="839787" y="3128488"/>
            <a:ext cx="914464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Semester 1 – Universität </a:t>
            </a:r>
            <a:r>
              <a:rPr lang="en-US" sz="2000" b="1" dirty="0" err="1"/>
              <a:t>zu</a:t>
            </a:r>
            <a:r>
              <a:rPr lang="en-US" sz="2000" b="1" dirty="0"/>
              <a:t> Köln (Online Semester)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Möglichkeit</a:t>
            </a:r>
            <a:r>
              <a:rPr lang="en-US" sz="2000" dirty="0"/>
              <a:t> </a:t>
            </a:r>
            <a:r>
              <a:rPr lang="en-US" sz="2000" dirty="0" err="1"/>
              <a:t>mich</a:t>
            </a:r>
            <a:r>
              <a:rPr lang="en-US" sz="2000" dirty="0"/>
              <a:t> </a:t>
            </a:r>
            <a:r>
              <a:rPr lang="en-US" sz="2000" dirty="0" err="1"/>
              <a:t>akademisch</a:t>
            </a:r>
            <a:r>
              <a:rPr lang="en-US" sz="2000" dirty="0"/>
              <a:t>, </a:t>
            </a:r>
            <a:r>
              <a:rPr lang="en-US" sz="2000" dirty="0" err="1"/>
              <a:t>besonders</a:t>
            </a:r>
            <a:r>
              <a:rPr lang="en-US" sz="2000" dirty="0"/>
              <a:t> in dem SCM </a:t>
            </a:r>
            <a:r>
              <a:rPr lang="en-US" sz="2000" dirty="0" err="1"/>
              <a:t>Bereich</a:t>
            </a:r>
            <a:r>
              <a:rPr lang="en-US" sz="2000" dirty="0"/>
              <a:t>, </a:t>
            </a:r>
            <a:r>
              <a:rPr lang="en-US" sz="2000" dirty="0" err="1"/>
              <a:t>zu</a:t>
            </a:r>
            <a:r>
              <a:rPr lang="en-US" sz="2000" dirty="0"/>
              <a:t> </a:t>
            </a:r>
            <a:r>
              <a:rPr lang="en-US" sz="2000" dirty="0" err="1"/>
              <a:t>entwickeln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54 ECTS </a:t>
            </a:r>
            <a:r>
              <a:rPr lang="en-US" sz="2000" dirty="0" err="1"/>
              <a:t>mit</a:t>
            </a:r>
            <a:r>
              <a:rPr lang="en-US" sz="2000" dirty="0"/>
              <a:t> </a:t>
            </a:r>
            <a:r>
              <a:rPr lang="en-US" sz="2000" dirty="0" err="1"/>
              <a:t>Schwerpunkt</a:t>
            </a:r>
            <a:r>
              <a:rPr lang="en-US" sz="2000" dirty="0"/>
              <a:t> Supply Chain Management, und </a:t>
            </a:r>
            <a:r>
              <a:rPr lang="en-US" sz="2000" dirty="0" err="1"/>
              <a:t>Modulen</a:t>
            </a:r>
            <a:r>
              <a:rPr lang="en-US" sz="2000" dirty="0"/>
              <a:t> in Operations Research, Design Thinking und Decision Analysis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5FEE5B-42E8-2A49-BA39-31EAC94E43A3}"/>
              </a:ext>
            </a:extLst>
          </p:cNvPr>
          <p:cNvSpPr txBox="1"/>
          <p:nvPr/>
        </p:nvSpPr>
        <p:spPr>
          <a:xfrm>
            <a:off x="839787" y="4971731"/>
            <a:ext cx="1008074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Semester 2 – Grenoble Ecole de Management (Online Semester)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Risiko</a:t>
            </a:r>
            <a:r>
              <a:rPr lang="en-US" sz="2000" dirty="0"/>
              <a:t> </a:t>
            </a:r>
            <a:r>
              <a:rPr lang="en-US" sz="2000" dirty="0" err="1"/>
              <a:t>minimiert</a:t>
            </a:r>
            <a:r>
              <a:rPr lang="en-US" sz="2000" dirty="0"/>
              <a:t> </a:t>
            </a:r>
            <a:r>
              <a:rPr lang="en-US" sz="2000" dirty="0" err="1"/>
              <a:t>durch</a:t>
            </a:r>
            <a:r>
              <a:rPr lang="en-US" sz="2000" dirty="0"/>
              <a:t> Philips </a:t>
            </a:r>
            <a:r>
              <a:rPr lang="en-US" sz="2000" dirty="0" err="1"/>
              <a:t>Praktikum</a:t>
            </a: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Viel</a:t>
            </a:r>
            <a:r>
              <a:rPr lang="en-US" sz="2000" dirty="0"/>
              <a:t> </a:t>
            </a:r>
            <a:r>
              <a:rPr lang="en-US" sz="2000" dirty="0" err="1"/>
              <a:t>Gruppenarbeit</a:t>
            </a:r>
            <a:r>
              <a:rPr lang="en-US" sz="2000" dirty="0"/>
              <a:t>, </a:t>
            </a:r>
            <a:r>
              <a:rPr lang="en-US" sz="2000" dirty="0" err="1"/>
              <a:t>u.a.</a:t>
            </a:r>
            <a:r>
              <a:rPr lang="en-US" sz="2000" dirty="0"/>
              <a:t> Capstone Modul, in dem ich </a:t>
            </a:r>
            <a:r>
              <a:rPr lang="en-US" sz="2000" dirty="0" err="1"/>
              <a:t>für</a:t>
            </a:r>
            <a:r>
              <a:rPr lang="en-US" sz="2000" dirty="0"/>
              <a:t> den </a:t>
            </a:r>
            <a:r>
              <a:rPr lang="en-US" sz="2000" dirty="0" err="1"/>
              <a:t>Operationsteil</a:t>
            </a:r>
            <a:r>
              <a:rPr lang="en-US" sz="2000" dirty="0"/>
              <a:t> </a:t>
            </a:r>
            <a:r>
              <a:rPr lang="en-US" sz="2000" dirty="0" err="1"/>
              <a:t>zuständig</a:t>
            </a:r>
            <a:r>
              <a:rPr lang="en-US" sz="2000" dirty="0"/>
              <a:t> bin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68C960-1B55-46A6-8E7A-378FFDA8C6F7}"/>
              </a:ext>
            </a:extLst>
          </p:cNvPr>
          <p:cNvSpPr txBox="1"/>
          <p:nvPr/>
        </p:nvSpPr>
        <p:spPr>
          <a:xfrm>
            <a:off x="432000" y="234306"/>
            <a:ext cx="2800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/>
              <a:t>Werdegang</a:t>
            </a:r>
            <a:endParaRPr lang="en-US" sz="14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679447-51A3-4DAF-8FEE-AF10FACDED1C}"/>
              </a:ext>
            </a:extLst>
          </p:cNvPr>
          <p:cNvSpPr txBox="1"/>
          <p:nvPr/>
        </p:nvSpPr>
        <p:spPr>
          <a:xfrm>
            <a:off x="432000" y="432000"/>
            <a:ext cx="113526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Mein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</a:rPr>
              <a:t>Auslandsjahr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</a:rPr>
              <a:t>stellte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</a:rPr>
              <a:t>mich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</a:rPr>
              <a:t>vor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</a:rPr>
              <a:t>Herausforderungen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 …</a:t>
            </a:r>
          </a:p>
        </p:txBody>
      </p:sp>
    </p:spTree>
    <p:extLst>
      <p:ext uri="{BB962C8B-B14F-4D97-AF65-F5344CB8AC3E}">
        <p14:creationId xmlns:p14="http://schemas.microsoft.com/office/powerpoint/2010/main" val="30558362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ack and white drawing of a person's head&#10;&#10;Description automatically generated with low confidence">
            <a:extLst>
              <a:ext uri="{FF2B5EF4-FFF2-40B4-BE49-F238E27FC236}">
                <a16:creationId xmlns:a16="http://schemas.microsoft.com/office/drawing/2014/main" id="{D8CFA53C-59B6-1D45-A40A-5D8AF5EEF3F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761" t="20399" r="25275" b="19056"/>
          <a:stretch/>
        </p:blipFill>
        <p:spPr>
          <a:xfrm>
            <a:off x="903415" y="1965600"/>
            <a:ext cx="657583" cy="766179"/>
          </a:xfrm>
          <a:prstGeom prst="rect">
            <a:avLst/>
          </a:prstGeom>
        </p:spPr>
      </p:pic>
      <p:pic>
        <p:nvPicPr>
          <p:cNvPr id="12" name="Picture 11" descr="Shape&#10;&#10;Description automatically generated with low confidence">
            <a:extLst>
              <a:ext uri="{FF2B5EF4-FFF2-40B4-BE49-F238E27FC236}">
                <a16:creationId xmlns:a16="http://schemas.microsoft.com/office/drawing/2014/main" id="{80C3CE52-A81D-5D43-A35D-DB7F24FCEA1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562" t="5867" r="9327" b="3780"/>
          <a:stretch/>
        </p:blipFill>
        <p:spPr>
          <a:xfrm>
            <a:off x="884064" y="3563114"/>
            <a:ext cx="696284" cy="766178"/>
          </a:xfrm>
          <a:prstGeom prst="rect">
            <a:avLst/>
          </a:prstGeom>
        </p:spPr>
      </p:pic>
      <p:pic>
        <p:nvPicPr>
          <p:cNvPr id="13" name="Picture 12" descr="A picture containing text&#10;&#10;Description automatically generated">
            <a:extLst>
              <a:ext uri="{FF2B5EF4-FFF2-40B4-BE49-F238E27FC236}">
                <a16:creationId xmlns:a16="http://schemas.microsoft.com/office/drawing/2014/main" id="{C7D97FB3-D1CB-7F42-BD4A-24CD33C5A99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2826" t="4670" r="13629" b="14427"/>
          <a:stretch/>
        </p:blipFill>
        <p:spPr>
          <a:xfrm>
            <a:off x="848442" y="5160626"/>
            <a:ext cx="767529" cy="911851"/>
          </a:xfrm>
          <a:prstGeom prst="rect">
            <a:avLst/>
          </a:prstGeom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425B64CC-F088-F541-8934-CCAE9CD1B793}"/>
              </a:ext>
            </a:extLst>
          </p:cNvPr>
          <p:cNvSpPr txBox="1">
            <a:spLocks/>
          </p:cNvSpPr>
          <p:nvPr/>
        </p:nvSpPr>
        <p:spPr>
          <a:xfrm>
            <a:off x="1719342" y="3623293"/>
            <a:ext cx="3656578" cy="6458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dirty="0" err="1"/>
              <a:t>Hohe</a:t>
            </a:r>
            <a:r>
              <a:rPr lang="en-US" sz="2000" dirty="0"/>
              <a:t> Motivation und </a:t>
            </a:r>
            <a:r>
              <a:rPr lang="en-US" sz="2000" dirty="0" err="1"/>
              <a:t>Arbeitsbereitschaft</a:t>
            </a:r>
            <a:endParaRPr lang="en-US" sz="2000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B516AEE-D744-814C-ABAD-4807773444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9342" y="2150689"/>
            <a:ext cx="4510464" cy="396000"/>
          </a:xfrm>
        </p:spPr>
        <p:txBody>
          <a:bodyPr anchor="t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dirty="0"/>
              <a:t>Ich </a:t>
            </a:r>
            <a:r>
              <a:rPr lang="en-US" sz="2000" dirty="0" err="1"/>
              <a:t>ergreife</a:t>
            </a:r>
            <a:r>
              <a:rPr lang="en-US" sz="2000" dirty="0"/>
              <a:t> gerne die Initiative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9D2995A-021F-BC44-8B93-E0A56ADB43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5122" y="1965600"/>
            <a:ext cx="683482" cy="70398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2EFEFB3-E8E1-844D-8DF0-60FF9AF5E5E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3944" y="3613284"/>
            <a:ext cx="665839" cy="665839"/>
          </a:xfrm>
          <a:prstGeom prst="rect">
            <a:avLst/>
          </a:prstGeom>
        </p:spPr>
      </p:pic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AB68AF3-1054-5A40-A4D7-F473F8C80E68}"/>
              </a:ext>
            </a:extLst>
          </p:cNvPr>
          <p:cNvSpPr txBox="1">
            <a:spLocks/>
          </p:cNvSpPr>
          <p:nvPr/>
        </p:nvSpPr>
        <p:spPr>
          <a:xfrm>
            <a:off x="1719342" y="5252349"/>
            <a:ext cx="4361225" cy="728405"/>
          </a:xfrm>
          <a:prstGeom prst="rect">
            <a:avLst/>
          </a:prstGeom>
          <a:ln w="12700">
            <a:noFill/>
          </a:ln>
        </p:spPr>
        <p:txBody>
          <a:bodyPr vert="horz" lIns="91440" tIns="72000" rIns="91440" bIns="7200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hangingPunc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dirty="0" err="1"/>
              <a:t>Begeisterungsfähigkeit</a:t>
            </a:r>
            <a:r>
              <a:rPr lang="en-US" sz="2000" dirty="0"/>
              <a:t> und </a:t>
            </a:r>
            <a:r>
              <a:rPr lang="en-US" sz="2000" dirty="0" err="1"/>
              <a:t>Auffassungsgabe</a:t>
            </a:r>
            <a:endParaRPr lang="en-US" sz="2000" dirty="0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52994E27-8836-1A41-B5BC-7922EFC17F1A}"/>
              </a:ext>
            </a:extLst>
          </p:cNvPr>
          <p:cNvSpPr txBox="1">
            <a:spLocks/>
          </p:cNvSpPr>
          <p:nvPr/>
        </p:nvSpPr>
        <p:spPr>
          <a:xfrm>
            <a:off x="7243042" y="2119593"/>
            <a:ext cx="3508168" cy="396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dirty="0"/>
              <a:t>Tendenz </a:t>
            </a:r>
            <a:r>
              <a:rPr lang="en-US" sz="2000" dirty="0" err="1"/>
              <a:t>zu</a:t>
            </a:r>
            <a:r>
              <a:rPr lang="en-US" sz="2000" dirty="0"/>
              <a:t> </a:t>
            </a:r>
            <a:r>
              <a:rPr lang="en-US" sz="2000" dirty="0" err="1"/>
              <a:t>viel</a:t>
            </a:r>
            <a:r>
              <a:rPr lang="en-US" sz="2000" dirty="0"/>
              <a:t> </a:t>
            </a:r>
            <a:r>
              <a:rPr lang="en-US" sz="2000" dirty="0" err="1"/>
              <a:t>nachzudenken</a:t>
            </a:r>
            <a:endParaRPr lang="en-US" sz="2000" dirty="0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5ED72271-99E3-E14A-BBD8-E2B05725ED6D}"/>
              </a:ext>
            </a:extLst>
          </p:cNvPr>
          <p:cNvSpPr txBox="1">
            <a:spLocks/>
          </p:cNvSpPr>
          <p:nvPr/>
        </p:nvSpPr>
        <p:spPr>
          <a:xfrm>
            <a:off x="7308126" y="3748203"/>
            <a:ext cx="3696034" cy="396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n-US" sz="2000" dirty="0"/>
              <a:t>Bei </a:t>
            </a:r>
            <a:r>
              <a:rPr lang="en-US" sz="2000" dirty="0" err="1"/>
              <a:t>Nervosität</a:t>
            </a:r>
            <a:r>
              <a:rPr lang="en-US" sz="2000" dirty="0"/>
              <a:t> rede ich oft </a:t>
            </a:r>
            <a:r>
              <a:rPr lang="en-US" sz="2000" dirty="0" err="1"/>
              <a:t>zu</a:t>
            </a:r>
            <a:r>
              <a:rPr lang="en-US" sz="2000" dirty="0"/>
              <a:t> </a:t>
            </a:r>
            <a:r>
              <a:rPr lang="en-US" sz="2000" dirty="0" err="1"/>
              <a:t>viel</a:t>
            </a:r>
            <a:endParaRPr lang="en-US" sz="2000" dirty="0"/>
          </a:p>
        </p:txBody>
      </p:sp>
      <p:pic>
        <p:nvPicPr>
          <p:cNvPr id="25" name="Picture 24" descr="A picture containing text, tableware, dishware&#10;&#10;Description automatically generated">
            <a:extLst>
              <a:ext uri="{FF2B5EF4-FFF2-40B4-BE49-F238E27FC236}">
                <a16:creationId xmlns:a16="http://schemas.microsoft.com/office/drawing/2014/main" id="{C6F90CEB-0792-FE4F-9B27-019C1FDFA81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0" y="5283632"/>
            <a:ext cx="1081726" cy="665839"/>
          </a:xfrm>
          <a:prstGeom prst="rect">
            <a:avLst/>
          </a:prstGeom>
        </p:spPr>
      </p:pic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C780A69A-59B3-DE41-A08E-0809989E3532}"/>
              </a:ext>
            </a:extLst>
          </p:cNvPr>
          <p:cNvSpPr txBox="1">
            <a:spLocks/>
          </p:cNvSpPr>
          <p:nvPr/>
        </p:nvSpPr>
        <p:spPr>
          <a:xfrm>
            <a:off x="7308126" y="5418551"/>
            <a:ext cx="3792206" cy="396000"/>
          </a:xfrm>
          <a:prstGeom prst="rect">
            <a:avLst/>
          </a:prstGeom>
          <a:ln w="12700">
            <a:noFill/>
          </a:ln>
        </p:spPr>
        <p:txBody>
          <a:bodyPr vert="horz" lIns="91440" tIns="72000" rIns="91440" bIns="7200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hangingPunc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dirty="0" err="1"/>
              <a:t>Schüchternheit</a:t>
            </a:r>
            <a:r>
              <a:rPr lang="en-US" sz="2000" dirty="0"/>
              <a:t> </a:t>
            </a:r>
            <a:r>
              <a:rPr lang="en-US" sz="2000" dirty="0" err="1"/>
              <a:t>bei</a:t>
            </a:r>
            <a:r>
              <a:rPr lang="en-US" sz="2000" dirty="0"/>
              <a:t> </a:t>
            </a:r>
            <a:r>
              <a:rPr lang="en-US" sz="2000" dirty="0" err="1"/>
              <a:t>neuen</a:t>
            </a:r>
            <a:r>
              <a:rPr lang="en-US" sz="2000" dirty="0"/>
              <a:t> </a:t>
            </a:r>
            <a:r>
              <a:rPr lang="en-US" sz="2000" dirty="0" err="1"/>
              <a:t>Leuten</a:t>
            </a:r>
            <a:r>
              <a:rPr lang="en-US" sz="2000" dirty="0"/>
              <a:t> </a:t>
            </a:r>
            <a:endParaRPr lang="en-US" sz="2000" b="1" i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6F599C-55B6-3648-B5BB-33C33353EBC7}"/>
              </a:ext>
            </a:extLst>
          </p:cNvPr>
          <p:cNvSpPr txBox="1"/>
          <p:nvPr/>
        </p:nvSpPr>
        <p:spPr>
          <a:xfrm>
            <a:off x="848442" y="1317425"/>
            <a:ext cx="30482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/>
              <a:t>Stärken</a:t>
            </a:r>
            <a:endParaRPr lang="en-US" sz="20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90AEE51-3E20-7545-82F7-23C0309BE7D4}"/>
              </a:ext>
            </a:extLst>
          </p:cNvPr>
          <p:cNvSpPr txBox="1"/>
          <p:nvPr/>
        </p:nvSpPr>
        <p:spPr>
          <a:xfrm>
            <a:off x="6096000" y="1306470"/>
            <a:ext cx="30482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/>
              <a:t>Schwächen</a:t>
            </a:r>
            <a:endParaRPr lang="en-US" sz="20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0A8BFBC-5D6F-4EC2-BF62-AB230C29A7F3}"/>
              </a:ext>
            </a:extLst>
          </p:cNvPr>
          <p:cNvSpPr txBox="1"/>
          <p:nvPr/>
        </p:nvSpPr>
        <p:spPr>
          <a:xfrm>
            <a:off x="432000" y="234306"/>
            <a:ext cx="2800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/>
              <a:t>Stärken</a:t>
            </a:r>
            <a:r>
              <a:rPr lang="en-US" sz="1400" b="1" dirty="0"/>
              <a:t> und </a:t>
            </a:r>
            <a:r>
              <a:rPr lang="en-US" sz="1400" b="1" dirty="0" err="1"/>
              <a:t>Schwächen</a:t>
            </a:r>
            <a:endParaRPr lang="en-US" sz="14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B5991CB-BE22-4D63-8C79-5A3F8F0F08B6}"/>
              </a:ext>
            </a:extLst>
          </p:cNvPr>
          <p:cNvSpPr txBox="1"/>
          <p:nvPr/>
        </p:nvSpPr>
        <p:spPr>
          <a:xfrm>
            <a:off x="432000" y="432000"/>
            <a:ext cx="113526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… in dem ich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</a:rPr>
              <a:t>auch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</a:rPr>
              <a:t>meine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</a:rPr>
              <a:t>Stärken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</a:rPr>
              <a:t>demonstrieren</a:t>
            </a:r>
            <a:endParaRPr lang="en-US" sz="28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5691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64BE19CE-ADDD-4641-9FF7-BA17178E19B3}"/>
              </a:ext>
            </a:extLst>
          </p:cNvPr>
          <p:cNvSpPr txBox="1"/>
          <p:nvPr/>
        </p:nvSpPr>
        <p:spPr>
          <a:xfrm>
            <a:off x="7554686" y="7837714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5D7E85-7C31-224B-ACC7-A57D1F3E1ED0}"/>
              </a:ext>
            </a:extLst>
          </p:cNvPr>
          <p:cNvSpPr txBox="1"/>
          <p:nvPr/>
        </p:nvSpPr>
        <p:spPr>
          <a:xfrm>
            <a:off x="6096000" y="3711949"/>
            <a:ext cx="576781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/>
              <a:t>Beratung</a:t>
            </a: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Verschiedene</a:t>
            </a:r>
            <a:r>
              <a:rPr lang="en-US" sz="2000" dirty="0"/>
              <a:t> </a:t>
            </a:r>
            <a:r>
              <a:rPr lang="en-US" sz="2000" dirty="0" err="1"/>
              <a:t>Industrien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 err="1"/>
              <a:t>Internationales</a:t>
            </a:r>
            <a:r>
              <a:rPr lang="en-GB" sz="2000" dirty="0"/>
              <a:t> </a:t>
            </a:r>
            <a:r>
              <a:rPr lang="en-GB" sz="2000" dirty="0" err="1"/>
              <a:t>Umfeld</a:t>
            </a:r>
            <a:r>
              <a:rPr lang="en-GB" sz="2000" dirty="0"/>
              <a:t> </a:t>
            </a:r>
            <a:r>
              <a:rPr lang="en-GB" sz="2000" dirty="0" err="1"/>
              <a:t>mit</a:t>
            </a:r>
            <a:r>
              <a:rPr lang="en-GB" sz="2000" dirty="0"/>
              <a:t> und </a:t>
            </a:r>
            <a:r>
              <a:rPr lang="en-GB" sz="2000" dirty="0" err="1"/>
              <a:t>zielstrebige</a:t>
            </a:r>
            <a:r>
              <a:rPr lang="en-GB" sz="2000" dirty="0"/>
              <a:t> </a:t>
            </a:r>
            <a:r>
              <a:rPr lang="en-GB" sz="2000" dirty="0" err="1"/>
              <a:t>Kollegen</a:t>
            </a: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 err="1"/>
              <a:t>Abwechslung</a:t>
            </a:r>
            <a:r>
              <a:rPr lang="en-GB" sz="2000" dirty="0"/>
              <a:t> </a:t>
            </a:r>
            <a:r>
              <a:rPr lang="en-GB" sz="2000" dirty="0" err="1"/>
              <a:t>im</a:t>
            </a:r>
            <a:r>
              <a:rPr lang="en-GB" sz="2000" dirty="0"/>
              <a:t> </a:t>
            </a:r>
            <a:r>
              <a:rPr lang="en-GB" sz="2000" dirty="0" err="1"/>
              <a:t>Berufsalltag</a:t>
            </a:r>
            <a:r>
              <a:rPr lang="en-GB" sz="2000" dirty="0"/>
              <a:t> und </a:t>
            </a:r>
            <a:r>
              <a:rPr lang="en-GB" sz="2000" dirty="0" err="1"/>
              <a:t>steile</a:t>
            </a:r>
            <a:r>
              <a:rPr lang="en-GB" sz="2000" dirty="0"/>
              <a:t> </a:t>
            </a:r>
            <a:r>
              <a:rPr lang="en-GB" sz="2000" dirty="0" err="1"/>
              <a:t>Lernkurve</a:t>
            </a: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 err="1"/>
              <a:t>Spaß</a:t>
            </a:r>
            <a:r>
              <a:rPr lang="en-GB" sz="2000" dirty="0"/>
              <a:t> an der </a:t>
            </a:r>
            <a:r>
              <a:rPr lang="en-GB" sz="2000" dirty="0" err="1"/>
              <a:t>Problemlösung</a:t>
            </a:r>
            <a:r>
              <a:rPr lang="en-GB" sz="2000" dirty="0"/>
              <a:t> und </a:t>
            </a:r>
            <a:r>
              <a:rPr lang="en-GB" sz="2000" dirty="0" err="1"/>
              <a:t>Analytische</a:t>
            </a:r>
            <a:r>
              <a:rPr lang="en-GB" sz="2000" dirty="0"/>
              <a:t> </a:t>
            </a:r>
            <a:r>
              <a:rPr lang="en-GB" sz="2000" dirty="0" err="1"/>
              <a:t>Fähigkeiten</a:t>
            </a: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 err="1"/>
              <a:t>Passende</a:t>
            </a:r>
            <a:r>
              <a:rPr lang="en-GB" sz="2000" dirty="0"/>
              <a:t> </a:t>
            </a:r>
            <a:r>
              <a:rPr lang="en-GB" sz="2000" dirty="0" err="1"/>
              <a:t>Stärken</a:t>
            </a:r>
            <a:endParaRPr lang="en-US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0247D8-44D3-2944-9E10-C7D1A5CCA507}"/>
              </a:ext>
            </a:extLst>
          </p:cNvPr>
          <p:cNvSpPr txBox="1"/>
          <p:nvPr/>
        </p:nvSpPr>
        <p:spPr>
          <a:xfrm>
            <a:off x="839787" y="1734508"/>
            <a:ext cx="53535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Value Chain Transformation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 err="1"/>
              <a:t>Kostensenkung</a:t>
            </a:r>
            <a:r>
              <a:rPr lang="en-GB" sz="2000" dirty="0"/>
              <a:t> und </a:t>
            </a:r>
            <a:r>
              <a:rPr lang="en-GB" sz="2000" dirty="0" err="1"/>
              <a:t>Prozessoptimierung</a:t>
            </a:r>
            <a:r>
              <a:rPr lang="en-GB" sz="2000" dirty="0"/>
              <a:t> </a:t>
            </a:r>
            <a:r>
              <a:rPr lang="en-GB" sz="2000" dirty="0" err="1"/>
              <a:t>mit</a:t>
            </a:r>
            <a:r>
              <a:rPr lang="en-GB" sz="2000" dirty="0"/>
              <a:t> </a:t>
            </a:r>
            <a:r>
              <a:rPr lang="en-GB" sz="2000" dirty="0" err="1"/>
              <a:t>Fokus</a:t>
            </a:r>
            <a:r>
              <a:rPr lang="en-GB" sz="2000" dirty="0"/>
              <a:t> auf </a:t>
            </a:r>
            <a:r>
              <a:rPr lang="en-GB" sz="2000" dirty="0" err="1"/>
              <a:t>Daten</a:t>
            </a:r>
            <a:r>
              <a:rPr lang="en-GB" sz="2000" dirty="0"/>
              <a:t> und die </a:t>
            </a:r>
            <a:r>
              <a:rPr lang="en-GB" sz="2000" dirty="0" err="1"/>
              <a:t>Digitale</a:t>
            </a:r>
            <a:r>
              <a:rPr lang="en-GB" sz="2000" dirty="0"/>
              <a:t> Supply Chain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 err="1"/>
              <a:t>Dynamisch</a:t>
            </a:r>
            <a:r>
              <a:rPr lang="en-GB" sz="2000" dirty="0"/>
              <a:t> und </a:t>
            </a:r>
            <a:r>
              <a:rPr lang="en-GB" sz="2000" b="1" dirty="0" err="1"/>
              <a:t>lösungsorientiert</a:t>
            </a:r>
            <a:r>
              <a:rPr lang="en-GB" sz="2000" b="1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 err="1"/>
              <a:t>Zukunftsorientierung</a:t>
            </a:r>
            <a:endParaRPr lang="en-GB" sz="2000" dirty="0"/>
          </a:p>
        </p:txBody>
      </p:sp>
      <p:pic>
        <p:nvPicPr>
          <p:cNvPr id="15" name="Picture 14" descr="Diagram&#10;&#10;Description automatically generated">
            <a:extLst>
              <a:ext uri="{FF2B5EF4-FFF2-40B4-BE49-F238E27FC236}">
                <a16:creationId xmlns:a16="http://schemas.microsoft.com/office/drawing/2014/main" id="{2F5C3E11-5159-4D4D-9DD4-6067E71445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1696" y="1611481"/>
            <a:ext cx="2652118" cy="1877271"/>
          </a:xfrm>
          <a:prstGeom prst="rect">
            <a:avLst/>
          </a:prstGeom>
        </p:spPr>
      </p:pic>
      <p:pic>
        <p:nvPicPr>
          <p:cNvPr id="18" name="Picture 17" descr="A picture containing wheel, transport, gear&#10;&#10;Description automatically generated">
            <a:extLst>
              <a:ext uri="{FF2B5EF4-FFF2-40B4-BE49-F238E27FC236}">
                <a16:creationId xmlns:a16="http://schemas.microsoft.com/office/drawing/2014/main" id="{0617CFC0-EA48-DB4B-B2C7-E00AE5C530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7087" y="3897021"/>
            <a:ext cx="3898900" cy="2184400"/>
          </a:xfrm>
          <a:prstGeom prst="rect">
            <a:avLst/>
          </a:prstGeom>
        </p:spPr>
      </p:pic>
      <p:pic>
        <p:nvPicPr>
          <p:cNvPr id="4" name="Picture 3" descr="A picture containing text&#10;&#10;Description automatically generated">
            <a:extLst>
              <a:ext uri="{FF2B5EF4-FFF2-40B4-BE49-F238E27FC236}">
                <a16:creationId xmlns:a16="http://schemas.microsoft.com/office/drawing/2014/main" id="{38324E36-385D-E749-BE7D-3A96A980CD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611481"/>
            <a:ext cx="2653386" cy="187727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5558F2B-5F6E-4DF0-86BE-4D138248FB45}"/>
              </a:ext>
            </a:extLst>
          </p:cNvPr>
          <p:cNvSpPr txBox="1"/>
          <p:nvPr/>
        </p:nvSpPr>
        <p:spPr>
          <a:xfrm>
            <a:off x="432000" y="234306"/>
            <a:ext cx="2800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/>
              <a:t>Warum</a:t>
            </a:r>
            <a:r>
              <a:rPr lang="en-US" sz="1400" b="1" dirty="0"/>
              <a:t> Value Chain </a:t>
            </a:r>
            <a:r>
              <a:rPr lang="en-US" sz="1400" b="1" dirty="0" err="1"/>
              <a:t>Beratung</a:t>
            </a:r>
            <a:r>
              <a:rPr lang="en-US" sz="1400" b="1" dirty="0"/>
              <a:t>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573FCE-9138-42CE-9A24-ACD7C4CEF0AD}"/>
              </a:ext>
            </a:extLst>
          </p:cNvPr>
          <p:cNvSpPr txBox="1"/>
          <p:nvPr/>
        </p:nvSpPr>
        <p:spPr>
          <a:xfrm>
            <a:off x="432000" y="432000"/>
            <a:ext cx="113526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Value Chain Transformation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</a:rPr>
              <a:t>ist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</a:rPr>
              <a:t>dynamisch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 und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</a:rPr>
              <a:t>pragmatisch</a:t>
            </a:r>
            <a:endParaRPr lang="en-US" sz="32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6198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64BE19CE-ADDD-4641-9FF7-BA17178E19B3}"/>
              </a:ext>
            </a:extLst>
          </p:cNvPr>
          <p:cNvSpPr txBox="1"/>
          <p:nvPr/>
        </p:nvSpPr>
        <p:spPr>
          <a:xfrm>
            <a:off x="7554686" y="7837714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5D7E85-7C31-224B-ACC7-A57D1F3E1ED0}"/>
              </a:ext>
            </a:extLst>
          </p:cNvPr>
          <p:cNvSpPr txBox="1"/>
          <p:nvPr/>
        </p:nvSpPr>
        <p:spPr>
          <a:xfrm>
            <a:off x="3863752" y="1484784"/>
            <a:ext cx="7920880" cy="4661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err="1"/>
              <a:t>Globales</a:t>
            </a:r>
            <a:r>
              <a:rPr lang="en-US" sz="2000" dirty="0"/>
              <a:t> </a:t>
            </a:r>
            <a:r>
              <a:rPr lang="en-US" sz="2000" dirty="0" err="1"/>
              <a:t>Unternehmensnetzwerk</a:t>
            </a:r>
            <a:r>
              <a:rPr lang="en-US" sz="2000" dirty="0"/>
              <a:t> </a:t>
            </a:r>
            <a:r>
              <a:rPr lang="en-US" sz="2000" dirty="0" err="1"/>
              <a:t>basierend</a:t>
            </a:r>
            <a:r>
              <a:rPr lang="en-US" sz="2000" dirty="0"/>
              <a:t> auf </a:t>
            </a:r>
            <a:r>
              <a:rPr lang="en-US" sz="2000" dirty="0" err="1"/>
              <a:t>Europäischen</a:t>
            </a:r>
            <a:r>
              <a:rPr lang="en-US" sz="2000" dirty="0"/>
              <a:t> </a:t>
            </a:r>
            <a:r>
              <a:rPr lang="en-US" sz="2000" dirty="0" err="1"/>
              <a:t>Wurzeln</a:t>
            </a:r>
            <a:r>
              <a:rPr lang="en-US" sz="2000" dirty="0"/>
              <a:t> (</a:t>
            </a:r>
            <a:r>
              <a:rPr lang="en-US" sz="2000" dirty="0" err="1"/>
              <a:t>tätig</a:t>
            </a:r>
            <a:r>
              <a:rPr lang="en-US" sz="2000" dirty="0"/>
              <a:t> in 146 </a:t>
            </a:r>
            <a:r>
              <a:rPr lang="en-US" sz="2000" dirty="0" err="1"/>
              <a:t>Ländern</a:t>
            </a:r>
            <a:r>
              <a:rPr lang="en-US" sz="2000" dirty="0"/>
              <a:t>)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Starker Consulting Zweig </a:t>
            </a:r>
            <a:r>
              <a:rPr lang="en-US" sz="2000" dirty="0" err="1"/>
              <a:t>mit</a:t>
            </a:r>
            <a:r>
              <a:rPr lang="en-US" sz="2000" dirty="0"/>
              <a:t> </a:t>
            </a:r>
            <a:r>
              <a:rPr lang="en-US" sz="2000" dirty="0" err="1"/>
              <a:t>Fokus</a:t>
            </a:r>
            <a:r>
              <a:rPr lang="en-US" sz="2000" dirty="0"/>
              <a:t> auf Operations (40% der </a:t>
            </a:r>
            <a:r>
              <a:rPr lang="en-US" sz="2000" dirty="0" err="1"/>
              <a:t>Einnahmen</a:t>
            </a:r>
            <a:r>
              <a:rPr lang="en-US" sz="2000" dirty="0"/>
              <a:t> in 2020)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err="1"/>
              <a:t>Dynamische</a:t>
            </a:r>
            <a:r>
              <a:rPr lang="en-US" sz="2000" b="1" dirty="0"/>
              <a:t> </a:t>
            </a:r>
            <a:r>
              <a:rPr lang="en-US" sz="2000" dirty="0"/>
              <a:t>und</a:t>
            </a:r>
            <a:r>
              <a:rPr lang="en-US" sz="2000" b="1" dirty="0"/>
              <a:t> </a:t>
            </a:r>
            <a:r>
              <a:rPr lang="en-US" sz="2000" b="1" dirty="0" err="1"/>
              <a:t>interdisziplinäre</a:t>
            </a:r>
            <a:r>
              <a:rPr lang="en-US" sz="2000" b="1" dirty="0"/>
              <a:t> </a:t>
            </a:r>
            <a:r>
              <a:rPr lang="en-US" sz="2000" dirty="0"/>
              <a:t>Teams – </a:t>
            </a:r>
            <a:r>
              <a:rPr lang="en-US" sz="2000" dirty="0" err="1"/>
              <a:t>verschiedene</a:t>
            </a:r>
            <a:r>
              <a:rPr lang="en-US" sz="2000" dirty="0"/>
              <a:t> </a:t>
            </a:r>
            <a:r>
              <a:rPr lang="en-US" sz="2000" dirty="0" err="1"/>
              <a:t>Blickwinkel</a:t>
            </a:r>
            <a:r>
              <a:rPr lang="en-US" sz="2000" dirty="0"/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Sehr </a:t>
            </a:r>
            <a:r>
              <a:rPr lang="en-US" sz="2000" b="1" dirty="0" err="1"/>
              <a:t>gute</a:t>
            </a:r>
            <a:r>
              <a:rPr lang="en-US" sz="2000" b="1" dirty="0"/>
              <a:t> </a:t>
            </a:r>
            <a:r>
              <a:rPr lang="en-US" sz="2000" b="1" dirty="0" err="1"/>
              <a:t>Unternehmenskultur</a:t>
            </a:r>
            <a:r>
              <a:rPr lang="en-US" sz="2000" b="1" dirty="0"/>
              <a:t> </a:t>
            </a:r>
            <a:r>
              <a:rPr lang="en-US" sz="2000" dirty="0" err="1"/>
              <a:t>durch</a:t>
            </a:r>
            <a:r>
              <a:rPr lang="en-US" sz="2000" dirty="0"/>
              <a:t> den </a:t>
            </a:r>
            <a:r>
              <a:rPr lang="en-US" sz="2000" dirty="0" err="1"/>
              <a:t>Fokus</a:t>
            </a:r>
            <a:r>
              <a:rPr lang="en-US" sz="2000" dirty="0"/>
              <a:t> auf </a:t>
            </a:r>
            <a:r>
              <a:rPr lang="en-US" sz="2000" dirty="0" err="1"/>
              <a:t>individuelle</a:t>
            </a:r>
            <a:r>
              <a:rPr lang="en-US" sz="2000" dirty="0"/>
              <a:t> Mitarbeiter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Positives Feedback </a:t>
            </a:r>
            <a:r>
              <a:rPr lang="en-US" sz="2000" dirty="0" err="1"/>
              <a:t>zu</a:t>
            </a:r>
            <a:r>
              <a:rPr lang="en-US" sz="2000" dirty="0"/>
              <a:t> der Stimmung </a:t>
            </a:r>
            <a:r>
              <a:rPr lang="en-US" sz="2000" dirty="0" err="1"/>
              <a:t>im</a:t>
            </a:r>
            <a:r>
              <a:rPr lang="en-US" sz="2000" dirty="0"/>
              <a:t> Team und das </a:t>
            </a:r>
            <a:r>
              <a:rPr lang="en-US" sz="2000" b="1" dirty="0" err="1"/>
              <a:t>Einbringen</a:t>
            </a:r>
            <a:r>
              <a:rPr lang="en-US" sz="2000" b="1" dirty="0"/>
              <a:t> von </a:t>
            </a:r>
            <a:r>
              <a:rPr lang="en-US" sz="2000" b="1" dirty="0" err="1"/>
              <a:t>Praktikanten</a:t>
            </a:r>
            <a:r>
              <a:rPr lang="en-US" sz="2000" b="1" dirty="0"/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err="1"/>
              <a:t>Verantwortung</a:t>
            </a:r>
            <a:r>
              <a:rPr lang="en-US" sz="2000" dirty="0"/>
              <a:t>, </a:t>
            </a:r>
            <a:r>
              <a:rPr lang="en-US" sz="2000" b="1" dirty="0" err="1"/>
              <a:t>steile</a:t>
            </a:r>
            <a:r>
              <a:rPr lang="en-US" sz="2000" b="1" dirty="0"/>
              <a:t> </a:t>
            </a:r>
            <a:r>
              <a:rPr lang="en-US" sz="2000" b="1" dirty="0" err="1"/>
              <a:t>Lernkurve</a:t>
            </a:r>
            <a:r>
              <a:rPr lang="en-US" sz="2000" dirty="0"/>
              <a:t>, und </a:t>
            </a:r>
            <a:r>
              <a:rPr lang="en-US" sz="2000" b="1" dirty="0" err="1"/>
              <a:t>Teamgeist</a:t>
            </a:r>
            <a:r>
              <a:rPr lang="en-US" sz="2000" b="1" dirty="0"/>
              <a:t>  </a:t>
            </a:r>
          </a:p>
        </p:txBody>
      </p:sp>
      <p:pic>
        <p:nvPicPr>
          <p:cNvPr id="6" name="Picture 5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AD0CC7C3-036C-0945-9A2C-D825A27832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424" y="3313544"/>
            <a:ext cx="2579935" cy="100375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91C8794-D4A5-4290-BEF7-4CCC53040BC6}"/>
              </a:ext>
            </a:extLst>
          </p:cNvPr>
          <p:cNvSpPr txBox="1"/>
          <p:nvPr/>
        </p:nvSpPr>
        <p:spPr>
          <a:xfrm>
            <a:off x="432000" y="234306"/>
            <a:ext cx="2800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/>
              <a:t>Warum</a:t>
            </a:r>
            <a:r>
              <a:rPr lang="en-US" sz="1400" b="1" dirty="0"/>
              <a:t> KPMG?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A2B1B9-ECBE-4553-BC6B-25856C54B35E}"/>
              </a:ext>
            </a:extLst>
          </p:cNvPr>
          <p:cNvSpPr txBox="1"/>
          <p:nvPr/>
        </p:nvSpPr>
        <p:spPr>
          <a:xfrm>
            <a:off x="432000" y="432000"/>
            <a:ext cx="113526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KPMG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</a:rPr>
              <a:t>begeistert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</a:rPr>
              <a:t>durch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</a:rPr>
              <a:t>Schwerpunkt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 und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</a:rPr>
              <a:t>Unternehmenskultur</a:t>
            </a:r>
            <a:endParaRPr lang="en-US" sz="32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8024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406</Words>
  <Application>Microsoft Office PowerPoint</Application>
  <PresentationFormat>Widescreen</PresentationFormat>
  <Paragraphs>71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Alexandra Muchin</dc:creator>
  <cp:lastModifiedBy>jonas.stegh@pumpkincareers.com</cp:lastModifiedBy>
  <cp:revision>80</cp:revision>
  <dcterms:created xsi:type="dcterms:W3CDTF">2021-04-01T16:30:35Z</dcterms:created>
  <dcterms:modified xsi:type="dcterms:W3CDTF">2021-04-06T08:20:33Z</dcterms:modified>
</cp:coreProperties>
</file>