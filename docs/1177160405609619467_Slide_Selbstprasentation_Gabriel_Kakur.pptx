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29" r:id="rId2"/>
    <p:sldId id="324" r:id="rId3"/>
    <p:sldId id="330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41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98" autoAdjust="0"/>
    <p:restoredTop sz="94660"/>
  </p:normalViewPr>
  <p:slideViewPr>
    <p:cSldViewPr snapToGrid="0">
      <p:cViewPr>
        <p:scale>
          <a:sx n="103" d="100"/>
          <a:sy n="103" d="100"/>
        </p:scale>
        <p:origin x="1000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5E3490-2E6A-4E34-8357-AB9D49B75D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381DA7C-3568-465B-8D9A-74E9AA9B92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3CDDD4D-38D7-4265-A721-D8889BA20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AF94A-C2E4-4EA7-842E-5C3A65DEFB5A}" type="datetimeFigureOut">
              <a:rPr lang="de-DE" smtClean="0"/>
              <a:t>22.11.23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B8D855-20A6-4241-9293-8EF3CD8CA0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C3D8564-377F-487E-94FB-F48C317FB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29BBE-ABC2-408D-8F98-8B1C0DAE0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23776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F20F6A-5B7A-4170-8AA9-4FC8380657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6EC3AC9-F598-4482-8E40-487BE48BE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DBF4DBE-28C8-4720-ACB9-5FB091DF6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AF94A-C2E4-4EA7-842E-5C3A65DEFB5A}" type="datetimeFigureOut">
              <a:rPr lang="de-DE" smtClean="0"/>
              <a:t>22.11.23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1D8AA53-740A-429F-BA08-678871402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2E34EB2-445B-405A-89E6-8348FE130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29BBE-ABC2-408D-8F98-8B1C0DAE0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7822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284387-B756-4C7F-AB68-E31CD3489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11294A7-003D-4143-9CCC-DFBDBB0A55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CF1A5C2-C0C3-485B-BA38-2993F4BA26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AF94A-C2E4-4EA7-842E-5C3A65DEFB5A}" type="datetimeFigureOut">
              <a:rPr lang="de-DE" smtClean="0"/>
              <a:t>22.11.23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FC4BA34-86B0-4C51-A36B-BFDE4ECFF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EA26B95-9423-41DA-95B3-28905E3CB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29BBE-ABC2-408D-8F98-8B1C0DAE0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6115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2D65B6-4670-4123-9E45-67635158C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025763A-5488-43ED-86A2-B97948AD048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3EE5DA9-6C76-47AD-93C5-31F111980A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533258A-6130-4AD9-945A-FC1E71A55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AF94A-C2E4-4EA7-842E-5C3A65DEFB5A}" type="datetimeFigureOut">
              <a:rPr lang="de-DE" smtClean="0"/>
              <a:t>22.11.23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B1E2347-A162-491E-B2E4-DD1F4FFD6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443C905-CD8D-453A-9D87-E4876F61A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29BBE-ABC2-408D-8F98-8B1C0DAE0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3642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24DC01-34F1-408D-9EA9-FA0BF4DAC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0F47C18-3930-4816-890A-85DBEEC2F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2B0460E-0D07-4AFE-8FEC-6EC373F506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15259F9-4B74-4C66-AD63-99BB015C99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E45FCC1-5690-4E80-B02F-3A26AC9D823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F6458F65-BAED-4191-99E3-CE2C32916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AF94A-C2E4-4EA7-842E-5C3A65DEFB5A}" type="datetimeFigureOut">
              <a:rPr lang="de-DE" smtClean="0"/>
              <a:t>22.11.23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C8C271A-0EA9-4E3C-9546-76A0B3977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25CC312-23AD-4B20-B484-CEA38E217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29BBE-ABC2-408D-8F98-8B1C0DAE0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20062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04041C8-3F58-42C5-98DC-57EBE3948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933C6EC-9FBE-4807-9338-076D986668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AF94A-C2E4-4EA7-842E-5C3A65DEFB5A}" type="datetimeFigureOut">
              <a:rPr lang="de-DE" smtClean="0"/>
              <a:t>22.11.23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1768150A-7DDF-4A85-904D-2797D6F31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894B04B-EA69-4031-9CAF-F3AF53E53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29BBE-ABC2-408D-8F98-8B1C0DAE0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1823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D8C17DC7-D57A-4F92-AE63-572CAF4E9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AF94A-C2E4-4EA7-842E-5C3A65DEFB5A}" type="datetimeFigureOut">
              <a:rPr lang="de-DE" smtClean="0"/>
              <a:t>22.11.23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FAB8035-6E50-40D1-A9FC-083C1893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511705B-736D-4D32-9775-C2E7EE621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29BBE-ABC2-408D-8F98-8B1C0DAE0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40903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AAEF4E-2BA8-44ED-838C-C9BF106C9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72BC969-E39B-4900-B67C-18D4CA729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1E19549-90E1-4776-962B-FB9DA37070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96855AE-9EEF-4799-8CD9-91765E9246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AF94A-C2E4-4EA7-842E-5C3A65DEFB5A}" type="datetimeFigureOut">
              <a:rPr lang="de-DE" smtClean="0"/>
              <a:t>22.11.23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C76A480-D113-4A77-84F2-627C5F661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EC6F747-CEF3-46C8-A686-DD8C50FC5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29BBE-ABC2-408D-8F98-8B1C0DAE0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2459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60D18C6-0413-494D-B5EF-D62251FC5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90A9D6F-395C-4E3F-9E60-C5A385EDB5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7ABAAD7-AB88-48EC-87FC-889D527B78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49B93C0-9787-44FC-90B2-45A21248E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AF94A-C2E4-4EA7-842E-5C3A65DEFB5A}" type="datetimeFigureOut">
              <a:rPr lang="de-DE" smtClean="0"/>
              <a:t>22.11.23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1364D26-6DAE-4135-95F0-8C0E31DD5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DFFEB35-8452-4154-BF00-2F44CFBD1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29BBE-ABC2-408D-8F98-8B1C0DAE0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9024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F38453C-1F78-4A48-B492-CF31B5ABF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F268651-67D1-4A93-AB41-B1E98FB735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068595B-5590-4E61-9826-70819ACEB6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AF94A-C2E4-4EA7-842E-5C3A65DEFB5A}" type="datetimeFigureOut">
              <a:rPr lang="de-DE" smtClean="0"/>
              <a:t>22.11.23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FF646A6-8567-4257-A8B4-D4C5F68AB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19607F5-3630-4B33-8A00-DB232890B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29BBE-ABC2-408D-8F98-8B1C0DAE0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1301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F42C686C-95C8-4042-87E6-9780D62AF1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E250770-040C-4E83-B210-6F56BFE3AF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AE5E585-2431-4781-9AAE-8BEBDD2FD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AF94A-C2E4-4EA7-842E-5C3A65DEFB5A}" type="datetimeFigureOut">
              <a:rPr lang="de-DE" smtClean="0"/>
              <a:t>22.11.23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2D9ACAC-2FD5-48A4-8D59-04C953448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E800008-83A1-44B6-AB1F-97455FB7A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429BBE-ABC2-408D-8F98-8B1C0DAE0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461216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7311E28-7388-43F4-BA27-4935DB8CE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130BEF8-3EFF-429A-A530-E2F8BCCB27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CEBDF0F-38F4-4DFA-A7D1-FCB051A249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AF94A-C2E4-4EA7-842E-5C3A65DEFB5A}" type="datetimeFigureOut">
              <a:rPr lang="de-DE" smtClean="0"/>
              <a:t>22.11.23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A79401B-E2B9-4253-8C67-D57786F7D5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C80544-E1A7-4467-BD93-E8268FAA36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429BBE-ABC2-408D-8F98-8B1C0DAE0D5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92658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" Type="http://schemas.openxmlformats.org/officeDocument/2006/relationships/image" Target="../media/image1.tiff"/><Relationship Id="rId16" Type="http://schemas.openxmlformats.org/officeDocument/2006/relationships/image" Target="../media/image15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7.sv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12" Type="http://schemas.openxmlformats.org/officeDocument/2006/relationships/image" Target="../media/image26.png"/><Relationship Id="rId17" Type="http://schemas.openxmlformats.org/officeDocument/2006/relationships/image" Target="../media/image31.svg"/><Relationship Id="rId2" Type="http://schemas.openxmlformats.org/officeDocument/2006/relationships/image" Target="../media/image17.png"/><Relationship Id="rId16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openxmlformats.org/officeDocument/2006/relationships/image" Target="../media/image1.tiff"/><Relationship Id="rId5" Type="http://schemas.openxmlformats.org/officeDocument/2006/relationships/image" Target="../media/image20.svg"/><Relationship Id="rId15" Type="http://schemas.openxmlformats.org/officeDocument/2006/relationships/image" Target="../media/image29.sv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svg"/><Relationship Id="rId14" Type="http://schemas.openxmlformats.org/officeDocument/2006/relationships/image" Target="../media/image2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svg"/><Relationship Id="rId13" Type="http://schemas.openxmlformats.org/officeDocument/2006/relationships/image" Target="../media/image41.sv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0.png"/><Relationship Id="rId17" Type="http://schemas.openxmlformats.org/officeDocument/2006/relationships/image" Target="../media/image45.svg"/><Relationship Id="rId2" Type="http://schemas.openxmlformats.org/officeDocument/2006/relationships/image" Target="../media/image1.tiff"/><Relationship Id="rId16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svg"/><Relationship Id="rId11" Type="http://schemas.openxmlformats.org/officeDocument/2006/relationships/image" Target="../media/image25.png"/><Relationship Id="rId5" Type="http://schemas.openxmlformats.org/officeDocument/2006/relationships/image" Target="../media/image34.png"/><Relationship Id="rId15" Type="http://schemas.openxmlformats.org/officeDocument/2006/relationships/image" Target="../media/image43.svg"/><Relationship Id="rId10" Type="http://schemas.openxmlformats.org/officeDocument/2006/relationships/image" Target="../media/image39.svg"/><Relationship Id="rId4" Type="http://schemas.openxmlformats.org/officeDocument/2006/relationships/image" Target="../media/image33.svg"/><Relationship Id="rId9" Type="http://schemas.openxmlformats.org/officeDocument/2006/relationships/image" Target="../media/image38.png"/><Relationship Id="rId1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2">
            <a:extLst>
              <a:ext uri="{FF2B5EF4-FFF2-40B4-BE49-F238E27FC236}">
                <a16:creationId xmlns:a16="http://schemas.microsoft.com/office/drawing/2014/main" id="{E0B636AA-2664-43C5-8EB1-120E83ADA34F}"/>
              </a:ext>
            </a:extLst>
          </p:cNvPr>
          <p:cNvSpPr txBox="1">
            <a:spLocks/>
          </p:cNvSpPr>
          <p:nvPr/>
        </p:nvSpPr>
        <p:spPr>
          <a:xfrm>
            <a:off x="408632" y="6477941"/>
            <a:ext cx="4761513" cy="185602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802">
              <a:spcAft>
                <a:spcPts val="611"/>
              </a:spcAft>
            </a:pPr>
            <a:r>
              <a:rPr lang="de-DE" sz="9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Commerz Business Consulting</a:t>
            </a:r>
          </a:p>
        </p:txBody>
      </p:sp>
      <p:sp>
        <p:nvSpPr>
          <p:cNvPr id="6" name="Fußzeilenplatzhalter 2">
            <a:extLst>
              <a:ext uri="{FF2B5EF4-FFF2-40B4-BE49-F238E27FC236}">
                <a16:creationId xmlns:a16="http://schemas.microsoft.com/office/drawing/2014/main" id="{489CCAF1-5747-4D36-A81C-08B1DFA38001}"/>
              </a:ext>
            </a:extLst>
          </p:cNvPr>
          <p:cNvSpPr txBox="1">
            <a:spLocks/>
          </p:cNvSpPr>
          <p:nvPr/>
        </p:nvSpPr>
        <p:spPr>
          <a:xfrm>
            <a:off x="6511870" y="6477941"/>
            <a:ext cx="5232610" cy="231809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554802">
              <a:spcAft>
                <a:spcPts val="611"/>
              </a:spcAft>
            </a:pPr>
            <a:r>
              <a:rPr lang="de-DE" sz="9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Selbstpräsentation | 30.11.2023 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FA4E8CC3-E3E2-2452-54CD-32F2E87311F4}"/>
              </a:ext>
            </a:extLst>
          </p:cNvPr>
          <p:cNvGrpSpPr/>
          <p:nvPr/>
        </p:nvGrpSpPr>
        <p:grpSpPr>
          <a:xfrm>
            <a:off x="2970335" y="218948"/>
            <a:ext cx="8987500" cy="1023635"/>
            <a:chOff x="2970335" y="218948"/>
            <a:chExt cx="8987500" cy="1023635"/>
          </a:xfrm>
        </p:grpSpPr>
        <p:sp>
          <p:nvSpPr>
            <p:cNvPr id="31" name="Rechteck: abgerundete Ecken 30">
              <a:extLst>
                <a:ext uri="{FF2B5EF4-FFF2-40B4-BE49-F238E27FC236}">
                  <a16:creationId xmlns:a16="http://schemas.microsoft.com/office/drawing/2014/main" id="{7F90AA87-6C5E-41D2-8EBC-03195623F61C}"/>
                </a:ext>
              </a:extLst>
            </p:cNvPr>
            <p:cNvSpPr/>
            <p:nvPr/>
          </p:nvSpPr>
          <p:spPr>
            <a:xfrm>
              <a:off x="2970335" y="475376"/>
              <a:ext cx="6251331" cy="510778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FFFF00"/>
              </a:solidFill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de-DE" sz="2400" dirty="0">
                  <a:solidFill>
                    <a:srgbClr val="00414B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rPr>
                <a:t>Gabriel Kakur</a:t>
              </a:r>
            </a:p>
          </p:txBody>
        </p:sp>
        <p:pic>
          <p:nvPicPr>
            <p:cNvPr id="2" name="Grafik 33">
              <a:extLst>
                <a:ext uri="{FF2B5EF4-FFF2-40B4-BE49-F238E27FC236}">
                  <a16:creationId xmlns:a16="http://schemas.microsoft.com/office/drawing/2014/main" id="{B9F510C7-E339-9BBD-0E3F-98F707FB66B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6762" t="456" r="28262" b="7697"/>
            <a:stretch/>
          </p:blipFill>
          <p:spPr>
            <a:xfrm>
              <a:off x="10801089" y="218948"/>
              <a:ext cx="1156746" cy="1023635"/>
            </a:xfrm>
            <a:prstGeom prst="rect">
              <a:avLst/>
            </a:prstGeom>
          </p:spPr>
        </p:pic>
      </p:grpSp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E20A7293-6284-4CF8-9604-2203E0672900}"/>
              </a:ext>
            </a:extLst>
          </p:cNvPr>
          <p:cNvCxnSpPr>
            <a:cxnSpLocks/>
          </p:cNvCxnSpPr>
          <p:nvPr/>
        </p:nvCxnSpPr>
        <p:spPr>
          <a:xfrm>
            <a:off x="438932" y="6402487"/>
            <a:ext cx="11230271" cy="30017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3" name="Textfeld 52">
            <a:extLst>
              <a:ext uri="{FF2B5EF4-FFF2-40B4-BE49-F238E27FC236}">
                <a16:creationId xmlns:a16="http://schemas.microsoft.com/office/drawing/2014/main" id="{7D1570B4-E1C9-4957-A21D-7CE264EE20E6}"/>
              </a:ext>
            </a:extLst>
          </p:cNvPr>
          <p:cNvSpPr txBox="1"/>
          <p:nvPr/>
        </p:nvSpPr>
        <p:spPr>
          <a:xfrm>
            <a:off x="3364800" y="5694331"/>
            <a:ext cx="25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Unterschiedliche Aufgaben </a:t>
            </a:r>
          </a:p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Interesse für digitale Transformationen</a:t>
            </a:r>
          </a:p>
        </p:txBody>
      </p:sp>
      <p:pic>
        <p:nvPicPr>
          <p:cNvPr id="70" name="Grafik 69" descr="Verzweigungsdiagramm mit einfarbiger Füllung">
            <a:extLst>
              <a:ext uri="{FF2B5EF4-FFF2-40B4-BE49-F238E27FC236}">
                <a16:creationId xmlns:a16="http://schemas.microsoft.com/office/drawing/2014/main" id="{508A9473-36A4-6A1B-CD2F-A2ECB050BE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67600" y="3860273"/>
            <a:ext cx="914400" cy="914400"/>
          </a:xfrm>
          <a:prstGeom prst="rect">
            <a:avLst/>
          </a:prstGeom>
        </p:spPr>
      </p:pic>
      <p:sp>
        <p:nvSpPr>
          <p:cNvPr id="89" name="Textfeld 88">
            <a:extLst>
              <a:ext uri="{FF2B5EF4-FFF2-40B4-BE49-F238E27FC236}">
                <a16:creationId xmlns:a16="http://schemas.microsoft.com/office/drawing/2014/main" id="{EFF3B14F-F330-4504-9B5F-9A081234AA6B}"/>
              </a:ext>
            </a:extLst>
          </p:cNvPr>
          <p:cNvSpPr txBox="1"/>
          <p:nvPr/>
        </p:nvSpPr>
        <p:spPr>
          <a:xfrm>
            <a:off x="3364800" y="3472840"/>
            <a:ext cx="25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Messdiener</a:t>
            </a:r>
          </a:p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 der Syrisch-Orthodoxe-Kirche</a:t>
            </a:r>
          </a:p>
        </p:txBody>
      </p:sp>
      <p:sp>
        <p:nvSpPr>
          <p:cNvPr id="77" name="Rechteck: abgerundete Ecken 76">
            <a:extLst>
              <a:ext uri="{FF2B5EF4-FFF2-40B4-BE49-F238E27FC236}">
                <a16:creationId xmlns:a16="http://schemas.microsoft.com/office/drawing/2014/main" id="{AAF3F0AD-0AE9-4D4E-A807-8AC7C80E7A00}"/>
              </a:ext>
            </a:extLst>
          </p:cNvPr>
          <p:cNvSpPr/>
          <p:nvPr/>
        </p:nvSpPr>
        <p:spPr>
          <a:xfrm>
            <a:off x="3947876" y="2483740"/>
            <a:ext cx="1353848" cy="3996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Engagement</a:t>
            </a:r>
          </a:p>
        </p:txBody>
      </p:sp>
      <p:sp>
        <p:nvSpPr>
          <p:cNvPr id="96" name="Rechteck: abgerundete Ecken 95">
            <a:extLst>
              <a:ext uri="{FF2B5EF4-FFF2-40B4-BE49-F238E27FC236}">
                <a16:creationId xmlns:a16="http://schemas.microsoft.com/office/drawing/2014/main" id="{926DB74B-F516-4234-BFBD-09CF9A49D4BF}"/>
              </a:ext>
            </a:extLst>
          </p:cNvPr>
          <p:cNvSpPr/>
          <p:nvPr/>
        </p:nvSpPr>
        <p:spPr>
          <a:xfrm>
            <a:off x="3947876" y="3032935"/>
            <a:ext cx="1353848" cy="29851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2011-heute</a:t>
            </a:r>
          </a:p>
        </p:txBody>
      </p:sp>
      <p:sp>
        <p:nvSpPr>
          <p:cNvPr id="42" name="Rechteck: abgerundete Ecken 76">
            <a:extLst>
              <a:ext uri="{FF2B5EF4-FFF2-40B4-BE49-F238E27FC236}">
                <a16:creationId xmlns:a16="http://schemas.microsoft.com/office/drawing/2014/main" id="{36F1C069-69B9-1E43-BE48-9A694FA64FD5}"/>
              </a:ext>
            </a:extLst>
          </p:cNvPr>
          <p:cNvSpPr/>
          <p:nvPr/>
        </p:nvSpPr>
        <p:spPr>
          <a:xfrm>
            <a:off x="3947876" y="4705231"/>
            <a:ext cx="1353848" cy="3996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Praktikum </a:t>
            </a:r>
          </a:p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4C GROUP</a:t>
            </a:r>
          </a:p>
        </p:txBody>
      </p:sp>
      <p:sp>
        <p:nvSpPr>
          <p:cNvPr id="57" name="Rechteck: abgerundete Ecken 95">
            <a:extLst>
              <a:ext uri="{FF2B5EF4-FFF2-40B4-BE49-F238E27FC236}">
                <a16:creationId xmlns:a16="http://schemas.microsoft.com/office/drawing/2014/main" id="{9EB8DEF7-B4B8-4EA6-A104-91ECCC492727}"/>
              </a:ext>
            </a:extLst>
          </p:cNvPr>
          <p:cNvSpPr/>
          <p:nvPr/>
        </p:nvSpPr>
        <p:spPr>
          <a:xfrm>
            <a:off x="3947876" y="5254426"/>
            <a:ext cx="1353848" cy="29851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2022-2023</a:t>
            </a:r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F5A9FF9B-7426-4C24-9BEF-F4EF6BFC0823}"/>
              </a:ext>
            </a:extLst>
          </p:cNvPr>
          <p:cNvSpPr txBox="1"/>
          <p:nvPr/>
        </p:nvSpPr>
        <p:spPr>
          <a:xfrm>
            <a:off x="422400" y="3472840"/>
            <a:ext cx="25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Analytische Fächer</a:t>
            </a:r>
          </a:p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Begeisterung für Wirtschaft</a:t>
            </a:r>
          </a:p>
        </p:txBody>
      </p:sp>
      <p:sp>
        <p:nvSpPr>
          <p:cNvPr id="52" name="Textfeld 51">
            <a:extLst>
              <a:ext uri="{FF2B5EF4-FFF2-40B4-BE49-F238E27FC236}">
                <a16:creationId xmlns:a16="http://schemas.microsoft.com/office/drawing/2014/main" id="{E954698D-8E2D-05CD-56C7-110ACA713A0F}"/>
              </a:ext>
            </a:extLst>
          </p:cNvPr>
          <p:cNvSpPr txBox="1"/>
          <p:nvPr/>
        </p:nvSpPr>
        <p:spPr>
          <a:xfrm>
            <a:off x="422400" y="5694330"/>
            <a:ext cx="2520000" cy="46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Keine langfristige Perspektive </a:t>
            </a:r>
          </a:p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Geringe Abwechslung </a:t>
            </a:r>
          </a:p>
        </p:txBody>
      </p:sp>
      <p:pic>
        <p:nvPicPr>
          <p:cNvPr id="72" name="Grafik 71" descr="Aktenkoffer mit einfarbiger Füllung">
            <a:extLst>
              <a:ext uri="{FF2B5EF4-FFF2-40B4-BE49-F238E27FC236}">
                <a16:creationId xmlns:a16="http://schemas.microsoft.com/office/drawing/2014/main" id="{25772675-77C3-D310-0C42-20C2459643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25200" y="3860273"/>
            <a:ext cx="914400" cy="914400"/>
          </a:xfrm>
          <a:prstGeom prst="rect">
            <a:avLst/>
          </a:prstGeom>
        </p:spPr>
      </p:pic>
      <p:sp>
        <p:nvSpPr>
          <p:cNvPr id="68" name="Rechteck: abgerundete Ecken 67">
            <a:extLst>
              <a:ext uri="{FF2B5EF4-FFF2-40B4-BE49-F238E27FC236}">
                <a16:creationId xmlns:a16="http://schemas.microsoft.com/office/drawing/2014/main" id="{D7137738-3B28-4B37-9557-69214A1DE02D}"/>
              </a:ext>
            </a:extLst>
          </p:cNvPr>
          <p:cNvSpPr/>
          <p:nvPr/>
        </p:nvSpPr>
        <p:spPr>
          <a:xfrm>
            <a:off x="1005476" y="2483740"/>
            <a:ext cx="1353848" cy="3996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Schule</a:t>
            </a:r>
          </a:p>
        </p:txBody>
      </p:sp>
      <p:sp>
        <p:nvSpPr>
          <p:cNvPr id="95" name="Rechteck: abgerundete Ecken 94">
            <a:extLst>
              <a:ext uri="{FF2B5EF4-FFF2-40B4-BE49-F238E27FC236}">
                <a16:creationId xmlns:a16="http://schemas.microsoft.com/office/drawing/2014/main" id="{6CFF9FEF-5FF4-48E3-9D8D-61B60E045578}"/>
              </a:ext>
            </a:extLst>
          </p:cNvPr>
          <p:cNvSpPr/>
          <p:nvPr/>
        </p:nvSpPr>
        <p:spPr>
          <a:xfrm>
            <a:off x="1005476" y="3026585"/>
            <a:ext cx="1353848" cy="29851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2012-2020</a:t>
            </a:r>
          </a:p>
        </p:txBody>
      </p:sp>
      <p:sp>
        <p:nvSpPr>
          <p:cNvPr id="41" name="Rechteck: abgerundete Ecken 67">
            <a:extLst>
              <a:ext uri="{FF2B5EF4-FFF2-40B4-BE49-F238E27FC236}">
                <a16:creationId xmlns:a16="http://schemas.microsoft.com/office/drawing/2014/main" id="{2E507907-AFF2-FC8A-84D7-2E456F5B2C75}"/>
              </a:ext>
            </a:extLst>
          </p:cNvPr>
          <p:cNvSpPr/>
          <p:nvPr/>
        </p:nvSpPr>
        <p:spPr>
          <a:xfrm>
            <a:off x="1005476" y="4705231"/>
            <a:ext cx="1353848" cy="3996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Praktikum</a:t>
            </a:r>
          </a:p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BDO</a:t>
            </a:r>
          </a:p>
        </p:txBody>
      </p:sp>
      <p:sp>
        <p:nvSpPr>
          <p:cNvPr id="56" name="Rechteck: abgerundete Ecken 94">
            <a:extLst>
              <a:ext uri="{FF2B5EF4-FFF2-40B4-BE49-F238E27FC236}">
                <a16:creationId xmlns:a16="http://schemas.microsoft.com/office/drawing/2014/main" id="{B2CE0D34-F73F-F0FB-0E9A-55938EE25BE0}"/>
              </a:ext>
            </a:extLst>
          </p:cNvPr>
          <p:cNvSpPr/>
          <p:nvPr/>
        </p:nvSpPr>
        <p:spPr>
          <a:xfrm>
            <a:off x="1005476" y="5248076"/>
            <a:ext cx="1353848" cy="29851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2022</a:t>
            </a:r>
          </a:p>
        </p:txBody>
      </p:sp>
      <p:sp>
        <p:nvSpPr>
          <p:cNvPr id="91" name="Textfeld 90">
            <a:extLst>
              <a:ext uri="{FF2B5EF4-FFF2-40B4-BE49-F238E27FC236}">
                <a16:creationId xmlns:a16="http://schemas.microsoft.com/office/drawing/2014/main" id="{9E06518F-E158-46E5-9536-661BFF8BAA77}"/>
              </a:ext>
            </a:extLst>
          </p:cNvPr>
          <p:cNvSpPr txBox="1"/>
          <p:nvPr/>
        </p:nvSpPr>
        <p:spPr>
          <a:xfrm>
            <a:off x="9249600" y="3472840"/>
            <a:ext cx="25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Wirtschaft und Technik </a:t>
            </a:r>
          </a:p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Renommierte Universität</a:t>
            </a:r>
          </a:p>
        </p:txBody>
      </p:sp>
      <p:pic>
        <p:nvPicPr>
          <p:cNvPr id="67" name="Grafik 66" descr="Bücher im Regal mit einfarbiger Füllung">
            <a:extLst>
              <a:ext uri="{FF2B5EF4-FFF2-40B4-BE49-F238E27FC236}">
                <a16:creationId xmlns:a16="http://schemas.microsoft.com/office/drawing/2014/main" id="{92F0C4E2-75BC-0648-9600-2672D3509B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52400" y="1464788"/>
            <a:ext cx="914400" cy="914400"/>
          </a:xfrm>
          <a:prstGeom prst="rect">
            <a:avLst/>
          </a:prstGeom>
        </p:spPr>
      </p:pic>
      <p:sp>
        <p:nvSpPr>
          <p:cNvPr id="55" name="Textfeld 54">
            <a:extLst>
              <a:ext uri="{FF2B5EF4-FFF2-40B4-BE49-F238E27FC236}">
                <a16:creationId xmlns:a16="http://schemas.microsoft.com/office/drawing/2014/main" id="{7E6230DF-D1AE-30C4-0A7D-53D91F4B3BAD}"/>
              </a:ext>
            </a:extLst>
          </p:cNvPr>
          <p:cNvSpPr txBox="1"/>
          <p:nvPr/>
        </p:nvSpPr>
        <p:spPr>
          <a:xfrm>
            <a:off x="9249600" y="5694330"/>
            <a:ext cx="2520000" cy="46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Ziel:</a:t>
            </a:r>
          </a:p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Praktikum im Inhouse Consulting </a:t>
            </a:r>
          </a:p>
        </p:txBody>
      </p:sp>
      <p:sp>
        <p:nvSpPr>
          <p:cNvPr id="79" name="Rechteck: abgerundete Ecken 78">
            <a:extLst>
              <a:ext uri="{FF2B5EF4-FFF2-40B4-BE49-F238E27FC236}">
                <a16:creationId xmlns:a16="http://schemas.microsoft.com/office/drawing/2014/main" id="{27944FF2-1300-4410-B357-477288FAF721}"/>
              </a:ext>
            </a:extLst>
          </p:cNvPr>
          <p:cNvSpPr/>
          <p:nvPr/>
        </p:nvSpPr>
        <p:spPr>
          <a:xfrm>
            <a:off x="9832676" y="2501729"/>
            <a:ext cx="1353848" cy="39898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Studium</a:t>
            </a:r>
          </a:p>
        </p:txBody>
      </p:sp>
      <p:sp>
        <p:nvSpPr>
          <p:cNvPr id="98" name="Rechteck: abgerundete Ecken 97">
            <a:extLst>
              <a:ext uri="{FF2B5EF4-FFF2-40B4-BE49-F238E27FC236}">
                <a16:creationId xmlns:a16="http://schemas.microsoft.com/office/drawing/2014/main" id="{E91BE5BD-E879-4D9E-856B-BE4A16332292}"/>
              </a:ext>
            </a:extLst>
          </p:cNvPr>
          <p:cNvSpPr/>
          <p:nvPr/>
        </p:nvSpPr>
        <p:spPr>
          <a:xfrm>
            <a:off x="9832676" y="3032934"/>
            <a:ext cx="1353848" cy="29851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2020-heute</a:t>
            </a:r>
          </a:p>
        </p:txBody>
      </p:sp>
      <p:sp>
        <p:nvSpPr>
          <p:cNvPr id="44" name="Rechteck: abgerundete Ecken 78">
            <a:extLst>
              <a:ext uri="{FF2B5EF4-FFF2-40B4-BE49-F238E27FC236}">
                <a16:creationId xmlns:a16="http://schemas.microsoft.com/office/drawing/2014/main" id="{11CD73D8-27C6-05B8-5988-84460F366217}"/>
              </a:ext>
            </a:extLst>
          </p:cNvPr>
          <p:cNvSpPr/>
          <p:nvPr/>
        </p:nvSpPr>
        <p:spPr>
          <a:xfrm>
            <a:off x="9832676" y="4723220"/>
            <a:ext cx="1353848" cy="39898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CBC</a:t>
            </a:r>
          </a:p>
        </p:txBody>
      </p:sp>
      <p:sp>
        <p:nvSpPr>
          <p:cNvPr id="59" name="Rechteck: abgerundete Ecken 97">
            <a:extLst>
              <a:ext uri="{FF2B5EF4-FFF2-40B4-BE49-F238E27FC236}">
                <a16:creationId xmlns:a16="http://schemas.microsoft.com/office/drawing/2014/main" id="{AA561F9F-A524-0083-1F3F-352C1FCDC1EB}"/>
              </a:ext>
            </a:extLst>
          </p:cNvPr>
          <p:cNvSpPr/>
          <p:nvPr/>
        </p:nvSpPr>
        <p:spPr>
          <a:xfrm>
            <a:off x="9832676" y="5254425"/>
            <a:ext cx="1353848" cy="29851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2024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E26355CD-CD19-89D9-ACF8-AD78FD657E3B}"/>
              </a:ext>
            </a:extLst>
          </p:cNvPr>
          <p:cNvSpPr txBox="1"/>
          <p:nvPr/>
        </p:nvSpPr>
        <p:spPr>
          <a:xfrm>
            <a:off x="6307200" y="5694331"/>
            <a:ext cx="25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Erfahrungen in einem weiteren Bereich in der Beratung </a:t>
            </a:r>
          </a:p>
        </p:txBody>
      </p:sp>
      <p:sp>
        <p:nvSpPr>
          <p:cNvPr id="28" name="Textfeld 27">
            <a:extLst>
              <a:ext uri="{FF2B5EF4-FFF2-40B4-BE49-F238E27FC236}">
                <a16:creationId xmlns:a16="http://schemas.microsoft.com/office/drawing/2014/main" id="{4580F8D4-47AD-6E19-ED25-B9AE27244C16}"/>
              </a:ext>
            </a:extLst>
          </p:cNvPr>
          <p:cNvSpPr txBox="1"/>
          <p:nvPr/>
        </p:nvSpPr>
        <p:spPr>
          <a:xfrm>
            <a:off x="6307200" y="3472840"/>
            <a:ext cx="25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Technische Fertigungsverfahren</a:t>
            </a:r>
          </a:p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Einseitige Tätigkeiten </a:t>
            </a:r>
          </a:p>
        </p:txBody>
      </p:sp>
      <p:sp>
        <p:nvSpPr>
          <p:cNvPr id="32" name="Rechteck: abgerundete Ecken 76">
            <a:extLst>
              <a:ext uri="{FF2B5EF4-FFF2-40B4-BE49-F238E27FC236}">
                <a16:creationId xmlns:a16="http://schemas.microsoft.com/office/drawing/2014/main" id="{3EDA6DD6-8574-2594-D87C-353FFDD06FD6}"/>
              </a:ext>
            </a:extLst>
          </p:cNvPr>
          <p:cNvSpPr/>
          <p:nvPr/>
        </p:nvSpPr>
        <p:spPr>
          <a:xfrm>
            <a:off x="6890276" y="2483740"/>
            <a:ext cx="1353848" cy="3996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Praktikum Continental</a:t>
            </a:r>
          </a:p>
        </p:txBody>
      </p:sp>
      <p:sp>
        <p:nvSpPr>
          <p:cNvPr id="33" name="Rechteck: abgerundete Ecken 95">
            <a:extLst>
              <a:ext uri="{FF2B5EF4-FFF2-40B4-BE49-F238E27FC236}">
                <a16:creationId xmlns:a16="http://schemas.microsoft.com/office/drawing/2014/main" id="{7417D44F-8060-7AEA-24B1-AD69110C8713}"/>
              </a:ext>
            </a:extLst>
          </p:cNvPr>
          <p:cNvSpPr/>
          <p:nvPr/>
        </p:nvSpPr>
        <p:spPr>
          <a:xfrm>
            <a:off x="6890276" y="3032935"/>
            <a:ext cx="1353848" cy="29851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2019</a:t>
            </a:r>
          </a:p>
        </p:txBody>
      </p:sp>
      <p:sp>
        <p:nvSpPr>
          <p:cNvPr id="34" name="Rechteck: abgerundete Ecken 76">
            <a:extLst>
              <a:ext uri="{FF2B5EF4-FFF2-40B4-BE49-F238E27FC236}">
                <a16:creationId xmlns:a16="http://schemas.microsoft.com/office/drawing/2014/main" id="{CBF91666-E012-C36D-C427-8147DC32587A}"/>
              </a:ext>
            </a:extLst>
          </p:cNvPr>
          <p:cNvSpPr/>
          <p:nvPr/>
        </p:nvSpPr>
        <p:spPr>
          <a:xfrm>
            <a:off x="6890276" y="4705231"/>
            <a:ext cx="1353848" cy="3996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Werkstudium </a:t>
            </a:r>
          </a:p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BearingPoint</a:t>
            </a:r>
          </a:p>
        </p:txBody>
      </p:sp>
      <p:sp>
        <p:nvSpPr>
          <p:cNvPr id="35" name="Rechteck: abgerundete Ecken 95">
            <a:extLst>
              <a:ext uri="{FF2B5EF4-FFF2-40B4-BE49-F238E27FC236}">
                <a16:creationId xmlns:a16="http://schemas.microsoft.com/office/drawing/2014/main" id="{CC7191ED-0553-FCFA-2754-096CE69EE54C}"/>
              </a:ext>
            </a:extLst>
          </p:cNvPr>
          <p:cNvSpPr/>
          <p:nvPr/>
        </p:nvSpPr>
        <p:spPr>
          <a:xfrm>
            <a:off x="6890276" y="5254426"/>
            <a:ext cx="1353848" cy="29851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2023</a:t>
            </a:r>
          </a:p>
        </p:txBody>
      </p:sp>
      <p:pic>
        <p:nvPicPr>
          <p:cNvPr id="36" name="Grafik 35" descr="Stadt mit einfarbiger Füllung">
            <a:extLst>
              <a:ext uri="{FF2B5EF4-FFF2-40B4-BE49-F238E27FC236}">
                <a16:creationId xmlns:a16="http://schemas.microsoft.com/office/drawing/2014/main" id="{D3647584-D063-BCF0-0379-3AF865CB0BC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109863" y="1514658"/>
            <a:ext cx="914674" cy="914400"/>
          </a:xfrm>
          <a:prstGeom prst="rect">
            <a:avLst/>
          </a:prstGeom>
        </p:spPr>
      </p:pic>
      <p:pic>
        <p:nvPicPr>
          <p:cNvPr id="46" name="Grafik 45" descr="Schulgebäude mit einfarbiger Füllung">
            <a:extLst>
              <a:ext uri="{FF2B5EF4-FFF2-40B4-BE49-F238E27FC236}">
                <a16:creationId xmlns:a16="http://schemas.microsoft.com/office/drawing/2014/main" id="{A6124A4A-748D-0745-FDD4-D7EFA260020F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57253" y="1375624"/>
            <a:ext cx="914400" cy="914400"/>
          </a:xfrm>
          <a:prstGeom prst="rect">
            <a:avLst/>
          </a:prstGeom>
        </p:spPr>
      </p:pic>
      <p:pic>
        <p:nvPicPr>
          <p:cNvPr id="48" name="Grafik 47" descr="Glocke mit einfarbiger Füllung">
            <a:extLst>
              <a:ext uri="{FF2B5EF4-FFF2-40B4-BE49-F238E27FC236}">
                <a16:creationId xmlns:a16="http://schemas.microsoft.com/office/drawing/2014/main" id="{4B40EE65-2CA6-FF3B-2A1A-542EEA3121B4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183558" y="1427954"/>
            <a:ext cx="914400" cy="914400"/>
          </a:xfrm>
          <a:prstGeom prst="rect">
            <a:avLst/>
          </a:prstGeom>
        </p:spPr>
      </p:pic>
      <p:pic>
        <p:nvPicPr>
          <p:cNvPr id="50" name="Grafik 49" descr="Telearbeit mit einfarbiger Füllung">
            <a:extLst>
              <a:ext uri="{FF2B5EF4-FFF2-40B4-BE49-F238E27FC236}">
                <a16:creationId xmlns:a16="http://schemas.microsoft.com/office/drawing/2014/main" id="{3A8D36D6-BA6E-5E34-76CB-3E83BA289F8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114729" y="3860273"/>
            <a:ext cx="914400" cy="914400"/>
          </a:xfrm>
          <a:prstGeom prst="rect">
            <a:avLst/>
          </a:prstGeom>
        </p:spPr>
      </p:pic>
      <p:pic>
        <p:nvPicPr>
          <p:cNvPr id="51" name="Grafik 33">
            <a:extLst>
              <a:ext uri="{FF2B5EF4-FFF2-40B4-BE49-F238E27FC236}">
                <a16:creationId xmlns:a16="http://schemas.microsoft.com/office/drawing/2014/main" id="{11F25C6C-6B96-D9EF-B7FF-6337C6F5F178}"/>
              </a:ext>
            </a:extLst>
          </p:cNvPr>
          <p:cNvPicPr>
            <a:picLocks noChangeAspect="1"/>
          </p:cNvPicPr>
          <p:nvPr/>
        </p:nvPicPr>
        <p:blipFill rotWithShape="1">
          <a:blip r:embed="rId17"/>
          <a:srcRect l="26762" t="456" r="28262" b="7697"/>
          <a:stretch/>
        </p:blipFill>
        <p:spPr>
          <a:xfrm>
            <a:off x="10127105" y="3975568"/>
            <a:ext cx="764989" cy="676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527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E20A7293-6284-4CF8-9604-2203E0672900}"/>
              </a:ext>
            </a:extLst>
          </p:cNvPr>
          <p:cNvCxnSpPr>
            <a:cxnSpLocks/>
          </p:cNvCxnSpPr>
          <p:nvPr/>
        </p:nvCxnSpPr>
        <p:spPr>
          <a:xfrm>
            <a:off x="438932" y="6402487"/>
            <a:ext cx="11230271" cy="30017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Fußzeilenplatzhalter 2">
            <a:extLst>
              <a:ext uri="{FF2B5EF4-FFF2-40B4-BE49-F238E27FC236}">
                <a16:creationId xmlns:a16="http://schemas.microsoft.com/office/drawing/2014/main" id="{E0B636AA-2664-43C5-8EB1-120E83ADA34F}"/>
              </a:ext>
            </a:extLst>
          </p:cNvPr>
          <p:cNvSpPr txBox="1">
            <a:spLocks/>
          </p:cNvSpPr>
          <p:nvPr/>
        </p:nvSpPr>
        <p:spPr>
          <a:xfrm>
            <a:off x="408632" y="6477941"/>
            <a:ext cx="4761513" cy="185602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802">
              <a:spcAft>
                <a:spcPts val="611"/>
              </a:spcAft>
            </a:pPr>
            <a:r>
              <a:rPr lang="de-DE" sz="9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Commerz Business Consulting</a:t>
            </a:r>
          </a:p>
        </p:txBody>
      </p:sp>
      <p:sp>
        <p:nvSpPr>
          <p:cNvPr id="6" name="Fußzeilenplatzhalter 2">
            <a:extLst>
              <a:ext uri="{FF2B5EF4-FFF2-40B4-BE49-F238E27FC236}">
                <a16:creationId xmlns:a16="http://schemas.microsoft.com/office/drawing/2014/main" id="{489CCAF1-5747-4D36-A81C-08B1DFA38001}"/>
              </a:ext>
            </a:extLst>
          </p:cNvPr>
          <p:cNvSpPr txBox="1">
            <a:spLocks/>
          </p:cNvSpPr>
          <p:nvPr/>
        </p:nvSpPr>
        <p:spPr>
          <a:xfrm>
            <a:off x="6511870" y="6477941"/>
            <a:ext cx="5232610" cy="231809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554802">
              <a:spcAft>
                <a:spcPts val="611"/>
              </a:spcAft>
            </a:pPr>
            <a:r>
              <a:rPr lang="de-DE" sz="9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Selbstpräsentation | 30.11.2023 </a:t>
            </a:r>
          </a:p>
        </p:txBody>
      </p:sp>
      <p:sp>
        <p:nvSpPr>
          <p:cNvPr id="45" name="Google Shape;1211;p42">
            <a:extLst>
              <a:ext uri="{FF2B5EF4-FFF2-40B4-BE49-F238E27FC236}">
                <a16:creationId xmlns:a16="http://schemas.microsoft.com/office/drawing/2014/main" id="{BEB3A6BA-3A14-4DFE-A94F-1BCAAA00C0C4}"/>
              </a:ext>
            </a:extLst>
          </p:cNvPr>
          <p:cNvSpPr>
            <a:spLocks/>
          </p:cNvSpPr>
          <p:nvPr/>
        </p:nvSpPr>
        <p:spPr bwMode="auto">
          <a:xfrm>
            <a:off x="0" y="1867079"/>
            <a:ext cx="1678197" cy="1309687"/>
          </a:xfrm>
          <a:custGeom>
            <a:avLst/>
            <a:gdLst>
              <a:gd name="T0" fmla="*/ 2147483646 w 927"/>
              <a:gd name="T1" fmla="*/ 0 h 825"/>
              <a:gd name="T2" fmla="*/ 0 w 927"/>
              <a:gd name="T3" fmla="*/ 0 h 825"/>
              <a:gd name="T4" fmla="*/ 2147483646 w 927"/>
              <a:gd name="T5" fmla="*/ 2147483646 h 825"/>
              <a:gd name="T6" fmla="*/ 0 w 927"/>
              <a:gd name="T7" fmla="*/ 2147483646 h 825"/>
              <a:gd name="T8" fmla="*/ 2147483646 w 927"/>
              <a:gd name="T9" fmla="*/ 2147483646 h 825"/>
              <a:gd name="T10" fmla="*/ 2147483646 w 927"/>
              <a:gd name="T11" fmla="*/ 2147483646 h 825"/>
              <a:gd name="T12" fmla="*/ 2147483646 w 927"/>
              <a:gd name="T13" fmla="*/ 0 h 8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27" h="825" extrusionOk="0">
                <a:moveTo>
                  <a:pt x="769" y="0"/>
                </a:moveTo>
                <a:lnTo>
                  <a:pt x="0" y="0"/>
                </a:lnTo>
                <a:lnTo>
                  <a:pt x="160" y="413"/>
                </a:lnTo>
                <a:lnTo>
                  <a:pt x="0" y="825"/>
                </a:lnTo>
                <a:lnTo>
                  <a:pt x="769" y="825"/>
                </a:lnTo>
                <a:lnTo>
                  <a:pt x="927" y="413"/>
                </a:lnTo>
                <a:lnTo>
                  <a:pt x="769" y="0"/>
                </a:lnTo>
                <a:close/>
              </a:path>
            </a:pathLst>
          </a:custGeom>
          <a:solidFill>
            <a:srgbClr val="00414B"/>
          </a:solidFill>
          <a:ln>
            <a:noFill/>
          </a:ln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6" name="Google Shape;1212;p42">
            <a:extLst>
              <a:ext uri="{FF2B5EF4-FFF2-40B4-BE49-F238E27FC236}">
                <a16:creationId xmlns:a16="http://schemas.microsoft.com/office/drawing/2014/main" id="{BE93AF3A-3FB1-4C1C-B44A-7FA34CA9F215}"/>
              </a:ext>
            </a:extLst>
          </p:cNvPr>
          <p:cNvSpPr>
            <a:spLocks/>
          </p:cNvSpPr>
          <p:nvPr/>
        </p:nvSpPr>
        <p:spPr bwMode="auto">
          <a:xfrm>
            <a:off x="1503006" y="1867079"/>
            <a:ext cx="1676387" cy="1309687"/>
          </a:xfrm>
          <a:custGeom>
            <a:avLst/>
            <a:gdLst>
              <a:gd name="T0" fmla="*/ 2147483646 w 926"/>
              <a:gd name="T1" fmla="*/ 0 h 825"/>
              <a:gd name="T2" fmla="*/ 0 w 926"/>
              <a:gd name="T3" fmla="*/ 0 h 825"/>
              <a:gd name="T4" fmla="*/ 2147483646 w 926"/>
              <a:gd name="T5" fmla="*/ 2147483646 h 825"/>
              <a:gd name="T6" fmla="*/ 0 w 926"/>
              <a:gd name="T7" fmla="*/ 2147483646 h 825"/>
              <a:gd name="T8" fmla="*/ 2147483646 w 926"/>
              <a:gd name="T9" fmla="*/ 2147483646 h 825"/>
              <a:gd name="T10" fmla="*/ 2147483646 w 926"/>
              <a:gd name="T11" fmla="*/ 2147483646 h 825"/>
              <a:gd name="T12" fmla="*/ 2147483646 w 926"/>
              <a:gd name="T13" fmla="*/ 0 h 8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26" h="825" extrusionOk="0">
                <a:moveTo>
                  <a:pt x="766" y="0"/>
                </a:moveTo>
                <a:lnTo>
                  <a:pt x="0" y="0"/>
                </a:lnTo>
                <a:lnTo>
                  <a:pt x="160" y="413"/>
                </a:lnTo>
                <a:lnTo>
                  <a:pt x="0" y="825"/>
                </a:lnTo>
                <a:lnTo>
                  <a:pt x="766" y="825"/>
                </a:lnTo>
                <a:lnTo>
                  <a:pt x="926" y="413"/>
                </a:lnTo>
                <a:lnTo>
                  <a:pt x="766" y="0"/>
                </a:lnTo>
                <a:close/>
              </a:path>
            </a:pathLst>
          </a:custGeom>
          <a:solidFill>
            <a:srgbClr val="FFEA00"/>
          </a:solidFill>
          <a:ln>
            <a:noFill/>
          </a:ln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8" name="Google Shape;1214;p42">
            <a:extLst>
              <a:ext uri="{FF2B5EF4-FFF2-40B4-BE49-F238E27FC236}">
                <a16:creationId xmlns:a16="http://schemas.microsoft.com/office/drawing/2014/main" id="{B915774A-71D1-4A5B-B8F0-FF734DE367B4}"/>
              </a:ext>
            </a:extLst>
          </p:cNvPr>
          <p:cNvSpPr>
            <a:spLocks/>
          </p:cNvSpPr>
          <p:nvPr/>
        </p:nvSpPr>
        <p:spPr bwMode="auto">
          <a:xfrm>
            <a:off x="4505398" y="1867079"/>
            <a:ext cx="1678197" cy="1309687"/>
          </a:xfrm>
          <a:custGeom>
            <a:avLst/>
            <a:gdLst>
              <a:gd name="T0" fmla="*/ 2147483646 w 927"/>
              <a:gd name="T1" fmla="*/ 0 h 825"/>
              <a:gd name="T2" fmla="*/ 0 w 927"/>
              <a:gd name="T3" fmla="*/ 0 h 825"/>
              <a:gd name="T4" fmla="*/ 2147483646 w 927"/>
              <a:gd name="T5" fmla="*/ 2147483646 h 825"/>
              <a:gd name="T6" fmla="*/ 0 w 927"/>
              <a:gd name="T7" fmla="*/ 2147483646 h 825"/>
              <a:gd name="T8" fmla="*/ 2147483646 w 927"/>
              <a:gd name="T9" fmla="*/ 2147483646 h 825"/>
              <a:gd name="T10" fmla="*/ 2147483646 w 927"/>
              <a:gd name="T11" fmla="*/ 2147483646 h 825"/>
              <a:gd name="T12" fmla="*/ 2147483646 w 927"/>
              <a:gd name="T13" fmla="*/ 0 h 8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27" h="825" extrusionOk="0">
                <a:moveTo>
                  <a:pt x="769" y="0"/>
                </a:moveTo>
                <a:lnTo>
                  <a:pt x="0" y="0"/>
                </a:lnTo>
                <a:lnTo>
                  <a:pt x="160" y="413"/>
                </a:lnTo>
                <a:lnTo>
                  <a:pt x="0" y="825"/>
                </a:lnTo>
                <a:lnTo>
                  <a:pt x="769" y="825"/>
                </a:lnTo>
                <a:lnTo>
                  <a:pt x="927" y="413"/>
                </a:lnTo>
                <a:lnTo>
                  <a:pt x="769" y="0"/>
                </a:lnTo>
                <a:close/>
              </a:path>
            </a:pathLst>
          </a:custGeom>
          <a:solidFill>
            <a:srgbClr val="FFEA00"/>
          </a:solidFill>
          <a:ln>
            <a:noFill/>
          </a:ln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7" name="Google Shape;1213;p42">
            <a:extLst>
              <a:ext uri="{FF2B5EF4-FFF2-40B4-BE49-F238E27FC236}">
                <a16:creationId xmlns:a16="http://schemas.microsoft.com/office/drawing/2014/main" id="{D5FAF761-2965-4237-BF32-23C2741C14BF}"/>
              </a:ext>
            </a:extLst>
          </p:cNvPr>
          <p:cNvSpPr>
            <a:spLocks/>
          </p:cNvSpPr>
          <p:nvPr/>
        </p:nvSpPr>
        <p:spPr bwMode="auto">
          <a:xfrm>
            <a:off x="3004202" y="1867079"/>
            <a:ext cx="1676387" cy="1309687"/>
          </a:xfrm>
          <a:custGeom>
            <a:avLst/>
            <a:gdLst>
              <a:gd name="T0" fmla="*/ 2147483646 w 926"/>
              <a:gd name="T1" fmla="*/ 0 h 825"/>
              <a:gd name="T2" fmla="*/ 0 w 926"/>
              <a:gd name="T3" fmla="*/ 0 h 825"/>
              <a:gd name="T4" fmla="*/ 2147483646 w 926"/>
              <a:gd name="T5" fmla="*/ 2147483646 h 825"/>
              <a:gd name="T6" fmla="*/ 0 w 926"/>
              <a:gd name="T7" fmla="*/ 2147483646 h 825"/>
              <a:gd name="T8" fmla="*/ 2147483646 w 926"/>
              <a:gd name="T9" fmla="*/ 2147483646 h 825"/>
              <a:gd name="T10" fmla="*/ 2147483646 w 926"/>
              <a:gd name="T11" fmla="*/ 2147483646 h 825"/>
              <a:gd name="T12" fmla="*/ 2147483646 w 926"/>
              <a:gd name="T13" fmla="*/ 0 h 8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26" h="825" extrusionOk="0">
                <a:moveTo>
                  <a:pt x="766" y="0"/>
                </a:moveTo>
                <a:lnTo>
                  <a:pt x="0" y="0"/>
                </a:lnTo>
                <a:lnTo>
                  <a:pt x="160" y="413"/>
                </a:lnTo>
                <a:lnTo>
                  <a:pt x="0" y="825"/>
                </a:lnTo>
                <a:lnTo>
                  <a:pt x="766" y="825"/>
                </a:lnTo>
                <a:lnTo>
                  <a:pt x="926" y="413"/>
                </a:lnTo>
                <a:lnTo>
                  <a:pt x="766" y="0"/>
                </a:lnTo>
                <a:close/>
              </a:path>
            </a:pathLst>
          </a:custGeom>
          <a:solidFill>
            <a:srgbClr val="00414B"/>
          </a:solidFill>
          <a:ln>
            <a:noFill/>
          </a:ln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9" name="Google Shape;1215;p42">
            <a:extLst>
              <a:ext uri="{FF2B5EF4-FFF2-40B4-BE49-F238E27FC236}">
                <a16:creationId xmlns:a16="http://schemas.microsoft.com/office/drawing/2014/main" id="{8B0B49A4-FDD5-456F-AEFC-62BB0DB7488E}"/>
              </a:ext>
            </a:extLst>
          </p:cNvPr>
          <p:cNvSpPr>
            <a:spLocks/>
          </p:cNvSpPr>
          <p:nvPr/>
        </p:nvSpPr>
        <p:spPr bwMode="auto">
          <a:xfrm>
            <a:off x="6008404" y="1867079"/>
            <a:ext cx="1676387" cy="1309687"/>
          </a:xfrm>
          <a:custGeom>
            <a:avLst/>
            <a:gdLst>
              <a:gd name="T0" fmla="*/ 2147483646 w 926"/>
              <a:gd name="T1" fmla="*/ 0 h 825"/>
              <a:gd name="T2" fmla="*/ 0 w 926"/>
              <a:gd name="T3" fmla="*/ 0 h 825"/>
              <a:gd name="T4" fmla="*/ 2147483646 w 926"/>
              <a:gd name="T5" fmla="*/ 2147483646 h 825"/>
              <a:gd name="T6" fmla="*/ 0 w 926"/>
              <a:gd name="T7" fmla="*/ 2147483646 h 825"/>
              <a:gd name="T8" fmla="*/ 2147483646 w 926"/>
              <a:gd name="T9" fmla="*/ 2147483646 h 825"/>
              <a:gd name="T10" fmla="*/ 2147483646 w 926"/>
              <a:gd name="T11" fmla="*/ 2147483646 h 825"/>
              <a:gd name="T12" fmla="*/ 2147483646 w 926"/>
              <a:gd name="T13" fmla="*/ 0 h 8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26" h="825" extrusionOk="0">
                <a:moveTo>
                  <a:pt x="766" y="0"/>
                </a:moveTo>
                <a:lnTo>
                  <a:pt x="0" y="0"/>
                </a:lnTo>
                <a:lnTo>
                  <a:pt x="160" y="413"/>
                </a:lnTo>
                <a:lnTo>
                  <a:pt x="0" y="825"/>
                </a:lnTo>
                <a:lnTo>
                  <a:pt x="766" y="825"/>
                </a:lnTo>
                <a:lnTo>
                  <a:pt x="926" y="413"/>
                </a:lnTo>
                <a:lnTo>
                  <a:pt x="766" y="0"/>
                </a:lnTo>
                <a:close/>
              </a:path>
            </a:pathLst>
          </a:custGeom>
          <a:solidFill>
            <a:srgbClr val="00414B"/>
          </a:solidFill>
          <a:ln>
            <a:noFill/>
          </a:ln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0" name="Google Shape;1216;p42">
            <a:extLst>
              <a:ext uri="{FF2B5EF4-FFF2-40B4-BE49-F238E27FC236}">
                <a16:creationId xmlns:a16="http://schemas.microsoft.com/office/drawing/2014/main" id="{42D74638-072A-45DF-A2AA-0C80B855578D}"/>
              </a:ext>
            </a:extLst>
          </p:cNvPr>
          <p:cNvSpPr>
            <a:spLocks/>
          </p:cNvSpPr>
          <p:nvPr/>
        </p:nvSpPr>
        <p:spPr bwMode="auto">
          <a:xfrm>
            <a:off x="7509600" y="1867079"/>
            <a:ext cx="1676387" cy="1309687"/>
          </a:xfrm>
          <a:custGeom>
            <a:avLst/>
            <a:gdLst>
              <a:gd name="T0" fmla="*/ 2147483646 w 926"/>
              <a:gd name="T1" fmla="*/ 0 h 825"/>
              <a:gd name="T2" fmla="*/ 0 w 926"/>
              <a:gd name="T3" fmla="*/ 0 h 825"/>
              <a:gd name="T4" fmla="*/ 2147483646 w 926"/>
              <a:gd name="T5" fmla="*/ 2147483646 h 825"/>
              <a:gd name="T6" fmla="*/ 0 w 926"/>
              <a:gd name="T7" fmla="*/ 2147483646 h 825"/>
              <a:gd name="T8" fmla="*/ 2147483646 w 926"/>
              <a:gd name="T9" fmla="*/ 2147483646 h 825"/>
              <a:gd name="T10" fmla="*/ 2147483646 w 926"/>
              <a:gd name="T11" fmla="*/ 2147483646 h 825"/>
              <a:gd name="T12" fmla="*/ 2147483646 w 926"/>
              <a:gd name="T13" fmla="*/ 0 h 8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26" h="825" extrusionOk="0">
                <a:moveTo>
                  <a:pt x="766" y="0"/>
                </a:moveTo>
                <a:lnTo>
                  <a:pt x="0" y="0"/>
                </a:lnTo>
                <a:lnTo>
                  <a:pt x="160" y="413"/>
                </a:lnTo>
                <a:lnTo>
                  <a:pt x="0" y="825"/>
                </a:lnTo>
                <a:lnTo>
                  <a:pt x="766" y="825"/>
                </a:lnTo>
                <a:lnTo>
                  <a:pt x="926" y="413"/>
                </a:lnTo>
                <a:lnTo>
                  <a:pt x="766" y="0"/>
                </a:lnTo>
                <a:close/>
              </a:path>
            </a:pathLst>
          </a:custGeom>
          <a:solidFill>
            <a:srgbClr val="FFEA00"/>
          </a:solidFill>
          <a:ln>
            <a:noFill/>
          </a:ln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1" name="Google Shape;1217;p42">
            <a:extLst>
              <a:ext uri="{FF2B5EF4-FFF2-40B4-BE49-F238E27FC236}">
                <a16:creationId xmlns:a16="http://schemas.microsoft.com/office/drawing/2014/main" id="{CA9095F6-4F8B-440F-902F-9AF2198F4E5A}"/>
              </a:ext>
            </a:extLst>
          </p:cNvPr>
          <p:cNvSpPr>
            <a:spLocks/>
          </p:cNvSpPr>
          <p:nvPr/>
        </p:nvSpPr>
        <p:spPr bwMode="auto">
          <a:xfrm>
            <a:off x="9010796" y="1867079"/>
            <a:ext cx="1678197" cy="1309687"/>
          </a:xfrm>
          <a:custGeom>
            <a:avLst/>
            <a:gdLst>
              <a:gd name="T0" fmla="*/ 2147483646 w 927"/>
              <a:gd name="T1" fmla="*/ 0 h 825"/>
              <a:gd name="T2" fmla="*/ 0 w 927"/>
              <a:gd name="T3" fmla="*/ 0 h 825"/>
              <a:gd name="T4" fmla="*/ 2147483646 w 927"/>
              <a:gd name="T5" fmla="*/ 2147483646 h 825"/>
              <a:gd name="T6" fmla="*/ 0 w 927"/>
              <a:gd name="T7" fmla="*/ 2147483646 h 825"/>
              <a:gd name="T8" fmla="*/ 2147483646 w 927"/>
              <a:gd name="T9" fmla="*/ 2147483646 h 825"/>
              <a:gd name="T10" fmla="*/ 2147483646 w 927"/>
              <a:gd name="T11" fmla="*/ 2147483646 h 825"/>
              <a:gd name="T12" fmla="*/ 2147483646 w 927"/>
              <a:gd name="T13" fmla="*/ 0 h 8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27" h="825" extrusionOk="0">
                <a:moveTo>
                  <a:pt x="767" y="0"/>
                </a:moveTo>
                <a:lnTo>
                  <a:pt x="0" y="0"/>
                </a:lnTo>
                <a:lnTo>
                  <a:pt x="160" y="413"/>
                </a:lnTo>
                <a:lnTo>
                  <a:pt x="0" y="825"/>
                </a:lnTo>
                <a:lnTo>
                  <a:pt x="767" y="825"/>
                </a:lnTo>
                <a:lnTo>
                  <a:pt x="927" y="413"/>
                </a:lnTo>
                <a:lnTo>
                  <a:pt x="767" y="0"/>
                </a:lnTo>
                <a:close/>
              </a:path>
            </a:pathLst>
          </a:custGeom>
          <a:solidFill>
            <a:srgbClr val="00414B"/>
          </a:solidFill>
          <a:ln>
            <a:noFill/>
          </a:ln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68" name="Rechteck: abgerundete Ecken 67">
            <a:extLst>
              <a:ext uri="{FF2B5EF4-FFF2-40B4-BE49-F238E27FC236}">
                <a16:creationId xmlns:a16="http://schemas.microsoft.com/office/drawing/2014/main" id="{D7137738-3B28-4B37-9557-69214A1DE02D}"/>
              </a:ext>
            </a:extLst>
          </p:cNvPr>
          <p:cNvSpPr/>
          <p:nvPr/>
        </p:nvSpPr>
        <p:spPr>
          <a:xfrm>
            <a:off x="151274" y="3375411"/>
            <a:ext cx="1353848" cy="3996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Schule</a:t>
            </a:r>
          </a:p>
        </p:txBody>
      </p:sp>
      <p:sp>
        <p:nvSpPr>
          <p:cNvPr id="77" name="Rechteck: abgerundete Ecken 76">
            <a:extLst>
              <a:ext uri="{FF2B5EF4-FFF2-40B4-BE49-F238E27FC236}">
                <a16:creationId xmlns:a16="http://schemas.microsoft.com/office/drawing/2014/main" id="{AAF3F0AD-0AE9-4D4E-A807-8AC7C80E7A00}"/>
              </a:ext>
            </a:extLst>
          </p:cNvPr>
          <p:cNvSpPr/>
          <p:nvPr/>
        </p:nvSpPr>
        <p:spPr>
          <a:xfrm>
            <a:off x="1656396" y="3375411"/>
            <a:ext cx="1353848" cy="3996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Engagement</a:t>
            </a:r>
          </a:p>
        </p:txBody>
      </p:sp>
      <p:sp>
        <p:nvSpPr>
          <p:cNvPr id="78" name="Rechteck: abgerundete Ecken 77">
            <a:extLst>
              <a:ext uri="{FF2B5EF4-FFF2-40B4-BE49-F238E27FC236}">
                <a16:creationId xmlns:a16="http://schemas.microsoft.com/office/drawing/2014/main" id="{73ECA4D6-5F73-4331-8DB4-AE9C661E51F3}"/>
              </a:ext>
            </a:extLst>
          </p:cNvPr>
          <p:cNvSpPr/>
          <p:nvPr/>
        </p:nvSpPr>
        <p:spPr>
          <a:xfrm>
            <a:off x="3161518" y="3375717"/>
            <a:ext cx="1353848" cy="39898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Praktikum Continental</a:t>
            </a:r>
          </a:p>
        </p:txBody>
      </p:sp>
      <p:sp>
        <p:nvSpPr>
          <p:cNvPr id="79" name="Rechteck: abgerundete Ecken 78">
            <a:extLst>
              <a:ext uri="{FF2B5EF4-FFF2-40B4-BE49-F238E27FC236}">
                <a16:creationId xmlns:a16="http://schemas.microsoft.com/office/drawing/2014/main" id="{27944FF2-1300-4410-B357-477288FAF721}"/>
              </a:ext>
            </a:extLst>
          </p:cNvPr>
          <p:cNvSpPr/>
          <p:nvPr/>
        </p:nvSpPr>
        <p:spPr>
          <a:xfrm>
            <a:off x="4666640" y="3375718"/>
            <a:ext cx="1353848" cy="39898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Studium</a:t>
            </a:r>
          </a:p>
        </p:txBody>
      </p:sp>
      <p:sp>
        <p:nvSpPr>
          <p:cNvPr id="80" name="Rechteck: abgerundete Ecken 79">
            <a:extLst>
              <a:ext uri="{FF2B5EF4-FFF2-40B4-BE49-F238E27FC236}">
                <a16:creationId xmlns:a16="http://schemas.microsoft.com/office/drawing/2014/main" id="{D17A5A68-BEDB-4334-B59D-8282615EC754}"/>
              </a:ext>
            </a:extLst>
          </p:cNvPr>
          <p:cNvSpPr/>
          <p:nvPr/>
        </p:nvSpPr>
        <p:spPr>
          <a:xfrm>
            <a:off x="6171762" y="3375718"/>
            <a:ext cx="1353600" cy="39898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Praktikum</a:t>
            </a:r>
          </a:p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BDO</a:t>
            </a:r>
          </a:p>
        </p:txBody>
      </p:sp>
      <p:sp>
        <p:nvSpPr>
          <p:cNvPr id="82" name="Rechteck: abgerundete Ecken 81">
            <a:extLst>
              <a:ext uri="{FF2B5EF4-FFF2-40B4-BE49-F238E27FC236}">
                <a16:creationId xmlns:a16="http://schemas.microsoft.com/office/drawing/2014/main" id="{AD783D9D-B7AB-4072-93B4-66DF79F008FF}"/>
              </a:ext>
            </a:extLst>
          </p:cNvPr>
          <p:cNvSpPr/>
          <p:nvPr/>
        </p:nvSpPr>
        <p:spPr>
          <a:xfrm>
            <a:off x="7676636" y="3375718"/>
            <a:ext cx="1353848" cy="39898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Praktikum </a:t>
            </a:r>
          </a:p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4C GROUP</a:t>
            </a:r>
          </a:p>
        </p:txBody>
      </p:sp>
      <p:sp>
        <p:nvSpPr>
          <p:cNvPr id="83" name="Rechteck: abgerundete Ecken 82">
            <a:extLst>
              <a:ext uri="{FF2B5EF4-FFF2-40B4-BE49-F238E27FC236}">
                <a16:creationId xmlns:a16="http://schemas.microsoft.com/office/drawing/2014/main" id="{E0B8144E-081B-443C-AC94-3831F16ECFE4}"/>
              </a:ext>
            </a:extLst>
          </p:cNvPr>
          <p:cNvSpPr/>
          <p:nvPr/>
        </p:nvSpPr>
        <p:spPr>
          <a:xfrm>
            <a:off x="9181758" y="3375717"/>
            <a:ext cx="1353848" cy="39898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Werkstudium </a:t>
            </a:r>
          </a:p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BearingPoint</a:t>
            </a:r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F5A9FF9B-7426-4C24-9BEF-F4EF6BFC0823}"/>
              </a:ext>
            </a:extLst>
          </p:cNvPr>
          <p:cNvSpPr txBox="1"/>
          <p:nvPr/>
        </p:nvSpPr>
        <p:spPr>
          <a:xfrm>
            <a:off x="0" y="4518966"/>
            <a:ext cx="154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Analytische Fächer</a:t>
            </a:r>
          </a:p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Begeisterung für Wirtschaft</a:t>
            </a:r>
          </a:p>
        </p:txBody>
      </p:sp>
      <p:sp>
        <p:nvSpPr>
          <p:cNvPr id="89" name="Textfeld 88">
            <a:extLst>
              <a:ext uri="{FF2B5EF4-FFF2-40B4-BE49-F238E27FC236}">
                <a16:creationId xmlns:a16="http://schemas.microsoft.com/office/drawing/2014/main" id="{EFF3B14F-F330-4504-9B5F-9A081234AA6B}"/>
              </a:ext>
            </a:extLst>
          </p:cNvPr>
          <p:cNvSpPr txBox="1"/>
          <p:nvPr/>
        </p:nvSpPr>
        <p:spPr>
          <a:xfrm>
            <a:off x="1520571" y="4518966"/>
            <a:ext cx="154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Messdiener</a:t>
            </a:r>
          </a:p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 der Syrisch-Orthodoxe-Kirche</a:t>
            </a:r>
          </a:p>
        </p:txBody>
      </p:sp>
      <p:sp>
        <p:nvSpPr>
          <p:cNvPr id="90" name="Textfeld 89">
            <a:extLst>
              <a:ext uri="{FF2B5EF4-FFF2-40B4-BE49-F238E27FC236}">
                <a16:creationId xmlns:a16="http://schemas.microsoft.com/office/drawing/2014/main" id="{7DDFC209-0F81-4D0E-BF84-AE6EF14B71E6}"/>
              </a:ext>
            </a:extLst>
          </p:cNvPr>
          <p:cNvSpPr txBox="1"/>
          <p:nvPr/>
        </p:nvSpPr>
        <p:spPr>
          <a:xfrm>
            <a:off x="3041142" y="4518966"/>
            <a:ext cx="1548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Einblicke in technische Fertigungsverfahren</a:t>
            </a:r>
          </a:p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Einseitige Tätigkeiten </a:t>
            </a:r>
          </a:p>
        </p:txBody>
      </p:sp>
      <p:sp>
        <p:nvSpPr>
          <p:cNvPr id="91" name="Textfeld 90">
            <a:extLst>
              <a:ext uri="{FF2B5EF4-FFF2-40B4-BE49-F238E27FC236}">
                <a16:creationId xmlns:a16="http://schemas.microsoft.com/office/drawing/2014/main" id="{9E06518F-E158-46E5-9536-661BFF8BAA77}"/>
              </a:ext>
            </a:extLst>
          </p:cNvPr>
          <p:cNvSpPr txBox="1"/>
          <p:nvPr/>
        </p:nvSpPr>
        <p:spPr>
          <a:xfrm>
            <a:off x="4561713" y="4518966"/>
            <a:ext cx="1548000" cy="1015663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algn="ctr">
              <a:defRPr sz="120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de-DE" dirty="0"/>
              <a:t>Kombination aus Wirtschaft und Technik </a:t>
            </a:r>
          </a:p>
          <a:p>
            <a:r>
              <a:rPr lang="de-DE" dirty="0"/>
              <a:t>Renommierte Universität</a:t>
            </a:r>
          </a:p>
        </p:txBody>
      </p:sp>
      <p:sp>
        <p:nvSpPr>
          <p:cNvPr id="92" name="Textfeld 91">
            <a:extLst>
              <a:ext uri="{FF2B5EF4-FFF2-40B4-BE49-F238E27FC236}">
                <a16:creationId xmlns:a16="http://schemas.microsoft.com/office/drawing/2014/main" id="{84638AD3-0656-4EF6-9C1A-A309F7EE257C}"/>
              </a:ext>
            </a:extLst>
          </p:cNvPr>
          <p:cNvSpPr txBox="1"/>
          <p:nvPr/>
        </p:nvSpPr>
        <p:spPr>
          <a:xfrm>
            <a:off x="6082284" y="4518966"/>
            <a:ext cx="1548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Keine langfristige Perspektive </a:t>
            </a:r>
          </a:p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Geringe Abwechslung </a:t>
            </a:r>
          </a:p>
        </p:txBody>
      </p:sp>
      <p:sp>
        <p:nvSpPr>
          <p:cNvPr id="93" name="Textfeld 92">
            <a:extLst>
              <a:ext uri="{FF2B5EF4-FFF2-40B4-BE49-F238E27FC236}">
                <a16:creationId xmlns:a16="http://schemas.microsoft.com/office/drawing/2014/main" id="{483FBDE0-8C53-4D39-BD46-800223A46A94}"/>
              </a:ext>
            </a:extLst>
          </p:cNvPr>
          <p:cNvSpPr txBox="1"/>
          <p:nvPr/>
        </p:nvSpPr>
        <p:spPr>
          <a:xfrm>
            <a:off x="7602855" y="4518966"/>
            <a:ext cx="1548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Unterschiedliche Aufgaben </a:t>
            </a:r>
          </a:p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Interesse für digitale Transformationen</a:t>
            </a: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71A917C4-21DD-466D-A766-1E9E05302912}"/>
              </a:ext>
            </a:extLst>
          </p:cNvPr>
          <p:cNvSpPr txBox="1"/>
          <p:nvPr/>
        </p:nvSpPr>
        <p:spPr>
          <a:xfrm>
            <a:off x="9123426" y="4518966"/>
            <a:ext cx="1548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Erfahrungen in einem weiteren Bereich</a:t>
            </a:r>
          </a:p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 der Beratung</a:t>
            </a:r>
            <a:r>
              <a:rPr lang="de-DE" sz="1200" b="1" dirty="0">
                <a:ln w="0"/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95" name="Rechteck: abgerundete Ecken 94">
            <a:extLst>
              <a:ext uri="{FF2B5EF4-FFF2-40B4-BE49-F238E27FC236}">
                <a16:creationId xmlns:a16="http://schemas.microsoft.com/office/drawing/2014/main" id="{6CFF9FEF-5FF4-48E3-9D8D-61B60E045578}"/>
              </a:ext>
            </a:extLst>
          </p:cNvPr>
          <p:cNvSpPr/>
          <p:nvPr/>
        </p:nvSpPr>
        <p:spPr>
          <a:xfrm>
            <a:off x="151274" y="3906956"/>
            <a:ext cx="1353848" cy="29851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2012-2020</a:t>
            </a:r>
          </a:p>
        </p:txBody>
      </p:sp>
      <p:sp>
        <p:nvSpPr>
          <p:cNvPr id="96" name="Rechteck: abgerundete Ecken 95">
            <a:extLst>
              <a:ext uri="{FF2B5EF4-FFF2-40B4-BE49-F238E27FC236}">
                <a16:creationId xmlns:a16="http://schemas.microsoft.com/office/drawing/2014/main" id="{926DB74B-F516-4234-BFBD-09CF9A49D4BF}"/>
              </a:ext>
            </a:extLst>
          </p:cNvPr>
          <p:cNvSpPr/>
          <p:nvPr/>
        </p:nvSpPr>
        <p:spPr>
          <a:xfrm>
            <a:off x="1656396" y="3913306"/>
            <a:ext cx="1353848" cy="29851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2011-heute</a:t>
            </a:r>
          </a:p>
        </p:txBody>
      </p:sp>
      <p:sp>
        <p:nvSpPr>
          <p:cNvPr id="97" name="Rechteck: abgerundete Ecken 96">
            <a:extLst>
              <a:ext uri="{FF2B5EF4-FFF2-40B4-BE49-F238E27FC236}">
                <a16:creationId xmlns:a16="http://schemas.microsoft.com/office/drawing/2014/main" id="{7F5E1382-61F2-4CD6-B0DF-6C61174A90CE}"/>
              </a:ext>
            </a:extLst>
          </p:cNvPr>
          <p:cNvSpPr/>
          <p:nvPr/>
        </p:nvSpPr>
        <p:spPr>
          <a:xfrm>
            <a:off x="3161518" y="3920503"/>
            <a:ext cx="1353848" cy="29851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2019</a:t>
            </a:r>
          </a:p>
        </p:txBody>
      </p:sp>
      <p:sp>
        <p:nvSpPr>
          <p:cNvPr id="98" name="Rechteck: abgerundete Ecken 97">
            <a:extLst>
              <a:ext uri="{FF2B5EF4-FFF2-40B4-BE49-F238E27FC236}">
                <a16:creationId xmlns:a16="http://schemas.microsoft.com/office/drawing/2014/main" id="{E91BE5BD-E879-4D9E-856B-BE4A16332292}"/>
              </a:ext>
            </a:extLst>
          </p:cNvPr>
          <p:cNvSpPr/>
          <p:nvPr/>
        </p:nvSpPr>
        <p:spPr>
          <a:xfrm>
            <a:off x="4666640" y="3913305"/>
            <a:ext cx="1353848" cy="29851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2020-heute</a:t>
            </a:r>
          </a:p>
        </p:txBody>
      </p:sp>
      <p:sp>
        <p:nvSpPr>
          <p:cNvPr id="99" name="Rechteck: abgerundete Ecken 98">
            <a:extLst>
              <a:ext uri="{FF2B5EF4-FFF2-40B4-BE49-F238E27FC236}">
                <a16:creationId xmlns:a16="http://schemas.microsoft.com/office/drawing/2014/main" id="{EB8142FE-45E3-4291-BE1E-FEC421A5BECF}"/>
              </a:ext>
            </a:extLst>
          </p:cNvPr>
          <p:cNvSpPr/>
          <p:nvPr/>
        </p:nvSpPr>
        <p:spPr>
          <a:xfrm>
            <a:off x="6171762" y="3900617"/>
            <a:ext cx="1353600" cy="2988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2022</a:t>
            </a:r>
          </a:p>
        </p:txBody>
      </p:sp>
      <p:sp>
        <p:nvSpPr>
          <p:cNvPr id="100" name="Rechteck: abgerundete Ecken 99">
            <a:extLst>
              <a:ext uri="{FF2B5EF4-FFF2-40B4-BE49-F238E27FC236}">
                <a16:creationId xmlns:a16="http://schemas.microsoft.com/office/drawing/2014/main" id="{2CAD5045-86CD-4729-9DAE-129094A88EF4}"/>
              </a:ext>
            </a:extLst>
          </p:cNvPr>
          <p:cNvSpPr/>
          <p:nvPr/>
        </p:nvSpPr>
        <p:spPr>
          <a:xfrm>
            <a:off x="7676636" y="3895115"/>
            <a:ext cx="1353848" cy="29851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2022-2023</a:t>
            </a:r>
          </a:p>
        </p:txBody>
      </p:sp>
      <p:sp>
        <p:nvSpPr>
          <p:cNvPr id="101" name="Rechteck: abgerundete Ecken 100">
            <a:extLst>
              <a:ext uri="{FF2B5EF4-FFF2-40B4-BE49-F238E27FC236}">
                <a16:creationId xmlns:a16="http://schemas.microsoft.com/office/drawing/2014/main" id="{7440B4ED-8B4B-4119-920F-5A1935BBA85A}"/>
              </a:ext>
            </a:extLst>
          </p:cNvPr>
          <p:cNvSpPr/>
          <p:nvPr/>
        </p:nvSpPr>
        <p:spPr>
          <a:xfrm>
            <a:off x="9181758" y="3895114"/>
            <a:ext cx="1353848" cy="29851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2023</a:t>
            </a:r>
          </a:p>
        </p:txBody>
      </p:sp>
      <p:sp>
        <p:nvSpPr>
          <p:cNvPr id="3" name="Google Shape;1217;p42">
            <a:extLst>
              <a:ext uri="{FF2B5EF4-FFF2-40B4-BE49-F238E27FC236}">
                <a16:creationId xmlns:a16="http://schemas.microsoft.com/office/drawing/2014/main" id="{8AF945E8-6AB6-34F4-B682-472A08B5E051}"/>
              </a:ext>
            </a:extLst>
          </p:cNvPr>
          <p:cNvSpPr>
            <a:spLocks/>
          </p:cNvSpPr>
          <p:nvPr/>
        </p:nvSpPr>
        <p:spPr bwMode="auto">
          <a:xfrm>
            <a:off x="10513803" y="1867079"/>
            <a:ext cx="1678197" cy="1309687"/>
          </a:xfrm>
          <a:custGeom>
            <a:avLst/>
            <a:gdLst>
              <a:gd name="T0" fmla="*/ 2147483646 w 927"/>
              <a:gd name="T1" fmla="*/ 0 h 825"/>
              <a:gd name="T2" fmla="*/ 0 w 927"/>
              <a:gd name="T3" fmla="*/ 0 h 825"/>
              <a:gd name="T4" fmla="*/ 2147483646 w 927"/>
              <a:gd name="T5" fmla="*/ 2147483646 h 825"/>
              <a:gd name="T6" fmla="*/ 0 w 927"/>
              <a:gd name="T7" fmla="*/ 2147483646 h 825"/>
              <a:gd name="T8" fmla="*/ 2147483646 w 927"/>
              <a:gd name="T9" fmla="*/ 2147483646 h 825"/>
              <a:gd name="T10" fmla="*/ 2147483646 w 927"/>
              <a:gd name="T11" fmla="*/ 2147483646 h 825"/>
              <a:gd name="T12" fmla="*/ 2147483646 w 927"/>
              <a:gd name="T13" fmla="*/ 0 h 8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27" h="825" extrusionOk="0">
                <a:moveTo>
                  <a:pt x="767" y="0"/>
                </a:moveTo>
                <a:lnTo>
                  <a:pt x="0" y="0"/>
                </a:lnTo>
                <a:lnTo>
                  <a:pt x="160" y="413"/>
                </a:lnTo>
                <a:lnTo>
                  <a:pt x="0" y="825"/>
                </a:lnTo>
                <a:lnTo>
                  <a:pt x="767" y="825"/>
                </a:lnTo>
                <a:lnTo>
                  <a:pt x="927" y="413"/>
                </a:lnTo>
                <a:lnTo>
                  <a:pt x="767" y="0"/>
                </a:lnTo>
                <a:close/>
              </a:path>
            </a:pathLst>
          </a:custGeom>
          <a:solidFill>
            <a:srgbClr val="FFEA00"/>
          </a:solidFill>
          <a:ln>
            <a:noFill/>
          </a:ln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8" name="Rechteck: abgerundete Ecken 82">
            <a:extLst>
              <a:ext uri="{FF2B5EF4-FFF2-40B4-BE49-F238E27FC236}">
                <a16:creationId xmlns:a16="http://schemas.microsoft.com/office/drawing/2014/main" id="{86548C05-29CE-8329-26D7-E58443CFAA5D}"/>
              </a:ext>
            </a:extLst>
          </p:cNvPr>
          <p:cNvSpPr/>
          <p:nvPr/>
        </p:nvSpPr>
        <p:spPr>
          <a:xfrm>
            <a:off x="10686880" y="3375717"/>
            <a:ext cx="1353848" cy="39898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CBC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8EE323D-0197-2888-B2A4-99CE269F32A0}"/>
              </a:ext>
            </a:extLst>
          </p:cNvPr>
          <p:cNvSpPr txBox="1"/>
          <p:nvPr/>
        </p:nvSpPr>
        <p:spPr>
          <a:xfrm>
            <a:off x="10644000" y="4518966"/>
            <a:ext cx="154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Ziel:</a:t>
            </a:r>
          </a:p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Praktikum im Inhouse Consulting </a:t>
            </a:r>
          </a:p>
        </p:txBody>
      </p:sp>
      <p:sp>
        <p:nvSpPr>
          <p:cNvPr id="10" name="Rechteck: abgerundete Ecken 100">
            <a:extLst>
              <a:ext uri="{FF2B5EF4-FFF2-40B4-BE49-F238E27FC236}">
                <a16:creationId xmlns:a16="http://schemas.microsoft.com/office/drawing/2014/main" id="{EBF8D932-AEAD-965F-B1CD-DE665235DAEA}"/>
              </a:ext>
            </a:extLst>
          </p:cNvPr>
          <p:cNvSpPr/>
          <p:nvPr/>
        </p:nvSpPr>
        <p:spPr>
          <a:xfrm>
            <a:off x="10686880" y="3895114"/>
            <a:ext cx="1353848" cy="29851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2024</a:t>
            </a:r>
          </a:p>
        </p:txBody>
      </p:sp>
      <p:pic>
        <p:nvPicPr>
          <p:cNvPr id="11" name="Grafik 35" descr="Aspiration with solid fill">
            <a:extLst>
              <a:ext uri="{FF2B5EF4-FFF2-40B4-BE49-F238E27FC236}">
                <a16:creationId xmlns:a16="http://schemas.microsoft.com/office/drawing/2014/main" id="{5CE18566-45E7-B735-F9AF-4BB9C19E40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2012043" y="2183991"/>
            <a:ext cx="658313" cy="658313"/>
          </a:xfrm>
          <a:prstGeom prst="rect">
            <a:avLst/>
          </a:prstGeom>
        </p:spPr>
      </p:pic>
      <p:pic>
        <p:nvPicPr>
          <p:cNvPr id="12" name="Grafik 35" descr="Schoolhouse with solid fill">
            <a:extLst>
              <a:ext uri="{FF2B5EF4-FFF2-40B4-BE49-F238E27FC236}">
                <a16:creationId xmlns:a16="http://schemas.microsoft.com/office/drawing/2014/main" id="{FBA9C3C5-838A-A851-DD40-1DDFB272B5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509942" y="2183991"/>
            <a:ext cx="658313" cy="658313"/>
          </a:xfrm>
          <a:prstGeom prst="rect">
            <a:avLst/>
          </a:prstGeom>
        </p:spPr>
      </p:pic>
      <p:pic>
        <p:nvPicPr>
          <p:cNvPr id="13" name="Grafik 35" descr="Graduation cap with solid fill">
            <a:extLst>
              <a:ext uri="{FF2B5EF4-FFF2-40B4-BE49-F238E27FC236}">
                <a16:creationId xmlns:a16="http://schemas.microsoft.com/office/drawing/2014/main" id="{21922DD1-28FD-1DB2-1FE6-595C5C64C5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/>
        </p:blipFill>
        <p:spPr>
          <a:xfrm>
            <a:off x="5015340" y="2183991"/>
            <a:ext cx="658313" cy="658313"/>
          </a:xfrm>
          <a:prstGeom prst="rect">
            <a:avLst/>
          </a:prstGeom>
        </p:spPr>
      </p:pic>
      <p:pic>
        <p:nvPicPr>
          <p:cNvPr id="14" name="Grafik 35" descr="Briefcase with solid fill">
            <a:extLst>
              <a:ext uri="{FF2B5EF4-FFF2-40B4-BE49-F238E27FC236}">
                <a16:creationId xmlns:a16="http://schemas.microsoft.com/office/drawing/2014/main" id="{E0B0D89A-1A7A-3A47-D02A-63A151A2B94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6517441" y="2183991"/>
            <a:ext cx="658313" cy="658313"/>
          </a:xfrm>
          <a:prstGeom prst="rect">
            <a:avLst/>
          </a:prstGeom>
        </p:spPr>
      </p:pic>
      <p:pic>
        <p:nvPicPr>
          <p:cNvPr id="15" name="Picture 4" descr="Landingpage TP 10 | Commerzbank">
            <a:extLst>
              <a:ext uri="{FF2B5EF4-FFF2-40B4-BE49-F238E27FC236}">
                <a16:creationId xmlns:a16="http://schemas.microsoft.com/office/drawing/2014/main" id="{FE0CC61E-8C05-43FF-6292-72E5064B7C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242"/>
          <a:stretch/>
        </p:blipFill>
        <p:spPr bwMode="auto">
          <a:xfrm>
            <a:off x="11014431" y="2183747"/>
            <a:ext cx="676940" cy="65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A97BC655-5F28-1833-DA13-ABEE20A29145}"/>
              </a:ext>
            </a:extLst>
          </p:cNvPr>
          <p:cNvGrpSpPr/>
          <p:nvPr/>
        </p:nvGrpSpPr>
        <p:grpSpPr>
          <a:xfrm>
            <a:off x="2970335" y="218948"/>
            <a:ext cx="8987500" cy="1023635"/>
            <a:chOff x="2970335" y="218948"/>
            <a:chExt cx="8987500" cy="1023635"/>
          </a:xfrm>
        </p:grpSpPr>
        <p:sp>
          <p:nvSpPr>
            <p:cNvPr id="18" name="Rechteck: abgerundete Ecken 30">
              <a:extLst>
                <a:ext uri="{FF2B5EF4-FFF2-40B4-BE49-F238E27FC236}">
                  <a16:creationId xmlns:a16="http://schemas.microsoft.com/office/drawing/2014/main" id="{38381A33-7C1F-3E3C-CB12-DEBCD5144D25}"/>
                </a:ext>
              </a:extLst>
            </p:cNvPr>
            <p:cNvSpPr/>
            <p:nvPr/>
          </p:nvSpPr>
          <p:spPr>
            <a:xfrm>
              <a:off x="2970335" y="475376"/>
              <a:ext cx="6251331" cy="510778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FFFF00"/>
              </a:solidFill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de-DE" sz="2400" dirty="0">
                  <a:solidFill>
                    <a:srgbClr val="00414B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rPr>
                <a:t>Gabriel Kakur</a:t>
              </a:r>
            </a:p>
          </p:txBody>
        </p:sp>
        <p:pic>
          <p:nvPicPr>
            <p:cNvPr id="19" name="Grafik 33">
              <a:extLst>
                <a:ext uri="{FF2B5EF4-FFF2-40B4-BE49-F238E27FC236}">
                  <a16:creationId xmlns:a16="http://schemas.microsoft.com/office/drawing/2014/main" id="{97274E48-CE03-874D-FBAC-82115FC2871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1"/>
            <a:srcRect l="26762" t="456" r="28262" b="7697"/>
            <a:stretch/>
          </p:blipFill>
          <p:spPr>
            <a:xfrm>
              <a:off x="10801089" y="218948"/>
              <a:ext cx="1156746" cy="1023635"/>
            </a:xfrm>
            <a:prstGeom prst="rect">
              <a:avLst/>
            </a:prstGeom>
          </p:spPr>
        </p:pic>
      </p:grpSp>
      <p:pic>
        <p:nvPicPr>
          <p:cNvPr id="20" name="Grafik 19" descr="Telearbeit Silhouette">
            <a:extLst>
              <a:ext uri="{FF2B5EF4-FFF2-40B4-BE49-F238E27FC236}">
                <a16:creationId xmlns:a16="http://schemas.microsoft.com/office/drawing/2014/main" id="{FA3D33C0-189D-8584-EE1A-92A735CA5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512995" y="2183747"/>
            <a:ext cx="658800" cy="658800"/>
          </a:xfrm>
          <a:prstGeom prst="rect">
            <a:avLst/>
          </a:prstGeom>
        </p:spPr>
      </p:pic>
      <p:pic>
        <p:nvPicPr>
          <p:cNvPr id="21" name="Grafik 20" descr="Verzweigungsdiagramm mit einfarbiger Füllung">
            <a:extLst>
              <a:ext uri="{FF2B5EF4-FFF2-40B4-BE49-F238E27FC236}">
                <a16:creationId xmlns:a16="http://schemas.microsoft.com/office/drawing/2014/main" id="{4981B506-4072-A808-ED23-5CD9D1001DE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018393" y="2183747"/>
            <a:ext cx="658800" cy="658800"/>
          </a:xfrm>
          <a:prstGeom prst="rect">
            <a:avLst/>
          </a:prstGeom>
        </p:spPr>
      </p:pic>
      <p:pic>
        <p:nvPicPr>
          <p:cNvPr id="22" name="Grafik 21" descr="Stadt mit einfarbiger Füllung">
            <a:extLst>
              <a:ext uri="{FF2B5EF4-FFF2-40B4-BE49-F238E27FC236}">
                <a16:creationId xmlns:a16="http://schemas.microsoft.com/office/drawing/2014/main" id="{D82596EE-334B-4617-AE39-5629208517F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520494" y="2183747"/>
            <a:ext cx="658800" cy="6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7000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r Verbinder 3">
            <a:extLst>
              <a:ext uri="{FF2B5EF4-FFF2-40B4-BE49-F238E27FC236}">
                <a16:creationId xmlns:a16="http://schemas.microsoft.com/office/drawing/2014/main" id="{E20A7293-6284-4CF8-9604-2203E0672900}"/>
              </a:ext>
            </a:extLst>
          </p:cNvPr>
          <p:cNvCxnSpPr>
            <a:cxnSpLocks/>
          </p:cNvCxnSpPr>
          <p:nvPr/>
        </p:nvCxnSpPr>
        <p:spPr>
          <a:xfrm>
            <a:off x="438932" y="6402487"/>
            <a:ext cx="11230271" cy="30017"/>
          </a:xfrm>
          <a:prstGeom prst="line">
            <a:avLst/>
          </a:prstGeom>
          <a:ln w="28575">
            <a:solidFill>
              <a:srgbClr val="FFFF0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Fußzeilenplatzhalter 2">
            <a:extLst>
              <a:ext uri="{FF2B5EF4-FFF2-40B4-BE49-F238E27FC236}">
                <a16:creationId xmlns:a16="http://schemas.microsoft.com/office/drawing/2014/main" id="{E0B636AA-2664-43C5-8EB1-120E83ADA34F}"/>
              </a:ext>
            </a:extLst>
          </p:cNvPr>
          <p:cNvSpPr txBox="1">
            <a:spLocks/>
          </p:cNvSpPr>
          <p:nvPr/>
        </p:nvSpPr>
        <p:spPr>
          <a:xfrm>
            <a:off x="408632" y="6477941"/>
            <a:ext cx="4761513" cy="185602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554802">
              <a:spcAft>
                <a:spcPts val="611"/>
              </a:spcAft>
            </a:pPr>
            <a:r>
              <a:rPr lang="de-DE" sz="9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Commerz Business Consulting</a:t>
            </a:r>
          </a:p>
        </p:txBody>
      </p:sp>
      <p:sp>
        <p:nvSpPr>
          <p:cNvPr id="6" name="Fußzeilenplatzhalter 2">
            <a:extLst>
              <a:ext uri="{FF2B5EF4-FFF2-40B4-BE49-F238E27FC236}">
                <a16:creationId xmlns:a16="http://schemas.microsoft.com/office/drawing/2014/main" id="{489CCAF1-5747-4D36-A81C-08B1DFA38001}"/>
              </a:ext>
            </a:extLst>
          </p:cNvPr>
          <p:cNvSpPr txBox="1">
            <a:spLocks/>
          </p:cNvSpPr>
          <p:nvPr/>
        </p:nvSpPr>
        <p:spPr>
          <a:xfrm>
            <a:off x="6511870" y="6477941"/>
            <a:ext cx="5232610" cy="231809"/>
          </a:xfrm>
          <a:prstGeom prst="rect">
            <a:avLst/>
          </a:prstGeom>
        </p:spPr>
        <p:txBody>
          <a:bodyPr anchor="ctr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554802">
              <a:spcAft>
                <a:spcPts val="611"/>
              </a:spcAft>
            </a:pPr>
            <a:r>
              <a:rPr lang="de-DE" sz="900" b="1" dirty="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Selbstpräsentation | 30.11.2023 </a:t>
            </a:r>
          </a:p>
        </p:txBody>
      </p:sp>
      <p:sp>
        <p:nvSpPr>
          <p:cNvPr id="68" name="Rechteck: abgerundete Ecken 67">
            <a:extLst>
              <a:ext uri="{FF2B5EF4-FFF2-40B4-BE49-F238E27FC236}">
                <a16:creationId xmlns:a16="http://schemas.microsoft.com/office/drawing/2014/main" id="{D7137738-3B28-4B37-9557-69214A1DE02D}"/>
              </a:ext>
            </a:extLst>
          </p:cNvPr>
          <p:cNvSpPr/>
          <p:nvPr/>
        </p:nvSpPr>
        <p:spPr>
          <a:xfrm>
            <a:off x="151274" y="3375411"/>
            <a:ext cx="1353848" cy="3996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Schule</a:t>
            </a:r>
          </a:p>
        </p:txBody>
      </p:sp>
      <p:sp>
        <p:nvSpPr>
          <p:cNvPr id="77" name="Rechteck: abgerundete Ecken 76">
            <a:extLst>
              <a:ext uri="{FF2B5EF4-FFF2-40B4-BE49-F238E27FC236}">
                <a16:creationId xmlns:a16="http://schemas.microsoft.com/office/drawing/2014/main" id="{AAF3F0AD-0AE9-4D4E-A807-8AC7C80E7A00}"/>
              </a:ext>
            </a:extLst>
          </p:cNvPr>
          <p:cNvSpPr/>
          <p:nvPr/>
        </p:nvSpPr>
        <p:spPr>
          <a:xfrm>
            <a:off x="1656396" y="3375411"/>
            <a:ext cx="1353848" cy="3996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Engagement</a:t>
            </a:r>
          </a:p>
        </p:txBody>
      </p:sp>
      <p:sp>
        <p:nvSpPr>
          <p:cNvPr id="78" name="Rechteck: abgerundete Ecken 77">
            <a:extLst>
              <a:ext uri="{FF2B5EF4-FFF2-40B4-BE49-F238E27FC236}">
                <a16:creationId xmlns:a16="http://schemas.microsoft.com/office/drawing/2014/main" id="{73ECA4D6-5F73-4331-8DB4-AE9C661E51F3}"/>
              </a:ext>
            </a:extLst>
          </p:cNvPr>
          <p:cNvSpPr/>
          <p:nvPr/>
        </p:nvSpPr>
        <p:spPr>
          <a:xfrm>
            <a:off x="3161518" y="3375717"/>
            <a:ext cx="1353848" cy="39898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Praktikum Continental</a:t>
            </a:r>
          </a:p>
        </p:txBody>
      </p:sp>
      <p:sp>
        <p:nvSpPr>
          <p:cNvPr id="79" name="Rechteck: abgerundete Ecken 78">
            <a:extLst>
              <a:ext uri="{FF2B5EF4-FFF2-40B4-BE49-F238E27FC236}">
                <a16:creationId xmlns:a16="http://schemas.microsoft.com/office/drawing/2014/main" id="{27944FF2-1300-4410-B357-477288FAF721}"/>
              </a:ext>
            </a:extLst>
          </p:cNvPr>
          <p:cNvSpPr/>
          <p:nvPr/>
        </p:nvSpPr>
        <p:spPr>
          <a:xfrm>
            <a:off x="4666640" y="3375718"/>
            <a:ext cx="1353848" cy="39898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Studium</a:t>
            </a:r>
          </a:p>
        </p:txBody>
      </p:sp>
      <p:sp>
        <p:nvSpPr>
          <p:cNvPr id="80" name="Rechteck: abgerundete Ecken 79">
            <a:extLst>
              <a:ext uri="{FF2B5EF4-FFF2-40B4-BE49-F238E27FC236}">
                <a16:creationId xmlns:a16="http://schemas.microsoft.com/office/drawing/2014/main" id="{D17A5A68-BEDB-4334-B59D-8282615EC754}"/>
              </a:ext>
            </a:extLst>
          </p:cNvPr>
          <p:cNvSpPr/>
          <p:nvPr/>
        </p:nvSpPr>
        <p:spPr>
          <a:xfrm>
            <a:off x="6171762" y="3375718"/>
            <a:ext cx="1353600" cy="39898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Praktikum</a:t>
            </a:r>
          </a:p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 BDO</a:t>
            </a:r>
          </a:p>
        </p:txBody>
      </p:sp>
      <p:sp>
        <p:nvSpPr>
          <p:cNvPr id="82" name="Rechteck: abgerundete Ecken 81">
            <a:extLst>
              <a:ext uri="{FF2B5EF4-FFF2-40B4-BE49-F238E27FC236}">
                <a16:creationId xmlns:a16="http://schemas.microsoft.com/office/drawing/2014/main" id="{AD783D9D-B7AB-4072-93B4-66DF79F008FF}"/>
              </a:ext>
            </a:extLst>
          </p:cNvPr>
          <p:cNvSpPr/>
          <p:nvPr/>
        </p:nvSpPr>
        <p:spPr>
          <a:xfrm>
            <a:off x="7676636" y="3375718"/>
            <a:ext cx="1353848" cy="398987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Praktikum </a:t>
            </a:r>
          </a:p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4C GROUP</a:t>
            </a:r>
          </a:p>
        </p:txBody>
      </p:sp>
      <p:sp>
        <p:nvSpPr>
          <p:cNvPr id="83" name="Rechteck: abgerundete Ecken 82">
            <a:extLst>
              <a:ext uri="{FF2B5EF4-FFF2-40B4-BE49-F238E27FC236}">
                <a16:creationId xmlns:a16="http://schemas.microsoft.com/office/drawing/2014/main" id="{E0B8144E-081B-443C-AC94-3831F16ECFE4}"/>
              </a:ext>
            </a:extLst>
          </p:cNvPr>
          <p:cNvSpPr/>
          <p:nvPr/>
        </p:nvSpPr>
        <p:spPr>
          <a:xfrm>
            <a:off x="9181758" y="3375717"/>
            <a:ext cx="1353848" cy="39898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Werkstudium </a:t>
            </a:r>
          </a:p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BearingPoint</a:t>
            </a:r>
          </a:p>
        </p:txBody>
      </p:sp>
      <p:sp>
        <p:nvSpPr>
          <p:cNvPr id="85" name="Textfeld 84">
            <a:extLst>
              <a:ext uri="{FF2B5EF4-FFF2-40B4-BE49-F238E27FC236}">
                <a16:creationId xmlns:a16="http://schemas.microsoft.com/office/drawing/2014/main" id="{F5A9FF9B-7426-4C24-9BEF-F4EF6BFC0823}"/>
              </a:ext>
            </a:extLst>
          </p:cNvPr>
          <p:cNvSpPr txBox="1"/>
          <p:nvPr/>
        </p:nvSpPr>
        <p:spPr>
          <a:xfrm>
            <a:off x="0" y="4518966"/>
            <a:ext cx="154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Analytische Fächer</a:t>
            </a:r>
          </a:p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Begeisterung für Wirtschaft</a:t>
            </a:r>
          </a:p>
        </p:txBody>
      </p:sp>
      <p:sp>
        <p:nvSpPr>
          <p:cNvPr id="89" name="Textfeld 88">
            <a:extLst>
              <a:ext uri="{FF2B5EF4-FFF2-40B4-BE49-F238E27FC236}">
                <a16:creationId xmlns:a16="http://schemas.microsoft.com/office/drawing/2014/main" id="{EFF3B14F-F330-4504-9B5F-9A081234AA6B}"/>
              </a:ext>
            </a:extLst>
          </p:cNvPr>
          <p:cNvSpPr txBox="1"/>
          <p:nvPr/>
        </p:nvSpPr>
        <p:spPr>
          <a:xfrm>
            <a:off x="1520571" y="4518966"/>
            <a:ext cx="154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Messdiener</a:t>
            </a:r>
          </a:p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 der Syrisch-Orthodoxe-Kirche</a:t>
            </a:r>
          </a:p>
        </p:txBody>
      </p:sp>
      <p:sp>
        <p:nvSpPr>
          <p:cNvPr id="90" name="Textfeld 89">
            <a:extLst>
              <a:ext uri="{FF2B5EF4-FFF2-40B4-BE49-F238E27FC236}">
                <a16:creationId xmlns:a16="http://schemas.microsoft.com/office/drawing/2014/main" id="{7DDFC209-0F81-4D0E-BF84-AE6EF14B71E6}"/>
              </a:ext>
            </a:extLst>
          </p:cNvPr>
          <p:cNvSpPr txBox="1"/>
          <p:nvPr/>
        </p:nvSpPr>
        <p:spPr>
          <a:xfrm>
            <a:off x="3041142" y="4518966"/>
            <a:ext cx="1548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Einblicke in technische Fertigungsverfahren</a:t>
            </a:r>
          </a:p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Einseitige Tätigkeiten </a:t>
            </a:r>
          </a:p>
        </p:txBody>
      </p:sp>
      <p:sp>
        <p:nvSpPr>
          <p:cNvPr id="91" name="Textfeld 90">
            <a:extLst>
              <a:ext uri="{FF2B5EF4-FFF2-40B4-BE49-F238E27FC236}">
                <a16:creationId xmlns:a16="http://schemas.microsoft.com/office/drawing/2014/main" id="{9E06518F-E158-46E5-9536-661BFF8BAA77}"/>
              </a:ext>
            </a:extLst>
          </p:cNvPr>
          <p:cNvSpPr txBox="1"/>
          <p:nvPr/>
        </p:nvSpPr>
        <p:spPr>
          <a:xfrm>
            <a:off x="4561713" y="4518966"/>
            <a:ext cx="1548000" cy="1015663"/>
          </a:xfrm>
          <a:prstGeom prst="rect">
            <a:avLst/>
          </a:prstGeom>
          <a:solidFill>
            <a:schemeClr val="bg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algn="ctr">
              <a:defRPr sz="120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de-DE" dirty="0"/>
              <a:t>Kombination aus Wirtschaft und Technik </a:t>
            </a:r>
          </a:p>
          <a:p>
            <a:r>
              <a:rPr lang="de-DE" dirty="0"/>
              <a:t>Renommierte Universität</a:t>
            </a:r>
          </a:p>
        </p:txBody>
      </p:sp>
      <p:sp>
        <p:nvSpPr>
          <p:cNvPr id="92" name="Textfeld 91">
            <a:extLst>
              <a:ext uri="{FF2B5EF4-FFF2-40B4-BE49-F238E27FC236}">
                <a16:creationId xmlns:a16="http://schemas.microsoft.com/office/drawing/2014/main" id="{84638AD3-0656-4EF6-9C1A-A309F7EE257C}"/>
              </a:ext>
            </a:extLst>
          </p:cNvPr>
          <p:cNvSpPr txBox="1"/>
          <p:nvPr/>
        </p:nvSpPr>
        <p:spPr>
          <a:xfrm>
            <a:off x="6082284" y="4518966"/>
            <a:ext cx="1548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Keine langfristige Perspektive </a:t>
            </a:r>
          </a:p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Geringe Abwechslung </a:t>
            </a:r>
          </a:p>
        </p:txBody>
      </p:sp>
      <p:sp>
        <p:nvSpPr>
          <p:cNvPr id="93" name="Textfeld 92">
            <a:extLst>
              <a:ext uri="{FF2B5EF4-FFF2-40B4-BE49-F238E27FC236}">
                <a16:creationId xmlns:a16="http://schemas.microsoft.com/office/drawing/2014/main" id="{483FBDE0-8C53-4D39-BD46-800223A46A94}"/>
              </a:ext>
            </a:extLst>
          </p:cNvPr>
          <p:cNvSpPr txBox="1"/>
          <p:nvPr/>
        </p:nvSpPr>
        <p:spPr>
          <a:xfrm>
            <a:off x="7602855" y="4518966"/>
            <a:ext cx="1548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Unterschiedliche Aufgaben </a:t>
            </a:r>
          </a:p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Interesse für digitale Transformationen</a:t>
            </a:r>
          </a:p>
        </p:txBody>
      </p:sp>
      <p:sp>
        <p:nvSpPr>
          <p:cNvPr id="94" name="Textfeld 93">
            <a:extLst>
              <a:ext uri="{FF2B5EF4-FFF2-40B4-BE49-F238E27FC236}">
                <a16:creationId xmlns:a16="http://schemas.microsoft.com/office/drawing/2014/main" id="{71A917C4-21DD-466D-A766-1E9E05302912}"/>
              </a:ext>
            </a:extLst>
          </p:cNvPr>
          <p:cNvSpPr txBox="1"/>
          <p:nvPr/>
        </p:nvSpPr>
        <p:spPr>
          <a:xfrm>
            <a:off x="9123426" y="4518966"/>
            <a:ext cx="1548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Erfahrungen in einem weiteren Bereich</a:t>
            </a:r>
          </a:p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in der Beratung</a:t>
            </a:r>
            <a:r>
              <a:rPr lang="de-DE" sz="1200" b="1" dirty="0">
                <a:ln w="0"/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95" name="Rechteck: abgerundete Ecken 94">
            <a:extLst>
              <a:ext uri="{FF2B5EF4-FFF2-40B4-BE49-F238E27FC236}">
                <a16:creationId xmlns:a16="http://schemas.microsoft.com/office/drawing/2014/main" id="{6CFF9FEF-5FF4-48E3-9D8D-61B60E045578}"/>
              </a:ext>
            </a:extLst>
          </p:cNvPr>
          <p:cNvSpPr/>
          <p:nvPr/>
        </p:nvSpPr>
        <p:spPr>
          <a:xfrm>
            <a:off x="151274" y="3906956"/>
            <a:ext cx="1353848" cy="29851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2012-2020</a:t>
            </a:r>
          </a:p>
        </p:txBody>
      </p:sp>
      <p:sp>
        <p:nvSpPr>
          <p:cNvPr id="96" name="Rechteck: abgerundete Ecken 95">
            <a:extLst>
              <a:ext uri="{FF2B5EF4-FFF2-40B4-BE49-F238E27FC236}">
                <a16:creationId xmlns:a16="http://schemas.microsoft.com/office/drawing/2014/main" id="{926DB74B-F516-4234-BFBD-09CF9A49D4BF}"/>
              </a:ext>
            </a:extLst>
          </p:cNvPr>
          <p:cNvSpPr/>
          <p:nvPr/>
        </p:nvSpPr>
        <p:spPr>
          <a:xfrm>
            <a:off x="1656396" y="3913306"/>
            <a:ext cx="1353848" cy="29851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2011-heute</a:t>
            </a:r>
          </a:p>
        </p:txBody>
      </p:sp>
      <p:sp>
        <p:nvSpPr>
          <p:cNvPr id="97" name="Rechteck: abgerundete Ecken 96">
            <a:extLst>
              <a:ext uri="{FF2B5EF4-FFF2-40B4-BE49-F238E27FC236}">
                <a16:creationId xmlns:a16="http://schemas.microsoft.com/office/drawing/2014/main" id="{7F5E1382-61F2-4CD6-B0DF-6C61174A90CE}"/>
              </a:ext>
            </a:extLst>
          </p:cNvPr>
          <p:cNvSpPr/>
          <p:nvPr/>
        </p:nvSpPr>
        <p:spPr>
          <a:xfrm>
            <a:off x="3161518" y="3920503"/>
            <a:ext cx="1353848" cy="29851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2019</a:t>
            </a:r>
          </a:p>
        </p:txBody>
      </p:sp>
      <p:sp>
        <p:nvSpPr>
          <p:cNvPr id="98" name="Rechteck: abgerundete Ecken 97">
            <a:extLst>
              <a:ext uri="{FF2B5EF4-FFF2-40B4-BE49-F238E27FC236}">
                <a16:creationId xmlns:a16="http://schemas.microsoft.com/office/drawing/2014/main" id="{E91BE5BD-E879-4D9E-856B-BE4A16332292}"/>
              </a:ext>
            </a:extLst>
          </p:cNvPr>
          <p:cNvSpPr/>
          <p:nvPr/>
        </p:nvSpPr>
        <p:spPr>
          <a:xfrm>
            <a:off x="4666640" y="3913305"/>
            <a:ext cx="1353848" cy="29851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2020-heute</a:t>
            </a:r>
          </a:p>
        </p:txBody>
      </p:sp>
      <p:sp>
        <p:nvSpPr>
          <p:cNvPr id="99" name="Rechteck: abgerundete Ecken 98">
            <a:extLst>
              <a:ext uri="{FF2B5EF4-FFF2-40B4-BE49-F238E27FC236}">
                <a16:creationId xmlns:a16="http://schemas.microsoft.com/office/drawing/2014/main" id="{EB8142FE-45E3-4291-BE1E-FEC421A5BECF}"/>
              </a:ext>
            </a:extLst>
          </p:cNvPr>
          <p:cNvSpPr/>
          <p:nvPr/>
        </p:nvSpPr>
        <p:spPr>
          <a:xfrm>
            <a:off x="6171762" y="3900617"/>
            <a:ext cx="1353600" cy="298800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2022</a:t>
            </a:r>
          </a:p>
        </p:txBody>
      </p:sp>
      <p:sp>
        <p:nvSpPr>
          <p:cNvPr id="100" name="Rechteck: abgerundete Ecken 99">
            <a:extLst>
              <a:ext uri="{FF2B5EF4-FFF2-40B4-BE49-F238E27FC236}">
                <a16:creationId xmlns:a16="http://schemas.microsoft.com/office/drawing/2014/main" id="{2CAD5045-86CD-4729-9DAE-129094A88EF4}"/>
              </a:ext>
            </a:extLst>
          </p:cNvPr>
          <p:cNvSpPr/>
          <p:nvPr/>
        </p:nvSpPr>
        <p:spPr>
          <a:xfrm>
            <a:off x="7676636" y="3895115"/>
            <a:ext cx="1353848" cy="29851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2022-2023</a:t>
            </a:r>
          </a:p>
        </p:txBody>
      </p:sp>
      <p:sp>
        <p:nvSpPr>
          <p:cNvPr id="101" name="Rechteck: abgerundete Ecken 100">
            <a:extLst>
              <a:ext uri="{FF2B5EF4-FFF2-40B4-BE49-F238E27FC236}">
                <a16:creationId xmlns:a16="http://schemas.microsoft.com/office/drawing/2014/main" id="{7440B4ED-8B4B-4119-920F-5A1935BBA85A}"/>
              </a:ext>
            </a:extLst>
          </p:cNvPr>
          <p:cNvSpPr/>
          <p:nvPr/>
        </p:nvSpPr>
        <p:spPr>
          <a:xfrm>
            <a:off x="9181758" y="3895114"/>
            <a:ext cx="1353848" cy="29851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2023</a:t>
            </a:r>
          </a:p>
        </p:txBody>
      </p:sp>
      <p:sp>
        <p:nvSpPr>
          <p:cNvPr id="45" name="Google Shape;1211;p42">
            <a:extLst>
              <a:ext uri="{FF2B5EF4-FFF2-40B4-BE49-F238E27FC236}">
                <a16:creationId xmlns:a16="http://schemas.microsoft.com/office/drawing/2014/main" id="{BEB3A6BA-3A14-4DFE-A94F-1BCAAA00C0C4}"/>
              </a:ext>
            </a:extLst>
          </p:cNvPr>
          <p:cNvSpPr>
            <a:spLocks/>
          </p:cNvSpPr>
          <p:nvPr/>
        </p:nvSpPr>
        <p:spPr bwMode="auto">
          <a:xfrm>
            <a:off x="0" y="1867079"/>
            <a:ext cx="1678197" cy="1309687"/>
          </a:xfrm>
          <a:custGeom>
            <a:avLst/>
            <a:gdLst>
              <a:gd name="T0" fmla="*/ 2147483646 w 927"/>
              <a:gd name="T1" fmla="*/ 0 h 825"/>
              <a:gd name="T2" fmla="*/ 0 w 927"/>
              <a:gd name="T3" fmla="*/ 0 h 825"/>
              <a:gd name="T4" fmla="*/ 2147483646 w 927"/>
              <a:gd name="T5" fmla="*/ 2147483646 h 825"/>
              <a:gd name="T6" fmla="*/ 0 w 927"/>
              <a:gd name="T7" fmla="*/ 2147483646 h 825"/>
              <a:gd name="T8" fmla="*/ 2147483646 w 927"/>
              <a:gd name="T9" fmla="*/ 2147483646 h 825"/>
              <a:gd name="T10" fmla="*/ 2147483646 w 927"/>
              <a:gd name="T11" fmla="*/ 2147483646 h 825"/>
              <a:gd name="T12" fmla="*/ 2147483646 w 927"/>
              <a:gd name="T13" fmla="*/ 0 h 8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27" h="825" extrusionOk="0">
                <a:moveTo>
                  <a:pt x="769" y="0"/>
                </a:moveTo>
                <a:lnTo>
                  <a:pt x="0" y="0"/>
                </a:lnTo>
                <a:lnTo>
                  <a:pt x="160" y="413"/>
                </a:lnTo>
                <a:lnTo>
                  <a:pt x="0" y="825"/>
                </a:lnTo>
                <a:lnTo>
                  <a:pt x="769" y="825"/>
                </a:lnTo>
                <a:lnTo>
                  <a:pt x="927" y="413"/>
                </a:lnTo>
                <a:lnTo>
                  <a:pt x="769" y="0"/>
                </a:lnTo>
                <a:close/>
              </a:path>
            </a:pathLst>
          </a:custGeom>
          <a:solidFill>
            <a:srgbClr val="FFEA00"/>
          </a:solidFill>
          <a:ln>
            <a:noFill/>
          </a:ln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6" name="Google Shape;1212;p42">
            <a:extLst>
              <a:ext uri="{FF2B5EF4-FFF2-40B4-BE49-F238E27FC236}">
                <a16:creationId xmlns:a16="http://schemas.microsoft.com/office/drawing/2014/main" id="{BE93AF3A-3FB1-4C1C-B44A-7FA34CA9F215}"/>
              </a:ext>
            </a:extLst>
          </p:cNvPr>
          <p:cNvSpPr>
            <a:spLocks/>
          </p:cNvSpPr>
          <p:nvPr/>
        </p:nvSpPr>
        <p:spPr bwMode="auto">
          <a:xfrm>
            <a:off x="1503006" y="1867079"/>
            <a:ext cx="1676387" cy="1309687"/>
          </a:xfrm>
          <a:custGeom>
            <a:avLst/>
            <a:gdLst>
              <a:gd name="T0" fmla="*/ 2147483646 w 926"/>
              <a:gd name="T1" fmla="*/ 0 h 825"/>
              <a:gd name="T2" fmla="*/ 0 w 926"/>
              <a:gd name="T3" fmla="*/ 0 h 825"/>
              <a:gd name="T4" fmla="*/ 2147483646 w 926"/>
              <a:gd name="T5" fmla="*/ 2147483646 h 825"/>
              <a:gd name="T6" fmla="*/ 0 w 926"/>
              <a:gd name="T7" fmla="*/ 2147483646 h 825"/>
              <a:gd name="T8" fmla="*/ 2147483646 w 926"/>
              <a:gd name="T9" fmla="*/ 2147483646 h 825"/>
              <a:gd name="T10" fmla="*/ 2147483646 w 926"/>
              <a:gd name="T11" fmla="*/ 2147483646 h 825"/>
              <a:gd name="T12" fmla="*/ 2147483646 w 926"/>
              <a:gd name="T13" fmla="*/ 0 h 8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26" h="825" extrusionOk="0">
                <a:moveTo>
                  <a:pt x="766" y="0"/>
                </a:moveTo>
                <a:lnTo>
                  <a:pt x="0" y="0"/>
                </a:lnTo>
                <a:lnTo>
                  <a:pt x="160" y="413"/>
                </a:lnTo>
                <a:lnTo>
                  <a:pt x="0" y="825"/>
                </a:lnTo>
                <a:lnTo>
                  <a:pt x="766" y="825"/>
                </a:lnTo>
                <a:lnTo>
                  <a:pt x="926" y="413"/>
                </a:lnTo>
                <a:lnTo>
                  <a:pt x="766" y="0"/>
                </a:lnTo>
                <a:close/>
              </a:path>
            </a:pathLst>
          </a:custGeom>
          <a:solidFill>
            <a:srgbClr val="00414B"/>
          </a:solidFill>
          <a:ln>
            <a:noFill/>
          </a:ln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8" name="Google Shape;1214;p42">
            <a:extLst>
              <a:ext uri="{FF2B5EF4-FFF2-40B4-BE49-F238E27FC236}">
                <a16:creationId xmlns:a16="http://schemas.microsoft.com/office/drawing/2014/main" id="{B915774A-71D1-4A5B-B8F0-FF734DE367B4}"/>
              </a:ext>
            </a:extLst>
          </p:cNvPr>
          <p:cNvSpPr>
            <a:spLocks/>
          </p:cNvSpPr>
          <p:nvPr/>
        </p:nvSpPr>
        <p:spPr bwMode="auto">
          <a:xfrm>
            <a:off x="4505398" y="1867079"/>
            <a:ext cx="1678197" cy="1309687"/>
          </a:xfrm>
          <a:custGeom>
            <a:avLst/>
            <a:gdLst>
              <a:gd name="T0" fmla="*/ 2147483646 w 927"/>
              <a:gd name="T1" fmla="*/ 0 h 825"/>
              <a:gd name="T2" fmla="*/ 0 w 927"/>
              <a:gd name="T3" fmla="*/ 0 h 825"/>
              <a:gd name="T4" fmla="*/ 2147483646 w 927"/>
              <a:gd name="T5" fmla="*/ 2147483646 h 825"/>
              <a:gd name="T6" fmla="*/ 0 w 927"/>
              <a:gd name="T7" fmla="*/ 2147483646 h 825"/>
              <a:gd name="T8" fmla="*/ 2147483646 w 927"/>
              <a:gd name="T9" fmla="*/ 2147483646 h 825"/>
              <a:gd name="T10" fmla="*/ 2147483646 w 927"/>
              <a:gd name="T11" fmla="*/ 2147483646 h 825"/>
              <a:gd name="T12" fmla="*/ 2147483646 w 927"/>
              <a:gd name="T13" fmla="*/ 0 h 8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27" h="825" extrusionOk="0">
                <a:moveTo>
                  <a:pt x="769" y="0"/>
                </a:moveTo>
                <a:lnTo>
                  <a:pt x="0" y="0"/>
                </a:lnTo>
                <a:lnTo>
                  <a:pt x="160" y="413"/>
                </a:lnTo>
                <a:lnTo>
                  <a:pt x="0" y="825"/>
                </a:lnTo>
                <a:lnTo>
                  <a:pt x="769" y="825"/>
                </a:lnTo>
                <a:lnTo>
                  <a:pt x="927" y="413"/>
                </a:lnTo>
                <a:lnTo>
                  <a:pt x="769" y="0"/>
                </a:lnTo>
                <a:close/>
              </a:path>
            </a:pathLst>
          </a:custGeom>
          <a:solidFill>
            <a:srgbClr val="00414B"/>
          </a:solidFill>
          <a:ln>
            <a:noFill/>
          </a:ln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7" name="Google Shape;1213;p42">
            <a:extLst>
              <a:ext uri="{FF2B5EF4-FFF2-40B4-BE49-F238E27FC236}">
                <a16:creationId xmlns:a16="http://schemas.microsoft.com/office/drawing/2014/main" id="{D5FAF761-2965-4237-BF32-23C2741C14BF}"/>
              </a:ext>
            </a:extLst>
          </p:cNvPr>
          <p:cNvSpPr>
            <a:spLocks/>
          </p:cNvSpPr>
          <p:nvPr/>
        </p:nvSpPr>
        <p:spPr bwMode="auto">
          <a:xfrm>
            <a:off x="3004202" y="1867079"/>
            <a:ext cx="1676387" cy="1309687"/>
          </a:xfrm>
          <a:custGeom>
            <a:avLst/>
            <a:gdLst>
              <a:gd name="T0" fmla="*/ 2147483646 w 926"/>
              <a:gd name="T1" fmla="*/ 0 h 825"/>
              <a:gd name="T2" fmla="*/ 0 w 926"/>
              <a:gd name="T3" fmla="*/ 0 h 825"/>
              <a:gd name="T4" fmla="*/ 2147483646 w 926"/>
              <a:gd name="T5" fmla="*/ 2147483646 h 825"/>
              <a:gd name="T6" fmla="*/ 0 w 926"/>
              <a:gd name="T7" fmla="*/ 2147483646 h 825"/>
              <a:gd name="T8" fmla="*/ 2147483646 w 926"/>
              <a:gd name="T9" fmla="*/ 2147483646 h 825"/>
              <a:gd name="T10" fmla="*/ 2147483646 w 926"/>
              <a:gd name="T11" fmla="*/ 2147483646 h 825"/>
              <a:gd name="T12" fmla="*/ 2147483646 w 926"/>
              <a:gd name="T13" fmla="*/ 0 h 8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26" h="825" extrusionOk="0">
                <a:moveTo>
                  <a:pt x="766" y="0"/>
                </a:moveTo>
                <a:lnTo>
                  <a:pt x="0" y="0"/>
                </a:lnTo>
                <a:lnTo>
                  <a:pt x="160" y="413"/>
                </a:lnTo>
                <a:lnTo>
                  <a:pt x="0" y="825"/>
                </a:lnTo>
                <a:lnTo>
                  <a:pt x="766" y="825"/>
                </a:lnTo>
                <a:lnTo>
                  <a:pt x="926" y="413"/>
                </a:lnTo>
                <a:lnTo>
                  <a:pt x="766" y="0"/>
                </a:lnTo>
                <a:close/>
              </a:path>
            </a:pathLst>
          </a:custGeom>
          <a:solidFill>
            <a:srgbClr val="FFEA00"/>
          </a:solidFill>
          <a:ln>
            <a:noFill/>
          </a:ln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49" name="Google Shape;1215;p42">
            <a:extLst>
              <a:ext uri="{FF2B5EF4-FFF2-40B4-BE49-F238E27FC236}">
                <a16:creationId xmlns:a16="http://schemas.microsoft.com/office/drawing/2014/main" id="{8B0B49A4-FDD5-456F-AEFC-62BB0DB7488E}"/>
              </a:ext>
            </a:extLst>
          </p:cNvPr>
          <p:cNvSpPr>
            <a:spLocks/>
          </p:cNvSpPr>
          <p:nvPr/>
        </p:nvSpPr>
        <p:spPr bwMode="auto">
          <a:xfrm>
            <a:off x="6008404" y="1867079"/>
            <a:ext cx="1676387" cy="1309687"/>
          </a:xfrm>
          <a:custGeom>
            <a:avLst/>
            <a:gdLst>
              <a:gd name="T0" fmla="*/ 2147483646 w 926"/>
              <a:gd name="T1" fmla="*/ 0 h 825"/>
              <a:gd name="T2" fmla="*/ 0 w 926"/>
              <a:gd name="T3" fmla="*/ 0 h 825"/>
              <a:gd name="T4" fmla="*/ 2147483646 w 926"/>
              <a:gd name="T5" fmla="*/ 2147483646 h 825"/>
              <a:gd name="T6" fmla="*/ 0 w 926"/>
              <a:gd name="T7" fmla="*/ 2147483646 h 825"/>
              <a:gd name="T8" fmla="*/ 2147483646 w 926"/>
              <a:gd name="T9" fmla="*/ 2147483646 h 825"/>
              <a:gd name="T10" fmla="*/ 2147483646 w 926"/>
              <a:gd name="T11" fmla="*/ 2147483646 h 825"/>
              <a:gd name="T12" fmla="*/ 2147483646 w 926"/>
              <a:gd name="T13" fmla="*/ 0 h 8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26" h="825" extrusionOk="0">
                <a:moveTo>
                  <a:pt x="766" y="0"/>
                </a:moveTo>
                <a:lnTo>
                  <a:pt x="0" y="0"/>
                </a:lnTo>
                <a:lnTo>
                  <a:pt x="160" y="413"/>
                </a:lnTo>
                <a:lnTo>
                  <a:pt x="0" y="825"/>
                </a:lnTo>
                <a:lnTo>
                  <a:pt x="766" y="825"/>
                </a:lnTo>
                <a:lnTo>
                  <a:pt x="926" y="413"/>
                </a:lnTo>
                <a:lnTo>
                  <a:pt x="766" y="0"/>
                </a:lnTo>
                <a:close/>
              </a:path>
            </a:pathLst>
          </a:custGeom>
          <a:solidFill>
            <a:srgbClr val="FFEA00"/>
          </a:solidFill>
          <a:ln>
            <a:noFill/>
          </a:ln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0" name="Google Shape;1216;p42">
            <a:extLst>
              <a:ext uri="{FF2B5EF4-FFF2-40B4-BE49-F238E27FC236}">
                <a16:creationId xmlns:a16="http://schemas.microsoft.com/office/drawing/2014/main" id="{42D74638-072A-45DF-A2AA-0C80B855578D}"/>
              </a:ext>
            </a:extLst>
          </p:cNvPr>
          <p:cNvSpPr>
            <a:spLocks/>
          </p:cNvSpPr>
          <p:nvPr/>
        </p:nvSpPr>
        <p:spPr bwMode="auto">
          <a:xfrm>
            <a:off x="7509600" y="1867079"/>
            <a:ext cx="1676387" cy="1309687"/>
          </a:xfrm>
          <a:custGeom>
            <a:avLst/>
            <a:gdLst>
              <a:gd name="T0" fmla="*/ 2147483646 w 926"/>
              <a:gd name="T1" fmla="*/ 0 h 825"/>
              <a:gd name="T2" fmla="*/ 0 w 926"/>
              <a:gd name="T3" fmla="*/ 0 h 825"/>
              <a:gd name="T4" fmla="*/ 2147483646 w 926"/>
              <a:gd name="T5" fmla="*/ 2147483646 h 825"/>
              <a:gd name="T6" fmla="*/ 0 w 926"/>
              <a:gd name="T7" fmla="*/ 2147483646 h 825"/>
              <a:gd name="T8" fmla="*/ 2147483646 w 926"/>
              <a:gd name="T9" fmla="*/ 2147483646 h 825"/>
              <a:gd name="T10" fmla="*/ 2147483646 w 926"/>
              <a:gd name="T11" fmla="*/ 2147483646 h 825"/>
              <a:gd name="T12" fmla="*/ 2147483646 w 926"/>
              <a:gd name="T13" fmla="*/ 0 h 8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26" h="825" extrusionOk="0">
                <a:moveTo>
                  <a:pt x="766" y="0"/>
                </a:moveTo>
                <a:lnTo>
                  <a:pt x="0" y="0"/>
                </a:lnTo>
                <a:lnTo>
                  <a:pt x="160" y="413"/>
                </a:lnTo>
                <a:lnTo>
                  <a:pt x="0" y="825"/>
                </a:lnTo>
                <a:lnTo>
                  <a:pt x="766" y="825"/>
                </a:lnTo>
                <a:lnTo>
                  <a:pt x="926" y="413"/>
                </a:lnTo>
                <a:lnTo>
                  <a:pt x="766" y="0"/>
                </a:lnTo>
                <a:close/>
              </a:path>
            </a:pathLst>
          </a:custGeom>
          <a:solidFill>
            <a:srgbClr val="00414B"/>
          </a:solidFill>
          <a:ln>
            <a:noFill/>
          </a:ln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51" name="Google Shape;1217;p42">
            <a:extLst>
              <a:ext uri="{FF2B5EF4-FFF2-40B4-BE49-F238E27FC236}">
                <a16:creationId xmlns:a16="http://schemas.microsoft.com/office/drawing/2014/main" id="{CA9095F6-4F8B-440F-902F-9AF2198F4E5A}"/>
              </a:ext>
            </a:extLst>
          </p:cNvPr>
          <p:cNvSpPr>
            <a:spLocks/>
          </p:cNvSpPr>
          <p:nvPr/>
        </p:nvSpPr>
        <p:spPr bwMode="auto">
          <a:xfrm>
            <a:off x="9010796" y="1867079"/>
            <a:ext cx="1678197" cy="1309687"/>
          </a:xfrm>
          <a:custGeom>
            <a:avLst/>
            <a:gdLst>
              <a:gd name="T0" fmla="*/ 2147483646 w 927"/>
              <a:gd name="T1" fmla="*/ 0 h 825"/>
              <a:gd name="T2" fmla="*/ 0 w 927"/>
              <a:gd name="T3" fmla="*/ 0 h 825"/>
              <a:gd name="T4" fmla="*/ 2147483646 w 927"/>
              <a:gd name="T5" fmla="*/ 2147483646 h 825"/>
              <a:gd name="T6" fmla="*/ 0 w 927"/>
              <a:gd name="T7" fmla="*/ 2147483646 h 825"/>
              <a:gd name="T8" fmla="*/ 2147483646 w 927"/>
              <a:gd name="T9" fmla="*/ 2147483646 h 825"/>
              <a:gd name="T10" fmla="*/ 2147483646 w 927"/>
              <a:gd name="T11" fmla="*/ 2147483646 h 825"/>
              <a:gd name="T12" fmla="*/ 2147483646 w 927"/>
              <a:gd name="T13" fmla="*/ 0 h 8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27" h="825" extrusionOk="0">
                <a:moveTo>
                  <a:pt x="767" y="0"/>
                </a:moveTo>
                <a:lnTo>
                  <a:pt x="0" y="0"/>
                </a:lnTo>
                <a:lnTo>
                  <a:pt x="160" y="413"/>
                </a:lnTo>
                <a:lnTo>
                  <a:pt x="0" y="825"/>
                </a:lnTo>
                <a:lnTo>
                  <a:pt x="767" y="825"/>
                </a:lnTo>
                <a:lnTo>
                  <a:pt x="927" y="413"/>
                </a:lnTo>
                <a:lnTo>
                  <a:pt x="767" y="0"/>
                </a:lnTo>
                <a:close/>
              </a:path>
            </a:pathLst>
          </a:custGeom>
          <a:solidFill>
            <a:srgbClr val="FFEA00"/>
          </a:solidFill>
          <a:ln>
            <a:noFill/>
          </a:ln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3" name="Google Shape;1217;p42">
            <a:extLst>
              <a:ext uri="{FF2B5EF4-FFF2-40B4-BE49-F238E27FC236}">
                <a16:creationId xmlns:a16="http://schemas.microsoft.com/office/drawing/2014/main" id="{8AF945E8-6AB6-34F4-B682-472A08B5E051}"/>
              </a:ext>
            </a:extLst>
          </p:cNvPr>
          <p:cNvSpPr>
            <a:spLocks/>
          </p:cNvSpPr>
          <p:nvPr/>
        </p:nvSpPr>
        <p:spPr bwMode="auto">
          <a:xfrm>
            <a:off x="10513803" y="1867079"/>
            <a:ext cx="1678197" cy="1309687"/>
          </a:xfrm>
          <a:custGeom>
            <a:avLst/>
            <a:gdLst>
              <a:gd name="T0" fmla="*/ 2147483646 w 927"/>
              <a:gd name="T1" fmla="*/ 0 h 825"/>
              <a:gd name="T2" fmla="*/ 0 w 927"/>
              <a:gd name="T3" fmla="*/ 0 h 825"/>
              <a:gd name="T4" fmla="*/ 2147483646 w 927"/>
              <a:gd name="T5" fmla="*/ 2147483646 h 825"/>
              <a:gd name="T6" fmla="*/ 0 w 927"/>
              <a:gd name="T7" fmla="*/ 2147483646 h 825"/>
              <a:gd name="T8" fmla="*/ 2147483646 w 927"/>
              <a:gd name="T9" fmla="*/ 2147483646 h 825"/>
              <a:gd name="T10" fmla="*/ 2147483646 w 927"/>
              <a:gd name="T11" fmla="*/ 2147483646 h 825"/>
              <a:gd name="T12" fmla="*/ 2147483646 w 927"/>
              <a:gd name="T13" fmla="*/ 0 h 825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27" h="825" extrusionOk="0">
                <a:moveTo>
                  <a:pt x="767" y="0"/>
                </a:moveTo>
                <a:lnTo>
                  <a:pt x="0" y="0"/>
                </a:lnTo>
                <a:lnTo>
                  <a:pt x="160" y="413"/>
                </a:lnTo>
                <a:lnTo>
                  <a:pt x="0" y="825"/>
                </a:lnTo>
                <a:lnTo>
                  <a:pt x="767" y="825"/>
                </a:lnTo>
                <a:lnTo>
                  <a:pt x="927" y="413"/>
                </a:lnTo>
                <a:lnTo>
                  <a:pt x="767" y="0"/>
                </a:lnTo>
                <a:close/>
              </a:path>
            </a:pathLst>
          </a:custGeom>
          <a:solidFill>
            <a:srgbClr val="00414B"/>
          </a:solidFill>
          <a:ln>
            <a:noFill/>
          </a:ln>
        </p:spPr>
        <p:txBody>
          <a:bodyPr lIns="91425" tIns="45700" rIns="91425" bIns="45700"/>
          <a:lstStyle/>
          <a:p>
            <a:endParaRPr lang="en-US"/>
          </a:p>
        </p:txBody>
      </p:sp>
      <p:sp>
        <p:nvSpPr>
          <p:cNvPr id="8" name="Rechteck: abgerundete Ecken 82">
            <a:extLst>
              <a:ext uri="{FF2B5EF4-FFF2-40B4-BE49-F238E27FC236}">
                <a16:creationId xmlns:a16="http://schemas.microsoft.com/office/drawing/2014/main" id="{86548C05-29CE-8329-26D7-E58443CFAA5D}"/>
              </a:ext>
            </a:extLst>
          </p:cNvPr>
          <p:cNvSpPr/>
          <p:nvPr/>
        </p:nvSpPr>
        <p:spPr>
          <a:xfrm>
            <a:off x="10686880" y="3375717"/>
            <a:ext cx="1353848" cy="39898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CBC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58EE323D-0197-2888-B2A4-99CE269F32A0}"/>
              </a:ext>
            </a:extLst>
          </p:cNvPr>
          <p:cNvSpPr txBox="1"/>
          <p:nvPr/>
        </p:nvSpPr>
        <p:spPr>
          <a:xfrm>
            <a:off x="10644000" y="4518966"/>
            <a:ext cx="154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Ziel:</a:t>
            </a:r>
          </a:p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Praktikum im Inhouse Consulting </a:t>
            </a:r>
          </a:p>
        </p:txBody>
      </p:sp>
      <p:sp>
        <p:nvSpPr>
          <p:cNvPr id="10" name="Rechteck: abgerundete Ecken 100">
            <a:extLst>
              <a:ext uri="{FF2B5EF4-FFF2-40B4-BE49-F238E27FC236}">
                <a16:creationId xmlns:a16="http://schemas.microsoft.com/office/drawing/2014/main" id="{EBF8D932-AEAD-965F-B1CD-DE665235DAEA}"/>
              </a:ext>
            </a:extLst>
          </p:cNvPr>
          <p:cNvSpPr/>
          <p:nvPr/>
        </p:nvSpPr>
        <p:spPr>
          <a:xfrm>
            <a:off x="10686880" y="3895114"/>
            <a:ext cx="1353848" cy="298519"/>
          </a:xfrm>
          <a:prstGeom prst="roundRect">
            <a:avLst/>
          </a:prstGeom>
          <a:solidFill>
            <a:schemeClr val="bg1"/>
          </a:solidFill>
          <a:ln w="28575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>
                <a:solidFill>
                  <a:srgbClr val="00414B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2024</a:t>
            </a:r>
          </a:p>
        </p:txBody>
      </p:sp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A97BC655-5F28-1833-DA13-ABEE20A29145}"/>
              </a:ext>
            </a:extLst>
          </p:cNvPr>
          <p:cNvGrpSpPr/>
          <p:nvPr/>
        </p:nvGrpSpPr>
        <p:grpSpPr>
          <a:xfrm>
            <a:off x="2970335" y="218948"/>
            <a:ext cx="8987500" cy="1023635"/>
            <a:chOff x="2970335" y="218948"/>
            <a:chExt cx="8987500" cy="1023635"/>
          </a:xfrm>
        </p:grpSpPr>
        <p:sp>
          <p:nvSpPr>
            <p:cNvPr id="18" name="Rechteck: abgerundete Ecken 30">
              <a:extLst>
                <a:ext uri="{FF2B5EF4-FFF2-40B4-BE49-F238E27FC236}">
                  <a16:creationId xmlns:a16="http://schemas.microsoft.com/office/drawing/2014/main" id="{38381A33-7C1F-3E3C-CB12-DEBCD5144D25}"/>
                </a:ext>
              </a:extLst>
            </p:cNvPr>
            <p:cNvSpPr/>
            <p:nvPr/>
          </p:nvSpPr>
          <p:spPr>
            <a:xfrm>
              <a:off x="2970335" y="475376"/>
              <a:ext cx="6251331" cy="510778"/>
            </a:xfrm>
            <a:prstGeom prst="roundRect">
              <a:avLst/>
            </a:prstGeom>
            <a:solidFill>
              <a:schemeClr val="bg1"/>
            </a:solidFill>
            <a:ln w="38100">
              <a:solidFill>
                <a:srgbClr val="FFFF00"/>
              </a:solidFill>
            </a:ln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de-DE" sz="2400" dirty="0">
                  <a:solidFill>
                    <a:srgbClr val="00414B"/>
                  </a:solidFill>
                  <a:latin typeface="Arial" panose="020B0604020202020204" pitchFamily="34" charset="0"/>
                  <a:ea typeface="+mj-ea"/>
                  <a:cs typeface="Arial" panose="020B0604020202020204" pitchFamily="34" charset="0"/>
                </a:rPr>
                <a:t>Gabriel Kakur</a:t>
              </a:r>
            </a:p>
          </p:txBody>
        </p:sp>
        <p:pic>
          <p:nvPicPr>
            <p:cNvPr id="19" name="Grafik 33">
              <a:extLst>
                <a:ext uri="{FF2B5EF4-FFF2-40B4-BE49-F238E27FC236}">
                  <a16:creationId xmlns:a16="http://schemas.microsoft.com/office/drawing/2014/main" id="{97274E48-CE03-874D-FBAC-82115FC2871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26762" t="456" r="28262" b="7697"/>
            <a:stretch/>
          </p:blipFill>
          <p:spPr>
            <a:xfrm>
              <a:off x="10801089" y="218948"/>
              <a:ext cx="1156746" cy="1023635"/>
            </a:xfrm>
            <a:prstGeom prst="rect">
              <a:avLst/>
            </a:prstGeom>
          </p:spPr>
        </p:pic>
      </p:grpSp>
      <p:pic>
        <p:nvPicPr>
          <p:cNvPr id="11" name="Grafik 35" descr="Aspiration with solid fill">
            <a:extLst>
              <a:ext uri="{FF2B5EF4-FFF2-40B4-BE49-F238E27FC236}">
                <a16:creationId xmlns:a16="http://schemas.microsoft.com/office/drawing/2014/main" id="{5CE18566-45E7-B735-F9AF-4BB9C19E40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2012043" y="2192766"/>
            <a:ext cx="658313" cy="658313"/>
          </a:xfrm>
          <a:prstGeom prst="rect">
            <a:avLst/>
          </a:prstGeom>
        </p:spPr>
      </p:pic>
      <p:pic>
        <p:nvPicPr>
          <p:cNvPr id="12" name="Grafik 35" descr="Schoolhouse with solid fill">
            <a:extLst>
              <a:ext uri="{FF2B5EF4-FFF2-40B4-BE49-F238E27FC236}">
                <a16:creationId xmlns:a16="http://schemas.microsoft.com/office/drawing/2014/main" id="{FBA9C3C5-838A-A851-DD40-1DDFB272B50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509942" y="2192766"/>
            <a:ext cx="658313" cy="658313"/>
          </a:xfrm>
          <a:prstGeom prst="rect">
            <a:avLst/>
          </a:prstGeom>
        </p:spPr>
      </p:pic>
      <p:pic>
        <p:nvPicPr>
          <p:cNvPr id="13" name="Grafik 35" descr="Graduation cap with solid fill">
            <a:extLst>
              <a:ext uri="{FF2B5EF4-FFF2-40B4-BE49-F238E27FC236}">
                <a16:creationId xmlns:a16="http://schemas.microsoft.com/office/drawing/2014/main" id="{21922DD1-28FD-1DB2-1FE6-595C5C64C50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5015340" y="2192766"/>
            <a:ext cx="658313" cy="658313"/>
          </a:xfrm>
          <a:prstGeom prst="rect">
            <a:avLst/>
          </a:prstGeom>
        </p:spPr>
      </p:pic>
      <p:pic>
        <p:nvPicPr>
          <p:cNvPr id="14" name="Grafik 35" descr="Briefcase with solid fill">
            <a:extLst>
              <a:ext uri="{FF2B5EF4-FFF2-40B4-BE49-F238E27FC236}">
                <a16:creationId xmlns:a16="http://schemas.microsoft.com/office/drawing/2014/main" id="{E0B0D89A-1A7A-3A47-D02A-63A151A2B94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6517441" y="2192766"/>
            <a:ext cx="658313" cy="658313"/>
          </a:xfrm>
          <a:prstGeom prst="rect">
            <a:avLst/>
          </a:prstGeom>
        </p:spPr>
      </p:pic>
      <p:pic>
        <p:nvPicPr>
          <p:cNvPr id="15" name="Picture 4" descr="Landingpage TP 10 | Commerzbank">
            <a:extLst>
              <a:ext uri="{FF2B5EF4-FFF2-40B4-BE49-F238E27FC236}">
                <a16:creationId xmlns:a16="http://schemas.microsoft.com/office/drawing/2014/main" id="{FE0CC61E-8C05-43FF-6292-72E5064B7C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242"/>
          <a:stretch/>
        </p:blipFill>
        <p:spPr bwMode="auto">
          <a:xfrm>
            <a:off x="11014431" y="2192522"/>
            <a:ext cx="676940" cy="658800"/>
          </a:xfrm>
          <a:prstGeom prst="rect">
            <a:avLst/>
          </a:prstGeom>
          <a:solidFill>
            <a:srgbClr val="00414B"/>
          </a:solidFill>
          <a:ln w="6846" cap="flat">
            <a:noFill/>
            <a:prstDash val="solid"/>
            <a:miter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Grafik 20" descr="Verzweigungsdiagramm mit einfarbiger Füllung">
            <a:extLst>
              <a:ext uri="{FF2B5EF4-FFF2-40B4-BE49-F238E27FC236}">
                <a16:creationId xmlns:a16="http://schemas.microsoft.com/office/drawing/2014/main" id="{4981B506-4072-A808-ED23-5CD9D1001DE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018393" y="2192522"/>
            <a:ext cx="658800" cy="658800"/>
          </a:xfrm>
          <a:prstGeom prst="rect">
            <a:avLst/>
          </a:prstGeom>
        </p:spPr>
      </p:pic>
      <p:pic>
        <p:nvPicPr>
          <p:cNvPr id="22" name="Grafik 21" descr="Stadt mit einfarbiger Füllung">
            <a:extLst>
              <a:ext uri="{FF2B5EF4-FFF2-40B4-BE49-F238E27FC236}">
                <a16:creationId xmlns:a16="http://schemas.microsoft.com/office/drawing/2014/main" id="{D82596EE-334B-4617-AE39-5629208517F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520494" y="2192522"/>
            <a:ext cx="658800" cy="658800"/>
          </a:xfrm>
          <a:prstGeom prst="rect">
            <a:avLst/>
          </a:prstGeom>
        </p:spPr>
      </p:pic>
      <p:pic>
        <p:nvPicPr>
          <p:cNvPr id="2" name="Grafik 1" descr="Telearbeit mit einfarbiger Füllung">
            <a:extLst>
              <a:ext uri="{FF2B5EF4-FFF2-40B4-BE49-F238E27FC236}">
                <a16:creationId xmlns:a16="http://schemas.microsoft.com/office/drawing/2014/main" id="{D777FA44-7E6E-EE42-F91C-845C71894EA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512995" y="2192522"/>
            <a:ext cx="658800" cy="6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725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</Words>
  <Application>Microsoft Macintosh PowerPoint</Application>
  <PresentationFormat>Breitbild</PresentationFormat>
  <Paragraphs>113</Paragraphs>
  <Slides>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Sascha Spring</dc:creator>
  <cp:lastModifiedBy>Gabriel Kakur</cp:lastModifiedBy>
  <cp:revision>9</cp:revision>
  <dcterms:created xsi:type="dcterms:W3CDTF">2021-09-02T15:06:49Z</dcterms:created>
  <dcterms:modified xsi:type="dcterms:W3CDTF">2023-11-22T13:50:34Z</dcterms:modified>
</cp:coreProperties>
</file>