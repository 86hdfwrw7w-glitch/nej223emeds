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1.xml" ContentType="application/vnd.openxmlformats-officedocument.presentationml.tags+xml"/>
  <Override PartName="/ppt/notesSlides/notesSlide1.xml" ContentType="application/vnd.openxmlformats-officedocument.presentationml.notesSlide+xml"/>
  <Override PartName="/ppt/tags/tag12.xml" ContentType="application/vnd.openxmlformats-officedocument.presentationml.tags+xml"/>
  <Override PartName="/ppt/notesSlides/notesSlide2.xml" ContentType="application/vnd.openxmlformats-officedocument.presentationml.notesSlide+xml"/>
  <Override PartName="/ppt/tags/tag13.xml" ContentType="application/vnd.openxmlformats-officedocument.presentationml.tags+xml"/>
  <Override PartName="/ppt/notesSlides/notesSlide3.xml" ContentType="application/vnd.openxmlformats-officedocument.presentationml.notesSlide+xml"/>
  <Override PartName="/ppt/tags/tag14.xml" ContentType="application/vnd.openxmlformats-officedocument.presentationml.tags+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63" r:id="rId5"/>
  </p:sldMasterIdLst>
  <p:notesMasterIdLst>
    <p:notesMasterId r:id="rId10"/>
  </p:notesMasterIdLst>
  <p:sldIdLst>
    <p:sldId id="2147375894" r:id="rId6"/>
    <p:sldId id="2147375901" r:id="rId7"/>
    <p:sldId id="2147375898" r:id="rId8"/>
    <p:sldId id="2147375899"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63C257A-91E2-019A-9BBB-F5177A64412E}" name="Lucas Rhönisch" initials="LR" userId="aeec4d7e79753d2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093AC"/>
    <a:srgbClr val="EDEDED"/>
    <a:srgbClr val="0089B6"/>
    <a:srgbClr val="007577"/>
    <a:srgbClr val="168A7D"/>
    <a:srgbClr val="90DCBE"/>
    <a:srgbClr val="7FBDB2"/>
    <a:srgbClr val="339AA1"/>
    <a:srgbClr val="5CE5D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FD0F851-EC5A-4D38-B0AD-8093EC10F338}" styleName="Helle Formatvorlage 1 - Akz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DBED569-4797-4DF1-A0F4-6AAB3CD982D8}" styleName="Helle Formatvorlage 3 - Akz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4" d="100"/>
          <a:sy n="54" d="100"/>
        </p:scale>
        <p:origin x="1056"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presProps" Target="presProps.xml"/><Relationship Id="rId5" Type="http://schemas.openxmlformats.org/officeDocument/2006/relationships/slideMaster" Target="slideMasters/slideMaster2.xml"/><Relationship Id="rId15" Type="http://schemas.microsoft.com/office/2018/10/relationships/authors" Target="author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8F9D6F-3197-4182-8A56-DE51B05F9526}" type="datetimeFigureOut">
              <a:rPr lang="en-US" smtClean="0"/>
              <a:t>1/23/2026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CDE872-B652-4A0E-A2BC-46D062A726A1}" type="slidenum">
              <a:rPr lang="en-US" smtClean="0"/>
              <a:t>‹Nr.›</a:t>
            </a:fld>
            <a:endParaRPr lang="en-US"/>
          </a:p>
        </p:txBody>
      </p:sp>
    </p:spTree>
    <p:extLst>
      <p:ext uri="{BB962C8B-B14F-4D97-AF65-F5344CB8AC3E}">
        <p14:creationId xmlns:p14="http://schemas.microsoft.com/office/powerpoint/2010/main" val="2714732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042C2-FA55-D04A-C32E-21A73BF93A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1FCD33-16F9-15CC-EF6A-D90BF989A6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7BF0E2-BFD6-B795-EED6-A80A5020FC8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379D9F-8DD6-915E-2B27-4C56E383E7C3}"/>
              </a:ext>
            </a:extLst>
          </p:cNvPr>
          <p:cNvSpPr>
            <a:spLocks noGrp="1"/>
          </p:cNvSpPr>
          <p:nvPr>
            <p:ph type="sldNum" sz="quarter" idx="10"/>
          </p:nvPr>
        </p:nvSpPr>
        <p:spPr/>
        <p:txBody>
          <a:bodyPr/>
          <a:lstStyle/>
          <a:p>
            <a:fld id="{08A34052-12FB-4B01-8A2E-D87AD7371E95}" type="slidenum">
              <a:rPr lang="en-US" smtClean="0"/>
              <a:pPr/>
              <a:t>1</a:t>
            </a:fld>
            <a:endParaRPr lang="en-US"/>
          </a:p>
        </p:txBody>
      </p:sp>
    </p:spTree>
    <p:extLst>
      <p:ext uri="{BB962C8B-B14F-4D97-AF65-F5344CB8AC3E}">
        <p14:creationId xmlns:p14="http://schemas.microsoft.com/office/powerpoint/2010/main" val="6127200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1C643-2397-258A-476E-B789384B09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BCF4B0-510E-0BCA-D5C8-E4BB28373C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3AE2EC-E1F9-368B-0314-18494E23094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0EEBCA2-8E8C-2527-A1E2-7863E49D6747}"/>
              </a:ext>
            </a:extLst>
          </p:cNvPr>
          <p:cNvSpPr>
            <a:spLocks noGrp="1"/>
          </p:cNvSpPr>
          <p:nvPr>
            <p:ph type="sldNum" sz="quarter" idx="10"/>
          </p:nvPr>
        </p:nvSpPr>
        <p:spPr/>
        <p:txBody>
          <a:bodyPr/>
          <a:lstStyle/>
          <a:p>
            <a:fld id="{08A34052-12FB-4B01-8A2E-D87AD7371E95}" type="slidenum">
              <a:rPr lang="en-US" smtClean="0"/>
              <a:pPr/>
              <a:t>2</a:t>
            </a:fld>
            <a:endParaRPr lang="en-US"/>
          </a:p>
        </p:txBody>
      </p:sp>
    </p:spTree>
    <p:extLst>
      <p:ext uri="{BB962C8B-B14F-4D97-AF65-F5344CB8AC3E}">
        <p14:creationId xmlns:p14="http://schemas.microsoft.com/office/powerpoint/2010/main" val="39952197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E72F4-2F61-4559-5992-4150057570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A4F19B-8A6B-DDAC-BFAD-7C610FD354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35FAA3-069B-3B1C-D8A4-8FFD2C5652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2DF4FB3-0F36-7BC0-146A-4808EE19A939}"/>
              </a:ext>
            </a:extLst>
          </p:cNvPr>
          <p:cNvSpPr>
            <a:spLocks noGrp="1"/>
          </p:cNvSpPr>
          <p:nvPr>
            <p:ph type="sldNum" sz="quarter" idx="10"/>
          </p:nvPr>
        </p:nvSpPr>
        <p:spPr/>
        <p:txBody>
          <a:bodyPr/>
          <a:lstStyle/>
          <a:p>
            <a:fld id="{08A34052-12FB-4B01-8A2E-D87AD7371E95}" type="slidenum">
              <a:rPr lang="en-US" smtClean="0"/>
              <a:pPr/>
              <a:t>3</a:t>
            </a:fld>
            <a:endParaRPr lang="en-US"/>
          </a:p>
        </p:txBody>
      </p:sp>
    </p:spTree>
    <p:extLst>
      <p:ext uri="{BB962C8B-B14F-4D97-AF65-F5344CB8AC3E}">
        <p14:creationId xmlns:p14="http://schemas.microsoft.com/office/powerpoint/2010/main" val="41852088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1FD15-7569-7D23-15A3-3B636E1064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BD82BC-5F23-42EC-1147-7E25BF229C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AEDB07-74CF-A118-B28F-1D489E6935D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5F65E51-EE99-568A-F2CE-BCAC26C715DB}"/>
              </a:ext>
            </a:extLst>
          </p:cNvPr>
          <p:cNvSpPr>
            <a:spLocks noGrp="1"/>
          </p:cNvSpPr>
          <p:nvPr>
            <p:ph type="sldNum" sz="quarter" idx="10"/>
          </p:nvPr>
        </p:nvSpPr>
        <p:spPr/>
        <p:txBody>
          <a:bodyPr/>
          <a:lstStyle/>
          <a:p>
            <a:fld id="{08A34052-12FB-4B01-8A2E-D87AD7371E95}" type="slidenum">
              <a:rPr lang="en-US" smtClean="0"/>
              <a:pPr/>
              <a:t>4</a:t>
            </a:fld>
            <a:endParaRPr lang="en-US"/>
          </a:p>
        </p:txBody>
      </p:sp>
    </p:spTree>
    <p:extLst>
      <p:ext uri="{BB962C8B-B14F-4D97-AF65-F5344CB8AC3E}">
        <p14:creationId xmlns:p14="http://schemas.microsoft.com/office/powerpoint/2010/main" val="297117393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hyperlink" Target="mailto:rhoenisch@vegapartners.de" TargetMode="Externa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hyperlink" Target="mailto:vonderheyden@vegapartners.de" TargetMode="Externa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6.xml"/><Relationship Id="rId1" Type="http://schemas.openxmlformats.org/officeDocument/2006/relationships/tags" Target="../tags/tag5.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xml"/><Relationship Id="rId1" Type="http://schemas.openxmlformats.org/officeDocument/2006/relationships/tags" Target="../tags/tag9.xml"/><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microsoft.com/office/2007/relationships/hdphoto" Target="../media/hdphoto12.wdp"/><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age #1">
    <p:spTree>
      <p:nvGrpSpPr>
        <p:cNvPr id="1" name=""/>
        <p:cNvGrpSpPr/>
        <p:nvPr/>
      </p:nvGrpSpPr>
      <p:grpSpPr>
        <a:xfrm>
          <a:off x="0" y="0"/>
          <a:ext cx="0" cy="0"/>
          <a:chOff x="0" y="0"/>
          <a:chExt cx="0" cy="0"/>
        </a:xfrm>
      </p:grpSpPr>
      <p:pic>
        <p:nvPicPr>
          <p:cNvPr id="4" name="Picture 2" descr="300+] Sternenhimmel-Wallpaper KOSTENLOS | Wallpapers.com">
            <a:extLst>
              <a:ext uri="{FF2B5EF4-FFF2-40B4-BE49-F238E27FC236}">
                <a16:creationId xmlns:a16="http://schemas.microsoft.com/office/drawing/2014/main" id="{17DEA042-EEED-29BB-39C9-5B88CC0EFEB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9197BD99-E359-B298-590E-342C944BC39B}"/>
              </a:ext>
            </a:extLst>
          </p:cNvPr>
          <p:cNvSpPr/>
          <p:nvPr userDrawn="1"/>
        </p:nvSpPr>
        <p:spPr>
          <a:xfrm>
            <a:off x="0" y="4809392"/>
            <a:ext cx="12192000" cy="204860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tangle 5">
            <a:extLst>
              <a:ext uri="{FF2B5EF4-FFF2-40B4-BE49-F238E27FC236}">
                <a16:creationId xmlns:a16="http://schemas.microsoft.com/office/drawing/2014/main" id="{AA50587B-8620-EF1F-2D91-D089F23F53D3}"/>
              </a:ext>
            </a:extLst>
          </p:cNvPr>
          <p:cNvSpPr/>
          <p:nvPr userDrawn="1"/>
        </p:nvSpPr>
        <p:spPr>
          <a:xfrm>
            <a:off x="0" y="4737392"/>
            <a:ext cx="12192000" cy="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itle Placeholder 1">
            <a:extLst>
              <a:ext uri="{FF2B5EF4-FFF2-40B4-BE49-F238E27FC236}">
                <a16:creationId xmlns:a16="http://schemas.microsoft.com/office/drawing/2014/main" id="{E270EA51-1191-7EFC-1307-8E9E394F0B43}"/>
              </a:ext>
            </a:extLst>
          </p:cNvPr>
          <p:cNvSpPr txBox="1">
            <a:spLocks/>
          </p:cNvSpPr>
          <p:nvPr userDrawn="1"/>
        </p:nvSpPr>
        <p:spPr>
          <a:xfrm>
            <a:off x="923192" y="4966040"/>
            <a:ext cx="6471139" cy="351649"/>
          </a:xfrm>
          <a:prstGeom prst="rect">
            <a:avLst/>
          </a:prstGeom>
        </p:spPr>
        <p:txBody>
          <a:bodyPr vert="horz" lIns="0" tIns="45720" rIns="9144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2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Roboto" panose="02000000000000000000" pitchFamily="2" charset="0"/>
              </a:rPr>
              <a:t>VEGA PARTNERS</a:t>
            </a:r>
          </a:p>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2400" b="0"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Roboto" panose="02000000000000000000" pitchFamily="2" charset="0"/>
              </a:rPr>
              <a:t>Case Study </a:t>
            </a:r>
          </a:p>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Roboto" panose="02000000000000000000" pitchFamily="2" charset="0"/>
              </a:rPr>
              <a:t>Q3 2025</a:t>
            </a:r>
          </a:p>
        </p:txBody>
      </p:sp>
      <p:sp>
        <p:nvSpPr>
          <p:cNvPr id="8" name="Title Placeholder 1">
            <a:extLst>
              <a:ext uri="{FF2B5EF4-FFF2-40B4-BE49-F238E27FC236}">
                <a16:creationId xmlns:a16="http://schemas.microsoft.com/office/drawing/2014/main" id="{7D17FD07-0990-CFAD-EBC8-2AF43C0ABA14}"/>
              </a:ext>
            </a:extLst>
          </p:cNvPr>
          <p:cNvSpPr txBox="1">
            <a:spLocks/>
          </p:cNvSpPr>
          <p:nvPr userDrawn="1"/>
        </p:nvSpPr>
        <p:spPr>
          <a:xfrm>
            <a:off x="923191" y="6506351"/>
            <a:ext cx="6471139" cy="351649"/>
          </a:xfrm>
          <a:prstGeom prst="rect">
            <a:avLst/>
          </a:prstGeom>
        </p:spPr>
        <p:txBody>
          <a:bodyPr vert="horz" lIns="0" tIns="45720" rIns="9144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1000" b="0" i="0" u="none" strike="noStrike" kern="1200" cap="none" spc="0" normalizeH="0" baseline="0" noProof="0">
                <a:ln>
                  <a:noFill/>
                </a:ln>
                <a:solidFill>
                  <a:schemeClr val="bg1"/>
                </a:solidFill>
                <a:effectLst/>
                <a:uLnTx/>
                <a:uFillTx/>
                <a:latin typeface="Roboto" panose="02000000000000000000" pitchFamily="2" charset="0"/>
                <a:ea typeface="Roboto" panose="02000000000000000000" pitchFamily="2" charset="0"/>
                <a:cs typeface="Roboto" panose="02000000000000000000" pitchFamily="2" charset="0"/>
              </a:rPr>
              <a:t>Strictly Private and Confidential</a:t>
            </a:r>
          </a:p>
        </p:txBody>
      </p:sp>
    </p:spTree>
    <p:extLst>
      <p:ext uri="{BB962C8B-B14F-4D97-AF65-F5344CB8AC3E}">
        <p14:creationId xmlns:p14="http://schemas.microsoft.com/office/powerpoint/2010/main" val="20412376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Page #2">
    <p:spTree>
      <p:nvGrpSpPr>
        <p:cNvPr id="1" name=""/>
        <p:cNvGrpSpPr/>
        <p:nvPr/>
      </p:nvGrpSpPr>
      <p:grpSpPr>
        <a:xfrm>
          <a:off x="0" y="0"/>
          <a:ext cx="0" cy="0"/>
          <a:chOff x="0" y="0"/>
          <a:chExt cx="0" cy="0"/>
        </a:xfrm>
      </p:grpSpPr>
      <p:pic>
        <p:nvPicPr>
          <p:cNvPr id="11" name="Picture 10" descr="Two men sitting in chairs&#10;&#10;Description automatically generated">
            <a:extLst>
              <a:ext uri="{FF2B5EF4-FFF2-40B4-BE49-F238E27FC236}">
                <a16:creationId xmlns:a16="http://schemas.microsoft.com/office/drawing/2014/main" id="{6097EC74-6A36-C6B7-32CE-4B7C3EC5E2C9}"/>
              </a:ext>
            </a:extLst>
          </p:cNvPr>
          <p:cNvPicPr>
            <a:picLocks noChangeAspect="1"/>
          </p:cNvPicPr>
          <p:nvPr userDrawn="1"/>
        </p:nvPicPr>
        <p:blipFill>
          <a:blip r:embed="rId2">
            <a:extLst>
              <a:ext uri="{28A0092B-C50C-407E-A947-70E740481C1C}">
                <a14:useLocalDpi xmlns:a14="http://schemas.microsoft.com/office/drawing/2010/main" val="0"/>
              </a:ext>
            </a:extLst>
          </a:blip>
          <a:srcRect t="7534"/>
          <a:stretch/>
        </p:blipFill>
        <p:spPr>
          <a:xfrm>
            <a:off x="0" y="0"/>
            <a:ext cx="12193200" cy="7173461"/>
          </a:xfrm>
          <a:prstGeom prst="rect">
            <a:avLst/>
          </a:prstGeom>
        </p:spPr>
      </p:pic>
      <p:sp>
        <p:nvSpPr>
          <p:cNvPr id="5" name="Rectangle 4">
            <a:extLst>
              <a:ext uri="{FF2B5EF4-FFF2-40B4-BE49-F238E27FC236}">
                <a16:creationId xmlns:a16="http://schemas.microsoft.com/office/drawing/2014/main" id="{9197BD99-E359-B298-590E-342C944BC39B}"/>
              </a:ext>
            </a:extLst>
          </p:cNvPr>
          <p:cNvSpPr/>
          <p:nvPr userDrawn="1"/>
        </p:nvSpPr>
        <p:spPr>
          <a:xfrm>
            <a:off x="0" y="4809392"/>
            <a:ext cx="12192000" cy="237284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tangle 5">
            <a:extLst>
              <a:ext uri="{FF2B5EF4-FFF2-40B4-BE49-F238E27FC236}">
                <a16:creationId xmlns:a16="http://schemas.microsoft.com/office/drawing/2014/main" id="{AA50587B-8620-EF1F-2D91-D089F23F53D3}"/>
              </a:ext>
            </a:extLst>
          </p:cNvPr>
          <p:cNvSpPr/>
          <p:nvPr userDrawn="1"/>
        </p:nvSpPr>
        <p:spPr>
          <a:xfrm>
            <a:off x="0" y="4737392"/>
            <a:ext cx="12192000" cy="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itle Placeholder 1">
            <a:extLst>
              <a:ext uri="{FF2B5EF4-FFF2-40B4-BE49-F238E27FC236}">
                <a16:creationId xmlns:a16="http://schemas.microsoft.com/office/drawing/2014/main" id="{E270EA51-1191-7EFC-1307-8E9E394F0B43}"/>
              </a:ext>
            </a:extLst>
          </p:cNvPr>
          <p:cNvSpPr txBox="1">
            <a:spLocks/>
          </p:cNvSpPr>
          <p:nvPr userDrawn="1"/>
        </p:nvSpPr>
        <p:spPr>
          <a:xfrm>
            <a:off x="923192" y="4966040"/>
            <a:ext cx="8392258" cy="351649"/>
          </a:xfrm>
          <a:prstGeom prst="rect">
            <a:avLst/>
          </a:prstGeom>
        </p:spPr>
        <p:txBody>
          <a:bodyPr vert="horz" lIns="0" tIns="45720" rIns="9144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2400" b="1"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Roboto" panose="02000000000000000000" pitchFamily="2" charset="0"/>
              </a:rPr>
              <a:t>VEGA PARTNERS </a:t>
            </a:r>
          </a:p>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2400" b="0" i="0" u="none" strike="noStrike" kern="1200" cap="none" spc="0" normalizeH="0" baseline="0" noProof="0" dirty="0" err="1">
                <a:ln>
                  <a:noFill/>
                </a:ln>
                <a:solidFill>
                  <a:schemeClr val="bg1"/>
                </a:solidFill>
                <a:effectLst/>
                <a:uLnTx/>
                <a:uFillTx/>
                <a:latin typeface="Roboto" panose="02000000000000000000" pitchFamily="2" charset="0"/>
                <a:ea typeface="Roboto" panose="02000000000000000000" pitchFamily="2" charset="0"/>
                <a:cs typeface="Roboto" panose="02000000000000000000" pitchFamily="2" charset="0"/>
              </a:rPr>
              <a:t>Unternehmenspräsentation</a:t>
            </a:r>
            <a:endParaRPr kumimoji="0" lang="en-US" sz="2400" b="0"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Roboto" panose="02000000000000000000" pitchFamily="2" charset="0"/>
            </a:endParaRPr>
          </a:p>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Roboto" panose="02000000000000000000" pitchFamily="2" charset="0"/>
                <a:ea typeface="Roboto" panose="02000000000000000000" pitchFamily="2" charset="0"/>
                <a:cs typeface="Roboto" panose="02000000000000000000" pitchFamily="2" charset="0"/>
              </a:rPr>
              <a:t>Q2 2025</a:t>
            </a:r>
          </a:p>
        </p:txBody>
      </p:sp>
      <p:sp>
        <p:nvSpPr>
          <p:cNvPr id="8" name="Title Placeholder 1">
            <a:extLst>
              <a:ext uri="{FF2B5EF4-FFF2-40B4-BE49-F238E27FC236}">
                <a16:creationId xmlns:a16="http://schemas.microsoft.com/office/drawing/2014/main" id="{7D17FD07-0990-CFAD-EBC8-2AF43C0ABA14}"/>
              </a:ext>
            </a:extLst>
          </p:cNvPr>
          <p:cNvSpPr txBox="1">
            <a:spLocks/>
          </p:cNvSpPr>
          <p:nvPr userDrawn="1"/>
        </p:nvSpPr>
        <p:spPr>
          <a:xfrm>
            <a:off x="923191" y="6506351"/>
            <a:ext cx="6471139" cy="351649"/>
          </a:xfrm>
          <a:prstGeom prst="rect">
            <a:avLst/>
          </a:prstGeom>
        </p:spPr>
        <p:txBody>
          <a:bodyPr vert="horz" lIns="0" tIns="45720" rIns="9144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1000" b="0" i="0" u="none" strike="noStrike" kern="1200" cap="none" spc="0" normalizeH="0" baseline="0" noProof="0">
                <a:ln>
                  <a:noFill/>
                </a:ln>
                <a:solidFill>
                  <a:schemeClr val="bg1"/>
                </a:solidFill>
                <a:effectLst/>
                <a:uLnTx/>
                <a:uFillTx/>
                <a:latin typeface="Roboto" panose="02000000000000000000" pitchFamily="2" charset="0"/>
                <a:ea typeface="Roboto" panose="02000000000000000000" pitchFamily="2" charset="0"/>
                <a:cs typeface="Roboto" panose="02000000000000000000" pitchFamily="2" charset="0"/>
              </a:rPr>
              <a:t>Strictly Private and Confidential</a:t>
            </a:r>
          </a:p>
        </p:txBody>
      </p:sp>
    </p:spTree>
    <p:extLst>
      <p:ext uri="{BB962C8B-B14F-4D97-AF65-F5344CB8AC3E}">
        <p14:creationId xmlns:p14="http://schemas.microsoft.com/office/powerpoint/2010/main" val="24061381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mportant notic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extLst>
              <p:ext uri="{D42A27DB-BD31-4B8C-83A1-F6EECF244321}">
                <p14:modId xmlns:p14="http://schemas.microsoft.com/office/powerpoint/2010/main" val="32480562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6" progId="TCLayout.ActiveDocument.1">
                  <p:embed/>
                </p:oleObj>
              </mc:Choice>
              <mc:Fallback>
                <p:oleObj name="think-cell Slide" r:id="rId4" imgW="473" imgH="476" progId="TCLayout.ActiveDocument.1">
                  <p:embed/>
                  <p:pic>
                    <p:nvPicPr>
                      <p:cNvPr id="5" name="Object 4"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p:custDataLst>
              <p:tags r:id="rId2"/>
            </p:custDataLst>
          </p:nvPr>
        </p:nvSpPr>
        <p:spPr>
          <a:xfrm>
            <a:off x="1"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endParaRPr lang="en-US" sz="3600" b="0" i="0" baseline="0">
              <a:latin typeface="Century Gothic" panose="020B0502020202020204" pitchFamily="34" charset="0"/>
              <a:sym typeface="Century Gothic" panose="020B0502020202020204" pitchFamily="34" charset="0"/>
            </a:endParaRPr>
          </a:p>
        </p:txBody>
      </p:sp>
      <p:sp>
        <p:nvSpPr>
          <p:cNvPr id="10" name="Slide Number Placeholder 6">
            <a:extLst>
              <a:ext uri="{FF2B5EF4-FFF2-40B4-BE49-F238E27FC236}">
                <a16:creationId xmlns:a16="http://schemas.microsoft.com/office/drawing/2014/main" id="{C8E42404-614C-F018-FD29-D10D141388C6}"/>
              </a:ext>
            </a:extLst>
          </p:cNvPr>
          <p:cNvSpPr>
            <a:spLocks noGrp="1"/>
          </p:cNvSpPr>
          <p:nvPr>
            <p:ph type="sldNum" sz="quarter" idx="4"/>
          </p:nvPr>
        </p:nvSpPr>
        <p:spPr>
          <a:xfrm>
            <a:off x="4724400" y="6409104"/>
            <a:ext cx="2743200" cy="365125"/>
          </a:xfrm>
          <a:prstGeom prst="rect">
            <a:avLst/>
          </a:prstGeom>
        </p:spPr>
        <p:txBody>
          <a:bodyPr vert="horz" lIns="91440" tIns="45720" rIns="91440" bIns="45720" rtlCol="0" anchor="ctr"/>
          <a:lstStyle>
            <a:lvl1pPr algn="ctr">
              <a:defRPr sz="100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fld id="{B7DB95AD-BB38-4F2F-9059-13DFCE8E9D75}" type="slidenum">
              <a:rPr lang="de-DE" smtClean="0"/>
              <a:pPr/>
              <a:t>‹Nr.›</a:t>
            </a:fld>
            <a:endParaRPr lang="de-DE"/>
          </a:p>
        </p:txBody>
      </p:sp>
      <p:graphicFrame>
        <p:nvGraphicFramePr>
          <p:cNvPr id="2" name="Table 1">
            <a:extLst>
              <a:ext uri="{FF2B5EF4-FFF2-40B4-BE49-F238E27FC236}">
                <a16:creationId xmlns:a16="http://schemas.microsoft.com/office/drawing/2014/main" id="{729215F7-561C-F9C3-2609-A983E0CEFCFB}"/>
              </a:ext>
            </a:extLst>
          </p:cNvPr>
          <p:cNvGraphicFramePr>
            <a:graphicFrameLocks noGrp="1"/>
          </p:cNvGraphicFramePr>
          <p:nvPr userDrawn="1">
            <p:extLst>
              <p:ext uri="{D42A27DB-BD31-4B8C-83A1-F6EECF244321}">
                <p14:modId xmlns:p14="http://schemas.microsoft.com/office/powerpoint/2010/main" val="479354121"/>
              </p:ext>
            </p:extLst>
          </p:nvPr>
        </p:nvGraphicFramePr>
        <p:xfrm>
          <a:off x="2964000" y="3058160"/>
          <a:ext cx="6264000" cy="1097280"/>
        </p:xfrm>
        <a:graphic>
          <a:graphicData uri="http://schemas.openxmlformats.org/drawingml/2006/table">
            <a:tbl>
              <a:tblPr firstRow="1" bandRow="1">
                <a:tableStyleId>{5C22544A-7EE6-4342-B048-85BDC9FD1C3A}</a:tableStyleId>
              </a:tblPr>
              <a:tblGrid>
                <a:gridCol w="3132000">
                  <a:extLst>
                    <a:ext uri="{9D8B030D-6E8A-4147-A177-3AD203B41FA5}">
                      <a16:colId xmlns:a16="http://schemas.microsoft.com/office/drawing/2014/main" val="2887562086"/>
                    </a:ext>
                  </a:extLst>
                </a:gridCol>
                <a:gridCol w="3132000">
                  <a:extLst>
                    <a:ext uri="{9D8B030D-6E8A-4147-A177-3AD203B41FA5}">
                      <a16:colId xmlns:a16="http://schemas.microsoft.com/office/drawing/2014/main" val="476468311"/>
                    </a:ext>
                  </a:extLst>
                </a:gridCol>
              </a:tblGrid>
              <a:tr h="370840">
                <a:tc>
                  <a:txBody>
                    <a:bodyPr/>
                    <a:lstStyle/>
                    <a:p>
                      <a:pPr algn="ctr"/>
                      <a:r>
                        <a:rPr lang="de-DE" sz="1100" b="1">
                          <a:solidFill>
                            <a:schemeClr val="tx1"/>
                          </a:solidFill>
                          <a:latin typeface="Roboto" panose="02000000000000000000" pitchFamily="2" charset="0"/>
                          <a:ea typeface="Roboto" panose="02000000000000000000" pitchFamily="2" charset="0"/>
                          <a:cs typeface="Roboto" panose="02000000000000000000" pitchFamily="2" charset="0"/>
                        </a:rPr>
                        <a:t>Felix von der Heyden</a:t>
                      </a:r>
                      <a:br>
                        <a:rPr lang="de-DE" sz="1100" b="1">
                          <a:solidFill>
                            <a:schemeClr val="tx1"/>
                          </a:solidFill>
                          <a:latin typeface="Roboto" panose="02000000000000000000" pitchFamily="2" charset="0"/>
                          <a:ea typeface="Roboto" panose="02000000000000000000" pitchFamily="2" charset="0"/>
                          <a:cs typeface="Roboto" panose="02000000000000000000" pitchFamily="2" charset="0"/>
                        </a:rPr>
                      </a:br>
                      <a:r>
                        <a:rPr lang="de-DE" sz="1100" b="0">
                          <a:solidFill>
                            <a:schemeClr val="tx1"/>
                          </a:solidFill>
                          <a:latin typeface="Roboto" panose="02000000000000000000" pitchFamily="2" charset="0"/>
                          <a:ea typeface="Roboto" panose="02000000000000000000" pitchFamily="2" charset="0"/>
                          <a:cs typeface="Roboto" panose="02000000000000000000" pitchFamily="2" charset="0"/>
                        </a:rPr>
                        <a:t>Managing </a:t>
                      </a:r>
                      <a:r>
                        <a:rPr lang="de-DE" sz="1100" b="0" err="1">
                          <a:solidFill>
                            <a:schemeClr val="tx1"/>
                          </a:solidFill>
                          <a:latin typeface="Roboto" panose="02000000000000000000" pitchFamily="2" charset="0"/>
                          <a:ea typeface="Roboto" panose="02000000000000000000" pitchFamily="2" charset="0"/>
                          <a:cs typeface="Roboto" panose="02000000000000000000" pitchFamily="2" charset="0"/>
                        </a:rPr>
                        <a:t>Director</a:t>
                      </a:r>
                      <a:endParaRPr lang="de-DE" sz="1100" b="0">
                        <a:solidFill>
                          <a:schemeClr val="tx1"/>
                        </a:solidFill>
                        <a:latin typeface="Roboto" panose="02000000000000000000" pitchFamily="2" charset="0"/>
                        <a:ea typeface="Roboto" panose="02000000000000000000" pitchFamily="2" charset="0"/>
                        <a:cs typeface="Roboto" panose="02000000000000000000" pitchFamily="2" charset="0"/>
                      </a:endParaRPr>
                    </a:p>
                    <a:p>
                      <a:pPr algn="ctr"/>
                      <a:endParaRPr lang="de-DE" sz="1100" b="0">
                        <a:solidFill>
                          <a:schemeClr val="tx1"/>
                        </a:solidFill>
                        <a:latin typeface="Roboto" panose="02000000000000000000" pitchFamily="2" charset="0"/>
                        <a:ea typeface="Roboto" panose="02000000000000000000" pitchFamily="2" charset="0"/>
                        <a:cs typeface="Roboto" panose="02000000000000000000" pitchFamily="2" charset="0"/>
                      </a:endParaRPr>
                    </a:p>
                    <a:p>
                      <a:pPr algn="ctr"/>
                      <a:r>
                        <a:rPr lang="de-DE" sz="1100" b="0">
                          <a:solidFill>
                            <a:schemeClr val="tx1"/>
                          </a:solidFill>
                          <a:latin typeface="Roboto" panose="02000000000000000000" pitchFamily="2" charset="0"/>
                          <a:ea typeface="Roboto" panose="02000000000000000000" pitchFamily="2" charset="0"/>
                          <a:cs typeface="Roboto" panose="02000000000000000000" pitchFamily="2" charset="0"/>
                        </a:rPr>
                        <a:t>+49 173 7228496</a:t>
                      </a:r>
                    </a:p>
                    <a:p>
                      <a:pPr algn="ctr"/>
                      <a:r>
                        <a:rPr lang="de-DE" sz="1100" b="0">
                          <a:solidFill>
                            <a:schemeClr val="tx1"/>
                          </a:solidFill>
                          <a:latin typeface="Roboto" panose="02000000000000000000" pitchFamily="2" charset="0"/>
                          <a:ea typeface="Roboto" panose="02000000000000000000" pitchFamily="2" charset="0"/>
                          <a:cs typeface="Roboto" panose="02000000000000000000" pitchFamily="2" charset="0"/>
                          <a:hlinkClick r:id="rId6"/>
                        </a:rPr>
                        <a:t>vonderheyden@vegapartners.de</a:t>
                      </a:r>
                      <a:endParaRPr lang="de-DE" sz="1100" b="1">
                        <a:solidFill>
                          <a:schemeClr val="tx1"/>
                        </a:solidFill>
                        <a:latin typeface="Roboto" panose="02000000000000000000" pitchFamily="2" charset="0"/>
                        <a:ea typeface="Roboto" panose="02000000000000000000" pitchFamily="2" charset="0"/>
                        <a:cs typeface="Roboto" panose="02000000000000000000" pitchFamily="2" charset="0"/>
                      </a:endParaRPr>
                    </a:p>
                    <a:p>
                      <a:pPr algn="ctr"/>
                      <a:endParaRPr lang="de-DE" sz="1100" b="0">
                        <a:solidFill>
                          <a:schemeClr val="tx1"/>
                        </a:solidFill>
                        <a:latin typeface="Roboto" panose="02000000000000000000" pitchFamily="2" charset="0"/>
                        <a:ea typeface="Roboto" panose="02000000000000000000" pitchFamily="2" charset="0"/>
                        <a:cs typeface="Roboto" panose="02000000000000000000" pitchFamily="2" charset="0"/>
                      </a:endParaRPr>
                    </a:p>
                  </a:txBody>
                  <a:tcPr>
                    <a:noFill/>
                  </a:tcPr>
                </a:tc>
                <a:tc>
                  <a:txBody>
                    <a:bodyPr/>
                    <a:lstStyle/>
                    <a:p>
                      <a:pPr algn="ctr"/>
                      <a:r>
                        <a:rPr lang="de-DE" sz="1100" b="1">
                          <a:solidFill>
                            <a:schemeClr val="tx1"/>
                          </a:solidFill>
                          <a:latin typeface="Roboto" panose="02000000000000000000" pitchFamily="2" charset="0"/>
                          <a:ea typeface="Roboto" panose="02000000000000000000" pitchFamily="2" charset="0"/>
                          <a:cs typeface="Roboto" panose="02000000000000000000" pitchFamily="2" charset="0"/>
                        </a:rPr>
                        <a:t>Lucas Rhönisch</a:t>
                      </a:r>
                    </a:p>
                    <a:p>
                      <a:pPr algn="ctr"/>
                      <a:r>
                        <a:rPr lang="de-DE" sz="1100" b="0">
                          <a:solidFill>
                            <a:schemeClr val="tx1"/>
                          </a:solidFill>
                          <a:latin typeface="Roboto" panose="02000000000000000000" pitchFamily="2" charset="0"/>
                          <a:ea typeface="Roboto" panose="02000000000000000000" pitchFamily="2" charset="0"/>
                          <a:cs typeface="Roboto" panose="02000000000000000000" pitchFamily="2" charset="0"/>
                        </a:rPr>
                        <a:t>Managing </a:t>
                      </a:r>
                      <a:r>
                        <a:rPr lang="de-DE" sz="1100" b="0" err="1">
                          <a:solidFill>
                            <a:schemeClr val="tx1"/>
                          </a:solidFill>
                          <a:latin typeface="Roboto" panose="02000000000000000000" pitchFamily="2" charset="0"/>
                          <a:ea typeface="Roboto" panose="02000000000000000000" pitchFamily="2" charset="0"/>
                          <a:cs typeface="Roboto" panose="02000000000000000000" pitchFamily="2" charset="0"/>
                        </a:rPr>
                        <a:t>Director</a:t>
                      </a:r>
                      <a:endParaRPr lang="de-DE" sz="1100" b="0">
                        <a:solidFill>
                          <a:schemeClr val="tx1"/>
                        </a:solidFill>
                        <a:latin typeface="Roboto" panose="02000000000000000000" pitchFamily="2" charset="0"/>
                        <a:ea typeface="Roboto" panose="02000000000000000000" pitchFamily="2" charset="0"/>
                        <a:cs typeface="Roboto" panose="02000000000000000000" pitchFamily="2" charset="0"/>
                      </a:endParaRPr>
                    </a:p>
                    <a:p>
                      <a:pPr algn="ctr"/>
                      <a:endParaRPr lang="de-DE" sz="1100" b="0">
                        <a:solidFill>
                          <a:schemeClr val="tx1"/>
                        </a:solidFill>
                        <a:latin typeface="Roboto" panose="02000000000000000000" pitchFamily="2" charset="0"/>
                        <a:ea typeface="Roboto" panose="02000000000000000000" pitchFamily="2" charset="0"/>
                        <a:cs typeface="Roboto" panose="02000000000000000000" pitchFamily="2" charset="0"/>
                      </a:endParaRPr>
                    </a:p>
                    <a:p>
                      <a:pPr algn="ctr"/>
                      <a:r>
                        <a:rPr lang="de-DE" sz="1100" b="0">
                          <a:solidFill>
                            <a:schemeClr val="tx1"/>
                          </a:solidFill>
                          <a:latin typeface="Roboto" panose="02000000000000000000" pitchFamily="2" charset="0"/>
                          <a:ea typeface="Roboto" panose="02000000000000000000" pitchFamily="2" charset="0"/>
                          <a:cs typeface="Roboto" panose="02000000000000000000" pitchFamily="2" charset="0"/>
                        </a:rPr>
                        <a:t>+49 152 52584129</a:t>
                      </a:r>
                    </a:p>
                    <a:p>
                      <a:pPr algn="ctr"/>
                      <a:r>
                        <a:rPr lang="de-DE" sz="1100" b="0">
                          <a:solidFill>
                            <a:schemeClr val="tx1"/>
                          </a:solidFill>
                          <a:latin typeface="Roboto" panose="02000000000000000000" pitchFamily="2" charset="0"/>
                          <a:ea typeface="Roboto" panose="02000000000000000000" pitchFamily="2" charset="0"/>
                          <a:cs typeface="Roboto" panose="02000000000000000000" pitchFamily="2" charset="0"/>
                          <a:hlinkClick r:id="rId7"/>
                        </a:rPr>
                        <a:t>rhoenisch@vegapartners.de</a:t>
                      </a:r>
                      <a:endParaRPr lang="de-DE" sz="1100" b="0">
                        <a:solidFill>
                          <a:schemeClr val="tx1"/>
                        </a:solidFill>
                        <a:latin typeface="Roboto" panose="02000000000000000000" pitchFamily="2" charset="0"/>
                        <a:ea typeface="Roboto" panose="02000000000000000000" pitchFamily="2" charset="0"/>
                        <a:cs typeface="Roboto" panose="02000000000000000000" pitchFamily="2" charset="0"/>
                      </a:endParaRPr>
                    </a:p>
                    <a:p>
                      <a:pPr algn="ctr"/>
                      <a:endParaRPr lang="de-DE" sz="1100" b="0">
                        <a:solidFill>
                          <a:schemeClr val="tx1"/>
                        </a:solidFill>
                        <a:latin typeface="Roboto" panose="02000000000000000000" pitchFamily="2" charset="0"/>
                        <a:ea typeface="Roboto" panose="02000000000000000000" pitchFamily="2" charset="0"/>
                        <a:cs typeface="Roboto" panose="02000000000000000000" pitchFamily="2" charset="0"/>
                      </a:endParaRPr>
                    </a:p>
                  </a:txBody>
                  <a:tcPr>
                    <a:noFill/>
                  </a:tcPr>
                </a:tc>
                <a:extLst>
                  <a:ext uri="{0D108BD9-81ED-4DB2-BD59-A6C34878D82A}">
                    <a16:rowId xmlns:a16="http://schemas.microsoft.com/office/drawing/2014/main" val="3729378256"/>
                  </a:ext>
                </a:extLst>
              </a:tr>
            </a:tbl>
          </a:graphicData>
        </a:graphic>
      </p:graphicFrame>
      <p:sp>
        <p:nvSpPr>
          <p:cNvPr id="4" name="TextBox 3">
            <a:extLst>
              <a:ext uri="{FF2B5EF4-FFF2-40B4-BE49-F238E27FC236}">
                <a16:creationId xmlns:a16="http://schemas.microsoft.com/office/drawing/2014/main" id="{FCE2ACDC-8DF8-1550-8E4E-38E68050445B}"/>
              </a:ext>
            </a:extLst>
          </p:cNvPr>
          <p:cNvSpPr txBox="1"/>
          <p:nvPr userDrawn="1"/>
        </p:nvSpPr>
        <p:spPr>
          <a:xfrm>
            <a:off x="258418" y="243048"/>
            <a:ext cx="2071401" cy="400110"/>
          </a:xfrm>
          <a:prstGeom prst="rect">
            <a:avLst/>
          </a:prstGeom>
          <a:noFill/>
        </p:spPr>
        <p:txBody>
          <a:bodyPr wrap="none" rtlCol="0">
            <a:spAutoFit/>
          </a:bodyPr>
          <a:lstStyle/>
          <a:p>
            <a:pPr algn="just"/>
            <a:r>
              <a:rPr lang="de-DE" sz="2000" err="1">
                <a:latin typeface="Roboto" panose="02000000000000000000" pitchFamily="2" charset="0"/>
                <a:ea typeface="Roboto" panose="02000000000000000000" pitchFamily="2" charset="0"/>
                <a:cs typeface="Roboto" panose="02000000000000000000" pitchFamily="2" charset="0"/>
              </a:rPr>
              <a:t>Important</a:t>
            </a:r>
            <a:r>
              <a:rPr lang="de-DE" sz="2000">
                <a:latin typeface="Roboto" panose="02000000000000000000" pitchFamily="2" charset="0"/>
                <a:ea typeface="Roboto" panose="02000000000000000000" pitchFamily="2" charset="0"/>
                <a:cs typeface="Roboto" panose="02000000000000000000" pitchFamily="2" charset="0"/>
              </a:rPr>
              <a:t> </a:t>
            </a:r>
            <a:r>
              <a:rPr lang="de-DE" sz="2000" err="1">
                <a:latin typeface="Roboto" panose="02000000000000000000" pitchFamily="2" charset="0"/>
                <a:ea typeface="Roboto" panose="02000000000000000000" pitchFamily="2" charset="0"/>
                <a:cs typeface="Roboto" panose="02000000000000000000" pitchFamily="2" charset="0"/>
              </a:rPr>
              <a:t>notice</a:t>
            </a:r>
            <a:endParaRPr lang="de-DE" sz="2000">
              <a:latin typeface="Roboto" panose="02000000000000000000" pitchFamily="2" charset="0"/>
              <a:ea typeface="Roboto" panose="02000000000000000000" pitchFamily="2" charset="0"/>
              <a:cs typeface="Roboto" panose="02000000000000000000" pitchFamily="2" charset="0"/>
            </a:endParaRPr>
          </a:p>
        </p:txBody>
      </p:sp>
      <p:sp>
        <p:nvSpPr>
          <p:cNvPr id="7" name="TextBox 6">
            <a:extLst>
              <a:ext uri="{FF2B5EF4-FFF2-40B4-BE49-F238E27FC236}">
                <a16:creationId xmlns:a16="http://schemas.microsoft.com/office/drawing/2014/main" id="{0D859AA7-22A0-BC1F-2177-8A25A7411AC9}"/>
              </a:ext>
            </a:extLst>
          </p:cNvPr>
          <p:cNvSpPr txBox="1"/>
          <p:nvPr userDrawn="1"/>
        </p:nvSpPr>
        <p:spPr>
          <a:xfrm>
            <a:off x="342900" y="1198800"/>
            <a:ext cx="11517923" cy="1390568"/>
          </a:xfrm>
          <a:prstGeom prst="rect">
            <a:avLst/>
          </a:prstGeom>
          <a:noFill/>
        </p:spPr>
        <p:txBody>
          <a:bodyPr wrap="square" lIns="0" tIns="0" rIns="0" bIns="0" rtlCol="0">
            <a:spAutoFit/>
          </a:bodyPr>
          <a:lstStyle/>
          <a:p>
            <a:pPr marL="0" marR="0" lvl="0" indent="0" algn="just" defTabSz="914400" rtl="0" eaLnBrk="1" fontAlgn="auto" latinLnBrk="0" hangingPunct="1">
              <a:lnSpc>
                <a:spcPct val="100000"/>
              </a:lnSpc>
              <a:spcBef>
                <a:spcPts val="0"/>
              </a:spcBef>
              <a:spcAft>
                <a:spcPts val="600"/>
              </a:spcAft>
              <a:buClr>
                <a:srgbClr val="637D96"/>
              </a:buClr>
              <a:buSzPct val="75000"/>
              <a:buFont typeface="Arial" panose="020B0604020202020204" pitchFamily="34" charset="0"/>
              <a:buNone/>
              <a:tabLst/>
              <a:defRPr/>
            </a:pPr>
            <a:r>
              <a:rPr kumimoji="0" lang="en-US" sz="1100" b="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Roboto" panose="02000000000000000000" pitchFamily="2" charset="0"/>
                <a:sym typeface="Century Gothic" panose="020B0502020202020204" pitchFamily="34" charset="0"/>
              </a:rPr>
              <a:t>All correspondence relating to this Confidential Information Memorandum or to any transaction involving </a:t>
            </a:r>
            <a:r>
              <a:rPr kumimoji="0" lang="en-US" sz="1100" b="0" i="0" u="none" strike="noStrike" kern="1200" cap="none" spc="0" normalizeH="0" baseline="0" noProof="0">
                <a:ln>
                  <a:noFill/>
                </a:ln>
                <a:solidFill>
                  <a:srgbClr val="FF0000"/>
                </a:solidFill>
                <a:effectLst/>
                <a:uLnTx/>
                <a:uFillTx/>
                <a:latin typeface="Roboto" panose="02000000000000000000" pitchFamily="2" charset="0"/>
                <a:ea typeface="Roboto" panose="02000000000000000000" pitchFamily="2" charset="0"/>
                <a:cs typeface="Roboto" panose="02000000000000000000" pitchFamily="2" charset="0"/>
                <a:sym typeface="Century Gothic" panose="020B0502020202020204" pitchFamily="34" charset="0"/>
              </a:rPr>
              <a:t>[insert client’s company name here]</a:t>
            </a:r>
            <a:r>
              <a:rPr kumimoji="0" lang="en-US" sz="1100" b="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Roboto" panose="02000000000000000000" pitchFamily="2" charset="0"/>
                <a:sym typeface="Century Gothic" panose="020B0502020202020204" pitchFamily="34" charset="0"/>
              </a:rPr>
              <a:t> or its affiliates (</a:t>
            </a:r>
            <a:r>
              <a:rPr kumimoji="0" lang="en-US" sz="1100" b="0" i="0" u="none" strike="noStrike" kern="1200" cap="none" spc="0" normalizeH="0" baseline="0" noProof="0">
                <a:ln>
                  <a:noFill/>
                </a:ln>
                <a:solidFill>
                  <a:srgbClr val="FF0000"/>
                </a:solidFill>
                <a:effectLst/>
                <a:uLnTx/>
                <a:uFillTx/>
                <a:latin typeface="Roboto" panose="02000000000000000000" pitchFamily="2" charset="0"/>
                <a:ea typeface="Roboto" panose="02000000000000000000" pitchFamily="2" charset="0"/>
                <a:cs typeface="Roboto" panose="02000000000000000000" pitchFamily="2" charset="0"/>
                <a:sym typeface="Century Gothic" panose="020B0502020202020204" pitchFamily="34" charset="0"/>
              </a:rPr>
              <a:t>“XYZ”, “XYZ Group”</a:t>
            </a:r>
            <a:r>
              <a:rPr kumimoji="0" lang="en-US" sz="1100" b="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Roboto" panose="02000000000000000000" pitchFamily="2" charset="0"/>
                <a:sym typeface="Century Gothic" panose="020B0502020202020204" pitchFamily="34" charset="0"/>
              </a:rPr>
              <a:t>, “Group” or “the company”) must be directed without exception to one of the following Vega Partners representatives. Under no circumstances should any direct contact be made with the Board of Directors, Corporate Management or employees of the Company regarding such transaction without contacting Vega Partners in advance.</a:t>
            </a:r>
          </a:p>
          <a:p>
            <a:pPr marL="0" marR="0" lvl="0" indent="0" algn="just" defTabSz="914400" rtl="0" eaLnBrk="1" fontAlgn="auto" latinLnBrk="0" hangingPunct="1">
              <a:lnSpc>
                <a:spcPct val="100000"/>
              </a:lnSpc>
              <a:spcBef>
                <a:spcPts val="0"/>
              </a:spcBef>
              <a:spcAft>
                <a:spcPts val="600"/>
              </a:spcAft>
              <a:buClr>
                <a:srgbClr val="637D96"/>
              </a:buClr>
              <a:buSzPct val="75000"/>
              <a:buFont typeface="Arial" panose="020B0604020202020204" pitchFamily="34" charset="0"/>
              <a:buNone/>
              <a:tabLst/>
              <a:defRPr/>
            </a:pPr>
            <a:endParaRPr kumimoji="0" lang="en-US" sz="1100" b="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Roboto" panose="02000000000000000000" pitchFamily="2" charset="0"/>
              <a:sym typeface="Century Gothic" panose="020B0502020202020204" pitchFamily="34" charset="0"/>
            </a:endParaRPr>
          </a:p>
          <a:p>
            <a:pPr marL="0" marR="0" lvl="0" indent="0" algn="just" defTabSz="914400" rtl="0" eaLnBrk="1" fontAlgn="auto" latinLnBrk="0" hangingPunct="1">
              <a:lnSpc>
                <a:spcPct val="100000"/>
              </a:lnSpc>
              <a:spcBef>
                <a:spcPts val="0"/>
              </a:spcBef>
              <a:spcAft>
                <a:spcPts val="600"/>
              </a:spcAft>
              <a:buClr>
                <a:srgbClr val="637D96"/>
              </a:buClr>
              <a:buSzPct val="75000"/>
              <a:buFont typeface="Arial" panose="020B0604020202020204" pitchFamily="34" charset="0"/>
              <a:buNone/>
              <a:tabLst/>
              <a:defRPr/>
            </a:pPr>
            <a:r>
              <a:rPr kumimoji="0" lang="en-US" sz="1100" b="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Roboto" panose="02000000000000000000" pitchFamily="2" charset="0"/>
                <a:sym typeface="Century Gothic" panose="020B0502020202020204" pitchFamily="34" charset="0"/>
              </a:rPr>
              <a:t>All requests and communication shall be addressed to Vega Partners individuals as listed below:</a:t>
            </a:r>
          </a:p>
          <a:p>
            <a:endParaRPr lang="de-DE"/>
          </a:p>
        </p:txBody>
      </p:sp>
    </p:spTree>
    <p:extLst>
      <p:ext uri="{BB962C8B-B14F-4D97-AF65-F5344CB8AC3E}">
        <p14:creationId xmlns:p14="http://schemas.microsoft.com/office/powerpoint/2010/main" val="3648656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extLst>
              <p:ext uri="{D42A27DB-BD31-4B8C-83A1-F6EECF244321}">
                <p14:modId xmlns:p14="http://schemas.microsoft.com/office/powerpoint/2010/main" val="32480562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6" progId="TCLayout.ActiveDocument.1">
                  <p:embed/>
                </p:oleObj>
              </mc:Choice>
              <mc:Fallback>
                <p:oleObj name="think-cell Slide" r:id="rId4" imgW="473" imgH="476" progId="TCLayout.ActiveDocument.1">
                  <p:embed/>
                  <p:pic>
                    <p:nvPicPr>
                      <p:cNvPr id="5" name="Object 4"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p:custDataLst>
              <p:tags r:id="rId2"/>
            </p:custDataLst>
          </p:nvPr>
        </p:nvSpPr>
        <p:spPr>
          <a:xfrm>
            <a:off x="1"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endParaRPr lang="en-US" sz="3600" b="0" i="0" baseline="0">
              <a:latin typeface="Century Gothic" panose="020B0502020202020204" pitchFamily="34" charset="0"/>
              <a:sym typeface="Century Gothic" panose="020B0502020202020204" pitchFamily="34" charset="0"/>
            </a:endParaRPr>
          </a:p>
        </p:txBody>
      </p:sp>
      <p:sp>
        <p:nvSpPr>
          <p:cNvPr id="10" name="Slide Number Placeholder 6">
            <a:extLst>
              <a:ext uri="{FF2B5EF4-FFF2-40B4-BE49-F238E27FC236}">
                <a16:creationId xmlns:a16="http://schemas.microsoft.com/office/drawing/2014/main" id="{C8E42404-614C-F018-FD29-D10D141388C6}"/>
              </a:ext>
            </a:extLst>
          </p:cNvPr>
          <p:cNvSpPr>
            <a:spLocks noGrp="1"/>
          </p:cNvSpPr>
          <p:nvPr>
            <p:ph type="sldNum" sz="quarter" idx="4"/>
          </p:nvPr>
        </p:nvSpPr>
        <p:spPr>
          <a:xfrm>
            <a:off x="4724400" y="6409104"/>
            <a:ext cx="2743200" cy="365125"/>
          </a:xfrm>
          <a:prstGeom prst="rect">
            <a:avLst/>
          </a:prstGeom>
        </p:spPr>
        <p:txBody>
          <a:bodyPr vert="horz" lIns="91440" tIns="45720" rIns="91440" bIns="45720" rtlCol="0" anchor="ctr"/>
          <a:lstStyle>
            <a:lvl1pPr algn="ctr">
              <a:defRPr sz="100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fld id="{B7DB95AD-BB38-4F2F-9059-13DFCE8E9D75}" type="slidenum">
              <a:rPr lang="de-DE" smtClean="0"/>
              <a:pPr/>
              <a:t>‹Nr.›</a:t>
            </a:fld>
            <a:endParaRPr lang="de-DE"/>
          </a:p>
        </p:txBody>
      </p:sp>
      <p:sp>
        <p:nvSpPr>
          <p:cNvPr id="4" name="TextBox 3">
            <a:extLst>
              <a:ext uri="{FF2B5EF4-FFF2-40B4-BE49-F238E27FC236}">
                <a16:creationId xmlns:a16="http://schemas.microsoft.com/office/drawing/2014/main" id="{FCE2ACDC-8DF8-1550-8E4E-38E68050445B}"/>
              </a:ext>
            </a:extLst>
          </p:cNvPr>
          <p:cNvSpPr txBox="1"/>
          <p:nvPr userDrawn="1"/>
        </p:nvSpPr>
        <p:spPr>
          <a:xfrm>
            <a:off x="370891" y="240163"/>
            <a:ext cx="1338952" cy="400110"/>
          </a:xfrm>
          <a:prstGeom prst="rect">
            <a:avLst/>
          </a:prstGeom>
          <a:noFill/>
        </p:spPr>
        <p:txBody>
          <a:bodyPr wrap="none" lIns="0" rtlCol="0">
            <a:spAutoFit/>
          </a:bodyPr>
          <a:lstStyle/>
          <a:p>
            <a:pPr algn="just"/>
            <a:r>
              <a:rPr lang="de-DE" sz="2000">
                <a:latin typeface="Roboto" panose="02000000000000000000" pitchFamily="2" charset="0"/>
                <a:ea typeface="Roboto" panose="02000000000000000000" pitchFamily="2" charset="0"/>
                <a:cs typeface="Roboto" panose="02000000000000000000" pitchFamily="2" charset="0"/>
              </a:rPr>
              <a:t>Disclaimer</a:t>
            </a:r>
          </a:p>
        </p:txBody>
      </p:sp>
      <p:sp>
        <p:nvSpPr>
          <p:cNvPr id="7" name="TextBox 6">
            <a:extLst>
              <a:ext uri="{FF2B5EF4-FFF2-40B4-BE49-F238E27FC236}">
                <a16:creationId xmlns:a16="http://schemas.microsoft.com/office/drawing/2014/main" id="{0D859AA7-22A0-BC1F-2177-8A25A7411AC9}"/>
              </a:ext>
            </a:extLst>
          </p:cNvPr>
          <p:cNvSpPr txBox="1"/>
          <p:nvPr userDrawn="1"/>
        </p:nvSpPr>
        <p:spPr>
          <a:xfrm>
            <a:off x="342900" y="1198800"/>
            <a:ext cx="11517923" cy="2262158"/>
          </a:xfrm>
          <a:prstGeom prst="rect">
            <a:avLst/>
          </a:prstGeom>
          <a:noFill/>
        </p:spPr>
        <p:txBody>
          <a:bodyPr wrap="square" lIns="0" tIns="0" rIns="0" bIns="0" rtlCol="0">
            <a:spAutoFit/>
          </a:bodyPr>
          <a:lstStyle/>
          <a:p>
            <a:pPr marL="0" marR="0" lvl="0" indent="0" algn="just" defTabSz="914400" rtl="0" eaLnBrk="1" fontAlgn="auto" latinLnBrk="0" hangingPunct="1">
              <a:lnSpc>
                <a:spcPct val="100000"/>
              </a:lnSpc>
              <a:spcBef>
                <a:spcPts val="0"/>
              </a:spcBef>
              <a:spcAft>
                <a:spcPts val="600"/>
              </a:spcAft>
              <a:buClr>
                <a:srgbClr val="637D96"/>
              </a:buClr>
              <a:buSzPct val="75000"/>
              <a:buFont typeface="Arial" panose="020B0604020202020204" pitchFamily="34" charset="0"/>
              <a:buNone/>
              <a:tabLst/>
              <a:defRPr/>
            </a:pPr>
            <a:r>
              <a:rPr kumimoji="0" lang="en-US" sz="1100" b="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Roboto" panose="02000000000000000000" pitchFamily="2" charset="0"/>
                <a:sym typeface="Century Gothic" panose="020B0502020202020204" pitchFamily="34" charset="0"/>
              </a:rPr>
              <a:t>This confidential document has been prepared by Vega Partners GmbH (“Vega”). The information and opinions contained in this document have been compiled or arrived at by Vega from sources which have not been independently verified. Vega gives no warranty and makes no representation as to the accuracy, completeness or correctness of the contents of this document. To the extent that the opinions and estimates contained in this document constitute the judgements of Vega these are made as at the date of this document and are subject to change without notice.</a:t>
            </a:r>
          </a:p>
          <a:p>
            <a:pPr marL="0" marR="0" lvl="0" indent="0" algn="just" defTabSz="914400" rtl="0" eaLnBrk="1" fontAlgn="auto" latinLnBrk="0" hangingPunct="1">
              <a:lnSpc>
                <a:spcPct val="100000"/>
              </a:lnSpc>
              <a:spcBef>
                <a:spcPts val="0"/>
              </a:spcBef>
              <a:spcAft>
                <a:spcPts val="600"/>
              </a:spcAft>
              <a:buClr>
                <a:srgbClr val="637D96"/>
              </a:buClr>
              <a:buSzPct val="75000"/>
              <a:buFont typeface="Arial" panose="020B0604020202020204" pitchFamily="34" charset="0"/>
              <a:buNone/>
              <a:tabLst/>
              <a:defRPr/>
            </a:pPr>
            <a:r>
              <a:rPr kumimoji="0" lang="en-US" sz="1100" b="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Roboto" panose="02000000000000000000" pitchFamily="2" charset="0"/>
                <a:sym typeface="Century Gothic" panose="020B0502020202020204" pitchFamily="34" charset="0"/>
              </a:rPr>
              <a:t>The information in this document is supplied on the condition that Vega, and any partner or employee of Vega, are not liable for any error or inaccuracy contained herein, whether negligently caused or otherwise, and accept no responsibility for any loss or damage suffered by the recipient of this document or anyone else due to such error or inaccuracy or any omission from this document as a result of such supply.</a:t>
            </a:r>
          </a:p>
          <a:p>
            <a:pPr marL="0" marR="0" lvl="0" indent="0" algn="just" defTabSz="914400" rtl="0" eaLnBrk="1" fontAlgn="auto" latinLnBrk="0" hangingPunct="1">
              <a:lnSpc>
                <a:spcPct val="100000"/>
              </a:lnSpc>
              <a:spcBef>
                <a:spcPts val="0"/>
              </a:spcBef>
              <a:spcAft>
                <a:spcPts val="600"/>
              </a:spcAft>
              <a:buClr>
                <a:srgbClr val="637D96"/>
              </a:buClr>
              <a:buSzPct val="75000"/>
              <a:buFont typeface="Arial" panose="020B0604020202020204" pitchFamily="34" charset="0"/>
              <a:buNone/>
              <a:tabLst/>
              <a:defRPr/>
            </a:pPr>
            <a:r>
              <a:rPr kumimoji="0" lang="en-US" sz="1100" b="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Roboto" panose="02000000000000000000" pitchFamily="2" charset="0"/>
                <a:sym typeface="Century Gothic" panose="020B0502020202020204" pitchFamily="34" charset="0"/>
              </a:rPr>
              <a:t>The contents of this document should be regarded by the recipient as being insufficient to form the basis of an investment decision, for which further investigation, analysis and consideration would be required. Therefore this document should not be relied on for such a decision; anybody making a commercial or investment decision based on this document, does so entirely on their own responsibility and at their own risk.</a:t>
            </a:r>
          </a:p>
          <a:p>
            <a:pPr marL="0" marR="0" lvl="0" indent="0" algn="just" defTabSz="914400" rtl="0" eaLnBrk="1" fontAlgn="auto" latinLnBrk="0" hangingPunct="1">
              <a:lnSpc>
                <a:spcPct val="100000"/>
              </a:lnSpc>
              <a:spcBef>
                <a:spcPts val="0"/>
              </a:spcBef>
              <a:spcAft>
                <a:spcPts val="600"/>
              </a:spcAft>
              <a:buClr>
                <a:srgbClr val="637D96"/>
              </a:buClr>
              <a:buSzPct val="75000"/>
              <a:buFont typeface="Arial" panose="020B0604020202020204" pitchFamily="34" charset="0"/>
              <a:buNone/>
              <a:tabLst/>
              <a:defRPr/>
            </a:pPr>
            <a:r>
              <a:rPr kumimoji="0" lang="en-US" sz="1100" b="0" i="0" u="none" strike="noStrike" kern="1200" cap="none" spc="0" normalizeH="0" baseline="0" noProof="0">
                <a:ln>
                  <a:noFill/>
                </a:ln>
                <a:solidFill>
                  <a:srgbClr val="000000"/>
                </a:solidFill>
                <a:effectLst/>
                <a:uLnTx/>
                <a:uFillTx/>
                <a:latin typeface="Roboto" panose="02000000000000000000" pitchFamily="2" charset="0"/>
                <a:ea typeface="Roboto" panose="02000000000000000000" pitchFamily="2" charset="0"/>
                <a:cs typeface="Roboto" panose="02000000000000000000" pitchFamily="2" charset="0"/>
                <a:sym typeface="Century Gothic" panose="020B0502020202020204" pitchFamily="34" charset="0"/>
              </a:rPr>
              <a:t>This document and its contents are strictly private and confidential and may not be provided or otherwise communicated to anyone other than those persons to whom it has specifically and knowingly been communicated by Vega and may not be considered as containing investment advice other than by express written agreement with Vega.</a:t>
            </a:r>
            <a:endParaRPr lang="de-DE"/>
          </a:p>
        </p:txBody>
      </p:sp>
    </p:spTree>
    <p:extLst>
      <p:ext uri="{BB962C8B-B14F-4D97-AF65-F5344CB8AC3E}">
        <p14:creationId xmlns:p14="http://schemas.microsoft.com/office/powerpoint/2010/main" val="4225220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extLst>
              <p:ext uri="{D42A27DB-BD31-4B8C-83A1-F6EECF244321}">
                <p14:modId xmlns:p14="http://schemas.microsoft.com/office/powerpoint/2010/main" val="32480562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6" progId="TCLayout.ActiveDocument.1">
                  <p:embed/>
                </p:oleObj>
              </mc:Choice>
              <mc:Fallback>
                <p:oleObj name="think-cell Slide" r:id="rId4" imgW="473" imgH="476" progId="TCLayout.ActiveDocument.1">
                  <p:embed/>
                  <p:pic>
                    <p:nvPicPr>
                      <p:cNvPr id="5" name="Object 4"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p:custDataLst>
              <p:tags r:id="rId2"/>
            </p:custDataLst>
          </p:nvPr>
        </p:nvSpPr>
        <p:spPr>
          <a:xfrm>
            <a:off x="1"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endParaRPr lang="en-US" sz="3600" b="0" i="0" baseline="0">
              <a:latin typeface="Century Gothic" panose="020B0502020202020204" pitchFamily="34" charset="0"/>
              <a:sym typeface="Century Gothic" panose="020B0502020202020204" pitchFamily="34" charset="0"/>
            </a:endParaRPr>
          </a:p>
        </p:txBody>
      </p:sp>
      <p:sp>
        <p:nvSpPr>
          <p:cNvPr id="6" name="Title Placeholder 1">
            <a:extLst>
              <a:ext uri="{FF2B5EF4-FFF2-40B4-BE49-F238E27FC236}">
                <a16:creationId xmlns:a16="http://schemas.microsoft.com/office/drawing/2014/main" id="{A74FAC19-EB4E-932F-A4F3-0614B695EF01}"/>
              </a:ext>
            </a:extLst>
          </p:cNvPr>
          <p:cNvSpPr>
            <a:spLocks noGrp="1"/>
          </p:cNvSpPr>
          <p:nvPr>
            <p:ph type="title"/>
          </p:nvPr>
        </p:nvSpPr>
        <p:spPr>
          <a:xfrm>
            <a:off x="342900" y="243048"/>
            <a:ext cx="11517924" cy="879756"/>
          </a:xfrm>
          <a:prstGeom prst="rect">
            <a:avLst/>
          </a:prstGeom>
        </p:spPr>
        <p:txBody>
          <a:bodyPr vert="horz" lIns="0" tIns="45720" rIns="91440" bIns="0" rtlCol="0" anchor="t" anchorCtr="0">
            <a:noAutofit/>
          </a:bodyPr>
          <a:lstStyle/>
          <a:p>
            <a:r>
              <a:rPr lang="en-US"/>
              <a:t>The top line has to summarize the content of the slide short and precise. Maximal two sentences over two rows.</a:t>
            </a:r>
          </a:p>
        </p:txBody>
      </p:sp>
      <p:sp>
        <p:nvSpPr>
          <p:cNvPr id="9" name="Text Placeholder 2">
            <a:extLst>
              <a:ext uri="{FF2B5EF4-FFF2-40B4-BE49-F238E27FC236}">
                <a16:creationId xmlns:a16="http://schemas.microsoft.com/office/drawing/2014/main" id="{4F6EFC08-9F43-73C8-1058-090A55648087}"/>
              </a:ext>
            </a:extLst>
          </p:cNvPr>
          <p:cNvSpPr>
            <a:spLocks noGrp="1"/>
          </p:cNvSpPr>
          <p:nvPr>
            <p:ph idx="1"/>
          </p:nvPr>
        </p:nvSpPr>
        <p:spPr>
          <a:xfrm>
            <a:off x="342900" y="1198800"/>
            <a:ext cx="11517923" cy="4808834"/>
          </a:xfrm>
          <a:prstGeom prst="rect">
            <a:avLst/>
          </a:prstGeom>
        </p:spPr>
        <p:txBody>
          <a:bodyPr vert="horz" lIns="0" tIns="0" rIns="0" bIns="0" rtlCol="0">
            <a:noAutofit/>
          </a:bodyPr>
          <a:lstStyle/>
          <a:p>
            <a:pPr lvl="0"/>
            <a:r>
              <a:rPr lang="en-US"/>
              <a:t>Click to edit Master text styles</a:t>
            </a:r>
          </a:p>
        </p:txBody>
      </p:sp>
      <p:sp>
        <p:nvSpPr>
          <p:cNvPr id="10" name="Slide Number Placeholder 6">
            <a:extLst>
              <a:ext uri="{FF2B5EF4-FFF2-40B4-BE49-F238E27FC236}">
                <a16:creationId xmlns:a16="http://schemas.microsoft.com/office/drawing/2014/main" id="{C8E42404-614C-F018-FD29-D10D141388C6}"/>
              </a:ext>
            </a:extLst>
          </p:cNvPr>
          <p:cNvSpPr>
            <a:spLocks noGrp="1"/>
          </p:cNvSpPr>
          <p:nvPr>
            <p:ph type="sldNum" sz="quarter" idx="4"/>
          </p:nvPr>
        </p:nvSpPr>
        <p:spPr>
          <a:xfrm>
            <a:off x="4724400" y="6409104"/>
            <a:ext cx="2743200" cy="365125"/>
          </a:xfrm>
          <a:prstGeom prst="rect">
            <a:avLst/>
          </a:prstGeom>
        </p:spPr>
        <p:txBody>
          <a:bodyPr vert="horz" lIns="91440" tIns="45720" rIns="91440" bIns="45720" rtlCol="0" anchor="ctr"/>
          <a:lstStyle>
            <a:lvl1pPr algn="ctr">
              <a:defRPr sz="100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fld id="{B7DB95AD-BB38-4F2F-9059-13DFCE8E9D75}" type="slidenum">
              <a:rPr lang="de-DE" smtClean="0"/>
              <a:pPr/>
              <a:t>‹Nr.›</a:t>
            </a:fld>
            <a:endParaRPr lang="de-DE"/>
          </a:p>
        </p:txBody>
      </p:sp>
    </p:spTree>
    <p:extLst>
      <p:ext uri="{BB962C8B-B14F-4D97-AF65-F5344CB8AC3E}">
        <p14:creationId xmlns:p14="http://schemas.microsoft.com/office/powerpoint/2010/main" val="16372952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tandard Slide with Sub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extLst>
              <p:ext uri="{D42A27DB-BD31-4B8C-83A1-F6EECF244321}">
                <p14:modId xmlns:p14="http://schemas.microsoft.com/office/powerpoint/2010/main" val="35741432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6" progId="TCLayout.ActiveDocument.1">
                  <p:embed/>
                </p:oleObj>
              </mc:Choice>
              <mc:Fallback>
                <p:oleObj name="think-cell Slide" r:id="rId4" imgW="473" imgH="476" progId="TCLayout.ActiveDocument.1">
                  <p:embed/>
                  <p:pic>
                    <p:nvPicPr>
                      <p:cNvPr id="5" name="Object 4"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endParaRPr lang="en-US" sz="3600" b="0" i="0" baseline="0">
              <a:latin typeface="Century Gothic" panose="020B0502020202020204" pitchFamily="34" charset="0"/>
              <a:sym typeface="Century Gothic" panose="020B0502020202020204" pitchFamily="34" charset="0"/>
            </a:endParaRPr>
          </a:p>
        </p:txBody>
      </p:sp>
      <p:sp>
        <p:nvSpPr>
          <p:cNvPr id="6" name="Slide Number Placeholder 6">
            <a:extLst>
              <a:ext uri="{FF2B5EF4-FFF2-40B4-BE49-F238E27FC236}">
                <a16:creationId xmlns:a16="http://schemas.microsoft.com/office/drawing/2014/main" id="{D299E5BE-BB14-78FE-7B85-9D377BD02B84}"/>
              </a:ext>
            </a:extLst>
          </p:cNvPr>
          <p:cNvSpPr>
            <a:spLocks noGrp="1"/>
          </p:cNvSpPr>
          <p:nvPr>
            <p:ph type="sldNum" sz="quarter" idx="4"/>
          </p:nvPr>
        </p:nvSpPr>
        <p:spPr>
          <a:xfrm>
            <a:off x="4724400" y="6409104"/>
            <a:ext cx="2743200" cy="365125"/>
          </a:xfrm>
          <a:prstGeom prst="rect">
            <a:avLst/>
          </a:prstGeom>
        </p:spPr>
        <p:txBody>
          <a:bodyPr vert="horz" lIns="91440" tIns="45720" rIns="91440" bIns="45720" rtlCol="0" anchor="ctr"/>
          <a:lstStyle>
            <a:lvl1pPr algn="ctr">
              <a:defRPr sz="100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fld id="{B7DB95AD-BB38-4F2F-9059-13DFCE8E9D75}" type="slidenum">
              <a:rPr lang="de-DE" smtClean="0"/>
              <a:pPr/>
              <a:t>‹Nr.›</a:t>
            </a:fld>
            <a:endParaRPr lang="de-DE"/>
          </a:p>
        </p:txBody>
      </p:sp>
      <p:sp>
        <p:nvSpPr>
          <p:cNvPr id="7" name="Title Placeholder 1">
            <a:extLst>
              <a:ext uri="{FF2B5EF4-FFF2-40B4-BE49-F238E27FC236}">
                <a16:creationId xmlns:a16="http://schemas.microsoft.com/office/drawing/2014/main" id="{018A5E80-9A47-BFD5-2DA8-C7F3C8D5B54E}"/>
              </a:ext>
            </a:extLst>
          </p:cNvPr>
          <p:cNvSpPr>
            <a:spLocks noGrp="1"/>
          </p:cNvSpPr>
          <p:nvPr>
            <p:ph type="title"/>
          </p:nvPr>
        </p:nvSpPr>
        <p:spPr>
          <a:xfrm>
            <a:off x="342900" y="243048"/>
            <a:ext cx="11517924" cy="879756"/>
          </a:xfrm>
          <a:prstGeom prst="rect">
            <a:avLst/>
          </a:prstGeom>
        </p:spPr>
        <p:txBody>
          <a:bodyPr vert="horz" lIns="0" tIns="45720" rIns="91440" bIns="0" rtlCol="0" anchor="t" anchorCtr="0">
            <a:noAutofit/>
          </a:bodyPr>
          <a:lstStyle/>
          <a:p>
            <a:r>
              <a:rPr lang="en-US"/>
              <a:t>The top line has to summarize the content of the slide short and precise. Maximal two sentences over two rows.</a:t>
            </a:r>
          </a:p>
        </p:txBody>
      </p:sp>
      <p:sp>
        <p:nvSpPr>
          <p:cNvPr id="9" name="Text Placeholder 2">
            <a:extLst>
              <a:ext uri="{FF2B5EF4-FFF2-40B4-BE49-F238E27FC236}">
                <a16:creationId xmlns:a16="http://schemas.microsoft.com/office/drawing/2014/main" id="{44885469-D4A5-6483-D68F-32F3F7C70886}"/>
              </a:ext>
            </a:extLst>
          </p:cNvPr>
          <p:cNvSpPr>
            <a:spLocks noGrp="1"/>
          </p:cNvSpPr>
          <p:nvPr>
            <p:ph idx="1"/>
          </p:nvPr>
        </p:nvSpPr>
        <p:spPr>
          <a:xfrm>
            <a:off x="342900" y="1198800"/>
            <a:ext cx="11517923" cy="4808834"/>
          </a:xfrm>
          <a:prstGeom prst="rect">
            <a:avLst/>
          </a:prstGeom>
        </p:spPr>
        <p:txBody>
          <a:bodyPr vert="horz" lIns="0" tIns="0" rIns="0" bIns="0" rtlCol="0">
            <a:noAutofit/>
          </a:bodyPr>
          <a:lstStyle>
            <a:lvl1pPr algn="just">
              <a:spcAft>
                <a:spcPts val="600"/>
              </a:spcAft>
              <a:defRPr sz="1100">
                <a:latin typeface="Roboto" panose="02000000000000000000" pitchFamily="2" charset="0"/>
                <a:ea typeface="Roboto" panose="02000000000000000000" pitchFamily="2" charset="0"/>
                <a:cs typeface="Roboto" panose="02000000000000000000" pitchFamily="2" charset="0"/>
              </a:defRPr>
            </a:lvl1pPr>
          </a:lstStyle>
          <a:p>
            <a:pPr lvl="0"/>
            <a:r>
              <a:rPr lang="en-US"/>
              <a:t>Click to edit Master text styles</a:t>
            </a:r>
          </a:p>
        </p:txBody>
      </p:sp>
    </p:spTree>
    <p:extLst>
      <p:ext uri="{BB962C8B-B14F-4D97-AF65-F5344CB8AC3E}">
        <p14:creationId xmlns:p14="http://schemas.microsoft.com/office/powerpoint/2010/main" val="10596838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ection Break - Djokovic">
    <p:bg>
      <p:bgPr>
        <a:solidFill>
          <a:schemeClr val="tx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6B0AF79-69DE-A3A7-E6ED-297C13AED6DB}"/>
              </a:ext>
            </a:extLst>
          </p:cNvPr>
          <p:cNvSpPr/>
          <p:nvPr userDrawn="1"/>
        </p:nvSpPr>
        <p:spPr>
          <a:xfrm>
            <a:off x="0" y="6212264"/>
            <a:ext cx="9313682"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tangle 5">
            <a:extLst>
              <a:ext uri="{FF2B5EF4-FFF2-40B4-BE49-F238E27FC236}">
                <a16:creationId xmlns:a16="http://schemas.microsoft.com/office/drawing/2014/main" id="{974E2246-3A0B-ED5C-F652-62526B5FF721}"/>
              </a:ext>
            </a:extLst>
          </p:cNvPr>
          <p:cNvSpPr/>
          <p:nvPr userDrawn="1"/>
        </p:nvSpPr>
        <p:spPr>
          <a:xfrm>
            <a:off x="8135332" y="5713748"/>
            <a:ext cx="4056668"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Rectangle 6">
            <a:extLst>
              <a:ext uri="{FF2B5EF4-FFF2-40B4-BE49-F238E27FC236}">
                <a16:creationId xmlns:a16="http://schemas.microsoft.com/office/drawing/2014/main" id="{32E1EDF0-FA71-B78B-A685-75D1DFA7B672}"/>
              </a:ext>
            </a:extLst>
          </p:cNvPr>
          <p:cNvSpPr/>
          <p:nvPr userDrawn="1"/>
        </p:nvSpPr>
        <p:spPr>
          <a:xfrm rot="5400000">
            <a:off x="943330" y="3393000"/>
            <a:ext cx="6858000" cy="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Picture 7">
            <a:extLst>
              <a:ext uri="{FF2B5EF4-FFF2-40B4-BE49-F238E27FC236}">
                <a16:creationId xmlns:a16="http://schemas.microsoft.com/office/drawing/2014/main" id="{810BA597-63F5-4191-BBA2-8EAB71E359CF}"/>
              </a:ext>
            </a:extLst>
          </p:cNvPr>
          <p:cNvPicPr>
            <a:picLocks noChangeAspect="1"/>
          </p:cNvPicPr>
          <p:nvPr userDrawn="1"/>
        </p:nvPicPr>
        <p:blipFill rotWithShape="1">
          <a:blip r:embed="rId2"/>
          <a:srcRect/>
          <a:stretch/>
        </p:blipFill>
        <p:spPr>
          <a:xfrm>
            <a:off x="268330" y="794925"/>
            <a:ext cx="8280000" cy="5268150"/>
          </a:xfrm>
          <a:prstGeom prst="rect">
            <a:avLst/>
          </a:prstGeom>
        </p:spPr>
      </p:pic>
    </p:spTree>
    <p:extLst>
      <p:ext uri="{BB962C8B-B14F-4D97-AF65-F5344CB8AC3E}">
        <p14:creationId xmlns:p14="http://schemas.microsoft.com/office/powerpoint/2010/main" val="29370883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Break - Djokovic">
    <p:bg>
      <p:bgPr>
        <a:solidFill>
          <a:schemeClr val="tx1"/>
        </a:solidFill>
        <a:effectLst/>
      </p:bgPr>
    </p:bg>
    <p:spTree>
      <p:nvGrpSpPr>
        <p:cNvPr id="1" name=""/>
        <p:cNvGrpSpPr/>
        <p:nvPr/>
      </p:nvGrpSpPr>
      <p:grpSpPr>
        <a:xfrm>
          <a:off x="0" y="0"/>
          <a:ext cx="0" cy="0"/>
          <a:chOff x="0" y="0"/>
          <a:chExt cx="0" cy="0"/>
        </a:xfrm>
      </p:grpSpPr>
      <p:pic>
        <p:nvPicPr>
          <p:cNvPr id="4" name="Grafik 1">
            <a:extLst>
              <a:ext uri="{FF2B5EF4-FFF2-40B4-BE49-F238E27FC236}">
                <a16:creationId xmlns:a16="http://schemas.microsoft.com/office/drawing/2014/main" id="{C73D7171-90ED-ECAC-342E-9322934B6368}"/>
              </a:ext>
            </a:extLst>
          </p:cNvPr>
          <p:cNvPicPr>
            <a:picLocks noChangeAspect="1"/>
          </p:cNvPicPr>
          <p:nvPr userDrawn="1"/>
        </p:nvPicPr>
        <p:blipFill>
          <a:blip r:embed="rId2">
            <a:alphaModFix amt="85000"/>
            <a:extLst>
              <a:ext uri="{BEBA8EAE-BF5A-486C-A8C5-ECC9F3942E4B}">
                <a14:imgProps xmlns:a14="http://schemas.microsoft.com/office/drawing/2010/main">
                  <a14:imgLayer r:embed="rId3">
                    <a14:imgEffect>
                      <a14:brightnessContrast contrast="36000"/>
                    </a14:imgEffect>
                  </a14:imgLayer>
                </a14:imgProps>
              </a:ext>
            </a:extLst>
          </a:blip>
          <a:stretch>
            <a:fillRect/>
          </a:stretch>
        </p:blipFill>
        <p:spPr>
          <a:xfrm>
            <a:off x="690245" y="1029808"/>
            <a:ext cx="3285187" cy="4831159"/>
          </a:xfrm>
          <a:prstGeom prst="rect">
            <a:avLst/>
          </a:prstGeom>
        </p:spPr>
      </p:pic>
      <p:sp>
        <p:nvSpPr>
          <p:cNvPr id="5" name="Rectangle 4">
            <a:extLst>
              <a:ext uri="{FF2B5EF4-FFF2-40B4-BE49-F238E27FC236}">
                <a16:creationId xmlns:a16="http://schemas.microsoft.com/office/drawing/2014/main" id="{06B0AF79-69DE-A3A7-E6ED-297C13AED6DB}"/>
              </a:ext>
            </a:extLst>
          </p:cNvPr>
          <p:cNvSpPr/>
          <p:nvPr userDrawn="1"/>
        </p:nvSpPr>
        <p:spPr>
          <a:xfrm>
            <a:off x="0" y="6212264"/>
            <a:ext cx="9313682"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tangle 5">
            <a:extLst>
              <a:ext uri="{FF2B5EF4-FFF2-40B4-BE49-F238E27FC236}">
                <a16:creationId xmlns:a16="http://schemas.microsoft.com/office/drawing/2014/main" id="{974E2246-3A0B-ED5C-F652-62526B5FF721}"/>
              </a:ext>
            </a:extLst>
          </p:cNvPr>
          <p:cNvSpPr/>
          <p:nvPr userDrawn="1"/>
        </p:nvSpPr>
        <p:spPr>
          <a:xfrm>
            <a:off x="8135332" y="5713748"/>
            <a:ext cx="4056668"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Rectangle 6">
            <a:extLst>
              <a:ext uri="{FF2B5EF4-FFF2-40B4-BE49-F238E27FC236}">
                <a16:creationId xmlns:a16="http://schemas.microsoft.com/office/drawing/2014/main" id="{63557623-01A5-4263-F738-4C569BB6EC3F}"/>
              </a:ext>
            </a:extLst>
          </p:cNvPr>
          <p:cNvSpPr/>
          <p:nvPr userDrawn="1"/>
        </p:nvSpPr>
        <p:spPr>
          <a:xfrm rot="5400000">
            <a:off x="943330" y="3393000"/>
            <a:ext cx="6858000" cy="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1033756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Break - Astronaut">
    <p:bg>
      <p:bgPr>
        <a:solidFill>
          <a:schemeClr val="tx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6B0AF79-69DE-A3A7-E6ED-297C13AED6DB}"/>
              </a:ext>
            </a:extLst>
          </p:cNvPr>
          <p:cNvSpPr/>
          <p:nvPr userDrawn="1"/>
        </p:nvSpPr>
        <p:spPr>
          <a:xfrm>
            <a:off x="0" y="6212264"/>
            <a:ext cx="9313682"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tangle 5">
            <a:extLst>
              <a:ext uri="{FF2B5EF4-FFF2-40B4-BE49-F238E27FC236}">
                <a16:creationId xmlns:a16="http://schemas.microsoft.com/office/drawing/2014/main" id="{974E2246-3A0B-ED5C-F652-62526B5FF721}"/>
              </a:ext>
            </a:extLst>
          </p:cNvPr>
          <p:cNvSpPr/>
          <p:nvPr userDrawn="1"/>
        </p:nvSpPr>
        <p:spPr>
          <a:xfrm>
            <a:off x="8135332" y="5713748"/>
            <a:ext cx="4056668"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2" name="Grafik 6">
            <a:extLst>
              <a:ext uri="{FF2B5EF4-FFF2-40B4-BE49-F238E27FC236}">
                <a16:creationId xmlns:a16="http://schemas.microsoft.com/office/drawing/2014/main" id="{5B9130FE-5B0D-F338-C065-EB9F1A3D3006}"/>
              </a:ext>
            </a:extLst>
          </p:cNvPr>
          <p:cNvPicPr>
            <a:picLocks noChangeAspect="1"/>
          </p:cNvPicPr>
          <p:nvPr userDrawn="1"/>
        </p:nvPicPr>
        <p:blipFill>
          <a:blip r:embed="rId2">
            <a:alphaModFix amt="85000"/>
          </a:blip>
          <a:stretch>
            <a:fillRect/>
          </a:stretch>
        </p:blipFill>
        <p:spPr>
          <a:xfrm>
            <a:off x="1026995" y="732543"/>
            <a:ext cx="2719334" cy="5421347"/>
          </a:xfrm>
          <a:prstGeom prst="rect">
            <a:avLst/>
          </a:prstGeom>
        </p:spPr>
      </p:pic>
      <p:sp>
        <p:nvSpPr>
          <p:cNvPr id="3" name="Rectangle 6">
            <a:extLst>
              <a:ext uri="{FF2B5EF4-FFF2-40B4-BE49-F238E27FC236}">
                <a16:creationId xmlns:a16="http://schemas.microsoft.com/office/drawing/2014/main" id="{B7D6D42B-DC71-DD8A-6FC0-408BF656A688}"/>
              </a:ext>
            </a:extLst>
          </p:cNvPr>
          <p:cNvSpPr/>
          <p:nvPr userDrawn="1"/>
        </p:nvSpPr>
        <p:spPr>
          <a:xfrm rot="5400000">
            <a:off x="943330" y="3393000"/>
            <a:ext cx="6858000" cy="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6981215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Break - Woods">
    <p:bg>
      <p:bgPr>
        <a:solidFill>
          <a:schemeClr val="tx1"/>
        </a:solidFill>
        <a:effectLst/>
      </p:bgPr>
    </p:bg>
    <p:spTree>
      <p:nvGrpSpPr>
        <p:cNvPr id="1" name=""/>
        <p:cNvGrpSpPr/>
        <p:nvPr/>
      </p:nvGrpSpPr>
      <p:grpSpPr>
        <a:xfrm>
          <a:off x="0" y="0"/>
          <a:ext cx="0" cy="0"/>
          <a:chOff x="0" y="0"/>
          <a:chExt cx="0" cy="0"/>
        </a:xfrm>
      </p:grpSpPr>
      <p:pic>
        <p:nvPicPr>
          <p:cNvPr id="1026" name="Picture 2" descr="Dieser Pin enthält: Tiger Woods Wearing Fire Red Fist Pumping">
            <a:extLst>
              <a:ext uri="{FF2B5EF4-FFF2-40B4-BE49-F238E27FC236}">
                <a16:creationId xmlns:a16="http://schemas.microsoft.com/office/drawing/2014/main" id="{EAB617C6-5BC0-F125-D575-7F2DD8D8CA02}"/>
              </a:ext>
            </a:extLst>
          </p:cNvPr>
          <p:cNvPicPr>
            <a:picLocks noChangeAspect="1" noChangeArrowheads="1"/>
          </p:cNvPicPr>
          <p:nvPr userDrawn="1"/>
        </p:nvPicPr>
        <p:blipFill>
          <a:blip r:embed="rId2">
            <a:alphaModFix amt="85000"/>
            <a:extLst>
              <a:ext uri="{BEBA8EAE-BF5A-486C-A8C5-ECC9F3942E4B}">
                <a14:imgProps xmlns:a14="http://schemas.microsoft.com/office/drawing/2010/main">
                  <a14:imgLayer r:embed="rId3">
                    <a14:imgEffect>
                      <a14:saturation sat="0"/>
                    </a14:imgEffect>
                    <a14:imgEffect>
                      <a14:brightnessContrast contrast="47000"/>
                    </a14:imgEffect>
                  </a14:imgLayer>
                </a14:imgProps>
              </a:ext>
              <a:ext uri="{28A0092B-C50C-407E-A947-70E740481C1C}">
                <a14:useLocalDpi xmlns:a14="http://schemas.microsoft.com/office/drawing/2010/main" val="0"/>
              </a:ext>
            </a:extLst>
          </a:blip>
          <a:srcRect/>
          <a:stretch>
            <a:fillRect/>
          </a:stretch>
        </p:blipFill>
        <p:spPr bwMode="auto">
          <a:xfrm>
            <a:off x="690199" y="732543"/>
            <a:ext cx="3050594" cy="54216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06B0AF79-69DE-A3A7-E6ED-297C13AED6DB}"/>
              </a:ext>
            </a:extLst>
          </p:cNvPr>
          <p:cNvSpPr/>
          <p:nvPr userDrawn="1"/>
        </p:nvSpPr>
        <p:spPr>
          <a:xfrm>
            <a:off x="0" y="6212264"/>
            <a:ext cx="9313682"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tangle 5">
            <a:extLst>
              <a:ext uri="{FF2B5EF4-FFF2-40B4-BE49-F238E27FC236}">
                <a16:creationId xmlns:a16="http://schemas.microsoft.com/office/drawing/2014/main" id="{974E2246-3A0B-ED5C-F652-62526B5FF721}"/>
              </a:ext>
            </a:extLst>
          </p:cNvPr>
          <p:cNvSpPr/>
          <p:nvPr userDrawn="1"/>
        </p:nvSpPr>
        <p:spPr>
          <a:xfrm>
            <a:off x="8135332" y="5713748"/>
            <a:ext cx="4056668"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Rectangle 6">
            <a:extLst>
              <a:ext uri="{FF2B5EF4-FFF2-40B4-BE49-F238E27FC236}">
                <a16:creationId xmlns:a16="http://schemas.microsoft.com/office/drawing/2014/main" id="{48C63A84-3242-F75E-CF81-B285EC81CAA5}"/>
              </a:ext>
            </a:extLst>
          </p:cNvPr>
          <p:cNvSpPr/>
          <p:nvPr userDrawn="1"/>
        </p:nvSpPr>
        <p:spPr>
          <a:xfrm rot="5400000">
            <a:off x="943330" y="3393000"/>
            <a:ext cx="6858000" cy="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7425743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Break - Schumacher">
    <p:bg>
      <p:bgPr>
        <a:solidFill>
          <a:schemeClr val="tx1"/>
        </a:solidFill>
        <a:effectLst/>
      </p:bgPr>
    </p:bg>
    <p:spTree>
      <p:nvGrpSpPr>
        <p:cNvPr id="1" name=""/>
        <p:cNvGrpSpPr/>
        <p:nvPr/>
      </p:nvGrpSpPr>
      <p:grpSpPr>
        <a:xfrm>
          <a:off x="0" y="0"/>
          <a:ext cx="0" cy="0"/>
          <a:chOff x="0" y="0"/>
          <a:chExt cx="0" cy="0"/>
        </a:xfrm>
      </p:grpSpPr>
      <p:pic>
        <p:nvPicPr>
          <p:cNvPr id="2050" name="Picture 2" descr="Story Pin-Bild">
            <a:extLst>
              <a:ext uri="{FF2B5EF4-FFF2-40B4-BE49-F238E27FC236}">
                <a16:creationId xmlns:a16="http://schemas.microsoft.com/office/drawing/2014/main" id="{E8ACC5C4-D66A-6D39-1609-1CD9877DC592}"/>
              </a:ext>
            </a:extLst>
          </p:cNvPr>
          <p:cNvPicPr>
            <a:picLocks noChangeAspect="1" noChangeArrowheads="1"/>
          </p:cNvPicPr>
          <p:nvPr userDrawn="1"/>
        </p:nvPicPr>
        <p:blipFill>
          <a:blip r:embed="rId2">
            <a:clrChange>
              <a:clrFrom>
                <a:srgbClr val="060606"/>
              </a:clrFrom>
              <a:clrTo>
                <a:srgbClr val="060606">
                  <a:alpha val="0"/>
                </a:srgbClr>
              </a:clrTo>
            </a:clrChange>
            <a:extLst>
              <a:ext uri="{BEBA8EAE-BF5A-486C-A8C5-ECC9F3942E4B}">
                <a14:imgProps xmlns:a14="http://schemas.microsoft.com/office/drawing/2010/main">
                  <a14:imgLayer r:embed="rId3">
                    <a14:imgEffect>
                      <a14:backgroundRemoval t="9939" b="97248" l="3261" r="91033">
                        <a14:foregroundMark x1="11005" y1="55122" x2="11005" y2="55122"/>
                        <a14:foregroundMark x1="8696" y1="48471" x2="8696" y2="48471"/>
                        <a14:foregroundMark x1="3261" y1="58792" x2="3261" y2="58792"/>
                        <a14:foregroundMark x1="47826" y1="92049" x2="47826" y2="92049"/>
                        <a14:foregroundMark x1="71196" y1="95336" x2="71196" y2="95336"/>
                        <a14:foregroundMark x1="91168" y1="96254" x2="91168" y2="96254"/>
                        <a14:foregroundMark x1="88179" y1="75688" x2="88179" y2="75688"/>
                        <a14:foregroundMark x1="41576" y1="97248" x2="41576" y2="97248"/>
                        <a14:foregroundMark x1="66576" y1="57645" x2="66576" y2="57645"/>
                        <a14:foregroundMark x1="88315" y1="76453" x2="88315" y2="76453"/>
                        <a14:backgroundMark x1="14130" y1="93349" x2="14130" y2="93349"/>
                        <a14:backgroundMark x1="34375" y1="86086" x2="34375" y2="86086"/>
                        <a14:backgroundMark x1="82745" y1="98853" x2="82745" y2="98853"/>
                        <a14:backgroundMark x1="75272" y1="82492" x2="75272" y2="82492"/>
                        <a14:backgroundMark x1="272" y1="62691" x2="272" y2="62691"/>
                        <a14:backgroundMark x1="951" y1="62691" x2="951" y2="62691"/>
                        <a14:backgroundMark x1="70109" y1="56193" x2="70109" y2="56193"/>
                        <a14:backgroundMark x1="67799" y1="55581" x2="67799" y2="55581"/>
                        <a14:backgroundMark x1="73505" y1="56040" x2="73505" y2="56040"/>
                        <a14:backgroundMark x1="70109" y1="56728" x2="70109" y2="56728"/>
                        <a14:backgroundMark x1="66304" y1="55734" x2="66304" y2="55734"/>
                        <a14:backgroundMark x1="77853" y1="91437" x2="77853" y2="91437"/>
                        <a14:backgroundMark x1="26902" y1="74235" x2="26902" y2="74235"/>
                        <a14:backgroundMark x1="76766" y1="88838" x2="76766" y2="88838"/>
                        <a14:backgroundMark x1="76766" y1="89755" x2="76766" y2="89755"/>
                        <a14:backgroundMark x1="78261" y1="92278" x2="78261" y2="92278"/>
                        <a14:backgroundMark x1="80027" y1="94954" x2="80027" y2="94954"/>
                        <a14:backgroundMark x1="79348" y1="93654" x2="79348" y2="93654"/>
                        <a14:backgroundMark x1="79755" y1="94190" x2="79755" y2="94190"/>
                      </a14:backgroundRemoval>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687125" y="732543"/>
            <a:ext cx="3050905" cy="54216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06B0AF79-69DE-A3A7-E6ED-297C13AED6DB}"/>
              </a:ext>
            </a:extLst>
          </p:cNvPr>
          <p:cNvSpPr/>
          <p:nvPr userDrawn="1"/>
        </p:nvSpPr>
        <p:spPr>
          <a:xfrm>
            <a:off x="0" y="6212264"/>
            <a:ext cx="9313682"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tangle 5">
            <a:extLst>
              <a:ext uri="{FF2B5EF4-FFF2-40B4-BE49-F238E27FC236}">
                <a16:creationId xmlns:a16="http://schemas.microsoft.com/office/drawing/2014/main" id="{974E2246-3A0B-ED5C-F652-62526B5FF721}"/>
              </a:ext>
            </a:extLst>
          </p:cNvPr>
          <p:cNvSpPr/>
          <p:nvPr userDrawn="1"/>
        </p:nvSpPr>
        <p:spPr>
          <a:xfrm>
            <a:off x="8135332" y="5713748"/>
            <a:ext cx="4056668"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Rectangle 6">
            <a:extLst>
              <a:ext uri="{FF2B5EF4-FFF2-40B4-BE49-F238E27FC236}">
                <a16:creationId xmlns:a16="http://schemas.microsoft.com/office/drawing/2014/main" id="{4C9BBDF8-7431-E247-2042-01D123FC52EA}"/>
              </a:ext>
            </a:extLst>
          </p:cNvPr>
          <p:cNvSpPr/>
          <p:nvPr userDrawn="1"/>
        </p:nvSpPr>
        <p:spPr>
          <a:xfrm rot="5400000">
            <a:off x="943330" y="3393000"/>
            <a:ext cx="6858000" cy="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29511247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Break - Ferrari">
    <p:bg>
      <p:bgPr>
        <a:solidFill>
          <a:schemeClr val="tx1"/>
        </a:solidFill>
        <a:effectLst/>
      </p:bgPr>
    </p:bg>
    <p:spTree>
      <p:nvGrpSpPr>
        <p:cNvPr id="1" name=""/>
        <p:cNvGrpSpPr/>
        <p:nvPr/>
      </p:nvGrpSpPr>
      <p:grpSpPr>
        <a:xfrm>
          <a:off x="0" y="0"/>
          <a:ext cx="0" cy="0"/>
          <a:chOff x="0" y="0"/>
          <a:chExt cx="0" cy="0"/>
        </a:xfrm>
      </p:grpSpPr>
      <p:pic>
        <p:nvPicPr>
          <p:cNvPr id="3074" name="Picture 2" descr="Story Pin-Bild">
            <a:extLst>
              <a:ext uri="{FF2B5EF4-FFF2-40B4-BE49-F238E27FC236}">
                <a16:creationId xmlns:a16="http://schemas.microsoft.com/office/drawing/2014/main" id="{FE957FF1-A608-F3C2-424F-AFEAF7EE0F81}"/>
              </a:ext>
            </a:extLst>
          </p:cNvPr>
          <p:cNvPicPr>
            <a:picLocks noChangeAspect="1" noChangeArrowheads="1"/>
          </p:cNvPicPr>
          <p:nvPr userDrawn="1"/>
        </p:nvPicPr>
        <p:blipFill>
          <a:blip r:embed="rId2">
            <a:duotone>
              <a:prstClr val="black"/>
              <a:schemeClr val="tx1">
                <a:tint val="45000"/>
                <a:satMod val="400000"/>
              </a:schemeClr>
            </a:duotone>
            <a:extLst>
              <a:ext uri="{BEBA8EAE-BF5A-486C-A8C5-ECC9F3942E4B}">
                <a14:imgProps xmlns:a14="http://schemas.microsoft.com/office/drawing/2010/main">
                  <a14:imgLayer r:embed="rId3">
                    <a14:imgEffect>
                      <a14:saturation sat="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681278" y="732543"/>
            <a:ext cx="3050905" cy="54216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06B0AF79-69DE-A3A7-E6ED-297C13AED6DB}"/>
              </a:ext>
            </a:extLst>
          </p:cNvPr>
          <p:cNvSpPr/>
          <p:nvPr userDrawn="1"/>
        </p:nvSpPr>
        <p:spPr>
          <a:xfrm>
            <a:off x="0" y="6212264"/>
            <a:ext cx="9313682"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tangle 5">
            <a:extLst>
              <a:ext uri="{FF2B5EF4-FFF2-40B4-BE49-F238E27FC236}">
                <a16:creationId xmlns:a16="http://schemas.microsoft.com/office/drawing/2014/main" id="{974E2246-3A0B-ED5C-F652-62526B5FF721}"/>
              </a:ext>
            </a:extLst>
          </p:cNvPr>
          <p:cNvSpPr/>
          <p:nvPr userDrawn="1"/>
        </p:nvSpPr>
        <p:spPr>
          <a:xfrm>
            <a:off x="8135332" y="5713748"/>
            <a:ext cx="4056668"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Rectangle 6">
            <a:extLst>
              <a:ext uri="{FF2B5EF4-FFF2-40B4-BE49-F238E27FC236}">
                <a16:creationId xmlns:a16="http://schemas.microsoft.com/office/drawing/2014/main" id="{93537335-6C9D-46A8-7955-D1EE660E0D42}"/>
              </a:ext>
            </a:extLst>
          </p:cNvPr>
          <p:cNvSpPr/>
          <p:nvPr userDrawn="1"/>
        </p:nvSpPr>
        <p:spPr>
          <a:xfrm rot="5400000">
            <a:off x="943330" y="3393000"/>
            <a:ext cx="6858000" cy="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25472410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Break - Ali">
    <p:bg>
      <p:bgPr>
        <a:solidFill>
          <a:schemeClr val="tx1"/>
        </a:solidFill>
        <a:effectLst/>
      </p:bgPr>
    </p:bg>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551B3A26-CB43-7525-E33A-8002E7972B27}"/>
              </a:ext>
            </a:extLst>
          </p:cNvPr>
          <p:cNvPicPr>
            <a:picLocks noChangeAspect="1" noChangeArrowheads="1"/>
          </p:cNvPicPr>
          <p:nvPr userDrawn="1"/>
        </p:nvPicPr>
        <p:blipFill rotWithShape="1">
          <a:blip r:embed="rId2">
            <a:extLst>
              <a:ext uri="{BEBA8EAE-BF5A-486C-A8C5-ECC9F3942E4B}">
                <a14:imgProps xmlns:a14="http://schemas.microsoft.com/office/drawing/2010/main">
                  <a14:imgLayer r:embed="rId3">
                    <a14:imgEffect>
                      <a14:brightnessContrast bright="14000" contrast="62000"/>
                    </a14:imgEffect>
                  </a14:imgLayer>
                </a14:imgProps>
              </a:ext>
              <a:ext uri="{28A0092B-C50C-407E-A947-70E740481C1C}">
                <a14:useLocalDpi xmlns:a14="http://schemas.microsoft.com/office/drawing/2010/main" val="0"/>
              </a:ext>
            </a:extLst>
          </a:blip>
          <a:srcRect l="13746"/>
          <a:stretch/>
        </p:blipFill>
        <p:spPr bwMode="auto">
          <a:xfrm>
            <a:off x="609327" y="732543"/>
            <a:ext cx="3117567" cy="54216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06B0AF79-69DE-A3A7-E6ED-297C13AED6DB}"/>
              </a:ext>
            </a:extLst>
          </p:cNvPr>
          <p:cNvSpPr/>
          <p:nvPr userDrawn="1"/>
        </p:nvSpPr>
        <p:spPr>
          <a:xfrm>
            <a:off x="0" y="6212264"/>
            <a:ext cx="9313682"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tangle 5">
            <a:extLst>
              <a:ext uri="{FF2B5EF4-FFF2-40B4-BE49-F238E27FC236}">
                <a16:creationId xmlns:a16="http://schemas.microsoft.com/office/drawing/2014/main" id="{974E2246-3A0B-ED5C-F652-62526B5FF721}"/>
              </a:ext>
            </a:extLst>
          </p:cNvPr>
          <p:cNvSpPr/>
          <p:nvPr userDrawn="1"/>
        </p:nvSpPr>
        <p:spPr>
          <a:xfrm>
            <a:off x="8135332" y="5713748"/>
            <a:ext cx="4056668"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Rectangle 6">
            <a:extLst>
              <a:ext uri="{FF2B5EF4-FFF2-40B4-BE49-F238E27FC236}">
                <a16:creationId xmlns:a16="http://schemas.microsoft.com/office/drawing/2014/main" id="{F53158DC-FA6C-80DA-9FA2-B7D23F4B900D}"/>
              </a:ext>
            </a:extLst>
          </p:cNvPr>
          <p:cNvSpPr/>
          <p:nvPr userDrawn="1"/>
        </p:nvSpPr>
        <p:spPr>
          <a:xfrm rot="5400000">
            <a:off x="943330" y="3393000"/>
            <a:ext cx="6858000" cy="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7973937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Break - Jordan">
    <p:bg>
      <p:bgPr>
        <a:solidFill>
          <a:schemeClr val="tx1"/>
        </a:solidFill>
        <a:effectLst/>
      </p:bgPr>
    </p:bg>
    <p:spTree>
      <p:nvGrpSpPr>
        <p:cNvPr id="1" name=""/>
        <p:cNvGrpSpPr/>
        <p:nvPr/>
      </p:nvGrpSpPr>
      <p:grpSpPr>
        <a:xfrm>
          <a:off x="0" y="0"/>
          <a:ext cx="0" cy="0"/>
          <a:chOff x="0" y="0"/>
          <a:chExt cx="0" cy="0"/>
        </a:xfrm>
      </p:grpSpPr>
      <p:pic>
        <p:nvPicPr>
          <p:cNvPr id="5124" name="Picture 4">
            <a:extLst>
              <a:ext uri="{FF2B5EF4-FFF2-40B4-BE49-F238E27FC236}">
                <a16:creationId xmlns:a16="http://schemas.microsoft.com/office/drawing/2014/main" id="{F2819F1F-658C-2C60-4DED-4E139EDFDF54}"/>
              </a:ext>
            </a:extLst>
          </p:cNvPr>
          <p:cNvPicPr>
            <a:picLocks noChangeAspect="1" noChangeArrowheads="1"/>
          </p:cNvPicPr>
          <p:nvPr userDrawn="1"/>
        </p:nvPicPr>
        <p:blipFill>
          <a:blip r:embed="rId2">
            <a:extLst>
              <a:ext uri="{BEBA8EAE-BF5A-486C-A8C5-ECC9F3942E4B}">
                <a14:imgProps xmlns:a14="http://schemas.microsoft.com/office/drawing/2010/main">
                  <a14:imgLayer r:embed="rId3">
                    <a14:imgEffect>
                      <a14:saturation sat="0"/>
                    </a14:imgEffect>
                    <a14:imgEffect>
                      <a14:brightnessContrast contrast="61000"/>
                    </a14:imgEffect>
                  </a14:imgLayer>
                </a14:imgProps>
              </a:ext>
              <a:ext uri="{28A0092B-C50C-407E-A947-70E740481C1C}">
                <a14:useLocalDpi xmlns:a14="http://schemas.microsoft.com/office/drawing/2010/main" val="0"/>
              </a:ext>
            </a:extLst>
          </a:blip>
          <a:srcRect/>
          <a:stretch>
            <a:fillRect/>
          </a:stretch>
        </p:blipFill>
        <p:spPr bwMode="auto">
          <a:xfrm>
            <a:off x="651580" y="718200"/>
            <a:ext cx="3050905" cy="5421600"/>
          </a:xfrm>
          <a:prstGeom prst="rect">
            <a:avLst/>
          </a:prstGeom>
          <a:noFill/>
          <a:effectLst>
            <a:outerShdw blurRad="50800" dist="50800" dir="5400000" algn="ctr" rotWithShape="0">
              <a:schemeClr val="tx1"/>
            </a:outerShdw>
          </a:effectLst>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06B0AF79-69DE-A3A7-E6ED-297C13AED6DB}"/>
              </a:ext>
            </a:extLst>
          </p:cNvPr>
          <p:cNvSpPr/>
          <p:nvPr userDrawn="1"/>
        </p:nvSpPr>
        <p:spPr>
          <a:xfrm>
            <a:off x="0" y="6212264"/>
            <a:ext cx="9313682"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tangle 5">
            <a:extLst>
              <a:ext uri="{FF2B5EF4-FFF2-40B4-BE49-F238E27FC236}">
                <a16:creationId xmlns:a16="http://schemas.microsoft.com/office/drawing/2014/main" id="{974E2246-3A0B-ED5C-F652-62526B5FF721}"/>
              </a:ext>
            </a:extLst>
          </p:cNvPr>
          <p:cNvSpPr/>
          <p:nvPr userDrawn="1"/>
        </p:nvSpPr>
        <p:spPr>
          <a:xfrm>
            <a:off x="8135332" y="5713748"/>
            <a:ext cx="4056668"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Rectangle 6">
            <a:extLst>
              <a:ext uri="{FF2B5EF4-FFF2-40B4-BE49-F238E27FC236}">
                <a16:creationId xmlns:a16="http://schemas.microsoft.com/office/drawing/2014/main" id="{4A30C1B5-DF2F-6009-E272-8DF4D3DF0AD2}"/>
              </a:ext>
            </a:extLst>
          </p:cNvPr>
          <p:cNvSpPr/>
          <p:nvPr userDrawn="1"/>
        </p:nvSpPr>
        <p:spPr>
          <a:xfrm rot="5400000">
            <a:off x="943330" y="3393000"/>
            <a:ext cx="6858000" cy="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7620999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Break - Graf #1">
    <p:bg>
      <p:bgPr>
        <a:solidFill>
          <a:schemeClr val="tx1"/>
        </a:solidFill>
        <a:effectLst/>
      </p:bgPr>
    </p:bg>
    <p:spTree>
      <p:nvGrpSpPr>
        <p:cNvPr id="1" name=""/>
        <p:cNvGrpSpPr/>
        <p:nvPr/>
      </p:nvGrpSpPr>
      <p:grpSpPr>
        <a:xfrm>
          <a:off x="0" y="0"/>
          <a:ext cx="0" cy="0"/>
          <a:chOff x="0" y="0"/>
          <a:chExt cx="0" cy="0"/>
        </a:xfrm>
      </p:grpSpPr>
      <p:pic>
        <p:nvPicPr>
          <p:cNvPr id="6150" name="Picture 6">
            <a:extLst>
              <a:ext uri="{FF2B5EF4-FFF2-40B4-BE49-F238E27FC236}">
                <a16:creationId xmlns:a16="http://schemas.microsoft.com/office/drawing/2014/main" id="{CC7E746C-0060-FCF7-4311-0B1BE8622120}"/>
              </a:ext>
            </a:extLst>
          </p:cNvPr>
          <p:cNvPicPr>
            <a:picLocks noChangeAspect="1" noChangeArrowheads="1"/>
          </p:cNvPicPr>
          <p:nvPr userDrawn="1"/>
        </p:nvPicPr>
        <p:blipFill rotWithShape="1">
          <a:blip r:embed="rId2">
            <a:extLst>
              <a:ext uri="{BEBA8EAE-BF5A-486C-A8C5-ECC9F3942E4B}">
                <a14:imgProps xmlns:a14="http://schemas.microsoft.com/office/drawing/2010/main">
                  <a14:imgLayer r:embed="rId3">
                    <a14:imgEffect>
                      <a14:saturation sat="0"/>
                    </a14:imgEffect>
                    <a14:imgEffect>
                      <a14:brightnessContrast bright="12000" contrast="58000"/>
                    </a14:imgEffect>
                  </a14:imgLayer>
                </a14:imgProps>
              </a:ext>
              <a:ext uri="{28A0092B-C50C-407E-A947-70E740481C1C}">
                <a14:useLocalDpi xmlns:a14="http://schemas.microsoft.com/office/drawing/2010/main" val="0"/>
              </a:ext>
            </a:extLst>
          </a:blip>
          <a:srcRect r="5592"/>
          <a:stretch/>
        </p:blipFill>
        <p:spPr bwMode="auto">
          <a:xfrm>
            <a:off x="651580" y="718200"/>
            <a:ext cx="3050905" cy="54216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06B0AF79-69DE-A3A7-E6ED-297C13AED6DB}"/>
              </a:ext>
            </a:extLst>
          </p:cNvPr>
          <p:cNvSpPr/>
          <p:nvPr userDrawn="1"/>
        </p:nvSpPr>
        <p:spPr>
          <a:xfrm>
            <a:off x="0" y="6212264"/>
            <a:ext cx="9313682"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tangle 5">
            <a:extLst>
              <a:ext uri="{FF2B5EF4-FFF2-40B4-BE49-F238E27FC236}">
                <a16:creationId xmlns:a16="http://schemas.microsoft.com/office/drawing/2014/main" id="{974E2246-3A0B-ED5C-F652-62526B5FF721}"/>
              </a:ext>
            </a:extLst>
          </p:cNvPr>
          <p:cNvSpPr/>
          <p:nvPr userDrawn="1"/>
        </p:nvSpPr>
        <p:spPr>
          <a:xfrm>
            <a:off x="8135332" y="5713748"/>
            <a:ext cx="4056668"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Rectangle 6">
            <a:extLst>
              <a:ext uri="{FF2B5EF4-FFF2-40B4-BE49-F238E27FC236}">
                <a16:creationId xmlns:a16="http://schemas.microsoft.com/office/drawing/2014/main" id="{CD0A8D08-6BA0-6383-5181-BCF3BEBF5550}"/>
              </a:ext>
            </a:extLst>
          </p:cNvPr>
          <p:cNvSpPr/>
          <p:nvPr userDrawn="1"/>
        </p:nvSpPr>
        <p:spPr>
          <a:xfrm rot="5400000">
            <a:off x="943330" y="3393000"/>
            <a:ext cx="6858000" cy="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7704014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Break - Graf #2">
    <p:bg>
      <p:bgPr>
        <a:solidFill>
          <a:schemeClr val="tx1"/>
        </a:solidFill>
        <a:effectLst/>
      </p:bgPr>
    </p:bg>
    <p:spTree>
      <p:nvGrpSpPr>
        <p:cNvPr id="1" name=""/>
        <p:cNvGrpSpPr/>
        <p:nvPr/>
      </p:nvGrpSpPr>
      <p:grpSpPr>
        <a:xfrm>
          <a:off x="0" y="0"/>
          <a:ext cx="0" cy="0"/>
          <a:chOff x="0" y="0"/>
          <a:chExt cx="0" cy="0"/>
        </a:xfrm>
      </p:grpSpPr>
      <p:pic>
        <p:nvPicPr>
          <p:cNvPr id="6152" name="Picture 8">
            <a:extLst>
              <a:ext uri="{FF2B5EF4-FFF2-40B4-BE49-F238E27FC236}">
                <a16:creationId xmlns:a16="http://schemas.microsoft.com/office/drawing/2014/main" id="{B7330220-C934-2DC0-09AC-65BB362A5397}"/>
              </a:ext>
            </a:extLst>
          </p:cNvPr>
          <p:cNvPicPr>
            <a:picLocks noChangeAspect="1" noChangeArrowheads="1"/>
          </p:cNvPicPr>
          <p:nvPr userDrawn="1"/>
        </p:nvPicPr>
        <p:blipFill>
          <a:blip r:embed="rId2">
            <a:extLst>
              <a:ext uri="{BEBA8EAE-BF5A-486C-A8C5-ECC9F3942E4B}">
                <a14:imgProps xmlns:a14="http://schemas.microsoft.com/office/drawing/2010/main">
                  <a14:imgLayer r:embed="rId3">
                    <a14:imgEffect>
                      <a14:saturation sat="0"/>
                    </a14:imgEffect>
                    <a14:imgEffect>
                      <a14:brightnessContrast contrast="60000"/>
                    </a14:imgEffect>
                  </a14:imgLayer>
                </a14:imgProps>
              </a:ext>
              <a:ext uri="{28A0092B-C50C-407E-A947-70E740481C1C}">
                <a14:useLocalDpi xmlns:a14="http://schemas.microsoft.com/office/drawing/2010/main" val="0"/>
              </a:ext>
            </a:extLst>
          </a:blip>
          <a:srcRect/>
          <a:stretch>
            <a:fillRect/>
          </a:stretch>
        </p:blipFill>
        <p:spPr bwMode="auto">
          <a:xfrm>
            <a:off x="83676" y="718200"/>
            <a:ext cx="4016000" cy="54216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06B0AF79-69DE-A3A7-E6ED-297C13AED6DB}"/>
              </a:ext>
            </a:extLst>
          </p:cNvPr>
          <p:cNvSpPr/>
          <p:nvPr userDrawn="1"/>
        </p:nvSpPr>
        <p:spPr>
          <a:xfrm>
            <a:off x="0" y="6212264"/>
            <a:ext cx="9313682"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tangle 5">
            <a:extLst>
              <a:ext uri="{FF2B5EF4-FFF2-40B4-BE49-F238E27FC236}">
                <a16:creationId xmlns:a16="http://schemas.microsoft.com/office/drawing/2014/main" id="{974E2246-3A0B-ED5C-F652-62526B5FF721}"/>
              </a:ext>
            </a:extLst>
          </p:cNvPr>
          <p:cNvSpPr/>
          <p:nvPr userDrawn="1"/>
        </p:nvSpPr>
        <p:spPr>
          <a:xfrm>
            <a:off x="8135332" y="5713748"/>
            <a:ext cx="4056668"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Rectangle 6">
            <a:extLst>
              <a:ext uri="{FF2B5EF4-FFF2-40B4-BE49-F238E27FC236}">
                <a16:creationId xmlns:a16="http://schemas.microsoft.com/office/drawing/2014/main" id="{E2B74377-D33E-AC9C-41C2-D5009EC3CD47}"/>
              </a:ext>
            </a:extLst>
          </p:cNvPr>
          <p:cNvSpPr/>
          <p:nvPr userDrawn="1"/>
        </p:nvSpPr>
        <p:spPr>
          <a:xfrm rot="5400000">
            <a:off x="943330" y="3393000"/>
            <a:ext cx="6858000" cy="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8976121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Break - Brady">
    <p:bg>
      <p:bgPr>
        <a:solidFill>
          <a:schemeClr val="tx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6B0AF79-69DE-A3A7-E6ED-297C13AED6DB}"/>
              </a:ext>
            </a:extLst>
          </p:cNvPr>
          <p:cNvSpPr/>
          <p:nvPr userDrawn="1"/>
        </p:nvSpPr>
        <p:spPr>
          <a:xfrm>
            <a:off x="0" y="6212264"/>
            <a:ext cx="9313682"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tangle 5">
            <a:extLst>
              <a:ext uri="{FF2B5EF4-FFF2-40B4-BE49-F238E27FC236}">
                <a16:creationId xmlns:a16="http://schemas.microsoft.com/office/drawing/2014/main" id="{974E2246-3A0B-ED5C-F652-62526B5FF721}"/>
              </a:ext>
            </a:extLst>
          </p:cNvPr>
          <p:cNvSpPr/>
          <p:nvPr userDrawn="1"/>
        </p:nvSpPr>
        <p:spPr>
          <a:xfrm>
            <a:off x="8135332" y="5713748"/>
            <a:ext cx="4056668"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170" name="Picture 2">
            <a:extLst>
              <a:ext uri="{FF2B5EF4-FFF2-40B4-BE49-F238E27FC236}">
                <a16:creationId xmlns:a16="http://schemas.microsoft.com/office/drawing/2014/main" id="{17062F47-AF19-D256-D5E2-CD0C712B34DB}"/>
              </a:ext>
            </a:extLst>
          </p:cNvPr>
          <p:cNvPicPr>
            <a:picLocks noChangeAspect="1" noChangeArrowheads="1"/>
          </p:cNvPicPr>
          <p:nvPr userDrawn="1"/>
        </p:nvPicPr>
        <p:blipFill>
          <a:blip r:embed="rId2">
            <a:extLst>
              <a:ext uri="{BEBA8EAE-BF5A-486C-A8C5-ECC9F3942E4B}">
                <a14:imgProps xmlns:a14="http://schemas.microsoft.com/office/drawing/2010/main">
                  <a14:imgLayer r:embed="rId3">
                    <a14:imgEffect>
                      <a14:brightnessContrast contrast="62000"/>
                    </a14:imgEffect>
                  </a14:imgLayer>
                </a14:imgProps>
              </a:ext>
              <a:ext uri="{28A0092B-C50C-407E-A947-70E740481C1C}">
                <a14:useLocalDpi xmlns:a14="http://schemas.microsoft.com/office/drawing/2010/main" val="0"/>
              </a:ext>
            </a:extLst>
          </a:blip>
          <a:srcRect/>
          <a:stretch>
            <a:fillRect/>
          </a:stretch>
        </p:blipFill>
        <p:spPr bwMode="auto">
          <a:xfrm>
            <a:off x="793127" y="718200"/>
            <a:ext cx="3058121" cy="54216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6">
            <a:extLst>
              <a:ext uri="{FF2B5EF4-FFF2-40B4-BE49-F238E27FC236}">
                <a16:creationId xmlns:a16="http://schemas.microsoft.com/office/drawing/2014/main" id="{2CC5B369-6DCA-4E29-70D4-96E8BC52B091}"/>
              </a:ext>
            </a:extLst>
          </p:cNvPr>
          <p:cNvSpPr/>
          <p:nvPr userDrawn="1"/>
        </p:nvSpPr>
        <p:spPr>
          <a:xfrm rot="5400000">
            <a:off x="943330" y="3393000"/>
            <a:ext cx="6858000" cy="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25354533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Break - Williams">
    <p:bg>
      <p:bgPr>
        <a:solidFill>
          <a:schemeClr val="tx1"/>
        </a:solidFill>
        <a:effectLst/>
      </p:bgPr>
    </p:bg>
    <p:spTree>
      <p:nvGrpSpPr>
        <p:cNvPr id="1" name=""/>
        <p:cNvGrpSpPr/>
        <p:nvPr/>
      </p:nvGrpSpPr>
      <p:grpSpPr>
        <a:xfrm>
          <a:off x="0" y="0"/>
          <a:ext cx="0" cy="0"/>
          <a:chOff x="0" y="0"/>
          <a:chExt cx="0" cy="0"/>
        </a:xfrm>
      </p:grpSpPr>
      <p:pic>
        <p:nvPicPr>
          <p:cNvPr id="9218" name="Picture 2">
            <a:extLst>
              <a:ext uri="{FF2B5EF4-FFF2-40B4-BE49-F238E27FC236}">
                <a16:creationId xmlns:a16="http://schemas.microsoft.com/office/drawing/2014/main" id="{9A3A8F64-3483-EB8F-6250-53154C1B8EE5}"/>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7034" b="750"/>
          <a:stretch/>
        </p:blipFill>
        <p:spPr bwMode="auto">
          <a:xfrm>
            <a:off x="0" y="473103"/>
            <a:ext cx="5024542" cy="5380942"/>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06B0AF79-69DE-A3A7-E6ED-297C13AED6DB}"/>
              </a:ext>
            </a:extLst>
          </p:cNvPr>
          <p:cNvSpPr/>
          <p:nvPr userDrawn="1"/>
        </p:nvSpPr>
        <p:spPr>
          <a:xfrm>
            <a:off x="0" y="6212264"/>
            <a:ext cx="9313682"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tangle 5">
            <a:extLst>
              <a:ext uri="{FF2B5EF4-FFF2-40B4-BE49-F238E27FC236}">
                <a16:creationId xmlns:a16="http://schemas.microsoft.com/office/drawing/2014/main" id="{974E2246-3A0B-ED5C-F652-62526B5FF721}"/>
              </a:ext>
            </a:extLst>
          </p:cNvPr>
          <p:cNvSpPr/>
          <p:nvPr userDrawn="1"/>
        </p:nvSpPr>
        <p:spPr>
          <a:xfrm>
            <a:off x="8135332" y="5713748"/>
            <a:ext cx="4056668"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Rectangle 6">
            <a:extLst>
              <a:ext uri="{FF2B5EF4-FFF2-40B4-BE49-F238E27FC236}">
                <a16:creationId xmlns:a16="http://schemas.microsoft.com/office/drawing/2014/main" id="{CBD0CD1F-E6D1-DD61-FB4F-1F11724E7FD0}"/>
              </a:ext>
            </a:extLst>
          </p:cNvPr>
          <p:cNvSpPr/>
          <p:nvPr userDrawn="1"/>
        </p:nvSpPr>
        <p:spPr>
          <a:xfrm rot="5400000">
            <a:off x="943330" y="3393000"/>
            <a:ext cx="6858000" cy="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26509409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Break - Biles">
    <p:bg>
      <p:bgPr>
        <a:solidFill>
          <a:schemeClr val="tx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6B0AF79-69DE-A3A7-E6ED-297C13AED6DB}"/>
              </a:ext>
            </a:extLst>
          </p:cNvPr>
          <p:cNvSpPr/>
          <p:nvPr userDrawn="1"/>
        </p:nvSpPr>
        <p:spPr>
          <a:xfrm>
            <a:off x="0" y="6212264"/>
            <a:ext cx="9313682"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tangle 5">
            <a:extLst>
              <a:ext uri="{FF2B5EF4-FFF2-40B4-BE49-F238E27FC236}">
                <a16:creationId xmlns:a16="http://schemas.microsoft.com/office/drawing/2014/main" id="{974E2246-3A0B-ED5C-F652-62526B5FF721}"/>
              </a:ext>
            </a:extLst>
          </p:cNvPr>
          <p:cNvSpPr/>
          <p:nvPr userDrawn="1"/>
        </p:nvSpPr>
        <p:spPr>
          <a:xfrm>
            <a:off x="8135332" y="5713748"/>
            <a:ext cx="4056668"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0244" name="Picture 4">
            <a:extLst>
              <a:ext uri="{FF2B5EF4-FFF2-40B4-BE49-F238E27FC236}">
                <a16:creationId xmlns:a16="http://schemas.microsoft.com/office/drawing/2014/main" id="{1132B613-EEBA-3F2E-F7FE-92A7D1914158}"/>
              </a:ext>
            </a:extLst>
          </p:cNvPr>
          <p:cNvPicPr>
            <a:picLocks noChangeAspect="1" noChangeArrowheads="1"/>
          </p:cNvPicPr>
          <p:nvPr userDrawn="1"/>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284862" y="708732"/>
            <a:ext cx="3614400" cy="54216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AAF7445D-7BD4-46BA-205E-2606C04D8E1B}"/>
              </a:ext>
            </a:extLst>
          </p:cNvPr>
          <p:cNvSpPr/>
          <p:nvPr userDrawn="1"/>
        </p:nvSpPr>
        <p:spPr>
          <a:xfrm>
            <a:off x="0" y="3827283"/>
            <a:ext cx="914400" cy="9144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Rectangle 2">
            <a:extLst>
              <a:ext uri="{FF2B5EF4-FFF2-40B4-BE49-F238E27FC236}">
                <a16:creationId xmlns:a16="http://schemas.microsoft.com/office/drawing/2014/main" id="{33B077EE-CD60-EEB0-6BDD-4E2051AE78D4}"/>
              </a:ext>
            </a:extLst>
          </p:cNvPr>
          <p:cNvSpPr/>
          <p:nvPr userDrawn="1"/>
        </p:nvSpPr>
        <p:spPr>
          <a:xfrm>
            <a:off x="284862" y="5122216"/>
            <a:ext cx="914400" cy="9144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Rectangle 6">
            <a:extLst>
              <a:ext uri="{FF2B5EF4-FFF2-40B4-BE49-F238E27FC236}">
                <a16:creationId xmlns:a16="http://schemas.microsoft.com/office/drawing/2014/main" id="{0035574B-C5C5-7B67-63F5-3D9DEAD92A4B}"/>
              </a:ext>
            </a:extLst>
          </p:cNvPr>
          <p:cNvSpPr/>
          <p:nvPr userDrawn="1"/>
        </p:nvSpPr>
        <p:spPr>
          <a:xfrm rot="5400000">
            <a:off x="943330" y="3393000"/>
            <a:ext cx="6858000" cy="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0857355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Break - Haug">
    <p:bg>
      <p:bgPr>
        <a:solidFill>
          <a:schemeClr val="tx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6B0AF79-69DE-A3A7-E6ED-297C13AED6DB}"/>
              </a:ext>
            </a:extLst>
          </p:cNvPr>
          <p:cNvSpPr/>
          <p:nvPr userDrawn="1"/>
        </p:nvSpPr>
        <p:spPr>
          <a:xfrm>
            <a:off x="0" y="6212264"/>
            <a:ext cx="9313682"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tangle 5">
            <a:extLst>
              <a:ext uri="{FF2B5EF4-FFF2-40B4-BE49-F238E27FC236}">
                <a16:creationId xmlns:a16="http://schemas.microsoft.com/office/drawing/2014/main" id="{974E2246-3A0B-ED5C-F652-62526B5FF721}"/>
              </a:ext>
            </a:extLst>
          </p:cNvPr>
          <p:cNvSpPr/>
          <p:nvPr userDrawn="1"/>
        </p:nvSpPr>
        <p:spPr>
          <a:xfrm>
            <a:off x="8135332" y="5713748"/>
            <a:ext cx="4056668"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1266" name="Picture 2">
            <a:extLst>
              <a:ext uri="{FF2B5EF4-FFF2-40B4-BE49-F238E27FC236}">
                <a16:creationId xmlns:a16="http://schemas.microsoft.com/office/drawing/2014/main" id="{33397B6F-2F49-CF10-3747-7205FB54703C}"/>
              </a:ext>
            </a:extLst>
          </p:cNvPr>
          <p:cNvPicPr>
            <a:picLocks noChangeAspect="1" noChangeArrowheads="1"/>
          </p:cNvPicPr>
          <p:nvPr userDrawn="1"/>
        </p:nvPicPr>
        <p:blipFill rotWithShape="1">
          <a:blip r:embed="rId2">
            <a:extLst>
              <a:ext uri="{BEBA8EAE-BF5A-486C-A8C5-ECC9F3942E4B}">
                <a14:imgProps xmlns:a14="http://schemas.microsoft.com/office/drawing/2010/main">
                  <a14:imgLayer r:embed="rId3">
                    <a14:imgEffect>
                      <a14:saturation sat="0"/>
                    </a14:imgEffect>
                    <a14:imgEffect>
                      <a14:brightnessContrast bright="17000" contrast="53000"/>
                    </a14:imgEffect>
                  </a14:imgLayer>
                </a14:imgProps>
              </a:ext>
              <a:ext uri="{28A0092B-C50C-407E-A947-70E740481C1C}">
                <a14:useLocalDpi xmlns:a14="http://schemas.microsoft.com/office/drawing/2010/main" val="0"/>
              </a:ext>
            </a:extLst>
          </a:blip>
          <a:srcRect l="19988" r="26173"/>
          <a:stretch/>
        </p:blipFill>
        <p:spPr bwMode="auto">
          <a:xfrm>
            <a:off x="932352" y="718200"/>
            <a:ext cx="2918896" cy="54216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6">
            <a:extLst>
              <a:ext uri="{FF2B5EF4-FFF2-40B4-BE49-F238E27FC236}">
                <a16:creationId xmlns:a16="http://schemas.microsoft.com/office/drawing/2014/main" id="{FE4D516E-EC72-213C-9373-75609593B03F}"/>
              </a:ext>
            </a:extLst>
          </p:cNvPr>
          <p:cNvSpPr/>
          <p:nvPr userDrawn="1"/>
        </p:nvSpPr>
        <p:spPr>
          <a:xfrm rot="5400000">
            <a:off x="943330" y="3393000"/>
            <a:ext cx="6858000" cy="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3923841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Break - Steiner">
    <p:bg>
      <p:bgPr>
        <a:solidFill>
          <a:schemeClr val="tx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6B0AF79-69DE-A3A7-E6ED-297C13AED6DB}"/>
              </a:ext>
            </a:extLst>
          </p:cNvPr>
          <p:cNvSpPr/>
          <p:nvPr userDrawn="1"/>
        </p:nvSpPr>
        <p:spPr>
          <a:xfrm>
            <a:off x="0" y="6212264"/>
            <a:ext cx="9313682"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tangle 5">
            <a:extLst>
              <a:ext uri="{FF2B5EF4-FFF2-40B4-BE49-F238E27FC236}">
                <a16:creationId xmlns:a16="http://schemas.microsoft.com/office/drawing/2014/main" id="{974E2246-3A0B-ED5C-F652-62526B5FF721}"/>
              </a:ext>
            </a:extLst>
          </p:cNvPr>
          <p:cNvSpPr/>
          <p:nvPr userDrawn="1"/>
        </p:nvSpPr>
        <p:spPr>
          <a:xfrm>
            <a:off x="8135332" y="5713748"/>
            <a:ext cx="4056668" cy="64573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2290" name="Picture 2" descr="Olympiasieger Matthias Steiner - &quot;Ich musste diesen Körper wieder ...">
            <a:extLst>
              <a:ext uri="{FF2B5EF4-FFF2-40B4-BE49-F238E27FC236}">
                <a16:creationId xmlns:a16="http://schemas.microsoft.com/office/drawing/2014/main" id="{5B01759A-1863-EFD0-B8C4-9ECACB7E76CB}"/>
              </a:ext>
            </a:extLst>
          </p:cNvPr>
          <p:cNvPicPr>
            <a:picLocks noChangeAspect="1" noChangeArrowheads="1"/>
          </p:cNvPicPr>
          <p:nvPr userDrawn="1"/>
        </p:nvPicPr>
        <p:blipFill rotWithShape="1">
          <a:blip r:embed="rId2">
            <a:extLst>
              <a:ext uri="{BEBA8EAE-BF5A-486C-A8C5-ECC9F3942E4B}">
                <a14:imgProps xmlns:a14="http://schemas.microsoft.com/office/drawing/2010/main">
                  <a14:imgLayer r:embed="rId3">
                    <a14:imgEffect>
                      <a14:saturation sat="0"/>
                    </a14:imgEffect>
                    <a14:imgEffect>
                      <a14:brightnessContrast bright="6000" contrast="50000"/>
                    </a14:imgEffect>
                  </a14:imgLayer>
                </a14:imgProps>
              </a:ext>
              <a:ext uri="{28A0092B-C50C-407E-A947-70E740481C1C}">
                <a14:useLocalDpi xmlns:a14="http://schemas.microsoft.com/office/drawing/2010/main" val="0"/>
              </a:ext>
            </a:extLst>
          </a:blip>
          <a:srcRect l="7140" r="8063"/>
          <a:stretch/>
        </p:blipFill>
        <p:spPr bwMode="auto">
          <a:xfrm>
            <a:off x="134165" y="2079745"/>
            <a:ext cx="4068000" cy="2698509"/>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6">
            <a:extLst>
              <a:ext uri="{FF2B5EF4-FFF2-40B4-BE49-F238E27FC236}">
                <a16:creationId xmlns:a16="http://schemas.microsoft.com/office/drawing/2014/main" id="{3832CE54-DD0E-19DF-E348-B86340DEC8D1}"/>
              </a:ext>
            </a:extLst>
          </p:cNvPr>
          <p:cNvSpPr/>
          <p:nvPr userDrawn="1"/>
        </p:nvSpPr>
        <p:spPr>
          <a:xfrm rot="5400000">
            <a:off x="943330" y="3393000"/>
            <a:ext cx="6858000" cy="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2348806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emf"/><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 Id="rId27"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F41E1A-50F1-E332-AA5F-10126128386E}"/>
              </a:ext>
            </a:extLst>
          </p:cNvPr>
          <p:cNvSpPr/>
          <p:nvPr userDrawn="1"/>
        </p:nvSpPr>
        <p:spPr>
          <a:xfrm>
            <a:off x="0" y="6330462"/>
            <a:ext cx="12192000" cy="52753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aphicFrame>
        <p:nvGraphicFramePr>
          <p:cNvPr id="6" name="Object 5" hidden="1"/>
          <p:cNvGraphicFramePr>
            <a:graphicFrameLocks noChangeAspect="1"/>
          </p:cNvGraphicFramePr>
          <p:nvPr>
            <p:custDataLst>
              <p:tags r:id="rId23"/>
            </p:custDataLst>
            <p:extLst>
              <p:ext uri="{D42A27DB-BD31-4B8C-83A1-F6EECF244321}">
                <p14:modId xmlns:p14="http://schemas.microsoft.com/office/powerpoint/2010/main" val="26485744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5" imgW="473" imgH="476" progId="TCLayout.ActiveDocument.1">
                  <p:embed/>
                </p:oleObj>
              </mc:Choice>
              <mc:Fallback>
                <p:oleObj name="think-cell Slide" r:id="rId25" imgW="473" imgH="476" progId="TCLayout.ActiveDocument.1">
                  <p:embed/>
                  <p:pic>
                    <p:nvPicPr>
                      <p:cNvPr id="6" name="Object 5" hidden="1"/>
                      <p:cNvPicPr/>
                      <p:nvPr/>
                    </p:nvPicPr>
                    <p:blipFill>
                      <a:blip r:embed="rId26"/>
                      <a:stretch>
                        <a:fillRect/>
                      </a:stretch>
                    </p:blipFill>
                    <p:spPr>
                      <a:xfrm>
                        <a:off x="1588" y="1588"/>
                        <a:ext cx="1588" cy="1588"/>
                      </a:xfrm>
                      <a:prstGeom prst="rect">
                        <a:avLst/>
                      </a:prstGeom>
                    </p:spPr>
                  </p:pic>
                </p:oleObj>
              </mc:Fallback>
            </mc:AlternateContent>
          </a:graphicData>
        </a:graphic>
      </p:graphicFrame>
      <p:sp>
        <p:nvSpPr>
          <p:cNvPr id="5" name="Rectangle 4" hidden="1"/>
          <p:cNvSpPr/>
          <p:nvPr>
            <p:custDataLst>
              <p:tags r:id="rId24"/>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endParaRPr lang="en-US" sz="4800" b="0" i="0" baseline="0">
              <a:latin typeface="Century Gothic" panose="020B0502020202020204" pitchFamily="34" charset="0"/>
              <a:sym typeface="Century Gothic" panose="020B0502020202020204" pitchFamily="34" charset="0"/>
            </a:endParaRPr>
          </a:p>
        </p:txBody>
      </p:sp>
      <p:sp>
        <p:nvSpPr>
          <p:cNvPr id="3" name="Text Placeholder 2"/>
          <p:cNvSpPr>
            <a:spLocks noGrp="1"/>
          </p:cNvSpPr>
          <p:nvPr>
            <p:ph type="body" idx="1"/>
          </p:nvPr>
        </p:nvSpPr>
        <p:spPr>
          <a:xfrm>
            <a:off x="342900" y="1198800"/>
            <a:ext cx="11517923" cy="4808834"/>
          </a:xfrm>
          <a:prstGeom prst="rect">
            <a:avLst/>
          </a:prstGeom>
        </p:spPr>
        <p:txBody>
          <a:bodyPr vert="horz" lIns="0" tIns="0" rIns="0" bIns="0" rtlCol="0">
            <a:noAutofit/>
          </a:bodyPr>
          <a:lstStyle/>
          <a:p>
            <a:pPr lvl="0"/>
            <a:r>
              <a:rPr lang="en-US"/>
              <a:t>Click to edit Master text styles</a:t>
            </a:r>
          </a:p>
        </p:txBody>
      </p:sp>
      <p:sp>
        <p:nvSpPr>
          <p:cNvPr id="2" name="Title Placeholder 1"/>
          <p:cNvSpPr>
            <a:spLocks noGrp="1"/>
          </p:cNvSpPr>
          <p:nvPr>
            <p:ph type="title"/>
          </p:nvPr>
        </p:nvSpPr>
        <p:spPr>
          <a:xfrm>
            <a:off x="342900" y="243048"/>
            <a:ext cx="11517924" cy="879756"/>
          </a:xfrm>
          <a:prstGeom prst="rect">
            <a:avLst/>
          </a:prstGeom>
        </p:spPr>
        <p:txBody>
          <a:bodyPr vert="horz" lIns="0" tIns="45720" rIns="91440" bIns="0" rtlCol="0" anchor="t" anchorCtr="0">
            <a:noAutofit/>
          </a:bodyPr>
          <a:lstStyle/>
          <a:p>
            <a:r>
              <a:rPr lang="en-US"/>
              <a:t>The top line has to summarize the content of the slide short and precise. Maximal two sentences over two rows.</a:t>
            </a:r>
          </a:p>
        </p:txBody>
      </p:sp>
      <p:sp>
        <p:nvSpPr>
          <p:cNvPr id="11" name="Rectangle 10">
            <a:extLst>
              <a:ext uri="{FF2B5EF4-FFF2-40B4-BE49-F238E27FC236}">
                <a16:creationId xmlns:a16="http://schemas.microsoft.com/office/drawing/2014/main" id="{5F7C3BC7-D65E-A259-3C5F-AF99DF466642}"/>
              </a:ext>
            </a:extLst>
          </p:cNvPr>
          <p:cNvSpPr/>
          <p:nvPr userDrawn="1"/>
        </p:nvSpPr>
        <p:spPr>
          <a:xfrm>
            <a:off x="0" y="6258460"/>
            <a:ext cx="12192000" cy="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Slide Number Placeholder 6">
            <a:extLst>
              <a:ext uri="{FF2B5EF4-FFF2-40B4-BE49-F238E27FC236}">
                <a16:creationId xmlns:a16="http://schemas.microsoft.com/office/drawing/2014/main" id="{226578F7-B19C-B798-C5D9-3E3F01968E4B}"/>
              </a:ext>
            </a:extLst>
          </p:cNvPr>
          <p:cNvSpPr>
            <a:spLocks noGrp="1"/>
          </p:cNvSpPr>
          <p:nvPr>
            <p:ph type="sldNum" sz="quarter" idx="4"/>
          </p:nvPr>
        </p:nvSpPr>
        <p:spPr>
          <a:xfrm>
            <a:off x="4724400" y="6409104"/>
            <a:ext cx="2743200" cy="365125"/>
          </a:xfrm>
          <a:prstGeom prst="rect">
            <a:avLst/>
          </a:prstGeom>
        </p:spPr>
        <p:txBody>
          <a:bodyPr vert="horz" lIns="91440" tIns="45720" rIns="91440" bIns="45720" rtlCol="0" anchor="ctr"/>
          <a:lstStyle>
            <a:lvl1pPr algn="ctr">
              <a:defRPr sz="100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fld id="{B7DB95AD-BB38-4F2F-9059-13DFCE8E9D75}" type="slidenum">
              <a:rPr lang="de-DE" smtClean="0"/>
              <a:pPr/>
              <a:t>‹Nr.›</a:t>
            </a:fld>
            <a:endParaRPr lang="de-DE"/>
          </a:p>
        </p:txBody>
      </p:sp>
      <p:pic>
        <p:nvPicPr>
          <p:cNvPr id="15" name="Grafik 14" descr="Ein Bild, das Schrift, Grafiken, Grafikdesign, Text enthält.&#10;&#10;KI-generierte Inhalte können fehlerhaft sein.">
            <a:extLst>
              <a:ext uri="{FF2B5EF4-FFF2-40B4-BE49-F238E27FC236}">
                <a16:creationId xmlns:a16="http://schemas.microsoft.com/office/drawing/2014/main" id="{16DA18C2-90D0-CFDF-708B-2343F3E62A9E}"/>
              </a:ext>
            </a:extLst>
          </p:cNvPr>
          <p:cNvPicPr>
            <a:picLocks noChangeAspect="1"/>
          </p:cNvPicPr>
          <p:nvPr userDrawn="1"/>
        </p:nvPicPr>
        <p:blipFill>
          <a:blip r:embed="rId27">
            <a:extLst>
              <a:ext uri="{28A0092B-C50C-407E-A947-70E740481C1C}">
                <a14:useLocalDpi xmlns:a14="http://schemas.microsoft.com/office/drawing/2010/main" val="0"/>
              </a:ext>
            </a:extLst>
          </a:blip>
          <a:stretch>
            <a:fillRect/>
          </a:stretch>
        </p:blipFill>
        <p:spPr>
          <a:xfrm>
            <a:off x="11064524" y="6380283"/>
            <a:ext cx="824020" cy="438776"/>
          </a:xfrm>
          <a:prstGeom prst="rect">
            <a:avLst/>
          </a:prstGeom>
        </p:spPr>
      </p:pic>
    </p:spTree>
    <p:extLst>
      <p:ext uri="{BB962C8B-B14F-4D97-AF65-F5344CB8AC3E}">
        <p14:creationId xmlns:p14="http://schemas.microsoft.com/office/powerpoint/2010/main" val="198283769"/>
      </p:ext>
    </p:extLst>
  </p:cSld>
  <p:clrMap bg1="lt1" tx1="dk1" bg2="lt2" tx2="dk2" accent1="accent1" accent2="accent2" accent3="accent3" accent4="accent4" accent5="accent5" accent6="accent6" hlink="hlink" folHlink="folHlink"/>
  <p:sldLayoutIdLst>
    <p:sldLayoutId id="2147483665" r:id="rId1"/>
    <p:sldLayoutId id="2147483684" r:id="rId2"/>
    <p:sldLayoutId id="2147483674" r:id="rId3"/>
    <p:sldLayoutId id="2147483675" r:id="rId4"/>
    <p:sldLayoutId id="2147483661" r:id="rId5"/>
    <p:sldLayoutId id="2147483662" r:id="rId6"/>
    <p:sldLayoutId id="2147483683" r:id="rId7"/>
    <p:sldLayoutId id="2147483666" r:id="rId8"/>
    <p:sldLayoutId id="2147483667" r:id="rId9"/>
    <p:sldLayoutId id="2147483668" r:id="rId10"/>
    <p:sldLayoutId id="2147483669" r:id="rId11"/>
    <p:sldLayoutId id="2147483670" r:id="rId12"/>
    <p:sldLayoutId id="2147483671" r:id="rId13"/>
    <p:sldLayoutId id="2147483672" r:id="rId14"/>
    <p:sldLayoutId id="2147483676" r:id="rId15"/>
    <p:sldLayoutId id="2147483677" r:id="rId16"/>
    <p:sldLayoutId id="2147483678" r:id="rId17"/>
    <p:sldLayoutId id="2147483679" r:id="rId18"/>
    <p:sldLayoutId id="2147483680" r:id="rId19"/>
    <p:sldLayoutId id="2147483681" r:id="rId20"/>
    <p:sldLayoutId id="2147483682" r:id="rId21"/>
  </p:sldLayoutIdLst>
  <p:hf hdr="0" ftr="0" dt="0"/>
  <p:txStyles>
    <p:titleStyle>
      <a:lvl1pPr algn="just" defTabSz="914400" rtl="0" eaLnBrk="1" latinLnBrk="0" hangingPunct="1">
        <a:lnSpc>
          <a:spcPct val="100000"/>
        </a:lnSpc>
        <a:spcBef>
          <a:spcPct val="0"/>
        </a:spcBef>
        <a:buNone/>
        <a:defRPr sz="2000" b="0" i="0" kern="1200" cap="none" spc="0" baseline="0">
          <a:solidFill>
            <a:schemeClr val="tx1"/>
          </a:solidFill>
          <a:latin typeface="Roboto" panose="02000000000000000000" pitchFamily="2" charset="0"/>
          <a:ea typeface="Roboto" panose="02000000000000000000" pitchFamily="2" charset="0"/>
          <a:cs typeface="Roboto" panose="02000000000000000000" pitchFamily="2" charset="0"/>
          <a:sym typeface="Century Gothic" panose="020B0502020202020204" pitchFamily="34" charset="0"/>
        </a:defRPr>
      </a:lvl1pPr>
    </p:titleStyle>
    <p:bodyStyle>
      <a:lvl1pPr marL="0" indent="0" algn="just" defTabSz="914400" rtl="0" eaLnBrk="1" latinLnBrk="0" hangingPunct="1">
        <a:lnSpc>
          <a:spcPct val="100000"/>
        </a:lnSpc>
        <a:spcBef>
          <a:spcPts val="0"/>
        </a:spcBef>
        <a:spcAft>
          <a:spcPts val="600"/>
        </a:spcAft>
        <a:buClr>
          <a:schemeClr val="accent5"/>
        </a:buClr>
        <a:buSzPct val="75000"/>
        <a:buFont typeface="Arial" panose="020B0604020202020204" pitchFamily="34" charset="0"/>
        <a:buNone/>
        <a:defRPr sz="1100" kern="1200" spc="0" baseline="0">
          <a:solidFill>
            <a:schemeClr val="tx1"/>
          </a:solidFill>
          <a:latin typeface="Roboto" panose="02000000000000000000" pitchFamily="2" charset="0"/>
          <a:ea typeface="Roboto" panose="02000000000000000000" pitchFamily="2" charset="0"/>
          <a:cs typeface="Roboto" panose="02000000000000000000" pitchFamily="2" charset="0"/>
          <a:sym typeface="Century Gothic" panose="020B0502020202020204" pitchFamily="34"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200" kern="1200" spc="0" baseline="0">
          <a:solidFill>
            <a:schemeClr val="tx1"/>
          </a:solidFill>
          <a:latin typeface="Roboto" panose="02000000000000000000" pitchFamily="2" charset="0"/>
          <a:ea typeface="Roboto" panose="02000000000000000000" pitchFamily="2" charset="0"/>
          <a:cs typeface="Roboto" panose="02000000000000000000" pitchFamily="2" charset="0"/>
          <a:sym typeface="Century Gothic" panose="020B0502020202020204" pitchFamily="34"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200" kern="1200" spc="0" baseline="0">
          <a:solidFill>
            <a:schemeClr val="tx1"/>
          </a:solidFill>
          <a:latin typeface="Roboto" panose="02000000000000000000" pitchFamily="2" charset="0"/>
          <a:ea typeface="Roboto" panose="02000000000000000000" pitchFamily="2" charset="0"/>
          <a:cs typeface="Roboto" panose="02000000000000000000" pitchFamily="2" charset="0"/>
          <a:sym typeface="Century Gothic" panose="020B0502020202020204" pitchFamily="34"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200" kern="1200" spc="0" baseline="0">
          <a:solidFill>
            <a:schemeClr val="tx1"/>
          </a:solidFill>
          <a:latin typeface="Roboto" panose="02000000000000000000" pitchFamily="2" charset="0"/>
          <a:ea typeface="Roboto" panose="02000000000000000000" pitchFamily="2" charset="0"/>
          <a:cs typeface="Roboto" panose="02000000000000000000" pitchFamily="2" charset="0"/>
          <a:sym typeface="Century Gothic" panose="020B0502020202020204" pitchFamily="34"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200" kern="1200" spc="0" baseline="0">
          <a:solidFill>
            <a:schemeClr val="tx1"/>
          </a:solidFill>
          <a:latin typeface="Roboto" panose="02000000000000000000" pitchFamily="2" charset="0"/>
          <a:ea typeface="Roboto" panose="02000000000000000000" pitchFamily="2" charset="0"/>
          <a:cs typeface="Roboto" panose="02000000000000000000" pitchFamily="2" charset="0"/>
          <a:sym typeface="Century Gothic" panose="020B0502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576">
          <p15:clr>
            <a:srgbClr val="F26B43"/>
          </p15:clr>
        </p15:guide>
        <p15:guide id="4" pos="7104">
          <p15:clr>
            <a:srgbClr val="F26B43"/>
          </p15:clr>
        </p15:guide>
        <p15:guide id="5" pos="2976">
          <p15:clr>
            <a:srgbClr val="F26B43"/>
          </p15:clr>
        </p15:guide>
        <p15:guide id="6" orient="horz" pos="1152">
          <p15:clr>
            <a:srgbClr val="F26B43"/>
          </p15:clr>
        </p15:guide>
        <p15:guide id="7" pos="268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26" name="Picture 2" descr="300+] Sternenhimmel-Wallpaper KOSTENLOS | Wallpapers.com">
            <a:extLst>
              <a:ext uri="{FF2B5EF4-FFF2-40B4-BE49-F238E27FC236}">
                <a16:creationId xmlns:a16="http://schemas.microsoft.com/office/drawing/2014/main" id="{97E92129-31FD-D930-9B95-94B1D3DE511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92B51E5E-0709-9E96-1A86-D3D5DEEB839B}"/>
              </a:ext>
            </a:extLst>
          </p:cNvPr>
          <p:cNvSpPr/>
          <p:nvPr userDrawn="1"/>
        </p:nvSpPr>
        <p:spPr>
          <a:xfrm>
            <a:off x="0" y="4809392"/>
            <a:ext cx="12192000" cy="204860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Rectangle 7">
            <a:extLst>
              <a:ext uri="{FF2B5EF4-FFF2-40B4-BE49-F238E27FC236}">
                <a16:creationId xmlns:a16="http://schemas.microsoft.com/office/drawing/2014/main" id="{505CA856-F8D0-9808-8CBF-780D1DDC0FD7}"/>
              </a:ext>
            </a:extLst>
          </p:cNvPr>
          <p:cNvSpPr/>
          <p:nvPr userDrawn="1"/>
        </p:nvSpPr>
        <p:spPr>
          <a:xfrm>
            <a:off x="0" y="4737392"/>
            <a:ext cx="12192000" cy="72000"/>
          </a:xfrm>
          <a:prstGeom prst="rect">
            <a:avLst/>
          </a:prstGeom>
          <a:solidFill>
            <a:srgbClr val="6093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Title Placeholder 1">
            <a:extLst>
              <a:ext uri="{FF2B5EF4-FFF2-40B4-BE49-F238E27FC236}">
                <a16:creationId xmlns:a16="http://schemas.microsoft.com/office/drawing/2014/main" id="{E4B1833A-3678-63B6-8A7A-B21CA4D9C80D}"/>
              </a:ext>
            </a:extLst>
          </p:cNvPr>
          <p:cNvSpPr txBox="1">
            <a:spLocks/>
          </p:cNvSpPr>
          <p:nvPr userDrawn="1"/>
        </p:nvSpPr>
        <p:spPr>
          <a:xfrm>
            <a:off x="923192" y="4966040"/>
            <a:ext cx="6471139" cy="351649"/>
          </a:xfrm>
          <a:prstGeom prst="rect">
            <a:avLst/>
          </a:prstGeom>
        </p:spPr>
        <p:txBody>
          <a:bodyPr vert="horz" lIns="0" tIns="45720" rIns="9144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2400" b="1" i="0" u="none" strike="noStrike" kern="1200" cap="none" spc="0" normalizeH="0" baseline="0" noProof="0">
                <a:ln>
                  <a:noFill/>
                </a:ln>
                <a:solidFill>
                  <a:schemeClr val="bg1"/>
                </a:solidFill>
                <a:effectLst/>
                <a:uLnTx/>
                <a:uFillTx/>
                <a:latin typeface="Roboto" panose="02000000000000000000" pitchFamily="2" charset="0"/>
                <a:ea typeface="Roboto" panose="02000000000000000000" pitchFamily="2" charset="0"/>
                <a:cs typeface="Roboto" panose="02000000000000000000" pitchFamily="2" charset="0"/>
              </a:rPr>
              <a:t>Project Prometheus</a:t>
            </a:r>
          </a:p>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2400" b="0" i="0" u="none" strike="noStrike" kern="1200" cap="none" spc="0" normalizeH="0" baseline="0" noProof="0">
                <a:ln>
                  <a:noFill/>
                </a:ln>
                <a:solidFill>
                  <a:schemeClr val="bg1"/>
                </a:solidFill>
                <a:effectLst/>
                <a:uLnTx/>
                <a:uFillTx/>
                <a:latin typeface="Roboto" panose="02000000000000000000" pitchFamily="2" charset="0"/>
                <a:ea typeface="Roboto" panose="02000000000000000000" pitchFamily="2" charset="0"/>
                <a:cs typeface="Roboto" panose="02000000000000000000" pitchFamily="2" charset="0"/>
              </a:rPr>
              <a:t>Confidential Information Memorandum</a:t>
            </a:r>
          </a:p>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1400" b="0" i="0" u="none" strike="noStrike" kern="1200" cap="none" spc="0" normalizeH="0" baseline="0" noProof="0">
                <a:ln>
                  <a:noFill/>
                </a:ln>
                <a:solidFill>
                  <a:schemeClr val="bg1"/>
                </a:solidFill>
                <a:effectLst/>
                <a:uLnTx/>
                <a:uFillTx/>
                <a:latin typeface="Roboto" panose="02000000000000000000" pitchFamily="2" charset="0"/>
                <a:ea typeface="Roboto" panose="02000000000000000000" pitchFamily="2" charset="0"/>
                <a:cs typeface="Roboto" panose="02000000000000000000" pitchFamily="2" charset="0"/>
              </a:rPr>
              <a:t>November 2024</a:t>
            </a:r>
          </a:p>
        </p:txBody>
      </p:sp>
      <p:sp>
        <p:nvSpPr>
          <p:cNvPr id="11" name="Title Placeholder 1">
            <a:extLst>
              <a:ext uri="{FF2B5EF4-FFF2-40B4-BE49-F238E27FC236}">
                <a16:creationId xmlns:a16="http://schemas.microsoft.com/office/drawing/2014/main" id="{D13CBCDC-8A51-946A-4094-9752FA45C19E}"/>
              </a:ext>
            </a:extLst>
          </p:cNvPr>
          <p:cNvSpPr txBox="1">
            <a:spLocks/>
          </p:cNvSpPr>
          <p:nvPr userDrawn="1"/>
        </p:nvSpPr>
        <p:spPr>
          <a:xfrm>
            <a:off x="923191" y="6506351"/>
            <a:ext cx="6471139" cy="351649"/>
          </a:xfrm>
          <a:prstGeom prst="rect">
            <a:avLst/>
          </a:prstGeom>
        </p:spPr>
        <p:txBody>
          <a:bodyPr vert="horz" lIns="0" tIns="45720" rIns="9144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1000" b="0" i="0" u="none" strike="noStrike" kern="1200" cap="none" spc="0" normalizeH="0" baseline="0" noProof="0">
                <a:ln>
                  <a:noFill/>
                </a:ln>
                <a:solidFill>
                  <a:schemeClr val="bg1"/>
                </a:solidFill>
                <a:effectLst/>
                <a:uLnTx/>
                <a:uFillTx/>
                <a:latin typeface="Roboto" panose="02000000000000000000" pitchFamily="2" charset="0"/>
                <a:ea typeface="Roboto" panose="02000000000000000000" pitchFamily="2" charset="0"/>
                <a:cs typeface="Roboto" panose="02000000000000000000" pitchFamily="2" charset="0"/>
              </a:rPr>
              <a:t>Strictly Private and Confidential</a:t>
            </a:r>
          </a:p>
        </p:txBody>
      </p:sp>
    </p:spTree>
    <p:extLst>
      <p:ext uri="{BB962C8B-B14F-4D97-AF65-F5344CB8AC3E}">
        <p14:creationId xmlns:p14="http://schemas.microsoft.com/office/powerpoint/2010/main" val="640970618"/>
      </p:ext>
    </p:extLst>
  </p:cSld>
  <p:clrMap bg1="lt1" tx1="dk1" bg2="lt2" tx2="dk2" accent1="accent1" accent2="accent2" accent3="accent3" accent4="accent4" accent5="accent5" accent6="accent6" hlink="hlink" folHlink="folHlink"/>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11.xml"/><Relationship Id="rId5" Type="http://schemas.openxmlformats.org/officeDocument/2006/relationships/image" Target="../media/image20.emf"/><Relationship Id="rId4" Type="http://schemas.openxmlformats.org/officeDocument/2006/relationships/oleObject" Target="../embeddings/oleObject4.bin"/></Relationships>
</file>

<file path=ppt/slides/_rels/slide2.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notesSlide" Target="../notesSlides/notesSlide2.xml"/><Relationship Id="rId7" Type="http://schemas.openxmlformats.org/officeDocument/2006/relationships/image" Target="../media/image22.png"/><Relationship Id="rId2" Type="http://schemas.openxmlformats.org/officeDocument/2006/relationships/slideLayout" Target="../slideLayouts/slideLayout6.xml"/><Relationship Id="rId1" Type="http://schemas.openxmlformats.org/officeDocument/2006/relationships/tags" Target="../tags/tag12.xml"/><Relationship Id="rId6" Type="http://schemas.openxmlformats.org/officeDocument/2006/relationships/image" Target="../media/image21.png"/><Relationship Id="rId5" Type="http://schemas.openxmlformats.org/officeDocument/2006/relationships/image" Target="../media/image20.emf"/><Relationship Id="rId4" Type="http://schemas.openxmlformats.org/officeDocument/2006/relationships/oleObject" Target="../embeddings/oleObject4.bin"/></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xml"/><Relationship Id="rId1" Type="http://schemas.openxmlformats.org/officeDocument/2006/relationships/tags" Target="../tags/tag13.xml"/><Relationship Id="rId5" Type="http://schemas.openxmlformats.org/officeDocument/2006/relationships/image" Target="../media/image20.emf"/><Relationship Id="rId4" Type="http://schemas.openxmlformats.org/officeDocument/2006/relationships/oleObject" Target="../embeddings/oleObject4.bin"/></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tags" Target="../tags/tag14.xml"/><Relationship Id="rId5" Type="http://schemas.openxmlformats.org/officeDocument/2006/relationships/image" Target="../media/image20.emf"/><Relationship Id="rId4" Type="http://schemas.openxmlformats.org/officeDocument/2006/relationships/oleObject" Target="../embeddings/oleObject4.bin"/></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D19601EA-D9E4-B825-83A9-56CCA80148D8}"/>
            </a:ext>
          </a:extLst>
        </p:cNvPr>
        <p:cNvGrpSpPr/>
        <p:nvPr/>
      </p:nvGrpSpPr>
      <p:grpSpPr>
        <a:xfrm>
          <a:off x="0" y="0"/>
          <a:ext cx="0" cy="0"/>
          <a:chOff x="0" y="0"/>
          <a:chExt cx="0" cy="0"/>
        </a:xfrm>
      </p:grpSpPr>
      <p:sp>
        <p:nvSpPr>
          <p:cNvPr id="20" name="Rechteck 19">
            <a:extLst>
              <a:ext uri="{FF2B5EF4-FFF2-40B4-BE49-F238E27FC236}">
                <a16:creationId xmlns:a16="http://schemas.microsoft.com/office/drawing/2014/main" id="{AE65DFA0-8DCF-4F72-4DD0-2CB76A5D9B39}"/>
              </a:ext>
            </a:extLst>
          </p:cNvPr>
          <p:cNvSpPr/>
          <p:nvPr/>
        </p:nvSpPr>
        <p:spPr>
          <a:xfrm>
            <a:off x="10248625" y="3962651"/>
            <a:ext cx="1206747" cy="52645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Rechteck 18">
            <a:extLst>
              <a:ext uri="{FF2B5EF4-FFF2-40B4-BE49-F238E27FC236}">
                <a16:creationId xmlns:a16="http://schemas.microsoft.com/office/drawing/2014/main" id="{13D444A7-133F-0566-55B6-7CE2D648F955}"/>
              </a:ext>
            </a:extLst>
          </p:cNvPr>
          <p:cNvSpPr/>
          <p:nvPr/>
        </p:nvSpPr>
        <p:spPr>
          <a:xfrm>
            <a:off x="8426533" y="3962651"/>
            <a:ext cx="1306917" cy="52645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8" name="Rechteck 17">
            <a:extLst>
              <a:ext uri="{FF2B5EF4-FFF2-40B4-BE49-F238E27FC236}">
                <a16:creationId xmlns:a16="http://schemas.microsoft.com/office/drawing/2014/main" id="{C80D091B-3B0F-C8BB-815B-C61941AA945F}"/>
              </a:ext>
            </a:extLst>
          </p:cNvPr>
          <p:cNvSpPr/>
          <p:nvPr/>
        </p:nvSpPr>
        <p:spPr>
          <a:xfrm>
            <a:off x="6353299" y="3953471"/>
            <a:ext cx="1823852" cy="5356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Rechteck 16">
            <a:extLst>
              <a:ext uri="{FF2B5EF4-FFF2-40B4-BE49-F238E27FC236}">
                <a16:creationId xmlns:a16="http://schemas.microsoft.com/office/drawing/2014/main" id="{360BFE27-3404-1C99-11F7-18BCBBC3A5AD}"/>
              </a:ext>
            </a:extLst>
          </p:cNvPr>
          <p:cNvSpPr/>
          <p:nvPr/>
        </p:nvSpPr>
        <p:spPr>
          <a:xfrm>
            <a:off x="7965977" y="3569583"/>
            <a:ext cx="2182478" cy="365527"/>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6" name="Rechteck 15">
            <a:extLst>
              <a:ext uri="{FF2B5EF4-FFF2-40B4-BE49-F238E27FC236}">
                <a16:creationId xmlns:a16="http://schemas.microsoft.com/office/drawing/2014/main" id="{B933BBC7-2254-3C7B-36C1-F856107BD61B}"/>
              </a:ext>
            </a:extLst>
          </p:cNvPr>
          <p:cNvSpPr/>
          <p:nvPr/>
        </p:nvSpPr>
        <p:spPr>
          <a:xfrm>
            <a:off x="1986495" y="3889230"/>
            <a:ext cx="1682980" cy="438581"/>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 name="Rechteck 14">
            <a:extLst>
              <a:ext uri="{FF2B5EF4-FFF2-40B4-BE49-F238E27FC236}">
                <a16:creationId xmlns:a16="http://schemas.microsoft.com/office/drawing/2014/main" id="{9781B349-D034-E596-C853-745023D459AF}"/>
              </a:ext>
            </a:extLst>
          </p:cNvPr>
          <p:cNvSpPr/>
          <p:nvPr/>
        </p:nvSpPr>
        <p:spPr>
          <a:xfrm>
            <a:off x="8353301" y="830227"/>
            <a:ext cx="1752600" cy="32933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4" name="Rechteck 13">
            <a:extLst>
              <a:ext uri="{FF2B5EF4-FFF2-40B4-BE49-F238E27FC236}">
                <a16:creationId xmlns:a16="http://schemas.microsoft.com/office/drawing/2014/main" id="{BFF142E9-D872-8E01-D0C4-ACA2F08AAE83}"/>
              </a:ext>
            </a:extLst>
          </p:cNvPr>
          <p:cNvSpPr/>
          <p:nvPr/>
        </p:nvSpPr>
        <p:spPr>
          <a:xfrm>
            <a:off x="1986495" y="862055"/>
            <a:ext cx="2566693" cy="36536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aphicFrame>
        <p:nvGraphicFramePr>
          <p:cNvPr id="7" name="Object 6" hidden="1">
            <a:extLst>
              <a:ext uri="{FF2B5EF4-FFF2-40B4-BE49-F238E27FC236}">
                <a16:creationId xmlns:a16="http://schemas.microsoft.com/office/drawing/2014/main" id="{ADFC75AB-F805-DCE6-F8C0-3A45116EFBF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07" imgH="307" progId="TCLayout.ActiveDocument.1">
                  <p:embed/>
                </p:oleObj>
              </mc:Choice>
              <mc:Fallback>
                <p:oleObj name="think-cell Slide" r:id="rId4" imgW="307" imgH="307" progId="TCLayout.ActiveDocument.1">
                  <p:embed/>
                  <p:pic>
                    <p:nvPicPr>
                      <p:cNvPr id="7" name="Object 6" hidden="1">
                        <a:extLst>
                          <a:ext uri="{FF2B5EF4-FFF2-40B4-BE49-F238E27FC236}">
                            <a16:creationId xmlns:a16="http://schemas.microsoft.com/office/drawing/2014/main" id="{ADFC75AB-F805-DCE6-F8C0-3A45116EFBF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9910ED99-900E-57FB-C0EA-AE66455C6BDA}"/>
              </a:ext>
            </a:extLst>
          </p:cNvPr>
          <p:cNvSpPr>
            <a:spLocks noGrp="1"/>
          </p:cNvSpPr>
          <p:nvPr>
            <p:ph type="title"/>
          </p:nvPr>
        </p:nvSpPr>
        <p:spPr>
          <a:xfrm>
            <a:off x="342762" y="157821"/>
            <a:ext cx="11506476" cy="453851"/>
          </a:xfrm>
        </p:spPr>
        <p:txBody>
          <a:bodyPr vert="horz"/>
          <a:lstStyle/>
          <a:p>
            <a:r>
              <a:rPr lang="de-DE" sz="2500" b="1" dirty="0">
                <a:latin typeface="+mj-lt"/>
                <a:ea typeface="Roboto" panose="020F0502020204030204" pitchFamily="2" charset="0"/>
                <a:cs typeface="Roboto" panose="020F0502020204030204" pitchFamily="2" charset="0"/>
              </a:rPr>
              <a:t>Company Profile</a:t>
            </a:r>
          </a:p>
        </p:txBody>
      </p:sp>
      <p:cxnSp>
        <p:nvCxnSpPr>
          <p:cNvPr id="42" name="Gerader Verbinder 34">
            <a:extLst>
              <a:ext uri="{FF2B5EF4-FFF2-40B4-BE49-F238E27FC236}">
                <a16:creationId xmlns:a16="http://schemas.microsoft.com/office/drawing/2014/main" id="{BA377002-96A8-2AFD-A757-354A4DF8FD75}"/>
              </a:ext>
            </a:extLst>
          </p:cNvPr>
          <p:cNvCxnSpPr>
            <a:cxnSpLocks/>
          </p:cNvCxnSpPr>
          <p:nvPr/>
        </p:nvCxnSpPr>
        <p:spPr>
          <a:xfrm>
            <a:off x="343524" y="647726"/>
            <a:ext cx="115164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Textfeld 5">
            <a:extLst>
              <a:ext uri="{FF2B5EF4-FFF2-40B4-BE49-F238E27FC236}">
                <a16:creationId xmlns:a16="http://schemas.microsoft.com/office/drawing/2014/main" id="{58B77AB0-C4D6-A186-9FDC-46D108537E4E}"/>
              </a:ext>
            </a:extLst>
          </p:cNvPr>
          <p:cNvSpPr txBox="1"/>
          <p:nvPr/>
        </p:nvSpPr>
        <p:spPr>
          <a:xfrm>
            <a:off x="342762" y="1321685"/>
            <a:ext cx="6010537" cy="2400657"/>
          </a:xfrm>
          <a:prstGeom prst="rect">
            <a:avLst/>
          </a:prstGeom>
          <a:noFill/>
        </p:spPr>
        <p:txBody>
          <a:bodyPr wrap="square" rtlCol="0">
            <a:spAutoFit/>
          </a:bodyPr>
          <a:lstStyle/>
          <a:p>
            <a:pPr marL="285750" indent="-285750">
              <a:buFont typeface="Arial" panose="020B0604020202020204" pitchFamily="34" charset="0"/>
              <a:buChar char="•"/>
            </a:pPr>
            <a:r>
              <a:rPr lang="en-US" sz="1500" dirty="0"/>
              <a:t>Development and distribution of innovative solutions for energy data acquisition and IoT applications, focusing on data loggers, multi-protocol gateways, and LoRa base stations</a:t>
            </a:r>
          </a:p>
          <a:p>
            <a:pPr marL="285750" indent="-285750">
              <a:buFont typeface="Arial" panose="020B0604020202020204" pitchFamily="34" charset="0"/>
              <a:buChar char="•"/>
            </a:pPr>
            <a:r>
              <a:rPr lang="en-US" sz="1500" dirty="0"/>
              <a:t>Self-sufficient, cloud-independent networks for applications ranging from small properties and industrial parks to smart city use cases</a:t>
            </a:r>
          </a:p>
          <a:p>
            <a:pPr marL="285750" indent="-285750">
              <a:buFont typeface="Arial" panose="020B0604020202020204" pitchFamily="34" charset="0"/>
              <a:buChar char="•"/>
            </a:pPr>
            <a:r>
              <a:rPr lang="en-US" sz="1500" dirty="0"/>
              <a:t>Scalable, technology-driven business model with customized hardware/firmware solutions and project-related engineering services</a:t>
            </a:r>
            <a:endParaRPr lang="de-DE" sz="1500" dirty="0"/>
          </a:p>
        </p:txBody>
      </p:sp>
      <p:sp>
        <p:nvSpPr>
          <p:cNvPr id="13" name="Textfeld 12">
            <a:extLst>
              <a:ext uri="{FF2B5EF4-FFF2-40B4-BE49-F238E27FC236}">
                <a16:creationId xmlns:a16="http://schemas.microsoft.com/office/drawing/2014/main" id="{C7664852-C0A6-5923-5C8E-BBC16E6D3E60}"/>
              </a:ext>
            </a:extLst>
          </p:cNvPr>
          <p:cNvSpPr txBox="1"/>
          <p:nvPr/>
        </p:nvSpPr>
        <p:spPr>
          <a:xfrm>
            <a:off x="1969829" y="883475"/>
            <a:ext cx="5420087" cy="369332"/>
          </a:xfrm>
          <a:prstGeom prst="rect">
            <a:avLst/>
          </a:prstGeom>
          <a:noFill/>
        </p:spPr>
        <p:txBody>
          <a:bodyPr wrap="square" rtlCol="0">
            <a:spAutoFit/>
          </a:bodyPr>
          <a:lstStyle/>
          <a:p>
            <a:r>
              <a:rPr lang="de-DE" b="1" dirty="0">
                <a:solidFill>
                  <a:schemeClr val="bg1"/>
                </a:solidFill>
              </a:rPr>
              <a:t>Company Description</a:t>
            </a:r>
          </a:p>
        </p:txBody>
      </p:sp>
      <p:sp>
        <p:nvSpPr>
          <p:cNvPr id="27" name="Textfeld 26">
            <a:extLst>
              <a:ext uri="{FF2B5EF4-FFF2-40B4-BE49-F238E27FC236}">
                <a16:creationId xmlns:a16="http://schemas.microsoft.com/office/drawing/2014/main" id="{2888A760-3FC5-09FF-9244-E6BDECD5ECB5}"/>
              </a:ext>
            </a:extLst>
          </p:cNvPr>
          <p:cNvSpPr txBox="1"/>
          <p:nvPr/>
        </p:nvSpPr>
        <p:spPr>
          <a:xfrm>
            <a:off x="8329770" y="816703"/>
            <a:ext cx="5092700" cy="369326"/>
          </a:xfrm>
          <a:prstGeom prst="rect">
            <a:avLst/>
          </a:prstGeom>
          <a:noFill/>
        </p:spPr>
        <p:txBody>
          <a:bodyPr wrap="square" rtlCol="0">
            <a:spAutoFit/>
          </a:bodyPr>
          <a:lstStyle/>
          <a:p>
            <a:r>
              <a:rPr lang="de-DE" b="1" dirty="0">
                <a:solidFill>
                  <a:schemeClr val="bg1"/>
                </a:solidFill>
              </a:rPr>
              <a:t>Key </a:t>
            </a:r>
            <a:r>
              <a:rPr lang="de-DE" b="1" dirty="0" err="1">
                <a:solidFill>
                  <a:schemeClr val="bg1"/>
                </a:solidFill>
              </a:rPr>
              <a:t>Financials</a:t>
            </a:r>
            <a:endParaRPr lang="de-DE" b="1" dirty="0">
              <a:solidFill>
                <a:schemeClr val="bg1"/>
              </a:solidFill>
            </a:endParaRPr>
          </a:p>
        </p:txBody>
      </p:sp>
      <p:graphicFrame>
        <p:nvGraphicFramePr>
          <p:cNvPr id="34" name="Tabelle 33">
            <a:extLst>
              <a:ext uri="{FF2B5EF4-FFF2-40B4-BE49-F238E27FC236}">
                <a16:creationId xmlns:a16="http://schemas.microsoft.com/office/drawing/2014/main" id="{6F163DBE-648A-1413-001B-71AFA13ABCB5}"/>
              </a:ext>
            </a:extLst>
          </p:cNvPr>
          <p:cNvGraphicFramePr>
            <a:graphicFrameLocks noGrp="1"/>
          </p:cNvGraphicFramePr>
          <p:nvPr>
            <p:extLst>
              <p:ext uri="{D42A27DB-BD31-4B8C-83A1-F6EECF244321}">
                <p14:modId xmlns:p14="http://schemas.microsoft.com/office/powerpoint/2010/main" val="3281306768"/>
              </p:ext>
            </p:extLst>
          </p:nvPr>
        </p:nvGraphicFramePr>
        <p:xfrm>
          <a:off x="6353300" y="1216139"/>
          <a:ext cx="5777343" cy="2240280"/>
        </p:xfrm>
        <a:graphic>
          <a:graphicData uri="http://schemas.openxmlformats.org/drawingml/2006/table">
            <a:tbl>
              <a:tblPr firstRow="1" bandRow="1">
                <a:tableStyleId>{5C22544A-7EE6-4342-B048-85BDC9FD1C3A}</a:tableStyleId>
              </a:tblPr>
              <a:tblGrid>
                <a:gridCol w="1519555">
                  <a:extLst>
                    <a:ext uri="{9D8B030D-6E8A-4147-A177-3AD203B41FA5}">
                      <a16:colId xmlns:a16="http://schemas.microsoft.com/office/drawing/2014/main" val="713277092"/>
                    </a:ext>
                  </a:extLst>
                </a:gridCol>
                <a:gridCol w="1064447">
                  <a:extLst>
                    <a:ext uri="{9D8B030D-6E8A-4147-A177-3AD203B41FA5}">
                      <a16:colId xmlns:a16="http://schemas.microsoft.com/office/drawing/2014/main" val="2487519590"/>
                    </a:ext>
                  </a:extLst>
                </a:gridCol>
                <a:gridCol w="1064447">
                  <a:extLst>
                    <a:ext uri="{9D8B030D-6E8A-4147-A177-3AD203B41FA5}">
                      <a16:colId xmlns:a16="http://schemas.microsoft.com/office/drawing/2014/main" val="3143388140"/>
                    </a:ext>
                  </a:extLst>
                </a:gridCol>
                <a:gridCol w="1064447">
                  <a:extLst>
                    <a:ext uri="{9D8B030D-6E8A-4147-A177-3AD203B41FA5}">
                      <a16:colId xmlns:a16="http://schemas.microsoft.com/office/drawing/2014/main" val="239721010"/>
                    </a:ext>
                  </a:extLst>
                </a:gridCol>
                <a:gridCol w="1064447">
                  <a:extLst>
                    <a:ext uri="{9D8B030D-6E8A-4147-A177-3AD203B41FA5}">
                      <a16:colId xmlns:a16="http://schemas.microsoft.com/office/drawing/2014/main" val="183381001"/>
                    </a:ext>
                  </a:extLst>
                </a:gridCol>
              </a:tblGrid>
              <a:tr h="305267">
                <a:tc>
                  <a:txBody>
                    <a:bodyPr/>
                    <a:lstStyle/>
                    <a:p>
                      <a:r>
                        <a:rPr lang="de-DE" sz="1500" dirty="0"/>
                        <a:t>In </a:t>
                      </a:r>
                      <a:r>
                        <a:rPr lang="de-DE" sz="1500" dirty="0" err="1"/>
                        <a:t>Mio</a:t>
                      </a:r>
                      <a:endParaRPr lang="de-DE" sz="1500" dirty="0"/>
                    </a:p>
                  </a:txBody>
                  <a:tcPr/>
                </a:tc>
                <a:tc>
                  <a:txBody>
                    <a:bodyPr/>
                    <a:lstStyle/>
                    <a:p>
                      <a:r>
                        <a:rPr lang="de-DE" sz="1500" dirty="0"/>
                        <a:t>2021</a:t>
                      </a:r>
                    </a:p>
                  </a:txBody>
                  <a:tcPr/>
                </a:tc>
                <a:tc>
                  <a:txBody>
                    <a:bodyPr/>
                    <a:lstStyle/>
                    <a:p>
                      <a:r>
                        <a:rPr lang="de-DE" sz="1500" dirty="0"/>
                        <a:t>2022</a:t>
                      </a:r>
                    </a:p>
                  </a:txBody>
                  <a:tcPr/>
                </a:tc>
                <a:tc>
                  <a:txBody>
                    <a:bodyPr/>
                    <a:lstStyle/>
                    <a:p>
                      <a:r>
                        <a:rPr lang="de-DE" sz="1500" dirty="0"/>
                        <a:t>2023</a:t>
                      </a:r>
                    </a:p>
                  </a:txBody>
                  <a:tcPr/>
                </a:tc>
                <a:tc>
                  <a:txBody>
                    <a:bodyPr/>
                    <a:lstStyle/>
                    <a:p>
                      <a:r>
                        <a:rPr lang="de-DE" sz="1500" dirty="0"/>
                        <a:t>2024</a:t>
                      </a:r>
                    </a:p>
                  </a:txBody>
                  <a:tcPr/>
                </a:tc>
                <a:extLst>
                  <a:ext uri="{0D108BD9-81ED-4DB2-BD59-A6C34878D82A}">
                    <a16:rowId xmlns:a16="http://schemas.microsoft.com/office/drawing/2014/main" val="4027668106"/>
                  </a:ext>
                </a:extLst>
              </a:tr>
              <a:tr h="305267">
                <a:tc>
                  <a:txBody>
                    <a:bodyPr/>
                    <a:lstStyle/>
                    <a:p>
                      <a:r>
                        <a:rPr lang="de-DE" sz="1500" dirty="0"/>
                        <a:t>Sales</a:t>
                      </a:r>
                    </a:p>
                  </a:txBody>
                  <a:tcPr>
                    <a:solidFill>
                      <a:schemeClr val="bg2"/>
                    </a:solidFill>
                  </a:tcPr>
                </a:tc>
                <a:tc>
                  <a:txBody>
                    <a:bodyPr/>
                    <a:lstStyle/>
                    <a:p>
                      <a:r>
                        <a:rPr lang="de-DE" sz="1500" dirty="0"/>
                        <a:t>10000</a:t>
                      </a:r>
                    </a:p>
                  </a:txBody>
                  <a:tcPr>
                    <a:solidFill>
                      <a:schemeClr val="bg2"/>
                    </a:solidFill>
                  </a:tcPr>
                </a:tc>
                <a:tc>
                  <a:txBody>
                    <a:bodyPr/>
                    <a:lstStyle/>
                    <a:p>
                      <a:r>
                        <a:rPr lang="de-DE" sz="1500" dirty="0"/>
                        <a:t>10500</a:t>
                      </a:r>
                    </a:p>
                  </a:txBody>
                  <a:tcPr>
                    <a:solidFill>
                      <a:schemeClr val="bg2"/>
                    </a:solidFill>
                  </a:tcPr>
                </a:tc>
                <a:tc>
                  <a:txBody>
                    <a:bodyPr/>
                    <a:lstStyle/>
                    <a:p>
                      <a:r>
                        <a:rPr lang="de-DE" sz="1500" dirty="0"/>
                        <a:t>11100</a:t>
                      </a:r>
                    </a:p>
                  </a:txBody>
                  <a:tcPr>
                    <a:solidFill>
                      <a:schemeClr val="bg2"/>
                    </a:solidFill>
                  </a:tcPr>
                </a:tc>
                <a:tc>
                  <a:txBody>
                    <a:bodyPr/>
                    <a:lstStyle/>
                    <a:p>
                      <a:r>
                        <a:rPr lang="de-DE" sz="1500" dirty="0"/>
                        <a:t>11900</a:t>
                      </a:r>
                    </a:p>
                  </a:txBody>
                  <a:tcPr>
                    <a:solidFill>
                      <a:schemeClr val="bg2"/>
                    </a:solidFill>
                  </a:tcPr>
                </a:tc>
                <a:extLst>
                  <a:ext uri="{0D108BD9-81ED-4DB2-BD59-A6C34878D82A}">
                    <a16:rowId xmlns:a16="http://schemas.microsoft.com/office/drawing/2014/main" val="3303475470"/>
                  </a:ext>
                </a:extLst>
              </a:tr>
              <a:tr h="305267">
                <a:tc>
                  <a:txBody>
                    <a:bodyPr/>
                    <a:lstStyle/>
                    <a:p>
                      <a:r>
                        <a:rPr lang="de-DE" sz="1500" dirty="0"/>
                        <a:t>Gross Profit</a:t>
                      </a:r>
                    </a:p>
                  </a:txBody>
                  <a:tcPr>
                    <a:solidFill>
                      <a:schemeClr val="bg2"/>
                    </a:solidFill>
                  </a:tcPr>
                </a:tc>
                <a:tc>
                  <a:txBody>
                    <a:bodyPr/>
                    <a:lstStyle/>
                    <a:p>
                      <a:r>
                        <a:rPr lang="de-DE" sz="1500" dirty="0"/>
                        <a:t>4000</a:t>
                      </a:r>
                    </a:p>
                  </a:txBody>
                  <a:tcPr>
                    <a:solidFill>
                      <a:schemeClr val="bg2"/>
                    </a:solidFill>
                  </a:tcPr>
                </a:tc>
                <a:tc>
                  <a:txBody>
                    <a:bodyPr/>
                    <a:lstStyle/>
                    <a:p>
                      <a:r>
                        <a:rPr lang="de-DE" sz="1500" dirty="0"/>
                        <a:t>4200</a:t>
                      </a:r>
                    </a:p>
                  </a:txBody>
                  <a:tcPr>
                    <a:solidFill>
                      <a:schemeClr val="bg2"/>
                    </a:solidFill>
                  </a:tcPr>
                </a:tc>
                <a:tc>
                  <a:txBody>
                    <a:bodyPr/>
                    <a:lstStyle/>
                    <a:p>
                      <a:r>
                        <a:rPr lang="de-DE" sz="1500" dirty="0"/>
                        <a:t>4400</a:t>
                      </a:r>
                    </a:p>
                  </a:txBody>
                  <a:tcPr>
                    <a:solidFill>
                      <a:schemeClr val="bg2"/>
                    </a:solidFill>
                  </a:tcPr>
                </a:tc>
                <a:tc>
                  <a:txBody>
                    <a:bodyPr/>
                    <a:lstStyle/>
                    <a:p>
                      <a:r>
                        <a:rPr lang="de-DE" sz="1500" dirty="0"/>
                        <a:t>4600</a:t>
                      </a:r>
                    </a:p>
                  </a:txBody>
                  <a:tcPr>
                    <a:solidFill>
                      <a:schemeClr val="bg2"/>
                    </a:solidFill>
                  </a:tcPr>
                </a:tc>
                <a:extLst>
                  <a:ext uri="{0D108BD9-81ED-4DB2-BD59-A6C34878D82A}">
                    <a16:rowId xmlns:a16="http://schemas.microsoft.com/office/drawing/2014/main" val="2057099691"/>
                  </a:ext>
                </a:extLst>
              </a:tr>
              <a:tr h="305267">
                <a:tc>
                  <a:txBody>
                    <a:bodyPr/>
                    <a:lstStyle/>
                    <a:p>
                      <a:r>
                        <a:rPr lang="de-DE" sz="1500" dirty="0"/>
                        <a:t>EBITDA</a:t>
                      </a:r>
                    </a:p>
                  </a:txBody>
                  <a:tcPr>
                    <a:solidFill>
                      <a:schemeClr val="bg2"/>
                    </a:solidFill>
                  </a:tcPr>
                </a:tc>
                <a:tc>
                  <a:txBody>
                    <a:bodyPr/>
                    <a:lstStyle/>
                    <a:p>
                      <a:r>
                        <a:rPr lang="de-DE" sz="1500" dirty="0"/>
                        <a:t>2000</a:t>
                      </a:r>
                    </a:p>
                  </a:txBody>
                  <a:tcPr>
                    <a:solidFill>
                      <a:schemeClr val="bg2"/>
                    </a:solidFill>
                  </a:tcPr>
                </a:tc>
                <a:tc>
                  <a:txBody>
                    <a:bodyPr/>
                    <a:lstStyle/>
                    <a:p>
                      <a:r>
                        <a:rPr lang="de-DE" sz="1500" dirty="0"/>
                        <a:t>2100</a:t>
                      </a:r>
                    </a:p>
                  </a:txBody>
                  <a:tcPr>
                    <a:solidFill>
                      <a:schemeClr val="bg2"/>
                    </a:solidFill>
                  </a:tcPr>
                </a:tc>
                <a:tc>
                  <a:txBody>
                    <a:bodyPr/>
                    <a:lstStyle/>
                    <a:p>
                      <a:r>
                        <a:rPr lang="de-DE" sz="1500" dirty="0"/>
                        <a:t>2200</a:t>
                      </a:r>
                    </a:p>
                  </a:txBody>
                  <a:tcPr>
                    <a:solidFill>
                      <a:schemeClr val="bg2"/>
                    </a:solidFill>
                  </a:tcPr>
                </a:tc>
                <a:tc>
                  <a:txBody>
                    <a:bodyPr/>
                    <a:lstStyle/>
                    <a:p>
                      <a:r>
                        <a:rPr lang="de-DE" sz="1500" dirty="0"/>
                        <a:t>2430</a:t>
                      </a:r>
                    </a:p>
                  </a:txBody>
                  <a:tcPr>
                    <a:solidFill>
                      <a:schemeClr val="bg2"/>
                    </a:solidFill>
                  </a:tcPr>
                </a:tc>
                <a:extLst>
                  <a:ext uri="{0D108BD9-81ED-4DB2-BD59-A6C34878D82A}">
                    <a16:rowId xmlns:a16="http://schemas.microsoft.com/office/drawing/2014/main" val="806805054"/>
                  </a:ext>
                </a:extLst>
              </a:tr>
              <a:tr h="305267">
                <a:tc>
                  <a:txBody>
                    <a:bodyPr/>
                    <a:lstStyle/>
                    <a:p>
                      <a:r>
                        <a:rPr lang="de-DE" sz="1500" dirty="0"/>
                        <a:t>EBITDA Margin</a:t>
                      </a:r>
                    </a:p>
                  </a:txBody>
                  <a:tcPr>
                    <a:solidFill>
                      <a:schemeClr val="bg2"/>
                    </a:solidFill>
                  </a:tcPr>
                </a:tc>
                <a:tc>
                  <a:txBody>
                    <a:bodyPr/>
                    <a:lstStyle/>
                    <a:p>
                      <a:r>
                        <a:rPr lang="de-DE" sz="1500" dirty="0"/>
                        <a:t>20%</a:t>
                      </a:r>
                    </a:p>
                  </a:txBody>
                  <a:tcPr>
                    <a:solidFill>
                      <a:schemeClr val="bg2"/>
                    </a:solidFill>
                  </a:tcPr>
                </a:tc>
                <a:tc>
                  <a:txBody>
                    <a:bodyPr/>
                    <a:lstStyle/>
                    <a:p>
                      <a:r>
                        <a:rPr lang="de-DE" sz="1500" dirty="0"/>
                        <a:t>20%</a:t>
                      </a:r>
                    </a:p>
                  </a:txBody>
                  <a:tcPr>
                    <a:solidFill>
                      <a:schemeClr val="bg2"/>
                    </a:solidFill>
                  </a:tcPr>
                </a:tc>
                <a:tc>
                  <a:txBody>
                    <a:bodyPr/>
                    <a:lstStyle/>
                    <a:p>
                      <a:r>
                        <a:rPr lang="de-DE" sz="1500" dirty="0"/>
                        <a:t>19,8%</a:t>
                      </a:r>
                    </a:p>
                  </a:txBody>
                  <a:tcPr>
                    <a:solidFill>
                      <a:schemeClr val="bg2"/>
                    </a:solidFill>
                  </a:tcPr>
                </a:tc>
                <a:tc>
                  <a:txBody>
                    <a:bodyPr/>
                    <a:lstStyle/>
                    <a:p>
                      <a:r>
                        <a:rPr lang="de-DE" sz="1500" dirty="0"/>
                        <a:t>20,4%</a:t>
                      </a:r>
                    </a:p>
                  </a:txBody>
                  <a:tcPr>
                    <a:solidFill>
                      <a:schemeClr val="bg2"/>
                    </a:solidFill>
                  </a:tcPr>
                </a:tc>
                <a:extLst>
                  <a:ext uri="{0D108BD9-81ED-4DB2-BD59-A6C34878D82A}">
                    <a16:rowId xmlns:a16="http://schemas.microsoft.com/office/drawing/2014/main" val="1365918823"/>
                  </a:ext>
                </a:extLst>
              </a:tr>
              <a:tr h="305267">
                <a:tc>
                  <a:txBody>
                    <a:bodyPr/>
                    <a:lstStyle/>
                    <a:p>
                      <a:r>
                        <a:rPr lang="de-DE" sz="1500" dirty="0"/>
                        <a:t>EBIT</a:t>
                      </a:r>
                    </a:p>
                  </a:txBody>
                  <a:tcPr>
                    <a:solidFill>
                      <a:schemeClr val="bg2"/>
                    </a:solidFill>
                  </a:tcPr>
                </a:tc>
                <a:tc>
                  <a:txBody>
                    <a:bodyPr/>
                    <a:lstStyle/>
                    <a:p>
                      <a:r>
                        <a:rPr lang="de-DE" sz="1500" dirty="0"/>
                        <a:t>1500</a:t>
                      </a:r>
                    </a:p>
                  </a:txBody>
                  <a:tcPr>
                    <a:solidFill>
                      <a:schemeClr val="bg2"/>
                    </a:solidFill>
                  </a:tcPr>
                </a:tc>
                <a:tc>
                  <a:txBody>
                    <a:bodyPr/>
                    <a:lstStyle/>
                    <a:p>
                      <a:r>
                        <a:rPr lang="de-DE" sz="1500" dirty="0"/>
                        <a:t>1550</a:t>
                      </a:r>
                    </a:p>
                  </a:txBody>
                  <a:tcPr>
                    <a:solidFill>
                      <a:schemeClr val="bg2"/>
                    </a:solidFill>
                  </a:tcPr>
                </a:tc>
                <a:tc>
                  <a:txBody>
                    <a:bodyPr/>
                    <a:lstStyle/>
                    <a:p>
                      <a:r>
                        <a:rPr lang="de-DE" sz="1500" dirty="0"/>
                        <a:t>1600</a:t>
                      </a:r>
                    </a:p>
                  </a:txBody>
                  <a:tcPr>
                    <a:solidFill>
                      <a:schemeClr val="bg2"/>
                    </a:solidFill>
                  </a:tcPr>
                </a:tc>
                <a:tc>
                  <a:txBody>
                    <a:bodyPr/>
                    <a:lstStyle/>
                    <a:p>
                      <a:r>
                        <a:rPr lang="de-DE" sz="1500" dirty="0"/>
                        <a:t>1650</a:t>
                      </a:r>
                    </a:p>
                  </a:txBody>
                  <a:tcPr>
                    <a:solidFill>
                      <a:schemeClr val="bg2"/>
                    </a:solidFill>
                  </a:tcPr>
                </a:tc>
                <a:extLst>
                  <a:ext uri="{0D108BD9-81ED-4DB2-BD59-A6C34878D82A}">
                    <a16:rowId xmlns:a16="http://schemas.microsoft.com/office/drawing/2014/main" val="2532799431"/>
                  </a:ext>
                </a:extLst>
              </a:tr>
              <a:tr h="305267">
                <a:tc>
                  <a:txBody>
                    <a:bodyPr/>
                    <a:lstStyle/>
                    <a:p>
                      <a:r>
                        <a:rPr lang="de-DE" sz="1500" dirty="0"/>
                        <a:t>Net Income</a:t>
                      </a:r>
                    </a:p>
                  </a:txBody>
                  <a:tcPr>
                    <a:solidFill>
                      <a:schemeClr val="bg2"/>
                    </a:solidFill>
                  </a:tcPr>
                </a:tc>
                <a:tc>
                  <a:txBody>
                    <a:bodyPr/>
                    <a:lstStyle/>
                    <a:p>
                      <a:r>
                        <a:rPr lang="de-DE" sz="1500" dirty="0"/>
                        <a:t>1000</a:t>
                      </a:r>
                    </a:p>
                  </a:txBody>
                  <a:tcPr>
                    <a:solidFill>
                      <a:schemeClr val="bg2"/>
                    </a:solidFill>
                  </a:tcPr>
                </a:tc>
                <a:tc>
                  <a:txBody>
                    <a:bodyPr/>
                    <a:lstStyle/>
                    <a:p>
                      <a:r>
                        <a:rPr lang="de-DE" sz="1500" dirty="0"/>
                        <a:t>1050</a:t>
                      </a:r>
                    </a:p>
                  </a:txBody>
                  <a:tcPr>
                    <a:solidFill>
                      <a:schemeClr val="bg2"/>
                    </a:solidFill>
                  </a:tcPr>
                </a:tc>
                <a:tc>
                  <a:txBody>
                    <a:bodyPr/>
                    <a:lstStyle/>
                    <a:p>
                      <a:r>
                        <a:rPr lang="de-DE" sz="1500" dirty="0"/>
                        <a:t>1100</a:t>
                      </a:r>
                    </a:p>
                  </a:txBody>
                  <a:tcPr>
                    <a:solidFill>
                      <a:schemeClr val="bg2"/>
                    </a:solidFill>
                  </a:tcPr>
                </a:tc>
                <a:tc>
                  <a:txBody>
                    <a:bodyPr/>
                    <a:lstStyle/>
                    <a:p>
                      <a:r>
                        <a:rPr lang="de-DE" sz="1500" dirty="0"/>
                        <a:t>1200</a:t>
                      </a:r>
                    </a:p>
                  </a:txBody>
                  <a:tcPr>
                    <a:solidFill>
                      <a:schemeClr val="bg2"/>
                    </a:solidFill>
                  </a:tcPr>
                </a:tc>
                <a:extLst>
                  <a:ext uri="{0D108BD9-81ED-4DB2-BD59-A6C34878D82A}">
                    <a16:rowId xmlns:a16="http://schemas.microsoft.com/office/drawing/2014/main" val="994066802"/>
                  </a:ext>
                </a:extLst>
              </a:tr>
            </a:tbl>
          </a:graphicData>
        </a:graphic>
      </p:graphicFrame>
      <p:sp>
        <p:nvSpPr>
          <p:cNvPr id="36" name="Textfeld 35">
            <a:extLst>
              <a:ext uri="{FF2B5EF4-FFF2-40B4-BE49-F238E27FC236}">
                <a16:creationId xmlns:a16="http://schemas.microsoft.com/office/drawing/2014/main" id="{60B5DFE8-CDBA-85E9-74BE-0AB831F041C6}"/>
              </a:ext>
            </a:extLst>
          </p:cNvPr>
          <p:cNvSpPr txBox="1"/>
          <p:nvPr/>
        </p:nvSpPr>
        <p:spPr>
          <a:xfrm>
            <a:off x="1986495" y="3935110"/>
            <a:ext cx="1861110" cy="369332"/>
          </a:xfrm>
          <a:prstGeom prst="rect">
            <a:avLst/>
          </a:prstGeom>
          <a:noFill/>
        </p:spPr>
        <p:txBody>
          <a:bodyPr wrap="square" rtlCol="0">
            <a:spAutoFit/>
          </a:bodyPr>
          <a:lstStyle/>
          <a:p>
            <a:r>
              <a:rPr lang="de-DE" b="1" dirty="0">
                <a:solidFill>
                  <a:schemeClr val="bg1"/>
                </a:solidFill>
              </a:rPr>
              <a:t>Management</a:t>
            </a:r>
          </a:p>
        </p:txBody>
      </p:sp>
      <p:sp>
        <p:nvSpPr>
          <p:cNvPr id="37" name="Textfeld 36">
            <a:extLst>
              <a:ext uri="{FF2B5EF4-FFF2-40B4-BE49-F238E27FC236}">
                <a16:creationId xmlns:a16="http://schemas.microsoft.com/office/drawing/2014/main" id="{EFFEF58B-039E-26C0-69D8-DCB42779AE1B}"/>
              </a:ext>
            </a:extLst>
          </p:cNvPr>
          <p:cNvSpPr txBox="1"/>
          <p:nvPr/>
        </p:nvSpPr>
        <p:spPr>
          <a:xfrm>
            <a:off x="342762" y="4494699"/>
            <a:ext cx="5856157" cy="1015663"/>
          </a:xfrm>
          <a:prstGeom prst="rect">
            <a:avLst/>
          </a:prstGeom>
          <a:noFill/>
        </p:spPr>
        <p:txBody>
          <a:bodyPr wrap="square" rtlCol="0">
            <a:spAutoFit/>
          </a:bodyPr>
          <a:lstStyle/>
          <a:p>
            <a:pPr marL="285750" indent="-285750">
              <a:buFont typeface="Arial" panose="020B0604020202020204" pitchFamily="34" charset="0"/>
              <a:buChar char="•"/>
            </a:pPr>
            <a:r>
              <a:rPr lang="de-DE" sz="1500" b="1" dirty="0"/>
              <a:t>Dr. Markus </a:t>
            </a:r>
            <a:r>
              <a:rPr lang="de-DE" sz="1500" b="1" dirty="0" err="1"/>
              <a:t>Steilemann</a:t>
            </a:r>
            <a:r>
              <a:rPr lang="de-DE" sz="1500" b="1" dirty="0"/>
              <a:t>: </a:t>
            </a:r>
            <a:r>
              <a:rPr lang="de-DE" sz="1500" dirty="0"/>
              <a:t>Chief Executive Officer</a:t>
            </a:r>
          </a:p>
          <a:p>
            <a:pPr marL="285750" indent="-285750">
              <a:buFont typeface="Arial" panose="020B0604020202020204" pitchFamily="34" charset="0"/>
              <a:buChar char="•"/>
            </a:pPr>
            <a:r>
              <a:rPr lang="de-DE" sz="1500" b="1" dirty="0" err="1"/>
              <a:t>Sucheta</a:t>
            </a:r>
            <a:r>
              <a:rPr lang="de-DE" sz="1500" b="1" dirty="0"/>
              <a:t> </a:t>
            </a:r>
            <a:r>
              <a:rPr lang="de-DE" sz="1500" b="1" dirty="0" err="1"/>
              <a:t>Govil</a:t>
            </a:r>
            <a:r>
              <a:rPr lang="de-DE" sz="1500" b="1" dirty="0"/>
              <a:t>: </a:t>
            </a:r>
            <a:r>
              <a:rPr lang="de-DE" sz="1500" dirty="0"/>
              <a:t>Chief Commercial Officer</a:t>
            </a:r>
          </a:p>
          <a:p>
            <a:pPr marL="285750" indent="-285750">
              <a:buFont typeface="Arial" panose="020B0604020202020204" pitchFamily="34" charset="0"/>
              <a:buChar char="•"/>
            </a:pPr>
            <a:r>
              <a:rPr lang="de-DE" sz="1500" b="1" dirty="0"/>
              <a:t>Dr. Klaus Schäfer:</a:t>
            </a:r>
            <a:r>
              <a:rPr lang="de-DE" sz="1500" dirty="0"/>
              <a:t> Chief Technology Officer</a:t>
            </a:r>
          </a:p>
          <a:p>
            <a:pPr marL="285750" indent="-285750">
              <a:buFont typeface="Arial" panose="020B0604020202020204" pitchFamily="34" charset="0"/>
              <a:buChar char="•"/>
            </a:pPr>
            <a:r>
              <a:rPr lang="de-DE" sz="1500" b="1" dirty="0"/>
              <a:t>Dr. Thomas Toepfer: </a:t>
            </a:r>
            <a:r>
              <a:rPr lang="de-DE" sz="1500" dirty="0"/>
              <a:t>Chief Financial Officer</a:t>
            </a:r>
          </a:p>
        </p:txBody>
      </p:sp>
      <p:sp>
        <p:nvSpPr>
          <p:cNvPr id="38" name="Textfeld 37">
            <a:extLst>
              <a:ext uri="{FF2B5EF4-FFF2-40B4-BE49-F238E27FC236}">
                <a16:creationId xmlns:a16="http://schemas.microsoft.com/office/drawing/2014/main" id="{7674D821-A4A6-8CF2-5B94-AA3C35E083B6}"/>
              </a:ext>
            </a:extLst>
          </p:cNvPr>
          <p:cNvSpPr txBox="1"/>
          <p:nvPr/>
        </p:nvSpPr>
        <p:spPr>
          <a:xfrm>
            <a:off x="7971384" y="3568807"/>
            <a:ext cx="3532471" cy="369332"/>
          </a:xfrm>
          <a:prstGeom prst="rect">
            <a:avLst/>
          </a:prstGeom>
          <a:noFill/>
        </p:spPr>
        <p:txBody>
          <a:bodyPr wrap="square" rtlCol="0">
            <a:spAutoFit/>
          </a:bodyPr>
          <a:lstStyle/>
          <a:p>
            <a:r>
              <a:rPr lang="de-DE" b="1" dirty="0" err="1">
                <a:solidFill>
                  <a:schemeClr val="bg1"/>
                </a:solidFill>
              </a:rPr>
              <a:t>Product</a:t>
            </a:r>
            <a:r>
              <a:rPr lang="de-DE" b="1" dirty="0">
                <a:solidFill>
                  <a:schemeClr val="bg1"/>
                </a:solidFill>
              </a:rPr>
              <a:t> </a:t>
            </a:r>
            <a:r>
              <a:rPr lang="de-DE" b="1" dirty="0" err="1">
                <a:solidFill>
                  <a:schemeClr val="bg1"/>
                </a:solidFill>
              </a:rPr>
              <a:t>Overview</a:t>
            </a:r>
            <a:endParaRPr lang="de-DE" b="1" dirty="0">
              <a:solidFill>
                <a:schemeClr val="bg1"/>
              </a:solidFill>
            </a:endParaRPr>
          </a:p>
        </p:txBody>
      </p:sp>
      <p:sp>
        <p:nvSpPr>
          <p:cNvPr id="2" name="Textfeld 1">
            <a:extLst>
              <a:ext uri="{FF2B5EF4-FFF2-40B4-BE49-F238E27FC236}">
                <a16:creationId xmlns:a16="http://schemas.microsoft.com/office/drawing/2014/main" id="{D416D57E-4012-337A-9097-2D13B053FF2B}"/>
              </a:ext>
            </a:extLst>
          </p:cNvPr>
          <p:cNvSpPr txBox="1"/>
          <p:nvPr/>
        </p:nvSpPr>
        <p:spPr>
          <a:xfrm>
            <a:off x="6353299" y="3962649"/>
            <a:ext cx="1823852" cy="553998"/>
          </a:xfrm>
          <a:prstGeom prst="rect">
            <a:avLst/>
          </a:prstGeom>
          <a:noFill/>
        </p:spPr>
        <p:txBody>
          <a:bodyPr wrap="square" rtlCol="0">
            <a:spAutoFit/>
          </a:bodyPr>
          <a:lstStyle/>
          <a:p>
            <a:r>
              <a:rPr lang="de-DE" sz="1500" b="1" dirty="0">
                <a:solidFill>
                  <a:schemeClr val="bg1"/>
                </a:solidFill>
              </a:rPr>
              <a:t>Hardware-, and Software Products</a:t>
            </a:r>
            <a:endParaRPr lang="de-DE" sz="1500" dirty="0">
              <a:solidFill>
                <a:schemeClr val="bg1"/>
              </a:solidFill>
            </a:endParaRPr>
          </a:p>
        </p:txBody>
      </p:sp>
      <p:sp>
        <p:nvSpPr>
          <p:cNvPr id="3" name="Textfeld 2">
            <a:extLst>
              <a:ext uri="{FF2B5EF4-FFF2-40B4-BE49-F238E27FC236}">
                <a16:creationId xmlns:a16="http://schemas.microsoft.com/office/drawing/2014/main" id="{D08504A3-F59D-599F-B603-9984A1758766}"/>
              </a:ext>
            </a:extLst>
          </p:cNvPr>
          <p:cNvSpPr txBox="1"/>
          <p:nvPr/>
        </p:nvSpPr>
        <p:spPr>
          <a:xfrm>
            <a:off x="8426533" y="4050527"/>
            <a:ext cx="1721922" cy="323165"/>
          </a:xfrm>
          <a:prstGeom prst="rect">
            <a:avLst/>
          </a:prstGeom>
          <a:noFill/>
        </p:spPr>
        <p:txBody>
          <a:bodyPr wrap="square" rtlCol="0">
            <a:spAutoFit/>
          </a:bodyPr>
          <a:lstStyle/>
          <a:p>
            <a:r>
              <a:rPr lang="en-US" sz="1500" b="1" dirty="0">
                <a:solidFill>
                  <a:schemeClr val="bg1"/>
                </a:solidFill>
              </a:rPr>
              <a:t>IoT solutions</a:t>
            </a:r>
            <a:endParaRPr lang="de-DE" sz="1500" dirty="0">
              <a:solidFill>
                <a:schemeClr val="bg1"/>
              </a:solidFill>
            </a:endParaRPr>
          </a:p>
        </p:txBody>
      </p:sp>
      <p:sp>
        <p:nvSpPr>
          <p:cNvPr id="4" name="Textfeld 3">
            <a:extLst>
              <a:ext uri="{FF2B5EF4-FFF2-40B4-BE49-F238E27FC236}">
                <a16:creationId xmlns:a16="http://schemas.microsoft.com/office/drawing/2014/main" id="{A4B012C9-A399-D523-FE0E-A065EBAA3026}"/>
              </a:ext>
            </a:extLst>
          </p:cNvPr>
          <p:cNvSpPr txBox="1"/>
          <p:nvPr/>
        </p:nvSpPr>
        <p:spPr>
          <a:xfrm>
            <a:off x="10397837" y="4050527"/>
            <a:ext cx="1451401" cy="323165"/>
          </a:xfrm>
          <a:prstGeom prst="rect">
            <a:avLst/>
          </a:prstGeom>
          <a:noFill/>
        </p:spPr>
        <p:txBody>
          <a:bodyPr wrap="square" rtlCol="0">
            <a:spAutoFit/>
          </a:bodyPr>
          <a:lstStyle/>
          <a:p>
            <a:r>
              <a:rPr lang="en-US" sz="1500" b="1" dirty="0">
                <a:solidFill>
                  <a:schemeClr val="bg1"/>
                </a:solidFill>
              </a:rPr>
              <a:t>Services</a:t>
            </a:r>
            <a:endParaRPr lang="de-DE" sz="1500" dirty="0">
              <a:solidFill>
                <a:schemeClr val="bg1"/>
              </a:solidFill>
            </a:endParaRPr>
          </a:p>
        </p:txBody>
      </p:sp>
      <p:sp>
        <p:nvSpPr>
          <p:cNvPr id="8" name="Textfeld 7">
            <a:extLst>
              <a:ext uri="{FF2B5EF4-FFF2-40B4-BE49-F238E27FC236}">
                <a16:creationId xmlns:a16="http://schemas.microsoft.com/office/drawing/2014/main" id="{A0501402-1AF5-0E73-44CE-669F6D332068}"/>
              </a:ext>
            </a:extLst>
          </p:cNvPr>
          <p:cNvSpPr txBox="1"/>
          <p:nvPr/>
        </p:nvSpPr>
        <p:spPr>
          <a:xfrm>
            <a:off x="6477000" y="4507469"/>
            <a:ext cx="1488977" cy="2446824"/>
          </a:xfrm>
          <a:prstGeom prst="rect">
            <a:avLst/>
          </a:prstGeom>
          <a:noFill/>
        </p:spPr>
        <p:txBody>
          <a:bodyPr wrap="square" rtlCol="0">
            <a:spAutoFit/>
          </a:bodyPr>
          <a:lstStyle/>
          <a:p>
            <a:r>
              <a:rPr lang="en-US" sz="1500" dirty="0"/>
              <a:t>Core equipment and software platforms to support customer operations. </a:t>
            </a:r>
            <a:r>
              <a:rPr lang="en-US" sz="1500" b="1" dirty="0"/>
              <a:t>(65% of revenue)</a:t>
            </a:r>
          </a:p>
          <a:p>
            <a:endParaRPr lang="de-DE" dirty="0"/>
          </a:p>
        </p:txBody>
      </p:sp>
      <p:sp>
        <p:nvSpPr>
          <p:cNvPr id="10" name="Textfeld 9">
            <a:extLst>
              <a:ext uri="{FF2B5EF4-FFF2-40B4-BE49-F238E27FC236}">
                <a16:creationId xmlns:a16="http://schemas.microsoft.com/office/drawing/2014/main" id="{7D6735FD-D23B-0C1A-1F07-255E5BBFF917}"/>
              </a:ext>
            </a:extLst>
          </p:cNvPr>
          <p:cNvSpPr txBox="1"/>
          <p:nvPr/>
        </p:nvSpPr>
        <p:spPr>
          <a:xfrm>
            <a:off x="8426534" y="4507469"/>
            <a:ext cx="1361534" cy="1938992"/>
          </a:xfrm>
          <a:prstGeom prst="rect">
            <a:avLst/>
          </a:prstGeom>
          <a:noFill/>
        </p:spPr>
        <p:txBody>
          <a:bodyPr wrap="square">
            <a:spAutoFit/>
          </a:bodyPr>
          <a:lstStyle/>
          <a:p>
            <a:r>
              <a:rPr lang="en-US" sz="1500" dirty="0"/>
              <a:t>Connected devices and analytics solutions for smart environments.</a:t>
            </a:r>
            <a:r>
              <a:rPr lang="en-US" sz="1500" b="1" dirty="0"/>
              <a:t> (20% of revenue)</a:t>
            </a:r>
          </a:p>
        </p:txBody>
      </p:sp>
      <p:sp>
        <p:nvSpPr>
          <p:cNvPr id="12" name="Textfeld 11">
            <a:extLst>
              <a:ext uri="{FF2B5EF4-FFF2-40B4-BE49-F238E27FC236}">
                <a16:creationId xmlns:a16="http://schemas.microsoft.com/office/drawing/2014/main" id="{33D244C3-4272-9A7F-EB6D-E33642D026F2}"/>
              </a:ext>
            </a:extLst>
          </p:cNvPr>
          <p:cNvSpPr txBox="1"/>
          <p:nvPr/>
        </p:nvSpPr>
        <p:spPr>
          <a:xfrm>
            <a:off x="10248625" y="4533023"/>
            <a:ext cx="1721922" cy="1708160"/>
          </a:xfrm>
          <a:prstGeom prst="rect">
            <a:avLst/>
          </a:prstGeom>
          <a:noFill/>
        </p:spPr>
        <p:txBody>
          <a:bodyPr wrap="square">
            <a:spAutoFit/>
          </a:bodyPr>
          <a:lstStyle/>
          <a:p>
            <a:r>
              <a:rPr lang="en-US" sz="1500" dirty="0"/>
              <a:t>Consulting, implementation, and ongoing support for all product lines. </a:t>
            </a:r>
            <a:r>
              <a:rPr lang="en-US" sz="1500" b="1" dirty="0"/>
              <a:t>(15% of revenue)</a:t>
            </a:r>
            <a:endParaRPr lang="de-DE" sz="1500" b="1" dirty="0"/>
          </a:p>
        </p:txBody>
      </p:sp>
    </p:spTree>
    <p:extLst>
      <p:ext uri="{BB962C8B-B14F-4D97-AF65-F5344CB8AC3E}">
        <p14:creationId xmlns:p14="http://schemas.microsoft.com/office/powerpoint/2010/main" val="2882128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3784640-A6BC-C392-E007-3BC778A621AE}"/>
            </a:ext>
          </a:extLst>
        </p:cNvPr>
        <p:cNvGrpSpPr/>
        <p:nvPr/>
      </p:nvGrpSpPr>
      <p:grpSpPr>
        <a:xfrm>
          <a:off x="0" y="0"/>
          <a:ext cx="0" cy="0"/>
          <a:chOff x="0" y="0"/>
          <a:chExt cx="0" cy="0"/>
        </a:xfrm>
      </p:grpSpPr>
      <p:sp>
        <p:nvSpPr>
          <p:cNvPr id="14" name="Rechteck 13">
            <a:extLst>
              <a:ext uri="{FF2B5EF4-FFF2-40B4-BE49-F238E27FC236}">
                <a16:creationId xmlns:a16="http://schemas.microsoft.com/office/drawing/2014/main" id="{FF3CB66A-A83B-01C5-05A7-0CB8BF499695}"/>
              </a:ext>
            </a:extLst>
          </p:cNvPr>
          <p:cNvSpPr/>
          <p:nvPr/>
        </p:nvSpPr>
        <p:spPr>
          <a:xfrm>
            <a:off x="7671460" y="3594481"/>
            <a:ext cx="2538973" cy="369332"/>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Rechteck 11">
            <a:extLst>
              <a:ext uri="{FF2B5EF4-FFF2-40B4-BE49-F238E27FC236}">
                <a16:creationId xmlns:a16="http://schemas.microsoft.com/office/drawing/2014/main" id="{EEA5E289-B2CF-55C5-F124-839DF5AA028C}"/>
              </a:ext>
            </a:extLst>
          </p:cNvPr>
          <p:cNvSpPr/>
          <p:nvPr/>
        </p:nvSpPr>
        <p:spPr>
          <a:xfrm>
            <a:off x="1981567" y="3680154"/>
            <a:ext cx="2566693" cy="369332"/>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Rechteck 10">
            <a:extLst>
              <a:ext uri="{FF2B5EF4-FFF2-40B4-BE49-F238E27FC236}">
                <a16:creationId xmlns:a16="http://schemas.microsoft.com/office/drawing/2014/main" id="{C0CCD4FF-31A5-33DD-FB27-A4BEA8EE17A7}"/>
              </a:ext>
            </a:extLst>
          </p:cNvPr>
          <p:cNvSpPr/>
          <p:nvPr/>
        </p:nvSpPr>
        <p:spPr>
          <a:xfrm>
            <a:off x="8282049" y="863900"/>
            <a:ext cx="1705099" cy="329924"/>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a:extLst>
              <a:ext uri="{FF2B5EF4-FFF2-40B4-BE49-F238E27FC236}">
                <a16:creationId xmlns:a16="http://schemas.microsoft.com/office/drawing/2014/main" id="{FC210591-504B-5619-9C7A-82E829F70CF8}"/>
              </a:ext>
            </a:extLst>
          </p:cNvPr>
          <p:cNvSpPr/>
          <p:nvPr/>
        </p:nvSpPr>
        <p:spPr>
          <a:xfrm>
            <a:off x="1981567" y="863900"/>
            <a:ext cx="2566693" cy="343043"/>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aphicFrame>
        <p:nvGraphicFramePr>
          <p:cNvPr id="7" name="Object 6" hidden="1">
            <a:extLst>
              <a:ext uri="{FF2B5EF4-FFF2-40B4-BE49-F238E27FC236}">
                <a16:creationId xmlns:a16="http://schemas.microsoft.com/office/drawing/2014/main" id="{FF4ADADB-B023-5BE5-C868-8C21D4F62B3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07" imgH="307" progId="TCLayout.ActiveDocument.1">
                  <p:embed/>
                </p:oleObj>
              </mc:Choice>
              <mc:Fallback>
                <p:oleObj name="think-cell Slide" r:id="rId4" imgW="307" imgH="307" progId="TCLayout.ActiveDocument.1">
                  <p:embed/>
                  <p:pic>
                    <p:nvPicPr>
                      <p:cNvPr id="7" name="Object 6" hidden="1">
                        <a:extLst>
                          <a:ext uri="{FF2B5EF4-FFF2-40B4-BE49-F238E27FC236}">
                            <a16:creationId xmlns:a16="http://schemas.microsoft.com/office/drawing/2014/main" id="{ADFC75AB-F805-DCE6-F8C0-3A45116EFBF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FC1BEAB1-2CBF-8B70-CA64-D51E18AF9001}"/>
              </a:ext>
            </a:extLst>
          </p:cNvPr>
          <p:cNvSpPr>
            <a:spLocks noGrp="1"/>
          </p:cNvSpPr>
          <p:nvPr>
            <p:ph type="title"/>
          </p:nvPr>
        </p:nvSpPr>
        <p:spPr>
          <a:xfrm>
            <a:off x="342762" y="157821"/>
            <a:ext cx="11506476" cy="453851"/>
          </a:xfrm>
        </p:spPr>
        <p:txBody>
          <a:bodyPr vert="horz"/>
          <a:lstStyle/>
          <a:p>
            <a:r>
              <a:rPr lang="de-DE" sz="2500" b="1" dirty="0">
                <a:latin typeface="+mj-lt"/>
                <a:ea typeface="Roboto" panose="020F0502020204030204" pitchFamily="2" charset="0"/>
                <a:cs typeface="Roboto" panose="020F0502020204030204" pitchFamily="2" charset="0"/>
              </a:rPr>
              <a:t>Teaser</a:t>
            </a:r>
          </a:p>
        </p:txBody>
      </p:sp>
      <p:cxnSp>
        <p:nvCxnSpPr>
          <p:cNvPr id="42" name="Gerader Verbinder 34">
            <a:extLst>
              <a:ext uri="{FF2B5EF4-FFF2-40B4-BE49-F238E27FC236}">
                <a16:creationId xmlns:a16="http://schemas.microsoft.com/office/drawing/2014/main" id="{BCA0DD23-76D7-D3C5-2AAB-CD4255921F41}"/>
              </a:ext>
            </a:extLst>
          </p:cNvPr>
          <p:cNvCxnSpPr>
            <a:cxnSpLocks/>
          </p:cNvCxnSpPr>
          <p:nvPr/>
        </p:nvCxnSpPr>
        <p:spPr>
          <a:xfrm>
            <a:off x="343524" y="647726"/>
            <a:ext cx="115164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Textfeld 5">
            <a:extLst>
              <a:ext uri="{FF2B5EF4-FFF2-40B4-BE49-F238E27FC236}">
                <a16:creationId xmlns:a16="http://schemas.microsoft.com/office/drawing/2014/main" id="{2D0D5360-BD94-4E3A-338F-988881EBE604}"/>
              </a:ext>
            </a:extLst>
          </p:cNvPr>
          <p:cNvSpPr txBox="1"/>
          <p:nvPr/>
        </p:nvSpPr>
        <p:spPr>
          <a:xfrm>
            <a:off x="342762" y="1193824"/>
            <a:ext cx="6010537" cy="2400657"/>
          </a:xfrm>
          <a:prstGeom prst="rect">
            <a:avLst/>
          </a:prstGeom>
          <a:noFill/>
        </p:spPr>
        <p:txBody>
          <a:bodyPr wrap="square" rtlCol="0">
            <a:spAutoFit/>
          </a:bodyPr>
          <a:lstStyle/>
          <a:p>
            <a:pPr marL="285750" indent="-285750">
              <a:buFont typeface="Arial" panose="020B0604020202020204" pitchFamily="34" charset="0"/>
              <a:buChar char="•"/>
            </a:pPr>
            <a:r>
              <a:rPr lang="en-US" sz="1500" dirty="0"/>
              <a:t>Development and distribution of innovative solutions for energy data acquisition and IoT applications, focusing on data loggers, multi-protocol gateways, and LoRa base stations</a:t>
            </a:r>
          </a:p>
          <a:p>
            <a:pPr marL="285750" indent="-285750">
              <a:buFont typeface="Arial" panose="020B0604020202020204" pitchFamily="34" charset="0"/>
              <a:buChar char="•"/>
            </a:pPr>
            <a:r>
              <a:rPr lang="en-US" sz="1500" dirty="0"/>
              <a:t>Self-sufficient, cloud-independent networks for applications ranging from small properties and industrial parks to smart city use cases</a:t>
            </a:r>
          </a:p>
          <a:p>
            <a:pPr marL="285750" indent="-285750">
              <a:buFont typeface="Arial" panose="020B0604020202020204" pitchFamily="34" charset="0"/>
              <a:buChar char="•"/>
            </a:pPr>
            <a:r>
              <a:rPr lang="en-US" sz="1500" dirty="0"/>
              <a:t>Scalable, technology-driven business model with customized hardware/firmware solutions and project-related engineering services</a:t>
            </a:r>
            <a:endParaRPr lang="de-DE" sz="1500" dirty="0"/>
          </a:p>
        </p:txBody>
      </p:sp>
      <p:sp>
        <p:nvSpPr>
          <p:cNvPr id="13" name="Textfeld 12">
            <a:extLst>
              <a:ext uri="{FF2B5EF4-FFF2-40B4-BE49-F238E27FC236}">
                <a16:creationId xmlns:a16="http://schemas.microsoft.com/office/drawing/2014/main" id="{856D3EF1-2237-2239-C684-90F20E42BF6C}"/>
              </a:ext>
            </a:extLst>
          </p:cNvPr>
          <p:cNvSpPr txBox="1"/>
          <p:nvPr/>
        </p:nvSpPr>
        <p:spPr>
          <a:xfrm>
            <a:off x="1981567" y="870658"/>
            <a:ext cx="3005269" cy="646331"/>
          </a:xfrm>
          <a:prstGeom prst="rect">
            <a:avLst/>
          </a:prstGeom>
          <a:noFill/>
        </p:spPr>
        <p:txBody>
          <a:bodyPr wrap="square" rtlCol="0">
            <a:spAutoFit/>
          </a:bodyPr>
          <a:lstStyle/>
          <a:p>
            <a:r>
              <a:rPr lang="de-DE" b="1" dirty="0">
                <a:solidFill>
                  <a:schemeClr val="bg1"/>
                </a:solidFill>
              </a:rPr>
              <a:t>Company Description</a:t>
            </a:r>
          </a:p>
          <a:p>
            <a:endParaRPr lang="de-DE" b="1" dirty="0"/>
          </a:p>
        </p:txBody>
      </p:sp>
      <p:sp>
        <p:nvSpPr>
          <p:cNvPr id="27" name="Textfeld 26">
            <a:extLst>
              <a:ext uri="{FF2B5EF4-FFF2-40B4-BE49-F238E27FC236}">
                <a16:creationId xmlns:a16="http://schemas.microsoft.com/office/drawing/2014/main" id="{DA2FA993-1FCC-D3BB-D753-1AC46CD81D49}"/>
              </a:ext>
            </a:extLst>
          </p:cNvPr>
          <p:cNvSpPr txBox="1"/>
          <p:nvPr/>
        </p:nvSpPr>
        <p:spPr>
          <a:xfrm>
            <a:off x="8282049" y="863900"/>
            <a:ext cx="1805039" cy="369332"/>
          </a:xfrm>
          <a:prstGeom prst="rect">
            <a:avLst/>
          </a:prstGeom>
          <a:noFill/>
        </p:spPr>
        <p:txBody>
          <a:bodyPr wrap="square" rtlCol="0">
            <a:spAutoFit/>
          </a:bodyPr>
          <a:lstStyle/>
          <a:p>
            <a:r>
              <a:rPr lang="de-DE" b="1" dirty="0">
                <a:solidFill>
                  <a:schemeClr val="bg1"/>
                </a:solidFill>
              </a:rPr>
              <a:t>Key </a:t>
            </a:r>
            <a:r>
              <a:rPr lang="de-DE" b="1" dirty="0" err="1">
                <a:solidFill>
                  <a:schemeClr val="bg1"/>
                </a:solidFill>
              </a:rPr>
              <a:t>Financials</a:t>
            </a:r>
            <a:endParaRPr lang="de-DE" b="1" dirty="0">
              <a:solidFill>
                <a:schemeClr val="bg1"/>
              </a:solidFill>
            </a:endParaRPr>
          </a:p>
        </p:txBody>
      </p:sp>
      <p:graphicFrame>
        <p:nvGraphicFramePr>
          <p:cNvPr id="2" name="Tabelle 1">
            <a:extLst>
              <a:ext uri="{FF2B5EF4-FFF2-40B4-BE49-F238E27FC236}">
                <a16:creationId xmlns:a16="http://schemas.microsoft.com/office/drawing/2014/main" id="{59F48EF7-FD6E-8D72-C812-12B5BB9683D0}"/>
              </a:ext>
            </a:extLst>
          </p:cNvPr>
          <p:cNvGraphicFramePr>
            <a:graphicFrameLocks noGrp="1"/>
          </p:cNvGraphicFramePr>
          <p:nvPr>
            <p:extLst>
              <p:ext uri="{D42A27DB-BD31-4B8C-83A1-F6EECF244321}">
                <p14:modId xmlns:p14="http://schemas.microsoft.com/office/powerpoint/2010/main" val="2196126279"/>
              </p:ext>
            </p:extLst>
          </p:nvPr>
        </p:nvGraphicFramePr>
        <p:xfrm>
          <a:off x="6477000" y="1233232"/>
          <a:ext cx="5554580" cy="2201153"/>
        </p:xfrm>
        <a:graphic>
          <a:graphicData uri="http://schemas.openxmlformats.org/drawingml/2006/table">
            <a:tbl>
              <a:tblPr firstRow="1" bandRow="1">
                <a:tableStyleId>{5C22544A-7EE6-4342-B048-85BDC9FD1C3A}</a:tableStyleId>
              </a:tblPr>
              <a:tblGrid>
                <a:gridCol w="1388645">
                  <a:extLst>
                    <a:ext uri="{9D8B030D-6E8A-4147-A177-3AD203B41FA5}">
                      <a16:colId xmlns:a16="http://schemas.microsoft.com/office/drawing/2014/main" val="1781056599"/>
                    </a:ext>
                  </a:extLst>
                </a:gridCol>
                <a:gridCol w="1388645">
                  <a:extLst>
                    <a:ext uri="{9D8B030D-6E8A-4147-A177-3AD203B41FA5}">
                      <a16:colId xmlns:a16="http://schemas.microsoft.com/office/drawing/2014/main" val="2380045315"/>
                    </a:ext>
                  </a:extLst>
                </a:gridCol>
                <a:gridCol w="1388645">
                  <a:extLst>
                    <a:ext uri="{9D8B030D-6E8A-4147-A177-3AD203B41FA5}">
                      <a16:colId xmlns:a16="http://schemas.microsoft.com/office/drawing/2014/main" val="26807663"/>
                    </a:ext>
                  </a:extLst>
                </a:gridCol>
                <a:gridCol w="1388645">
                  <a:extLst>
                    <a:ext uri="{9D8B030D-6E8A-4147-A177-3AD203B41FA5}">
                      <a16:colId xmlns:a16="http://schemas.microsoft.com/office/drawing/2014/main" val="3625231280"/>
                    </a:ext>
                  </a:extLst>
                </a:gridCol>
              </a:tblGrid>
              <a:tr h="411396">
                <a:tc>
                  <a:txBody>
                    <a:bodyPr/>
                    <a:lstStyle/>
                    <a:p>
                      <a:r>
                        <a:rPr lang="de-DE" sz="1500" dirty="0"/>
                        <a:t>In </a:t>
                      </a:r>
                      <a:r>
                        <a:rPr lang="de-DE" sz="1500" dirty="0" err="1"/>
                        <a:t>Mio</a:t>
                      </a:r>
                      <a:endParaRPr lang="de-DE" sz="1500" dirty="0"/>
                    </a:p>
                  </a:txBody>
                  <a:tcPr/>
                </a:tc>
                <a:tc>
                  <a:txBody>
                    <a:bodyPr/>
                    <a:lstStyle/>
                    <a:p>
                      <a:r>
                        <a:rPr lang="de-DE" sz="1500" dirty="0"/>
                        <a:t>2022</a:t>
                      </a:r>
                    </a:p>
                  </a:txBody>
                  <a:tcPr/>
                </a:tc>
                <a:tc>
                  <a:txBody>
                    <a:bodyPr/>
                    <a:lstStyle/>
                    <a:p>
                      <a:r>
                        <a:rPr lang="de-DE" sz="1500" dirty="0"/>
                        <a:t>2023</a:t>
                      </a:r>
                    </a:p>
                  </a:txBody>
                  <a:tcPr/>
                </a:tc>
                <a:tc>
                  <a:txBody>
                    <a:bodyPr/>
                    <a:lstStyle/>
                    <a:p>
                      <a:r>
                        <a:rPr lang="de-DE" sz="1500" dirty="0"/>
                        <a:t>2024</a:t>
                      </a:r>
                    </a:p>
                  </a:txBody>
                  <a:tcPr/>
                </a:tc>
                <a:extLst>
                  <a:ext uri="{0D108BD9-81ED-4DB2-BD59-A6C34878D82A}">
                    <a16:rowId xmlns:a16="http://schemas.microsoft.com/office/drawing/2014/main" val="3278444709"/>
                  </a:ext>
                </a:extLst>
              </a:tr>
              <a:tr h="411396">
                <a:tc>
                  <a:txBody>
                    <a:bodyPr/>
                    <a:lstStyle/>
                    <a:p>
                      <a:r>
                        <a:rPr lang="de-DE" sz="1500" dirty="0"/>
                        <a:t>Sales</a:t>
                      </a:r>
                    </a:p>
                  </a:txBody>
                  <a:tcPr>
                    <a:solidFill>
                      <a:schemeClr val="bg2"/>
                    </a:solidFill>
                  </a:tcPr>
                </a:tc>
                <a:tc>
                  <a:txBody>
                    <a:bodyPr/>
                    <a:lstStyle/>
                    <a:p>
                      <a:r>
                        <a:rPr lang="de-DE" sz="1500" dirty="0"/>
                        <a:t>10500</a:t>
                      </a:r>
                    </a:p>
                  </a:txBody>
                  <a:tcPr>
                    <a:solidFill>
                      <a:schemeClr val="bg2"/>
                    </a:solidFill>
                  </a:tcPr>
                </a:tc>
                <a:tc>
                  <a:txBody>
                    <a:bodyPr/>
                    <a:lstStyle/>
                    <a:p>
                      <a:r>
                        <a:rPr lang="de-DE" sz="1500" dirty="0"/>
                        <a:t>11100</a:t>
                      </a:r>
                    </a:p>
                  </a:txBody>
                  <a:tcPr>
                    <a:solidFill>
                      <a:schemeClr val="bg2"/>
                    </a:solidFill>
                  </a:tcPr>
                </a:tc>
                <a:tc>
                  <a:txBody>
                    <a:bodyPr/>
                    <a:lstStyle/>
                    <a:p>
                      <a:r>
                        <a:rPr lang="de-DE" sz="1500" dirty="0"/>
                        <a:t>11900</a:t>
                      </a:r>
                    </a:p>
                  </a:txBody>
                  <a:tcPr>
                    <a:solidFill>
                      <a:schemeClr val="bg2"/>
                    </a:solidFill>
                  </a:tcPr>
                </a:tc>
                <a:extLst>
                  <a:ext uri="{0D108BD9-81ED-4DB2-BD59-A6C34878D82A}">
                    <a16:rowId xmlns:a16="http://schemas.microsoft.com/office/drawing/2014/main" val="776204752"/>
                  </a:ext>
                </a:extLst>
              </a:tr>
              <a:tr h="411396">
                <a:tc>
                  <a:txBody>
                    <a:bodyPr/>
                    <a:lstStyle/>
                    <a:p>
                      <a:r>
                        <a:rPr lang="de-DE" sz="1500" dirty="0"/>
                        <a:t>EBITDA</a:t>
                      </a:r>
                    </a:p>
                  </a:txBody>
                  <a:tcPr>
                    <a:solidFill>
                      <a:schemeClr val="bg2"/>
                    </a:solidFill>
                  </a:tcPr>
                </a:tc>
                <a:tc>
                  <a:txBody>
                    <a:bodyPr/>
                    <a:lstStyle/>
                    <a:p>
                      <a:r>
                        <a:rPr lang="de-DE" sz="1500" dirty="0"/>
                        <a:t>2100</a:t>
                      </a:r>
                    </a:p>
                  </a:txBody>
                  <a:tcPr>
                    <a:solidFill>
                      <a:schemeClr val="bg2"/>
                    </a:solidFill>
                  </a:tcPr>
                </a:tc>
                <a:tc>
                  <a:txBody>
                    <a:bodyPr/>
                    <a:lstStyle/>
                    <a:p>
                      <a:r>
                        <a:rPr lang="de-DE" sz="1500" dirty="0"/>
                        <a:t>2200</a:t>
                      </a:r>
                    </a:p>
                  </a:txBody>
                  <a:tcPr>
                    <a:solidFill>
                      <a:schemeClr val="bg2"/>
                    </a:solidFill>
                  </a:tcPr>
                </a:tc>
                <a:tc>
                  <a:txBody>
                    <a:bodyPr/>
                    <a:lstStyle/>
                    <a:p>
                      <a:r>
                        <a:rPr lang="de-DE" sz="1500" dirty="0"/>
                        <a:t>2430</a:t>
                      </a:r>
                    </a:p>
                  </a:txBody>
                  <a:tcPr>
                    <a:solidFill>
                      <a:schemeClr val="bg2"/>
                    </a:solidFill>
                  </a:tcPr>
                </a:tc>
                <a:extLst>
                  <a:ext uri="{0D108BD9-81ED-4DB2-BD59-A6C34878D82A}">
                    <a16:rowId xmlns:a16="http://schemas.microsoft.com/office/drawing/2014/main" val="1366151046"/>
                  </a:ext>
                </a:extLst>
              </a:tr>
              <a:tr h="555569">
                <a:tc>
                  <a:txBody>
                    <a:bodyPr/>
                    <a:lstStyle/>
                    <a:p>
                      <a:r>
                        <a:rPr lang="de-DE" sz="1500" dirty="0"/>
                        <a:t>EBITDA Margin</a:t>
                      </a:r>
                    </a:p>
                  </a:txBody>
                  <a:tcPr>
                    <a:solidFill>
                      <a:schemeClr val="bg2"/>
                    </a:solidFill>
                  </a:tcPr>
                </a:tc>
                <a:tc>
                  <a:txBody>
                    <a:bodyPr/>
                    <a:lstStyle/>
                    <a:p>
                      <a:r>
                        <a:rPr lang="de-DE" sz="1500" dirty="0"/>
                        <a:t>20%</a:t>
                      </a:r>
                    </a:p>
                  </a:txBody>
                  <a:tcPr>
                    <a:solidFill>
                      <a:schemeClr val="bg2"/>
                    </a:solidFill>
                  </a:tcPr>
                </a:tc>
                <a:tc>
                  <a:txBody>
                    <a:bodyPr/>
                    <a:lstStyle/>
                    <a:p>
                      <a:r>
                        <a:rPr lang="de-DE" sz="1500" dirty="0"/>
                        <a:t>19,8%</a:t>
                      </a:r>
                    </a:p>
                  </a:txBody>
                  <a:tcPr>
                    <a:solidFill>
                      <a:schemeClr val="bg2"/>
                    </a:solidFill>
                  </a:tcPr>
                </a:tc>
                <a:tc>
                  <a:txBody>
                    <a:bodyPr/>
                    <a:lstStyle/>
                    <a:p>
                      <a:r>
                        <a:rPr lang="de-DE" sz="1500" dirty="0"/>
                        <a:t>20,4%</a:t>
                      </a:r>
                    </a:p>
                  </a:txBody>
                  <a:tcPr>
                    <a:solidFill>
                      <a:schemeClr val="bg2"/>
                    </a:solidFill>
                  </a:tcPr>
                </a:tc>
                <a:extLst>
                  <a:ext uri="{0D108BD9-81ED-4DB2-BD59-A6C34878D82A}">
                    <a16:rowId xmlns:a16="http://schemas.microsoft.com/office/drawing/2014/main" val="608181640"/>
                  </a:ext>
                </a:extLst>
              </a:tr>
              <a:tr h="411396">
                <a:tc>
                  <a:txBody>
                    <a:bodyPr/>
                    <a:lstStyle/>
                    <a:p>
                      <a:r>
                        <a:rPr lang="de-DE" sz="1500" dirty="0" err="1"/>
                        <a:t>YoY</a:t>
                      </a:r>
                      <a:endParaRPr lang="de-DE" sz="1500" dirty="0"/>
                    </a:p>
                  </a:txBody>
                  <a:tcPr>
                    <a:solidFill>
                      <a:schemeClr val="bg2"/>
                    </a:solidFill>
                  </a:tcPr>
                </a:tc>
                <a:tc>
                  <a:txBody>
                    <a:bodyPr/>
                    <a:lstStyle/>
                    <a:p>
                      <a:r>
                        <a:rPr lang="de-DE" sz="1500" dirty="0"/>
                        <a:t>5%</a:t>
                      </a:r>
                    </a:p>
                  </a:txBody>
                  <a:tcPr>
                    <a:solidFill>
                      <a:schemeClr val="bg2"/>
                    </a:solidFill>
                  </a:tcPr>
                </a:tc>
                <a:tc>
                  <a:txBody>
                    <a:bodyPr/>
                    <a:lstStyle/>
                    <a:p>
                      <a:r>
                        <a:rPr lang="de-DE" sz="1500" dirty="0"/>
                        <a:t>5,7%</a:t>
                      </a:r>
                    </a:p>
                  </a:txBody>
                  <a:tcPr>
                    <a:solidFill>
                      <a:schemeClr val="bg2"/>
                    </a:solidFill>
                  </a:tcPr>
                </a:tc>
                <a:tc>
                  <a:txBody>
                    <a:bodyPr/>
                    <a:lstStyle/>
                    <a:p>
                      <a:r>
                        <a:rPr lang="de-DE" sz="1500" dirty="0"/>
                        <a:t>7,2%</a:t>
                      </a:r>
                    </a:p>
                  </a:txBody>
                  <a:tcPr>
                    <a:solidFill>
                      <a:schemeClr val="bg2"/>
                    </a:solidFill>
                  </a:tcPr>
                </a:tc>
                <a:extLst>
                  <a:ext uri="{0D108BD9-81ED-4DB2-BD59-A6C34878D82A}">
                    <a16:rowId xmlns:a16="http://schemas.microsoft.com/office/drawing/2014/main" val="2926473421"/>
                  </a:ext>
                </a:extLst>
              </a:tr>
            </a:tbl>
          </a:graphicData>
        </a:graphic>
      </p:graphicFrame>
      <p:sp>
        <p:nvSpPr>
          <p:cNvPr id="3" name="Textfeld 2">
            <a:extLst>
              <a:ext uri="{FF2B5EF4-FFF2-40B4-BE49-F238E27FC236}">
                <a16:creationId xmlns:a16="http://schemas.microsoft.com/office/drawing/2014/main" id="{F3098E05-CD80-EA24-F850-9E5691F5E847}"/>
              </a:ext>
            </a:extLst>
          </p:cNvPr>
          <p:cNvSpPr txBox="1"/>
          <p:nvPr/>
        </p:nvSpPr>
        <p:spPr>
          <a:xfrm>
            <a:off x="1981567" y="3682935"/>
            <a:ext cx="2709186" cy="369332"/>
          </a:xfrm>
          <a:prstGeom prst="rect">
            <a:avLst/>
          </a:prstGeom>
          <a:noFill/>
        </p:spPr>
        <p:txBody>
          <a:bodyPr wrap="square" rtlCol="0">
            <a:spAutoFit/>
          </a:bodyPr>
          <a:lstStyle/>
          <a:p>
            <a:r>
              <a:rPr lang="de-DE" b="1" dirty="0">
                <a:solidFill>
                  <a:schemeClr val="bg1"/>
                </a:solidFill>
              </a:rPr>
              <a:t>Investment-Highlights</a:t>
            </a:r>
          </a:p>
        </p:txBody>
      </p:sp>
      <p:sp>
        <p:nvSpPr>
          <p:cNvPr id="4" name="Textfeld 3">
            <a:extLst>
              <a:ext uri="{FF2B5EF4-FFF2-40B4-BE49-F238E27FC236}">
                <a16:creationId xmlns:a16="http://schemas.microsoft.com/office/drawing/2014/main" id="{EE2EA2B1-98F0-D701-5DFC-971B311529CC}"/>
              </a:ext>
            </a:extLst>
          </p:cNvPr>
          <p:cNvSpPr txBox="1"/>
          <p:nvPr/>
        </p:nvSpPr>
        <p:spPr>
          <a:xfrm>
            <a:off x="7643742" y="3594481"/>
            <a:ext cx="5354234" cy="369332"/>
          </a:xfrm>
          <a:prstGeom prst="rect">
            <a:avLst/>
          </a:prstGeom>
          <a:noFill/>
        </p:spPr>
        <p:txBody>
          <a:bodyPr wrap="square" rtlCol="0">
            <a:spAutoFit/>
          </a:bodyPr>
          <a:lstStyle/>
          <a:p>
            <a:r>
              <a:rPr lang="de-DE" b="1" dirty="0">
                <a:solidFill>
                  <a:schemeClr val="bg1"/>
                </a:solidFill>
              </a:rPr>
              <a:t>Transaction </a:t>
            </a:r>
            <a:r>
              <a:rPr lang="de-DE" b="1" dirty="0" err="1">
                <a:solidFill>
                  <a:schemeClr val="bg1"/>
                </a:solidFill>
              </a:rPr>
              <a:t>Overview</a:t>
            </a:r>
            <a:endParaRPr lang="de-DE" b="1" dirty="0">
              <a:solidFill>
                <a:schemeClr val="bg1"/>
              </a:solidFill>
            </a:endParaRPr>
          </a:p>
        </p:txBody>
      </p:sp>
      <p:sp>
        <p:nvSpPr>
          <p:cNvPr id="9" name="Textfeld 8">
            <a:extLst>
              <a:ext uri="{FF2B5EF4-FFF2-40B4-BE49-F238E27FC236}">
                <a16:creationId xmlns:a16="http://schemas.microsoft.com/office/drawing/2014/main" id="{09E208C1-918E-ACE0-C45C-096115836711}"/>
              </a:ext>
            </a:extLst>
          </p:cNvPr>
          <p:cNvSpPr txBox="1"/>
          <p:nvPr/>
        </p:nvSpPr>
        <p:spPr>
          <a:xfrm>
            <a:off x="6477000" y="4368850"/>
            <a:ext cx="5554580" cy="1477328"/>
          </a:xfrm>
          <a:prstGeom prst="rect">
            <a:avLst/>
          </a:prstGeom>
          <a:noFill/>
        </p:spPr>
        <p:txBody>
          <a:bodyPr wrap="square" rtlCol="0">
            <a:spAutoFit/>
          </a:bodyPr>
          <a:lstStyle/>
          <a:p>
            <a:pPr marL="285750" indent="-285750">
              <a:buFont typeface="Arial" panose="020B0604020202020204" pitchFamily="34" charset="0"/>
              <a:buChar char="•"/>
            </a:pPr>
            <a:r>
              <a:rPr lang="en-US" sz="1500" b="1" dirty="0"/>
              <a:t>Seller: </a:t>
            </a:r>
            <a:r>
              <a:rPr lang="en-US" sz="1500" dirty="0"/>
              <a:t>Owner sells 100% of shares</a:t>
            </a:r>
          </a:p>
          <a:p>
            <a:pPr marL="285750" indent="-285750">
              <a:buFont typeface="Arial" panose="020B0604020202020204" pitchFamily="34" charset="0"/>
              <a:buChar char="•"/>
            </a:pPr>
            <a:r>
              <a:rPr lang="en-US" sz="1500" b="1" dirty="0"/>
              <a:t>Transaction: </a:t>
            </a:r>
            <a:r>
              <a:rPr lang="en-US" sz="1500" dirty="0"/>
              <a:t>100% equity sale, management retains 10%</a:t>
            </a:r>
          </a:p>
          <a:p>
            <a:pPr marL="285750" indent="-285750">
              <a:buFont typeface="Arial" panose="020B0604020202020204" pitchFamily="34" charset="0"/>
              <a:buChar char="•"/>
            </a:pPr>
            <a:r>
              <a:rPr lang="en-US" sz="1500" b="1" dirty="0"/>
              <a:t>Motive: </a:t>
            </a:r>
            <a:r>
              <a:rPr lang="en-US" sz="1500" dirty="0"/>
              <a:t>Age-related reasons</a:t>
            </a:r>
          </a:p>
          <a:p>
            <a:pPr marL="285750" indent="-285750">
              <a:buFont typeface="Arial" panose="020B0604020202020204" pitchFamily="34" charset="0"/>
              <a:buChar char="•"/>
            </a:pPr>
            <a:r>
              <a:rPr lang="en-US" sz="1500" b="1" dirty="0"/>
              <a:t>Process: </a:t>
            </a:r>
            <a:r>
              <a:rPr lang="en-US" sz="1500" dirty="0"/>
              <a:t>Teaser circulated Jan 2026, IM expected Feb 2026, final bids Mar 2026</a:t>
            </a:r>
            <a:endParaRPr lang="de-DE" sz="1500" dirty="0"/>
          </a:p>
        </p:txBody>
      </p:sp>
      <p:pic>
        <p:nvPicPr>
          <p:cNvPr id="15" name="Grafik 14" descr="Stability Icon Grafik Von aimagenarium · Creative Fabrica">
            <a:extLst>
              <a:ext uri="{FF2B5EF4-FFF2-40B4-BE49-F238E27FC236}">
                <a16:creationId xmlns:a16="http://schemas.microsoft.com/office/drawing/2014/main" id="{D8F0BE30-74C4-CF64-F90C-D3940D8ACDF1}"/>
              </a:ext>
            </a:extLst>
          </p:cNvPr>
          <p:cNvPicPr>
            <a:picLocks noChangeAspect="1"/>
          </p:cNvPicPr>
          <p:nvPr/>
        </p:nvPicPr>
        <p:blipFill>
          <a:blip r:embed="rId6"/>
          <a:stretch>
            <a:fillRect/>
          </a:stretch>
        </p:blipFill>
        <p:spPr>
          <a:xfrm>
            <a:off x="342762" y="4034628"/>
            <a:ext cx="1496312" cy="900996"/>
          </a:xfrm>
          <a:prstGeom prst="rect">
            <a:avLst/>
          </a:prstGeom>
        </p:spPr>
      </p:pic>
      <p:sp>
        <p:nvSpPr>
          <p:cNvPr id="17" name="Textfeld 16">
            <a:extLst>
              <a:ext uri="{FF2B5EF4-FFF2-40B4-BE49-F238E27FC236}">
                <a16:creationId xmlns:a16="http://schemas.microsoft.com/office/drawing/2014/main" id="{5CC757D4-A6A4-EFD4-6A59-A45846DA6236}"/>
              </a:ext>
            </a:extLst>
          </p:cNvPr>
          <p:cNvSpPr txBox="1"/>
          <p:nvPr/>
        </p:nvSpPr>
        <p:spPr>
          <a:xfrm>
            <a:off x="165127" y="4971679"/>
            <a:ext cx="1972926" cy="2031325"/>
          </a:xfrm>
          <a:prstGeom prst="rect">
            <a:avLst/>
          </a:prstGeom>
          <a:noFill/>
        </p:spPr>
        <p:txBody>
          <a:bodyPr wrap="square" rtlCol="0">
            <a:spAutoFit/>
          </a:bodyPr>
          <a:lstStyle/>
          <a:p>
            <a:r>
              <a:rPr lang="en-US" dirty="0"/>
              <a:t>Robust and broadly diversified business model with a stable revenue base</a:t>
            </a:r>
          </a:p>
          <a:p>
            <a:endParaRPr lang="de-DE" dirty="0"/>
          </a:p>
        </p:txBody>
      </p:sp>
      <p:pic>
        <p:nvPicPr>
          <p:cNvPr id="1026" name="Picture 2" descr="Efficiency vector icon symbol. Creative sign from quality ...">
            <a:extLst>
              <a:ext uri="{FF2B5EF4-FFF2-40B4-BE49-F238E27FC236}">
                <a16:creationId xmlns:a16="http://schemas.microsoft.com/office/drawing/2014/main" id="{9DB37A14-58F1-99D9-3981-B6A0EA59883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36321" y="4058694"/>
            <a:ext cx="1163931" cy="900996"/>
          </a:xfrm>
          <a:prstGeom prst="rect">
            <a:avLst/>
          </a:prstGeom>
          <a:noFill/>
          <a:extLst>
            <a:ext uri="{909E8E84-426E-40DD-AFC4-6F175D3DCCD1}">
              <a14:hiddenFill xmlns:a14="http://schemas.microsoft.com/office/drawing/2010/main">
                <a:solidFill>
                  <a:srgbClr val="FFFFFF"/>
                </a:solidFill>
              </a14:hiddenFill>
            </a:ext>
          </a:extLst>
        </p:spPr>
      </p:pic>
      <p:sp>
        <p:nvSpPr>
          <p:cNvPr id="18" name="Textfeld 17">
            <a:extLst>
              <a:ext uri="{FF2B5EF4-FFF2-40B4-BE49-F238E27FC236}">
                <a16:creationId xmlns:a16="http://schemas.microsoft.com/office/drawing/2014/main" id="{AC132665-3171-860A-290A-1C81712C59F0}"/>
              </a:ext>
            </a:extLst>
          </p:cNvPr>
          <p:cNvSpPr txBox="1"/>
          <p:nvPr/>
        </p:nvSpPr>
        <p:spPr>
          <a:xfrm>
            <a:off x="2237692" y="4910278"/>
            <a:ext cx="2054442" cy="2308324"/>
          </a:xfrm>
          <a:prstGeom prst="rect">
            <a:avLst/>
          </a:prstGeom>
          <a:noFill/>
        </p:spPr>
        <p:txBody>
          <a:bodyPr wrap="square" rtlCol="0">
            <a:spAutoFit/>
          </a:bodyPr>
          <a:lstStyle/>
          <a:p>
            <a:r>
              <a:rPr lang="en-US" dirty="0"/>
              <a:t>Potential for margin improvement through cost optimization and operational leverage</a:t>
            </a:r>
          </a:p>
          <a:p>
            <a:endParaRPr lang="de-DE" dirty="0"/>
          </a:p>
        </p:txBody>
      </p:sp>
      <p:pic>
        <p:nvPicPr>
          <p:cNvPr id="1028" name="Picture 4" descr="Synergy Icon Arrow Synergy Logo Vector">
            <a:extLst>
              <a:ext uri="{FF2B5EF4-FFF2-40B4-BE49-F238E27FC236}">
                <a16:creationId xmlns:a16="http://schemas.microsoft.com/office/drawing/2014/main" id="{04F68AA0-6603-9389-97C9-671A8633C2C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33108" y="4034628"/>
            <a:ext cx="1163931" cy="937051"/>
          </a:xfrm>
          <a:prstGeom prst="rect">
            <a:avLst/>
          </a:prstGeom>
          <a:noFill/>
          <a:extLst>
            <a:ext uri="{909E8E84-426E-40DD-AFC4-6F175D3DCCD1}">
              <a14:hiddenFill xmlns:a14="http://schemas.microsoft.com/office/drawing/2010/main">
                <a:solidFill>
                  <a:srgbClr val="FFFFFF"/>
                </a:solidFill>
              </a14:hiddenFill>
            </a:ext>
          </a:extLst>
        </p:spPr>
      </p:pic>
      <p:sp>
        <p:nvSpPr>
          <p:cNvPr id="19" name="Textfeld 18">
            <a:extLst>
              <a:ext uri="{FF2B5EF4-FFF2-40B4-BE49-F238E27FC236}">
                <a16:creationId xmlns:a16="http://schemas.microsoft.com/office/drawing/2014/main" id="{C9D54273-B807-5B2E-5205-E32069A36B91}"/>
              </a:ext>
            </a:extLst>
          </p:cNvPr>
          <p:cNvSpPr txBox="1"/>
          <p:nvPr/>
        </p:nvSpPr>
        <p:spPr>
          <a:xfrm>
            <a:off x="4292134" y="4901070"/>
            <a:ext cx="2154081" cy="2308324"/>
          </a:xfrm>
          <a:prstGeom prst="rect">
            <a:avLst/>
          </a:prstGeom>
          <a:noFill/>
        </p:spPr>
        <p:txBody>
          <a:bodyPr wrap="square" rtlCol="0">
            <a:spAutoFit/>
          </a:bodyPr>
          <a:lstStyle/>
          <a:p>
            <a:r>
              <a:rPr lang="en-US" dirty="0"/>
              <a:t>Potential for margin improvement through cost optimization and operational leverage</a:t>
            </a:r>
            <a:endParaRPr lang="de-DE" dirty="0"/>
          </a:p>
          <a:p>
            <a:endParaRPr lang="de-DE" dirty="0"/>
          </a:p>
        </p:txBody>
      </p:sp>
    </p:spTree>
    <p:extLst>
      <p:ext uri="{BB962C8B-B14F-4D97-AF65-F5344CB8AC3E}">
        <p14:creationId xmlns:p14="http://schemas.microsoft.com/office/powerpoint/2010/main" val="12924090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49C6F7B-ED00-AEC0-036A-78FDBD6D6705}"/>
            </a:ext>
          </a:extLst>
        </p:cNvPr>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5B52D7FB-A00F-DB5F-7275-8C946859DFD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07" imgH="307" progId="TCLayout.ActiveDocument.1">
                  <p:embed/>
                </p:oleObj>
              </mc:Choice>
              <mc:Fallback>
                <p:oleObj name="think-cell Slide" r:id="rId4" imgW="307" imgH="307" progId="TCLayout.ActiveDocument.1">
                  <p:embed/>
                  <p:pic>
                    <p:nvPicPr>
                      <p:cNvPr id="7" name="Object 6" hidden="1">
                        <a:extLst>
                          <a:ext uri="{FF2B5EF4-FFF2-40B4-BE49-F238E27FC236}">
                            <a16:creationId xmlns:a16="http://schemas.microsoft.com/office/drawing/2014/main" id="{39F09C1E-C702-0120-D1BD-62F3B55A8A0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cxnSp>
        <p:nvCxnSpPr>
          <p:cNvPr id="42" name="Gerader Verbinder 34">
            <a:extLst>
              <a:ext uri="{FF2B5EF4-FFF2-40B4-BE49-F238E27FC236}">
                <a16:creationId xmlns:a16="http://schemas.microsoft.com/office/drawing/2014/main" id="{298A9768-2AEB-9F4C-728C-0015BC5CD1E7}"/>
              </a:ext>
            </a:extLst>
          </p:cNvPr>
          <p:cNvCxnSpPr>
            <a:cxnSpLocks/>
          </p:cNvCxnSpPr>
          <p:nvPr/>
        </p:nvCxnSpPr>
        <p:spPr>
          <a:xfrm>
            <a:off x="365619" y="771001"/>
            <a:ext cx="115164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4" name="Tabelle 3">
            <a:extLst>
              <a:ext uri="{FF2B5EF4-FFF2-40B4-BE49-F238E27FC236}">
                <a16:creationId xmlns:a16="http://schemas.microsoft.com/office/drawing/2014/main" id="{D0AA4387-C695-976B-8CD4-1087FC2AFD7C}"/>
              </a:ext>
            </a:extLst>
          </p:cNvPr>
          <p:cNvGraphicFramePr>
            <a:graphicFrameLocks noGrp="1"/>
          </p:cNvGraphicFramePr>
          <p:nvPr>
            <p:extLst>
              <p:ext uri="{D42A27DB-BD31-4B8C-83A1-F6EECF244321}">
                <p14:modId xmlns:p14="http://schemas.microsoft.com/office/powerpoint/2010/main" val="3003238291"/>
              </p:ext>
            </p:extLst>
          </p:nvPr>
        </p:nvGraphicFramePr>
        <p:xfrm>
          <a:off x="409814" y="1456830"/>
          <a:ext cx="11472205" cy="4965637"/>
        </p:xfrm>
        <a:graphic>
          <a:graphicData uri="http://schemas.openxmlformats.org/drawingml/2006/table">
            <a:tbl>
              <a:tblPr firstRow="1" bandRow="1">
                <a:tableStyleId>{BDBED569-4797-4DF1-A0F4-6AAB3CD982D8}</a:tableStyleId>
              </a:tblPr>
              <a:tblGrid>
                <a:gridCol w="2294441">
                  <a:extLst>
                    <a:ext uri="{9D8B030D-6E8A-4147-A177-3AD203B41FA5}">
                      <a16:colId xmlns:a16="http://schemas.microsoft.com/office/drawing/2014/main" val="3201869666"/>
                    </a:ext>
                  </a:extLst>
                </a:gridCol>
                <a:gridCol w="2294441">
                  <a:extLst>
                    <a:ext uri="{9D8B030D-6E8A-4147-A177-3AD203B41FA5}">
                      <a16:colId xmlns:a16="http://schemas.microsoft.com/office/drawing/2014/main" val="1207860843"/>
                    </a:ext>
                  </a:extLst>
                </a:gridCol>
                <a:gridCol w="2294441">
                  <a:extLst>
                    <a:ext uri="{9D8B030D-6E8A-4147-A177-3AD203B41FA5}">
                      <a16:colId xmlns:a16="http://schemas.microsoft.com/office/drawing/2014/main" val="4137849039"/>
                    </a:ext>
                  </a:extLst>
                </a:gridCol>
                <a:gridCol w="2294441">
                  <a:extLst>
                    <a:ext uri="{9D8B030D-6E8A-4147-A177-3AD203B41FA5}">
                      <a16:colId xmlns:a16="http://schemas.microsoft.com/office/drawing/2014/main" val="995327289"/>
                    </a:ext>
                  </a:extLst>
                </a:gridCol>
                <a:gridCol w="2294441">
                  <a:extLst>
                    <a:ext uri="{9D8B030D-6E8A-4147-A177-3AD203B41FA5}">
                      <a16:colId xmlns:a16="http://schemas.microsoft.com/office/drawing/2014/main" val="3592827713"/>
                    </a:ext>
                  </a:extLst>
                </a:gridCol>
              </a:tblGrid>
              <a:tr h="1073377">
                <a:tc>
                  <a:txBody>
                    <a:bodyPr/>
                    <a:lstStyle/>
                    <a:p>
                      <a:r>
                        <a:rPr lang="de-DE" sz="1200" b="0" dirty="0"/>
                        <a:t>Zenner International GmbH &amp; Co. KG – </a:t>
                      </a:r>
                      <a:r>
                        <a:rPr lang="de-DE" sz="1200" b="0" i="1" dirty="0"/>
                        <a:t>zenner.de</a:t>
                      </a:r>
                      <a:endParaRPr lang="de-DE" sz="1200" b="0" dirty="0"/>
                    </a:p>
                  </a:txBody>
                  <a:tcPr/>
                </a:tc>
                <a:tc>
                  <a:txBody>
                    <a:bodyPr/>
                    <a:lstStyle/>
                    <a:p>
                      <a:r>
                        <a:rPr lang="de-DE" sz="1200" b="0" dirty="0"/>
                        <a:t>IoT‑Gateways, Smart Metering, </a:t>
                      </a:r>
                      <a:r>
                        <a:rPr lang="de-DE" sz="1200" b="0" dirty="0" err="1"/>
                        <a:t>LoRaWAN</a:t>
                      </a:r>
                      <a:r>
                        <a:rPr lang="de-DE" sz="1200" b="0" dirty="0"/>
                        <a:t>‑Hardware</a:t>
                      </a:r>
                    </a:p>
                  </a:txBody>
                  <a:tcPr/>
                </a:tc>
                <a:tc>
                  <a:txBody>
                    <a:bodyPr/>
                    <a:lstStyle/>
                    <a:p>
                      <a:pPr algn="l"/>
                      <a:r>
                        <a:rPr lang="de-DE" sz="1200" b="0" dirty="0"/>
                        <a:t>Saarbrücken</a:t>
                      </a:r>
                    </a:p>
                  </a:txBody>
                  <a:tcPr/>
                </a:tc>
                <a:tc>
                  <a:txBody>
                    <a:bodyPr/>
                    <a:lstStyle/>
                    <a:p>
                      <a:pPr>
                        <a:buNone/>
                      </a:pPr>
                      <a:r>
                        <a:rPr lang="de-DE" sz="1200" b="0" dirty="0"/>
                        <a:t>Mittelstand (vermutlich €50–150 Mio.)</a:t>
                      </a:r>
                    </a:p>
                  </a:txBody>
                  <a:tcPr anchor="ctr"/>
                </a:tc>
                <a:tc>
                  <a:txBody>
                    <a:bodyPr/>
                    <a:lstStyle/>
                    <a:p>
                      <a:pPr>
                        <a:buNone/>
                      </a:pPr>
                      <a:r>
                        <a:rPr lang="de-DE" sz="1200" b="0" dirty="0"/>
                        <a:t>Komplementäre IoT‑Gateway‑HW, Stärkung Produktportfolio bei </a:t>
                      </a:r>
                      <a:r>
                        <a:rPr lang="de-DE" sz="1200" b="0" dirty="0" err="1"/>
                        <a:t>LoRaWAN</a:t>
                      </a:r>
                      <a:r>
                        <a:rPr lang="de-DE" sz="1200" b="0" dirty="0"/>
                        <a:t>‑Gateways</a:t>
                      </a:r>
                      <a:br>
                        <a:rPr lang="de-DE" sz="1200" b="0" dirty="0"/>
                      </a:br>
                      <a:r>
                        <a:rPr lang="de-DE" sz="1200" b="0" dirty="0"/>
                        <a:t>(Horizontal)</a:t>
                      </a:r>
                    </a:p>
                  </a:txBody>
                  <a:tcPr anchor="ctr"/>
                </a:tc>
                <a:extLst>
                  <a:ext uri="{0D108BD9-81ED-4DB2-BD59-A6C34878D82A}">
                    <a16:rowId xmlns:a16="http://schemas.microsoft.com/office/drawing/2014/main" val="2198942322"/>
                  </a:ext>
                </a:extLst>
              </a:tr>
              <a:tr h="677922">
                <a:tc>
                  <a:txBody>
                    <a:bodyPr/>
                    <a:lstStyle/>
                    <a:p>
                      <a:pPr>
                        <a:buNone/>
                      </a:pPr>
                      <a:r>
                        <a:rPr lang="de-DE" sz="1200" b="0" dirty="0" err="1"/>
                        <a:t>emtrion</a:t>
                      </a:r>
                      <a:r>
                        <a:rPr lang="de-DE" sz="1200" b="0" dirty="0"/>
                        <a:t> GmbH – </a:t>
                      </a:r>
                      <a:r>
                        <a:rPr lang="de-DE" sz="1200" b="0" i="1" dirty="0"/>
                        <a:t>emtrion.de</a:t>
                      </a:r>
                      <a:endParaRPr lang="de-DE" sz="1200" b="0" dirty="0"/>
                    </a:p>
                  </a:txBody>
                  <a:tcPr anchor="ctr">
                    <a:solidFill>
                      <a:schemeClr val="bg1">
                        <a:alpha val="20000"/>
                      </a:schemeClr>
                    </a:solidFill>
                  </a:tcPr>
                </a:tc>
                <a:tc>
                  <a:txBody>
                    <a:bodyPr/>
                    <a:lstStyle/>
                    <a:p>
                      <a:pPr>
                        <a:buNone/>
                      </a:pPr>
                      <a:r>
                        <a:rPr lang="de-DE" sz="1200" dirty="0"/>
                        <a:t>Industrielle IoT‑Gateways &amp; Embedded HW</a:t>
                      </a:r>
                    </a:p>
                  </a:txBody>
                  <a:tcPr anchor="ctr">
                    <a:solidFill>
                      <a:schemeClr val="bg1">
                        <a:alpha val="20000"/>
                      </a:schemeClr>
                    </a:solidFill>
                  </a:tcPr>
                </a:tc>
                <a:tc>
                  <a:txBody>
                    <a:bodyPr/>
                    <a:lstStyle/>
                    <a:p>
                      <a:r>
                        <a:rPr lang="de-DE" sz="1200" b="0" dirty="0"/>
                        <a:t>Tettnang</a:t>
                      </a:r>
                    </a:p>
                  </a:txBody>
                  <a:tcPr>
                    <a:solidFill>
                      <a:schemeClr val="bg1">
                        <a:alpha val="20000"/>
                      </a:schemeClr>
                    </a:solidFill>
                  </a:tcPr>
                </a:tc>
                <a:tc>
                  <a:txBody>
                    <a:bodyPr/>
                    <a:lstStyle/>
                    <a:p>
                      <a:pPr>
                        <a:buNone/>
                      </a:pPr>
                      <a:r>
                        <a:rPr lang="de-DE" sz="1200" b="0" dirty="0"/>
                        <a:t>KMU (…schätzungsweise €10–30 Mio.)</a:t>
                      </a:r>
                    </a:p>
                  </a:txBody>
                  <a:tcPr anchor="ctr">
                    <a:solidFill>
                      <a:schemeClr val="bg1">
                        <a:alpha val="20000"/>
                      </a:schemeClr>
                    </a:solidFill>
                  </a:tcPr>
                </a:tc>
                <a:tc>
                  <a:txBody>
                    <a:bodyPr/>
                    <a:lstStyle/>
                    <a:p>
                      <a:pPr>
                        <a:buNone/>
                      </a:pPr>
                      <a:r>
                        <a:rPr lang="de-DE" sz="1200" dirty="0"/>
                        <a:t>Ergänzende IoT‑Gateway‑Hardware &amp; Edge‑Funktionalität</a:t>
                      </a:r>
                    </a:p>
                    <a:p>
                      <a:pPr>
                        <a:buNone/>
                      </a:pPr>
                      <a:r>
                        <a:rPr lang="de-DE" sz="1200" dirty="0"/>
                        <a:t>(Horizontal)</a:t>
                      </a:r>
                    </a:p>
                  </a:txBody>
                  <a:tcPr anchor="ctr">
                    <a:solidFill>
                      <a:schemeClr val="bg1">
                        <a:alpha val="20000"/>
                      </a:schemeClr>
                    </a:solidFill>
                  </a:tcPr>
                </a:tc>
                <a:extLst>
                  <a:ext uri="{0D108BD9-81ED-4DB2-BD59-A6C34878D82A}">
                    <a16:rowId xmlns:a16="http://schemas.microsoft.com/office/drawing/2014/main" val="651776465"/>
                  </a:ext>
                </a:extLst>
              </a:tr>
              <a:tr h="677922">
                <a:tc>
                  <a:txBody>
                    <a:bodyPr/>
                    <a:lstStyle/>
                    <a:p>
                      <a:pPr>
                        <a:buNone/>
                      </a:pPr>
                      <a:r>
                        <a:rPr lang="de-DE" sz="1200" b="0" dirty="0"/>
                        <a:t>Janz </a:t>
                      </a:r>
                      <a:r>
                        <a:rPr lang="de-DE" sz="1200" b="0" dirty="0" err="1"/>
                        <a:t>Tec</a:t>
                      </a:r>
                      <a:r>
                        <a:rPr lang="de-DE" sz="1200" b="0" dirty="0"/>
                        <a:t> AG – </a:t>
                      </a:r>
                      <a:r>
                        <a:rPr lang="de-DE" sz="1200" b="0" i="1" dirty="0"/>
                        <a:t>janztec.com</a:t>
                      </a:r>
                      <a:endParaRPr lang="de-DE" sz="1200" b="0" dirty="0"/>
                    </a:p>
                  </a:txBody>
                  <a:tcPr anchor="ctr"/>
                </a:tc>
                <a:tc>
                  <a:txBody>
                    <a:bodyPr/>
                    <a:lstStyle/>
                    <a:p>
                      <a:pPr>
                        <a:buNone/>
                      </a:pPr>
                      <a:r>
                        <a:rPr lang="de-DE" sz="1200" dirty="0"/>
                        <a:t>Industrie‑IoT Gateways &amp; Integrationslösungen</a:t>
                      </a:r>
                    </a:p>
                  </a:txBody>
                  <a:tcPr anchor="ctr"/>
                </a:tc>
                <a:tc>
                  <a:txBody>
                    <a:bodyPr/>
                    <a:lstStyle/>
                    <a:p>
                      <a:r>
                        <a:rPr lang="de-DE" sz="1200" dirty="0"/>
                        <a:t>Gründau</a:t>
                      </a:r>
                    </a:p>
                  </a:txBody>
                  <a:tcPr/>
                </a:tc>
                <a:tc>
                  <a:txBody>
                    <a:bodyPr/>
                    <a:lstStyle/>
                    <a:p>
                      <a:pPr>
                        <a:buNone/>
                      </a:pPr>
                      <a:r>
                        <a:rPr lang="de-DE" sz="1200" dirty="0"/>
                        <a:t>KMU/Mittelstand</a:t>
                      </a:r>
                    </a:p>
                  </a:txBody>
                  <a:tcPr anchor="ctr"/>
                </a:tc>
                <a:tc>
                  <a:txBody>
                    <a:bodyPr/>
                    <a:lstStyle/>
                    <a:p>
                      <a:pPr>
                        <a:buNone/>
                      </a:pPr>
                      <a:r>
                        <a:rPr lang="de-DE" sz="1200" dirty="0"/>
                        <a:t>Synergien bei IoT‑Integration &amp; Edge‑Systemen</a:t>
                      </a:r>
                      <a:br>
                        <a:rPr lang="de-DE" sz="1200" dirty="0"/>
                      </a:br>
                      <a:r>
                        <a:rPr lang="de-DE" sz="1200" dirty="0"/>
                        <a:t>(Horizontal)</a:t>
                      </a:r>
                    </a:p>
                  </a:txBody>
                  <a:tcPr anchor="ctr"/>
                </a:tc>
                <a:extLst>
                  <a:ext uri="{0D108BD9-81ED-4DB2-BD59-A6C34878D82A}">
                    <a16:rowId xmlns:a16="http://schemas.microsoft.com/office/drawing/2014/main" val="3541567247"/>
                  </a:ext>
                </a:extLst>
              </a:tr>
              <a:tr h="875649">
                <a:tc>
                  <a:txBody>
                    <a:bodyPr/>
                    <a:lstStyle/>
                    <a:p>
                      <a:pPr>
                        <a:buNone/>
                      </a:pPr>
                      <a:r>
                        <a:rPr lang="de-DE" sz="1200" b="0" dirty="0"/>
                        <a:t>Sontheim Industrie Elektronik GmbH – </a:t>
                      </a:r>
                      <a:r>
                        <a:rPr lang="de-DE" sz="1200" b="0" i="1" dirty="0"/>
                        <a:t>sontheim‑industrie‑elektronik.de</a:t>
                      </a:r>
                      <a:endParaRPr lang="de-DE" sz="1200" b="0" dirty="0"/>
                    </a:p>
                  </a:txBody>
                  <a:tcPr anchor="ctr">
                    <a:solidFill>
                      <a:schemeClr val="bg1">
                        <a:alpha val="20000"/>
                      </a:schemeClr>
                    </a:solidFill>
                  </a:tcPr>
                </a:tc>
                <a:tc>
                  <a:txBody>
                    <a:bodyPr/>
                    <a:lstStyle/>
                    <a:p>
                      <a:pPr>
                        <a:buNone/>
                      </a:pPr>
                      <a:r>
                        <a:rPr lang="de-DE" sz="1200" dirty="0"/>
                        <a:t>IoT‑Gateways, Schnittstellen, Industrie‑Elektronik</a:t>
                      </a:r>
                    </a:p>
                  </a:txBody>
                  <a:tcPr anchor="ctr">
                    <a:solidFill>
                      <a:schemeClr val="bg1">
                        <a:alpha val="20000"/>
                      </a:schemeClr>
                    </a:solidFill>
                  </a:tcPr>
                </a:tc>
                <a:tc>
                  <a:txBody>
                    <a:bodyPr/>
                    <a:lstStyle/>
                    <a:p>
                      <a:r>
                        <a:rPr lang="de-DE" sz="1200" dirty="0"/>
                        <a:t>Sulzberg</a:t>
                      </a:r>
                    </a:p>
                  </a:txBody>
                  <a:tcPr>
                    <a:solidFill>
                      <a:schemeClr val="bg1">
                        <a:alpha val="20000"/>
                      </a:schemeClr>
                    </a:solidFill>
                  </a:tcPr>
                </a:tc>
                <a:tc>
                  <a:txBody>
                    <a:bodyPr/>
                    <a:lstStyle/>
                    <a:p>
                      <a:pPr>
                        <a:buNone/>
                      </a:pPr>
                      <a:r>
                        <a:rPr lang="de-DE" sz="1200" dirty="0"/>
                        <a:t>KMU/Mittelstand</a:t>
                      </a:r>
                    </a:p>
                  </a:txBody>
                  <a:tcPr anchor="ctr">
                    <a:solidFill>
                      <a:schemeClr val="bg1">
                        <a:alpha val="20000"/>
                      </a:schemeClr>
                    </a:solidFill>
                  </a:tcPr>
                </a:tc>
                <a:tc>
                  <a:txBody>
                    <a:bodyPr/>
                    <a:lstStyle/>
                    <a:p>
                      <a:pPr>
                        <a:buNone/>
                      </a:pPr>
                      <a:r>
                        <a:rPr lang="de-DE" sz="1200" dirty="0"/>
                        <a:t>Ergänzende Hardware für industrielle Überwachung &amp; IoT</a:t>
                      </a:r>
                      <a:br>
                        <a:rPr lang="de-DE" sz="1200" dirty="0"/>
                      </a:br>
                      <a:r>
                        <a:rPr lang="de-DE" sz="1200" dirty="0"/>
                        <a:t>(Horizontal)</a:t>
                      </a:r>
                    </a:p>
                  </a:txBody>
                  <a:tcPr anchor="ctr">
                    <a:solidFill>
                      <a:schemeClr val="bg1">
                        <a:alpha val="20000"/>
                      </a:schemeClr>
                    </a:solidFill>
                  </a:tcPr>
                </a:tc>
                <a:extLst>
                  <a:ext uri="{0D108BD9-81ED-4DB2-BD59-A6C34878D82A}">
                    <a16:rowId xmlns:a16="http://schemas.microsoft.com/office/drawing/2014/main" val="1346486729"/>
                  </a:ext>
                </a:extLst>
              </a:tr>
              <a:tr h="875649">
                <a:tc>
                  <a:txBody>
                    <a:bodyPr/>
                    <a:lstStyle/>
                    <a:p>
                      <a:pPr>
                        <a:buNone/>
                      </a:pPr>
                      <a:r>
                        <a:rPr lang="de-DE" sz="1200" b="0" dirty="0" err="1"/>
                        <a:t>Datacake</a:t>
                      </a:r>
                      <a:r>
                        <a:rPr lang="de-DE" sz="1200" b="0" dirty="0"/>
                        <a:t> GmbH – </a:t>
                      </a:r>
                      <a:r>
                        <a:rPr lang="de-DE" sz="1200" b="0" i="1" dirty="0"/>
                        <a:t>datacake.co</a:t>
                      </a:r>
                      <a:endParaRPr lang="de-DE" sz="1200" b="0" dirty="0"/>
                    </a:p>
                  </a:txBody>
                  <a:tcPr anchor="ctr"/>
                </a:tc>
                <a:tc>
                  <a:txBody>
                    <a:bodyPr/>
                    <a:lstStyle/>
                    <a:p>
                      <a:pPr>
                        <a:buNone/>
                      </a:pPr>
                      <a:r>
                        <a:rPr lang="sv-SE" sz="1200" dirty="0"/>
                        <a:t>IoT Plattform‑Software &amp; LoRaWAN‑Integration</a:t>
                      </a:r>
                    </a:p>
                  </a:txBody>
                  <a:tcPr anchor="ctr"/>
                </a:tc>
                <a:tc>
                  <a:txBody>
                    <a:bodyPr/>
                    <a:lstStyle/>
                    <a:p>
                      <a:pPr>
                        <a:buNone/>
                      </a:pPr>
                      <a:r>
                        <a:rPr lang="de-DE" sz="1200" dirty="0"/>
                        <a:t>Deutschland</a:t>
                      </a:r>
                    </a:p>
                  </a:txBody>
                  <a:tcPr anchor="ctr"/>
                </a:tc>
                <a:tc>
                  <a:txBody>
                    <a:bodyPr/>
                    <a:lstStyle/>
                    <a:p>
                      <a:pPr>
                        <a:buNone/>
                      </a:pPr>
                      <a:r>
                        <a:rPr lang="de-DE" sz="1200" dirty="0"/>
                        <a:t>Klein-/Mittelbetrieb</a:t>
                      </a:r>
                    </a:p>
                  </a:txBody>
                  <a:tcPr anchor="ctr"/>
                </a:tc>
                <a:tc>
                  <a:txBody>
                    <a:bodyPr/>
                    <a:lstStyle/>
                    <a:p>
                      <a:pPr>
                        <a:buNone/>
                      </a:pPr>
                      <a:r>
                        <a:rPr lang="de-DE" sz="1200" b="0" dirty="0"/>
                        <a:t>Kombination aus Cloud/IoT Plattform + Gateways (Vertikal)</a:t>
                      </a:r>
                    </a:p>
                  </a:txBody>
                  <a:tcPr anchor="ctr"/>
                </a:tc>
                <a:extLst>
                  <a:ext uri="{0D108BD9-81ED-4DB2-BD59-A6C34878D82A}">
                    <a16:rowId xmlns:a16="http://schemas.microsoft.com/office/drawing/2014/main" val="2968831951"/>
                  </a:ext>
                </a:extLst>
              </a:tr>
              <a:tr h="338961">
                <a:tc>
                  <a:txBody>
                    <a:bodyPr/>
                    <a:lstStyle/>
                    <a:p>
                      <a:pPr>
                        <a:buNone/>
                      </a:pPr>
                      <a:r>
                        <a:rPr lang="de-DE" sz="1200" b="0" dirty="0" err="1"/>
                        <a:t>Elbesoft</a:t>
                      </a:r>
                      <a:r>
                        <a:rPr lang="de-DE" sz="1200" b="0" dirty="0"/>
                        <a:t> IoT &amp; </a:t>
                      </a:r>
                      <a:r>
                        <a:rPr lang="de-DE" sz="1200" b="0" dirty="0" err="1"/>
                        <a:t>LoRaWAN</a:t>
                      </a:r>
                      <a:r>
                        <a:rPr lang="de-DE" sz="1200" b="0" dirty="0"/>
                        <a:t> – </a:t>
                      </a:r>
                      <a:r>
                        <a:rPr lang="de-DE" sz="1200" b="0" i="1" dirty="0"/>
                        <a:t>elbesoft-iot.de</a:t>
                      </a:r>
                      <a:endParaRPr lang="de-DE" sz="1200" b="0" dirty="0"/>
                    </a:p>
                  </a:txBody>
                  <a:tcPr anchor="ctr">
                    <a:solidFill>
                      <a:schemeClr val="bg1">
                        <a:alpha val="20000"/>
                      </a:schemeClr>
                    </a:solidFill>
                  </a:tcPr>
                </a:tc>
                <a:tc>
                  <a:txBody>
                    <a:bodyPr/>
                    <a:lstStyle/>
                    <a:p>
                      <a:pPr>
                        <a:buNone/>
                      </a:pPr>
                      <a:r>
                        <a:rPr lang="de-DE" sz="1200" dirty="0" err="1"/>
                        <a:t>LoRaWAN</a:t>
                      </a:r>
                      <a:r>
                        <a:rPr lang="de-DE" sz="1200" dirty="0"/>
                        <a:t>‑Netze &amp; IoT‑Lösungen, Visualisierung</a:t>
                      </a:r>
                    </a:p>
                  </a:txBody>
                  <a:tcPr anchor="ctr">
                    <a:solidFill>
                      <a:schemeClr val="bg1">
                        <a:alpha val="20000"/>
                      </a:schemeClr>
                    </a:solidFill>
                  </a:tcPr>
                </a:tc>
                <a:tc>
                  <a:txBody>
                    <a:bodyPr/>
                    <a:lstStyle/>
                    <a:p>
                      <a:r>
                        <a:rPr lang="de-DE" sz="1200" dirty="0"/>
                        <a:t>Deutschland</a:t>
                      </a:r>
                    </a:p>
                  </a:txBody>
                  <a:tcPr>
                    <a:solidFill>
                      <a:schemeClr val="bg1">
                        <a:alpha val="20000"/>
                      </a:schemeClr>
                    </a:solidFill>
                  </a:tcPr>
                </a:tc>
                <a:tc>
                  <a:txBody>
                    <a:bodyPr/>
                    <a:lstStyle/>
                    <a:p>
                      <a:r>
                        <a:rPr lang="de-DE" sz="1200" dirty="0"/>
                        <a:t>KMU</a:t>
                      </a:r>
                    </a:p>
                  </a:txBody>
                  <a:tcPr>
                    <a:solidFill>
                      <a:schemeClr val="bg1">
                        <a:alpha val="20000"/>
                      </a:schemeClr>
                    </a:solidFill>
                  </a:tcPr>
                </a:tc>
                <a:tc>
                  <a:txBody>
                    <a:bodyPr/>
                    <a:lstStyle/>
                    <a:p>
                      <a:pPr>
                        <a:buNone/>
                      </a:pPr>
                      <a:r>
                        <a:rPr lang="de-DE" sz="1200" b="0" dirty="0"/>
                        <a:t>Ergänzung hinsichtlich IoT-Dienstleistungen &amp; Netzbetrieb (Vertikal)</a:t>
                      </a:r>
                    </a:p>
                  </a:txBody>
                  <a:tcPr anchor="ctr">
                    <a:solidFill>
                      <a:schemeClr val="bg1">
                        <a:alpha val="20000"/>
                      </a:schemeClr>
                    </a:solidFill>
                  </a:tcPr>
                </a:tc>
                <a:extLst>
                  <a:ext uri="{0D108BD9-81ED-4DB2-BD59-A6C34878D82A}">
                    <a16:rowId xmlns:a16="http://schemas.microsoft.com/office/drawing/2014/main" val="3732054486"/>
                  </a:ext>
                </a:extLst>
              </a:tr>
            </a:tbl>
          </a:graphicData>
        </a:graphic>
      </p:graphicFrame>
      <p:sp>
        <p:nvSpPr>
          <p:cNvPr id="13" name="Titel 12">
            <a:extLst>
              <a:ext uri="{FF2B5EF4-FFF2-40B4-BE49-F238E27FC236}">
                <a16:creationId xmlns:a16="http://schemas.microsoft.com/office/drawing/2014/main" id="{0AAA204D-CE0C-9647-9380-0EA5EBFB6538}"/>
              </a:ext>
            </a:extLst>
          </p:cNvPr>
          <p:cNvSpPr>
            <a:spLocks noGrp="1"/>
          </p:cNvSpPr>
          <p:nvPr>
            <p:ph type="title"/>
          </p:nvPr>
        </p:nvSpPr>
        <p:spPr>
          <a:xfrm>
            <a:off x="359896" y="319316"/>
            <a:ext cx="11472207" cy="372190"/>
          </a:xfrm>
        </p:spPr>
        <p:txBody>
          <a:bodyPr/>
          <a:lstStyle/>
          <a:p>
            <a:r>
              <a:rPr lang="de-DE" sz="2500" b="1" dirty="0">
                <a:latin typeface="+mj-lt"/>
              </a:rPr>
              <a:t>Longlist (Strategische Investoren)</a:t>
            </a:r>
          </a:p>
        </p:txBody>
      </p:sp>
      <p:sp>
        <p:nvSpPr>
          <p:cNvPr id="5" name="Textfeld 4">
            <a:extLst>
              <a:ext uri="{FF2B5EF4-FFF2-40B4-BE49-F238E27FC236}">
                <a16:creationId xmlns:a16="http://schemas.microsoft.com/office/drawing/2014/main" id="{484543F5-B610-7788-AA86-90BEA43D0C72}"/>
              </a:ext>
            </a:extLst>
          </p:cNvPr>
          <p:cNvSpPr txBox="1"/>
          <p:nvPr/>
        </p:nvSpPr>
        <p:spPr>
          <a:xfrm>
            <a:off x="387717" y="1056603"/>
            <a:ext cx="2345858" cy="375367"/>
          </a:xfrm>
          <a:prstGeom prst="rect">
            <a:avLst/>
          </a:prstGeom>
          <a:noFill/>
        </p:spPr>
        <p:txBody>
          <a:bodyPr wrap="square" rtlCol="0">
            <a:spAutoFit/>
          </a:bodyPr>
          <a:lstStyle/>
          <a:p>
            <a:r>
              <a:rPr lang="de-DE" dirty="0"/>
              <a:t>Name</a:t>
            </a:r>
          </a:p>
        </p:txBody>
      </p:sp>
      <p:sp>
        <p:nvSpPr>
          <p:cNvPr id="6" name="Textfeld 5">
            <a:extLst>
              <a:ext uri="{FF2B5EF4-FFF2-40B4-BE49-F238E27FC236}">
                <a16:creationId xmlns:a16="http://schemas.microsoft.com/office/drawing/2014/main" id="{F4A59BBB-E7E4-E617-D957-62485B8D16B6}"/>
              </a:ext>
            </a:extLst>
          </p:cNvPr>
          <p:cNvSpPr txBox="1"/>
          <p:nvPr/>
        </p:nvSpPr>
        <p:spPr>
          <a:xfrm>
            <a:off x="2733575" y="1083837"/>
            <a:ext cx="1990825" cy="369332"/>
          </a:xfrm>
          <a:prstGeom prst="rect">
            <a:avLst/>
          </a:prstGeom>
          <a:noFill/>
        </p:spPr>
        <p:txBody>
          <a:bodyPr wrap="square" rtlCol="0">
            <a:spAutoFit/>
          </a:bodyPr>
          <a:lstStyle/>
          <a:p>
            <a:r>
              <a:rPr lang="de-DE" dirty="0"/>
              <a:t>Branche</a:t>
            </a:r>
          </a:p>
        </p:txBody>
      </p:sp>
      <p:sp>
        <p:nvSpPr>
          <p:cNvPr id="8" name="Textfeld 7">
            <a:extLst>
              <a:ext uri="{FF2B5EF4-FFF2-40B4-BE49-F238E27FC236}">
                <a16:creationId xmlns:a16="http://schemas.microsoft.com/office/drawing/2014/main" id="{D764E76C-0F6E-A2CA-2426-9F17BCA92175}"/>
              </a:ext>
            </a:extLst>
          </p:cNvPr>
          <p:cNvSpPr txBox="1"/>
          <p:nvPr/>
        </p:nvSpPr>
        <p:spPr>
          <a:xfrm>
            <a:off x="5033716" y="1083837"/>
            <a:ext cx="1990825" cy="369332"/>
          </a:xfrm>
          <a:prstGeom prst="rect">
            <a:avLst/>
          </a:prstGeom>
          <a:noFill/>
        </p:spPr>
        <p:txBody>
          <a:bodyPr wrap="square" rtlCol="0">
            <a:spAutoFit/>
          </a:bodyPr>
          <a:lstStyle/>
          <a:p>
            <a:r>
              <a:rPr lang="de-DE" dirty="0"/>
              <a:t>Region</a:t>
            </a:r>
          </a:p>
        </p:txBody>
      </p:sp>
      <p:sp>
        <p:nvSpPr>
          <p:cNvPr id="9" name="Textfeld 8">
            <a:extLst>
              <a:ext uri="{FF2B5EF4-FFF2-40B4-BE49-F238E27FC236}">
                <a16:creationId xmlns:a16="http://schemas.microsoft.com/office/drawing/2014/main" id="{8D64040C-BE38-1184-3374-F6DAA7CB7A3C}"/>
              </a:ext>
            </a:extLst>
          </p:cNvPr>
          <p:cNvSpPr txBox="1"/>
          <p:nvPr/>
        </p:nvSpPr>
        <p:spPr>
          <a:xfrm>
            <a:off x="7333857" y="1075068"/>
            <a:ext cx="1990825" cy="369332"/>
          </a:xfrm>
          <a:prstGeom prst="rect">
            <a:avLst/>
          </a:prstGeom>
          <a:noFill/>
        </p:spPr>
        <p:txBody>
          <a:bodyPr wrap="square" rtlCol="0">
            <a:spAutoFit/>
          </a:bodyPr>
          <a:lstStyle/>
          <a:p>
            <a:r>
              <a:rPr lang="de-DE" dirty="0"/>
              <a:t>Größe (Umsatz)</a:t>
            </a:r>
          </a:p>
        </p:txBody>
      </p:sp>
      <p:sp>
        <p:nvSpPr>
          <p:cNvPr id="10" name="Textfeld 9">
            <a:extLst>
              <a:ext uri="{FF2B5EF4-FFF2-40B4-BE49-F238E27FC236}">
                <a16:creationId xmlns:a16="http://schemas.microsoft.com/office/drawing/2014/main" id="{E386BC79-4B33-0264-7827-5E645B912086}"/>
              </a:ext>
            </a:extLst>
          </p:cNvPr>
          <p:cNvSpPr txBox="1"/>
          <p:nvPr/>
        </p:nvSpPr>
        <p:spPr>
          <a:xfrm>
            <a:off x="9633998" y="1056603"/>
            <a:ext cx="1990825" cy="369332"/>
          </a:xfrm>
          <a:prstGeom prst="rect">
            <a:avLst/>
          </a:prstGeom>
          <a:noFill/>
        </p:spPr>
        <p:txBody>
          <a:bodyPr wrap="square" rtlCol="0">
            <a:spAutoFit/>
          </a:bodyPr>
          <a:lstStyle/>
          <a:p>
            <a:r>
              <a:rPr lang="de-DE" dirty="0"/>
              <a:t>Interesse</a:t>
            </a:r>
          </a:p>
        </p:txBody>
      </p:sp>
    </p:spTree>
    <p:extLst>
      <p:ext uri="{BB962C8B-B14F-4D97-AF65-F5344CB8AC3E}">
        <p14:creationId xmlns:p14="http://schemas.microsoft.com/office/powerpoint/2010/main" val="2351144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6454C8E-1985-5E9C-AD05-D6440C717990}"/>
            </a:ext>
          </a:extLst>
        </p:cNvPr>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4E4D109C-EE03-655A-25E6-E20AA2098F1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07" imgH="307" progId="TCLayout.ActiveDocument.1">
                  <p:embed/>
                </p:oleObj>
              </mc:Choice>
              <mc:Fallback>
                <p:oleObj name="think-cell Slide" r:id="rId4" imgW="307" imgH="307" progId="TCLayout.ActiveDocument.1">
                  <p:embed/>
                  <p:pic>
                    <p:nvPicPr>
                      <p:cNvPr id="7" name="Object 6" hidden="1">
                        <a:extLst>
                          <a:ext uri="{FF2B5EF4-FFF2-40B4-BE49-F238E27FC236}">
                            <a16:creationId xmlns:a16="http://schemas.microsoft.com/office/drawing/2014/main" id="{5B52D7FB-A00F-DB5F-7275-8C946859DFD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cxnSp>
        <p:nvCxnSpPr>
          <p:cNvPr id="42" name="Gerader Verbinder 34">
            <a:extLst>
              <a:ext uri="{FF2B5EF4-FFF2-40B4-BE49-F238E27FC236}">
                <a16:creationId xmlns:a16="http://schemas.microsoft.com/office/drawing/2014/main" id="{DDBBC2B0-47EA-3CC9-3EB3-0A8C19AC3BD5}"/>
              </a:ext>
            </a:extLst>
          </p:cNvPr>
          <p:cNvCxnSpPr>
            <a:cxnSpLocks/>
          </p:cNvCxnSpPr>
          <p:nvPr/>
        </p:nvCxnSpPr>
        <p:spPr>
          <a:xfrm>
            <a:off x="337799" y="831038"/>
            <a:ext cx="115164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4" name="Tabelle 3">
            <a:extLst>
              <a:ext uri="{FF2B5EF4-FFF2-40B4-BE49-F238E27FC236}">
                <a16:creationId xmlns:a16="http://schemas.microsoft.com/office/drawing/2014/main" id="{BCB91A36-6065-32F3-61C4-E402391C05C6}"/>
              </a:ext>
            </a:extLst>
          </p:cNvPr>
          <p:cNvGraphicFramePr>
            <a:graphicFrameLocks noGrp="1"/>
          </p:cNvGraphicFramePr>
          <p:nvPr>
            <p:extLst>
              <p:ext uri="{D42A27DB-BD31-4B8C-83A1-F6EECF244321}">
                <p14:modId xmlns:p14="http://schemas.microsoft.com/office/powerpoint/2010/main" val="3715824501"/>
              </p:ext>
            </p:extLst>
          </p:nvPr>
        </p:nvGraphicFramePr>
        <p:xfrm>
          <a:off x="387717" y="1470754"/>
          <a:ext cx="11472205" cy="4820599"/>
        </p:xfrm>
        <a:graphic>
          <a:graphicData uri="http://schemas.openxmlformats.org/drawingml/2006/table">
            <a:tbl>
              <a:tblPr firstRow="1" bandRow="1">
                <a:tableStyleId>{BDBED569-4797-4DF1-A0F4-6AAB3CD982D8}</a:tableStyleId>
              </a:tblPr>
              <a:tblGrid>
                <a:gridCol w="2294441">
                  <a:extLst>
                    <a:ext uri="{9D8B030D-6E8A-4147-A177-3AD203B41FA5}">
                      <a16:colId xmlns:a16="http://schemas.microsoft.com/office/drawing/2014/main" val="3201869666"/>
                    </a:ext>
                  </a:extLst>
                </a:gridCol>
                <a:gridCol w="2294441">
                  <a:extLst>
                    <a:ext uri="{9D8B030D-6E8A-4147-A177-3AD203B41FA5}">
                      <a16:colId xmlns:a16="http://schemas.microsoft.com/office/drawing/2014/main" val="1207860843"/>
                    </a:ext>
                  </a:extLst>
                </a:gridCol>
                <a:gridCol w="2294441">
                  <a:extLst>
                    <a:ext uri="{9D8B030D-6E8A-4147-A177-3AD203B41FA5}">
                      <a16:colId xmlns:a16="http://schemas.microsoft.com/office/drawing/2014/main" val="4137849039"/>
                    </a:ext>
                  </a:extLst>
                </a:gridCol>
                <a:gridCol w="2294441">
                  <a:extLst>
                    <a:ext uri="{9D8B030D-6E8A-4147-A177-3AD203B41FA5}">
                      <a16:colId xmlns:a16="http://schemas.microsoft.com/office/drawing/2014/main" val="995327289"/>
                    </a:ext>
                  </a:extLst>
                </a:gridCol>
                <a:gridCol w="2294441">
                  <a:extLst>
                    <a:ext uri="{9D8B030D-6E8A-4147-A177-3AD203B41FA5}">
                      <a16:colId xmlns:a16="http://schemas.microsoft.com/office/drawing/2014/main" val="3592827713"/>
                    </a:ext>
                  </a:extLst>
                </a:gridCol>
              </a:tblGrid>
              <a:tr h="1073377">
                <a:tc>
                  <a:txBody>
                    <a:bodyPr/>
                    <a:lstStyle/>
                    <a:p>
                      <a:pPr>
                        <a:buNone/>
                      </a:pPr>
                      <a:r>
                        <a:rPr lang="de-DE" sz="1200" b="0" dirty="0"/>
                        <a:t>Paragon Partners GmbH – </a:t>
                      </a:r>
                      <a:r>
                        <a:rPr lang="de-DE" sz="1200" b="0" i="1" dirty="0"/>
                        <a:t>paragon.de</a:t>
                      </a:r>
                      <a:endParaRPr lang="de-DE" sz="1200" b="0" dirty="0"/>
                    </a:p>
                  </a:txBody>
                  <a:tcPr anchor="ctr"/>
                </a:tc>
                <a:tc>
                  <a:txBody>
                    <a:bodyPr/>
                    <a:lstStyle/>
                    <a:p>
                      <a:pPr>
                        <a:buNone/>
                      </a:pPr>
                      <a:r>
                        <a:rPr lang="de-DE" sz="1200" b="0" dirty="0"/>
                        <a:t>Mittelstands-PE, Industrie &amp; Tech  </a:t>
                      </a:r>
                    </a:p>
                  </a:txBody>
                  <a:tcPr anchor="ctr"/>
                </a:tc>
                <a:tc>
                  <a:txBody>
                    <a:bodyPr/>
                    <a:lstStyle/>
                    <a:p>
                      <a:pPr>
                        <a:buNone/>
                      </a:pPr>
                      <a:r>
                        <a:rPr lang="de-DE" sz="1200" b="0" dirty="0"/>
                        <a:t>Deutschland</a:t>
                      </a:r>
                    </a:p>
                  </a:txBody>
                  <a:tcPr anchor="ctr"/>
                </a:tc>
                <a:tc>
                  <a:txBody>
                    <a:bodyPr/>
                    <a:lstStyle/>
                    <a:p>
                      <a:pPr>
                        <a:buNone/>
                      </a:pPr>
                      <a:r>
                        <a:rPr lang="de-DE" sz="1200" b="0" dirty="0"/>
                        <a:t>Buyouts/Expansion €10–150 Mio.</a:t>
                      </a:r>
                    </a:p>
                  </a:txBody>
                  <a:tcPr anchor="ctr"/>
                </a:tc>
                <a:tc>
                  <a:txBody>
                    <a:bodyPr/>
                    <a:lstStyle/>
                    <a:p>
                      <a:pPr>
                        <a:buNone/>
                      </a:pPr>
                      <a:r>
                        <a:rPr lang="de-DE" sz="1200" b="0" dirty="0"/>
                        <a:t>Wachstum &amp; Skalierung von Mittelstandsunternehmen, Fokus auf Industrie/IoT</a:t>
                      </a:r>
                    </a:p>
                  </a:txBody>
                  <a:tcPr anchor="ctr"/>
                </a:tc>
                <a:extLst>
                  <a:ext uri="{0D108BD9-81ED-4DB2-BD59-A6C34878D82A}">
                    <a16:rowId xmlns:a16="http://schemas.microsoft.com/office/drawing/2014/main" val="2198942322"/>
                  </a:ext>
                </a:extLst>
              </a:tr>
              <a:tr h="677922">
                <a:tc>
                  <a:txBody>
                    <a:bodyPr/>
                    <a:lstStyle/>
                    <a:p>
                      <a:pPr>
                        <a:buNone/>
                      </a:pPr>
                      <a:r>
                        <a:rPr lang="de-DE" sz="1200" b="0" dirty="0"/>
                        <a:t>PINOVA Capital GmbH – </a:t>
                      </a:r>
                      <a:r>
                        <a:rPr lang="de-DE" sz="1200" b="0" i="1" dirty="0"/>
                        <a:t>pinova-capital.de</a:t>
                      </a:r>
                      <a:endParaRPr lang="de-DE" sz="1200" b="0" dirty="0"/>
                    </a:p>
                  </a:txBody>
                  <a:tcPr anchor="ctr">
                    <a:solidFill>
                      <a:schemeClr val="bg1">
                        <a:alpha val="20000"/>
                      </a:schemeClr>
                    </a:solidFill>
                  </a:tcPr>
                </a:tc>
                <a:tc>
                  <a:txBody>
                    <a:bodyPr/>
                    <a:lstStyle/>
                    <a:p>
                      <a:pPr>
                        <a:buNone/>
                      </a:pPr>
                      <a:r>
                        <a:rPr lang="de-DE" sz="1200" dirty="0"/>
                        <a:t>Industrie-/Technologie-Unternehmen</a:t>
                      </a:r>
                    </a:p>
                  </a:txBody>
                  <a:tcPr anchor="ctr">
                    <a:solidFill>
                      <a:schemeClr val="bg1">
                        <a:alpha val="20000"/>
                      </a:schemeClr>
                    </a:solidFill>
                  </a:tcPr>
                </a:tc>
                <a:tc>
                  <a:txBody>
                    <a:bodyPr/>
                    <a:lstStyle/>
                    <a:p>
                      <a:pPr>
                        <a:buNone/>
                      </a:pPr>
                      <a:r>
                        <a:rPr lang="de-DE" sz="1200" dirty="0"/>
                        <a:t>Deutschland</a:t>
                      </a:r>
                    </a:p>
                  </a:txBody>
                  <a:tcPr anchor="ctr">
                    <a:solidFill>
                      <a:schemeClr val="bg1">
                        <a:alpha val="20000"/>
                      </a:schemeClr>
                    </a:solidFill>
                  </a:tcPr>
                </a:tc>
                <a:tc>
                  <a:txBody>
                    <a:bodyPr/>
                    <a:lstStyle/>
                    <a:p>
                      <a:pPr>
                        <a:buNone/>
                      </a:pPr>
                      <a:r>
                        <a:rPr lang="de-DE" sz="1200" dirty="0"/>
                        <a:t>Mittelstand €10–50 Mio.</a:t>
                      </a:r>
                    </a:p>
                  </a:txBody>
                  <a:tcPr anchor="ctr">
                    <a:solidFill>
                      <a:schemeClr val="bg1">
                        <a:alpha val="20000"/>
                      </a:schemeClr>
                    </a:solidFill>
                  </a:tcPr>
                </a:tc>
                <a:tc>
                  <a:txBody>
                    <a:bodyPr/>
                    <a:lstStyle/>
                    <a:p>
                      <a:pPr>
                        <a:buNone/>
                      </a:pPr>
                      <a:r>
                        <a:rPr lang="de-DE" sz="1200" b="0" dirty="0"/>
                        <a:t>Investitionen in wachstumsstarke Tech/Industrial Firmen</a:t>
                      </a:r>
                    </a:p>
                  </a:txBody>
                  <a:tcPr anchor="ctr">
                    <a:solidFill>
                      <a:schemeClr val="bg1">
                        <a:alpha val="20000"/>
                      </a:schemeClr>
                    </a:solidFill>
                  </a:tcPr>
                </a:tc>
                <a:extLst>
                  <a:ext uri="{0D108BD9-81ED-4DB2-BD59-A6C34878D82A}">
                    <a16:rowId xmlns:a16="http://schemas.microsoft.com/office/drawing/2014/main" val="651776465"/>
                  </a:ext>
                </a:extLst>
              </a:tr>
              <a:tr h="677922">
                <a:tc>
                  <a:txBody>
                    <a:bodyPr/>
                    <a:lstStyle/>
                    <a:p>
                      <a:pPr>
                        <a:buNone/>
                      </a:pPr>
                      <a:r>
                        <a:rPr lang="de-DE" sz="1200" b="0" dirty="0"/>
                        <a:t>IK Partners – </a:t>
                      </a:r>
                      <a:r>
                        <a:rPr lang="de-DE" sz="1200" b="0" i="1" dirty="0"/>
                        <a:t>ikpartners.com</a:t>
                      </a:r>
                      <a:endParaRPr lang="de-DE" sz="1200" b="0" dirty="0"/>
                    </a:p>
                  </a:txBody>
                  <a:tcPr anchor="ctr"/>
                </a:tc>
                <a:tc>
                  <a:txBody>
                    <a:bodyPr/>
                    <a:lstStyle/>
                    <a:p>
                      <a:pPr>
                        <a:buNone/>
                      </a:pPr>
                      <a:r>
                        <a:rPr lang="de-DE" sz="1200" dirty="0"/>
                        <a:t>Mid-Market PE, Industrie &amp; Tech</a:t>
                      </a:r>
                    </a:p>
                  </a:txBody>
                  <a:tcPr anchor="ctr"/>
                </a:tc>
                <a:tc>
                  <a:txBody>
                    <a:bodyPr/>
                    <a:lstStyle/>
                    <a:p>
                      <a:pPr>
                        <a:buNone/>
                      </a:pPr>
                      <a:r>
                        <a:rPr lang="de-DE" sz="1200" dirty="0"/>
                        <a:t>Europa / Deutschland</a:t>
                      </a:r>
                    </a:p>
                  </a:txBody>
                  <a:tcPr anchor="ctr"/>
                </a:tc>
                <a:tc>
                  <a:txBody>
                    <a:bodyPr/>
                    <a:lstStyle/>
                    <a:p>
                      <a:pPr>
                        <a:buNone/>
                      </a:pPr>
                      <a:r>
                        <a:rPr lang="de-DE" sz="1200" dirty="0"/>
                        <a:t>€50–200 Mio.</a:t>
                      </a:r>
                    </a:p>
                  </a:txBody>
                  <a:tcPr anchor="ctr"/>
                </a:tc>
                <a:tc>
                  <a:txBody>
                    <a:bodyPr/>
                    <a:lstStyle/>
                    <a:p>
                      <a:pPr>
                        <a:buNone/>
                      </a:pPr>
                      <a:r>
                        <a:rPr lang="de-DE" sz="1200" dirty="0"/>
                        <a:t>Expansion von Industrie-/Technologieunternehmen, internationale Skalierung</a:t>
                      </a:r>
                    </a:p>
                  </a:txBody>
                  <a:tcPr anchor="ctr"/>
                </a:tc>
                <a:extLst>
                  <a:ext uri="{0D108BD9-81ED-4DB2-BD59-A6C34878D82A}">
                    <a16:rowId xmlns:a16="http://schemas.microsoft.com/office/drawing/2014/main" val="3541567247"/>
                  </a:ext>
                </a:extLst>
              </a:tr>
              <a:tr h="875649">
                <a:tc>
                  <a:txBody>
                    <a:bodyPr/>
                    <a:lstStyle/>
                    <a:p>
                      <a:pPr>
                        <a:buNone/>
                      </a:pPr>
                      <a:r>
                        <a:rPr lang="de-DE" sz="1200" b="0" dirty="0" err="1"/>
                        <a:t>Auctus</a:t>
                      </a:r>
                      <a:r>
                        <a:rPr lang="de-DE" sz="1200" b="0" dirty="0"/>
                        <a:t> Capital Partners – </a:t>
                      </a:r>
                      <a:r>
                        <a:rPr lang="de-DE" sz="1200" b="0" i="1" dirty="0"/>
                        <a:t>auctuscapital.com</a:t>
                      </a:r>
                      <a:endParaRPr lang="de-DE" sz="1200" b="0" dirty="0"/>
                    </a:p>
                  </a:txBody>
                  <a:tcPr anchor="ctr">
                    <a:solidFill>
                      <a:schemeClr val="bg1">
                        <a:alpha val="20000"/>
                      </a:schemeClr>
                    </a:solidFill>
                  </a:tcPr>
                </a:tc>
                <a:tc>
                  <a:txBody>
                    <a:bodyPr/>
                    <a:lstStyle/>
                    <a:p>
                      <a:pPr>
                        <a:buNone/>
                      </a:pPr>
                      <a:r>
                        <a:rPr lang="de-DE" sz="1200" dirty="0"/>
                        <a:t>Mittelstands-Buyouts &amp; Wachstumskapital, IT &amp; Industrie</a:t>
                      </a:r>
                    </a:p>
                  </a:txBody>
                  <a:tcPr anchor="ctr">
                    <a:solidFill>
                      <a:schemeClr val="bg1">
                        <a:alpha val="20000"/>
                      </a:schemeClr>
                    </a:solidFill>
                  </a:tcPr>
                </a:tc>
                <a:tc>
                  <a:txBody>
                    <a:bodyPr/>
                    <a:lstStyle/>
                    <a:p>
                      <a:r>
                        <a:rPr lang="de-DE" sz="1200" dirty="0"/>
                        <a:t>Deutschland</a:t>
                      </a:r>
                    </a:p>
                  </a:txBody>
                  <a:tcPr>
                    <a:solidFill>
                      <a:schemeClr val="bg1">
                        <a:alpha val="20000"/>
                      </a:schemeClr>
                    </a:solidFill>
                  </a:tcPr>
                </a:tc>
                <a:tc>
                  <a:txBody>
                    <a:bodyPr/>
                    <a:lstStyle/>
                    <a:p>
                      <a:pPr>
                        <a:buNone/>
                      </a:pPr>
                      <a:r>
                        <a:rPr lang="de-DE" sz="1200" dirty="0"/>
                        <a:t>€20–100 Mio.</a:t>
                      </a:r>
                    </a:p>
                  </a:txBody>
                  <a:tcPr anchor="ctr">
                    <a:solidFill>
                      <a:schemeClr val="bg1">
                        <a:alpha val="20000"/>
                      </a:schemeClr>
                    </a:solidFill>
                  </a:tcPr>
                </a:tc>
                <a:tc>
                  <a:txBody>
                    <a:bodyPr/>
                    <a:lstStyle/>
                    <a:p>
                      <a:pPr>
                        <a:buNone/>
                      </a:pPr>
                      <a:r>
                        <a:rPr lang="de-DE" sz="1200" dirty="0"/>
                        <a:t>Skalierung von Technologie-/Industrieunternehmen, Buy-and-</a:t>
                      </a:r>
                      <a:r>
                        <a:rPr lang="de-DE" sz="1200" dirty="0" err="1"/>
                        <a:t>Build</a:t>
                      </a:r>
                      <a:endParaRPr lang="de-DE" sz="1200" dirty="0"/>
                    </a:p>
                  </a:txBody>
                  <a:tcPr anchor="ctr">
                    <a:solidFill>
                      <a:schemeClr val="bg1">
                        <a:alpha val="20000"/>
                      </a:schemeClr>
                    </a:solidFill>
                  </a:tcPr>
                </a:tc>
                <a:extLst>
                  <a:ext uri="{0D108BD9-81ED-4DB2-BD59-A6C34878D82A}">
                    <a16:rowId xmlns:a16="http://schemas.microsoft.com/office/drawing/2014/main" val="1346486729"/>
                  </a:ext>
                </a:extLst>
              </a:tr>
              <a:tr h="875649">
                <a:tc>
                  <a:txBody>
                    <a:bodyPr/>
                    <a:lstStyle/>
                    <a:p>
                      <a:pPr>
                        <a:buNone/>
                      </a:pPr>
                      <a:r>
                        <a:rPr lang="de-DE" sz="1200" b="0" dirty="0"/>
                        <a:t>EMH Partners – </a:t>
                      </a:r>
                      <a:r>
                        <a:rPr lang="de-DE" sz="1200" b="0" i="1" dirty="0"/>
                        <a:t>emh-partners.com</a:t>
                      </a:r>
                      <a:endParaRPr lang="de-DE" sz="1200" b="0" dirty="0"/>
                    </a:p>
                  </a:txBody>
                  <a:tcPr anchor="ctr"/>
                </a:tc>
                <a:tc>
                  <a:txBody>
                    <a:bodyPr/>
                    <a:lstStyle/>
                    <a:p>
                      <a:pPr>
                        <a:buNone/>
                      </a:pPr>
                      <a:r>
                        <a:rPr lang="de-DE" sz="1200" dirty="0"/>
                        <a:t>Technologie &amp; Industrie, Mid-Market</a:t>
                      </a:r>
                    </a:p>
                  </a:txBody>
                  <a:tcPr anchor="ctr"/>
                </a:tc>
                <a:tc>
                  <a:txBody>
                    <a:bodyPr/>
                    <a:lstStyle/>
                    <a:p>
                      <a:pPr>
                        <a:buNone/>
                      </a:pPr>
                      <a:r>
                        <a:rPr lang="de-DE" sz="1200" dirty="0"/>
                        <a:t>Deutschland</a:t>
                      </a:r>
                    </a:p>
                  </a:txBody>
                  <a:tcPr anchor="ctr"/>
                </a:tc>
                <a:tc>
                  <a:txBody>
                    <a:bodyPr/>
                    <a:lstStyle/>
                    <a:p>
                      <a:pPr>
                        <a:buNone/>
                      </a:pPr>
                      <a:r>
                        <a:rPr lang="de-DE" sz="1200" dirty="0"/>
                        <a:t>€20–80 Mio.</a:t>
                      </a:r>
                    </a:p>
                  </a:txBody>
                  <a:tcPr anchor="ctr"/>
                </a:tc>
                <a:tc>
                  <a:txBody>
                    <a:bodyPr/>
                    <a:lstStyle/>
                    <a:p>
                      <a:pPr>
                        <a:buNone/>
                      </a:pPr>
                      <a:r>
                        <a:rPr lang="de-DE" sz="1200" dirty="0"/>
                        <a:t>Wachstumsfinanzierung für Tech &amp; Industrie (IoT, Embedded Systems)</a:t>
                      </a:r>
                      <a:endParaRPr lang="de-DE" sz="1200" b="0" dirty="0"/>
                    </a:p>
                  </a:txBody>
                  <a:tcPr anchor="ctr"/>
                </a:tc>
                <a:extLst>
                  <a:ext uri="{0D108BD9-81ED-4DB2-BD59-A6C34878D82A}">
                    <a16:rowId xmlns:a16="http://schemas.microsoft.com/office/drawing/2014/main" val="2968831951"/>
                  </a:ext>
                </a:extLst>
              </a:tr>
              <a:tr h="338961">
                <a:tc>
                  <a:txBody>
                    <a:bodyPr/>
                    <a:lstStyle/>
                    <a:p>
                      <a:pPr>
                        <a:buNone/>
                      </a:pPr>
                      <a:r>
                        <a:rPr lang="de-DE" sz="1200" b="0" dirty="0" err="1"/>
                        <a:t>Emeram</a:t>
                      </a:r>
                      <a:r>
                        <a:rPr lang="de-DE" sz="1200" b="0" dirty="0"/>
                        <a:t> Capital Partners – </a:t>
                      </a:r>
                      <a:r>
                        <a:rPr lang="de-DE" sz="1200" b="0" i="1" dirty="0"/>
                        <a:t>emeramcapital.com</a:t>
                      </a:r>
                      <a:endParaRPr lang="de-DE" sz="1200" b="0" dirty="0"/>
                    </a:p>
                  </a:txBody>
                  <a:tcPr anchor="ctr">
                    <a:solidFill>
                      <a:schemeClr val="bg1">
                        <a:alpha val="20000"/>
                      </a:schemeClr>
                    </a:solidFill>
                  </a:tcPr>
                </a:tc>
                <a:tc>
                  <a:txBody>
                    <a:bodyPr/>
                    <a:lstStyle/>
                    <a:p>
                      <a:pPr>
                        <a:buNone/>
                      </a:pPr>
                      <a:r>
                        <a:rPr lang="de-DE" sz="1200" dirty="0"/>
                        <a:t>Buyouts in Industrie &amp; Technologie</a:t>
                      </a:r>
                    </a:p>
                  </a:txBody>
                  <a:tcPr anchor="ctr">
                    <a:solidFill>
                      <a:schemeClr val="bg1">
                        <a:alpha val="20000"/>
                      </a:schemeClr>
                    </a:solidFill>
                  </a:tcPr>
                </a:tc>
                <a:tc>
                  <a:txBody>
                    <a:bodyPr/>
                    <a:lstStyle/>
                    <a:p>
                      <a:r>
                        <a:rPr lang="de-DE" sz="1200" dirty="0"/>
                        <a:t>Deutschland</a:t>
                      </a:r>
                    </a:p>
                  </a:txBody>
                  <a:tcPr>
                    <a:solidFill>
                      <a:schemeClr val="bg1">
                        <a:alpha val="20000"/>
                      </a:schemeClr>
                    </a:solidFill>
                  </a:tcPr>
                </a:tc>
                <a:tc>
                  <a:txBody>
                    <a:bodyPr/>
                    <a:lstStyle/>
                    <a:p>
                      <a:pPr>
                        <a:buNone/>
                      </a:pPr>
                      <a:r>
                        <a:rPr lang="de-DE" sz="1200" dirty="0"/>
                        <a:t>€20–100 Mio.</a:t>
                      </a:r>
                    </a:p>
                  </a:txBody>
                  <a:tcPr anchor="ctr">
                    <a:solidFill>
                      <a:schemeClr val="bg1">
                        <a:alpha val="20000"/>
                      </a:schemeClr>
                    </a:solidFill>
                  </a:tcPr>
                </a:tc>
                <a:tc>
                  <a:txBody>
                    <a:bodyPr/>
                    <a:lstStyle/>
                    <a:p>
                      <a:pPr>
                        <a:buNone/>
                      </a:pPr>
                      <a:r>
                        <a:rPr lang="de-DE" sz="1200" dirty="0"/>
                        <a:t>Technologie- und wachstumsorientierte Mittelstandsunternehmen</a:t>
                      </a:r>
                      <a:endParaRPr lang="de-DE" sz="1200" b="0" dirty="0"/>
                    </a:p>
                  </a:txBody>
                  <a:tcPr anchor="ctr">
                    <a:solidFill>
                      <a:schemeClr val="bg1">
                        <a:alpha val="20000"/>
                      </a:schemeClr>
                    </a:solidFill>
                  </a:tcPr>
                </a:tc>
                <a:extLst>
                  <a:ext uri="{0D108BD9-81ED-4DB2-BD59-A6C34878D82A}">
                    <a16:rowId xmlns:a16="http://schemas.microsoft.com/office/drawing/2014/main" val="3732054486"/>
                  </a:ext>
                </a:extLst>
              </a:tr>
            </a:tbl>
          </a:graphicData>
        </a:graphic>
      </p:graphicFrame>
      <p:sp>
        <p:nvSpPr>
          <p:cNvPr id="13" name="Titel 12">
            <a:extLst>
              <a:ext uri="{FF2B5EF4-FFF2-40B4-BE49-F238E27FC236}">
                <a16:creationId xmlns:a16="http://schemas.microsoft.com/office/drawing/2014/main" id="{65C58F02-7898-2A84-C515-0C873D85CB79}"/>
              </a:ext>
            </a:extLst>
          </p:cNvPr>
          <p:cNvSpPr>
            <a:spLocks noGrp="1"/>
          </p:cNvSpPr>
          <p:nvPr>
            <p:ph type="title"/>
          </p:nvPr>
        </p:nvSpPr>
        <p:spPr>
          <a:xfrm>
            <a:off x="359895" y="342066"/>
            <a:ext cx="11472207" cy="372190"/>
          </a:xfrm>
        </p:spPr>
        <p:txBody>
          <a:bodyPr/>
          <a:lstStyle/>
          <a:p>
            <a:r>
              <a:rPr lang="de-DE" sz="2500" b="1" dirty="0">
                <a:latin typeface="+mj-lt"/>
              </a:rPr>
              <a:t>Longlist (Finanzinvestoren)</a:t>
            </a:r>
          </a:p>
        </p:txBody>
      </p:sp>
      <p:sp>
        <p:nvSpPr>
          <p:cNvPr id="5" name="Textfeld 4">
            <a:extLst>
              <a:ext uri="{FF2B5EF4-FFF2-40B4-BE49-F238E27FC236}">
                <a16:creationId xmlns:a16="http://schemas.microsoft.com/office/drawing/2014/main" id="{E3DCF8C8-42B9-B499-526F-76B0B45B5D66}"/>
              </a:ext>
            </a:extLst>
          </p:cNvPr>
          <p:cNvSpPr txBox="1"/>
          <p:nvPr/>
        </p:nvSpPr>
        <p:spPr>
          <a:xfrm>
            <a:off x="387717" y="1095387"/>
            <a:ext cx="2345858" cy="375367"/>
          </a:xfrm>
          <a:prstGeom prst="rect">
            <a:avLst/>
          </a:prstGeom>
          <a:noFill/>
        </p:spPr>
        <p:txBody>
          <a:bodyPr wrap="square" rtlCol="0">
            <a:spAutoFit/>
          </a:bodyPr>
          <a:lstStyle/>
          <a:p>
            <a:r>
              <a:rPr lang="de-DE" dirty="0"/>
              <a:t>Name</a:t>
            </a:r>
          </a:p>
        </p:txBody>
      </p:sp>
      <p:sp>
        <p:nvSpPr>
          <p:cNvPr id="6" name="Textfeld 5">
            <a:extLst>
              <a:ext uri="{FF2B5EF4-FFF2-40B4-BE49-F238E27FC236}">
                <a16:creationId xmlns:a16="http://schemas.microsoft.com/office/drawing/2014/main" id="{D1869B08-5709-877C-53A2-864C18DF8974}"/>
              </a:ext>
            </a:extLst>
          </p:cNvPr>
          <p:cNvSpPr txBox="1"/>
          <p:nvPr/>
        </p:nvSpPr>
        <p:spPr>
          <a:xfrm>
            <a:off x="2733575" y="1101422"/>
            <a:ext cx="1990825" cy="369332"/>
          </a:xfrm>
          <a:prstGeom prst="rect">
            <a:avLst/>
          </a:prstGeom>
          <a:noFill/>
        </p:spPr>
        <p:txBody>
          <a:bodyPr wrap="square" rtlCol="0">
            <a:spAutoFit/>
          </a:bodyPr>
          <a:lstStyle/>
          <a:p>
            <a:r>
              <a:rPr lang="de-DE" dirty="0"/>
              <a:t>Branche</a:t>
            </a:r>
          </a:p>
        </p:txBody>
      </p:sp>
      <p:sp>
        <p:nvSpPr>
          <p:cNvPr id="8" name="Textfeld 7">
            <a:extLst>
              <a:ext uri="{FF2B5EF4-FFF2-40B4-BE49-F238E27FC236}">
                <a16:creationId xmlns:a16="http://schemas.microsoft.com/office/drawing/2014/main" id="{C9C0AEEB-32D0-804B-692E-5116C048E143}"/>
              </a:ext>
            </a:extLst>
          </p:cNvPr>
          <p:cNvSpPr txBox="1"/>
          <p:nvPr/>
        </p:nvSpPr>
        <p:spPr>
          <a:xfrm>
            <a:off x="5033716" y="1101422"/>
            <a:ext cx="1990825" cy="369332"/>
          </a:xfrm>
          <a:prstGeom prst="rect">
            <a:avLst/>
          </a:prstGeom>
          <a:noFill/>
        </p:spPr>
        <p:txBody>
          <a:bodyPr wrap="square" rtlCol="0">
            <a:spAutoFit/>
          </a:bodyPr>
          <a:lstStyle/>
          <a:p>
            <a:r>
              <a:rPr lang="de-DE" dirty="0"/>
              <a:t>Region</a:t>
            </a:r>
          </a:p>
        </p:txBody>
      </p:sp>
      <p:sp>
        <p:nvSpPr>
          <p:cNvPr id="9" name="Textfeld 8">
            <a:extLst>
              <a:ext uri="{FF2B5EF4-FFF2-40B4-BE49-F238E27FC236}">
                <a16:creationId xmlns:a16="http://schemas.microsoft.com/office/drawing/2014/main" id="{AC60CDF3-0119-7F3B-981C-9770BEACC0C2}"/>
              </a:ext>
            </a:extLst>
          </p:cNvPr>
          <p:cNvSpPr txBox="1"/>
          <p:nvPr/>
        </p:nvSpPr>
        <p:spPr>
          <a:xfrm>
            <a:off x="7333857" y="1101422"/>
            <a:ext cx="1990825" cy="369332"/>
          </a:xfrm>
          <a:prstGeom prst="rect">
            <a:avLst/>
          </a:prstGeom>
          <a:noFill/>
        </p:spPr>
        <p:txBody>
          <a:bodyPr wrap="square" rtlCol="0">
            <a:spAutoFit/>
          </a:bodyPr>
          <a:lstStyle/>
          <a:p>
            <a:r>
              <a:rPr lang="de-DE" dirty="0"/>
              <a:t>Größe (</a:t>
            </a:r>
            <a:r>
              <a:rPr lang="de-DE" dirty="0" err="1"/>
              <a:t>AuM</a:t>
            </a:r>
            <a:r>
              <a:rPr lang="de-DE" dirty="0"/>
              <a:t>)</a:t>
            </a:r>
          </a:p>
        </p:txBody>
      </p:sp>
      <p:sp>
        <p:nvSpPr>
          <p:cNvPr id="10" name="Textfeld 9">
            <a:extLst>
              <a:ext uri="{FF2B5EF4-FFF2-40B4-BE49-F238E27FC236}">
                <a16:creationId xmlns:a16="http://schemas.microsoft.com/office/drawing/2014/main" id="{8B6134CD-C8D9-D44D-B6E6-36255EB46A27}"/>
              </a:ext>
            </a:extLst>
          </p:cNvPr>
          <p:cNvSpPr txBox="1"/>
          <p:nvPr/>
        </p:nvSpPr>
        <p:spPr>
          <a:xfrm>
            <a:off x="9633998" y="1083588"/>
            <a:ext cx="1990825" cy="369332"/>
          </a:xfrm>
          <a:prstGeom prst="rect">
            <a:avLst/>
          </a:prstGeom>
          <a:noFill/>
        </p:spPr>
        <p:txBody>
          <a:bodyPr wrap="square" rtlCol="0">
            <a:spAutoFit/>
          </a:bodyPr>
          <a:lstStyle/>
          <a:p>
            <a:r>
              <a:rPr lang="de-DE" dirty="0"/>
              <a:t>Fokus</a:t>
            </a:r>
          </a:p>
        </p:txBody>
      </p:sp>
    </p:spTree>
    <p:extLst>
      <p:ext uri="{BB962C8B-B14F-4D97-AF65-F5344CB8AC3E}">
        <p14:creationId xmlns:p14="http://schemas.microsoft.com/office/powerpoint/2010/main" val="126518402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KHy2w1fbeMNTJfUWJ1Ekp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aDaHZTfzmwsafEaAUDtEGg"/>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aDaHZTfzmwsafEaAUDtEGg"/>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aDaHZTfzmwsafEaAUDtEGg"/>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aDaHZTfzmwsafEaAUDtEGg"/>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Content Slides">
  <a:themeElements>
    <a:clrScheme name="Vega Partners Colorway">
      <a:dk1>
        <a:srgbClr val="000000"/>
      </a:dk1>
      <a:lt1>
        <a:srgbClr val="FFFFFF"/>
      </a:lt1>
      <a:dk2>
        <a:srgbClr val="5A5A5A"/>
      </a:dk2>
      <a:lt2>
        <a:srgbClr val="F7F5F3"/>
      </a:lt2>
      <a:accent1>
        <a:srgbClr val="6093AC"/>
      </a:accent1>
      <a:accent2>
        <a:srgbClr val="005E83"/>
      </a:accent2>
      <a:accent3>
        <a:srgbClr val="007577"/>
      </a:accent3>
      <a:accent4>
        <a:srgbClr val="0089B6"/>
      </a:accent4>
      <a:accent5>
        <a:srgbClr val="637D96"/>
      </a:accent5>
      <a:accent6>
        <a:srgbClr val="00387B"/>
      </a:accent6>
      <a:hlink>
        <a:srgbClr val="000000"/>
      </a:hlink>
      <a:folHlink>
        <a:srgbClr val="000000"/>
      </a:folHlink>
    </a:clrScheme>
    <a:fontScheme name="Custom 1">
      <a:majorFont>
        <a:latin typeface="Century Gothic"/>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adial Powerpoint Design" id="{F6623E2C-5A31-48AC-8157-6CADC7F4450E}" vid="{40FF17E0-35BC-41F0-89E4-281EE3D5A552}"/>
    </a:ext>
  </a:extLst>
</a:theme>
</file>

<file path=ppt/theme/theme2.xml><?xml version="1.0" encoding="utf-8"?>
<a:theme xmlns:a="http://schemas.openxmlformats.org/drawingml/2006/main" name="Title Pag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020212459052754CB4B9043713DD6672" ma:contentTypeVersion="10" ma:contentTypeDescription="Ein neues Dokument erstellen." ma:contentTypeScope="" ma:versionID="a2991409122851bb8502a77a3523e3b1">
  <xsd:schema xmlns:xsd="http://www.w3.org/2001/XMLSchema" xmlns:xs="http://www.w3.org/2001/XMLSchema" xmlns:p="http://schemas.microsoft.com/office/2006/metadata/properties" xmlns:ns2="e760d316-4032-4237-9c3e-baef9616dc66" xmlns:ns3="88e59512-fe05-4ec5-bd68-809bd836982f" targetNamespace="http://schemas.microsoft.com/office/2006/metadata/properties" ma:root="true" ma:fieldsID="db77f68024217d305a188c23ae69c47c" ns2:_="" ns3:_="">
    <xsd:import namespace="e760d316-4032-4237-9c3e-baef9616dc66"/>
    <xsd:import namespace="88e59512-fe05-4ec5-bd68-809bd836982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GenerationTime" minOccurs="0"/>
                <xsd:element ref="ns2:MediaServiceEventHashCode"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760d316-4032-4237-9c3e-baef9616dc6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lcf76f155ced4ddcb4097134ff3c332f" ma:index="15" nillable="true" ma:taxonomy="true" ma:internalName="lcf76f155ced4ddcb4097134ff3c332f" ma:taxonomyFieldName="MediaServiceImageTags" ma:displayName="Bildmarkierungen" ma:readOnly="false" ma:fieldId="{5cf76f15-5ced-4ddc-b409-7134ff3c332f}" ma:taxonomyMulti="true" ma:sspId="e3f6e534-ed45-4829-89cb-574d4206154c"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8e59512-fe05-4ec5-bd68-809bd836982f"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402902ce-f6b8-4c63-8425-e573bb75850a}" ma:internalName="TaxCatchAll" ma:showField="CatchAllData" ma:web="88e59512-fe05-4ec5-bd68-809bd836982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760d316-4032-4237-9c3e-baef9616dc66">
      <Terms xmlns="http://schemas.microsoft.com/office/infopath/2007/PartnerControls"/>
    </lcf76f155ced4ddcb4097134ff3c332f>
    <TaxCatchAll xmlns="88e59512-fe05-4ec5-bd68-809bd836982f" xsi:nil="true"/>
  </documentManagement>
</p:properties>
</file>

<file path=customXml/itemProps1.xml><?xml version="1.0" encoding="utf-8"?>
<ds:datastoreItem xmlns:ds="http://schemas.openxmlformats.org/officeDocument/2006/customXml" ds:itemID="{C6A9D517-2D89-47C6-9349-98480D8C4FBC}">
  <ds:schemaRefs>
    <ds:schemaRef ds:uri="88e59512-fe05-4ec5-bd68-809bd836982f"/>
    <ds:schemaRef ds:uri="e760d316-4032-4237-9c3e-baef9616dc6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C1507F7-7E41-4D18-8015-40209806BC9B}">
  <ds:schemaRefs>
    <ds:schemaRef ds:uri="http://schemas.microsoft.com/sharepoint/v3/contenttype/forms"/>
  </ds:schemaRefs>
</ds:datastoreItem>
</file>

<file path=customXml/itemProps3.xml><?xml version="1.0" encoding="utf-8"?>
<ds:datastoreItem xmlns:ds="http://schemas.openxmlformats.org/officeDocument/2006/customXml" ds:itemID="{7E890929-B99C-4554-B0E2-E171D2B578F0}">
  <ds:schemaRefs>
    <ds:schemaRef ds:uri="62398f5b-231e-46b4-85bd-ddc5c7fa99c7"/>
    <ds:schemaRef ds:uri="88e59512-fe05-4ec5-bd68-809bd836982f"/>
    <ds:schemaRef ds:uri="d2b082a0-ed55-4dae-881e-6853a5459d1f"/>
    <ds:schemaRef ds:uri="e760d316-4032-4237-9c3e-baef9616dc6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0</TotalTime>
  <Words>749</Words>
  <Application>Microsoft Office PowerPoint</Application>
  <PresentationFormat>Breitbild</PresentationFormat>
  <Paragraphs>165</Paragraphs>
  <Slides>4</Slides>
  <Notes>4</Notes>
  <HiddenSlides>0</HiddenSlides>
  <MMClips>0</MMClips>
  <ScaleCrop>false</ScaleCrop>
  <HeadingPairs>
    <vt:vector size="8" baseType="variant">
      <vt:variant>
        <vt:lpstr>Verwendete Schriftarten</vt:lpstr>
      </vt:variant>
      <vt:variant>
        <vt:i4>5</vt:i4>
      </vt:variant>
      <vt:variant>
        <vt:lpstr>Design</vt:lpstr>
      </vt:variant>
      <vt:variant>
        <vt:i4>2</vt:i4>
      </vt:variant>
      <vt:variant>
        <vt:lpstr>Eingebettete OLE-Server</vt:lpstr>
      </vt:variant>
      <vt:variant>
        <vt:i4>1</vt:i4>
      </vt:variant>
      <vt:variant>
        <vt:lpstr>Folientitel</vt:lpstr>
      </vt:variant>
      <vt:variant>
        <vt:i4>4</vt:i4>
      </vt:variant>
    </vt:vector>
  </HeadingPairs>
  <TitlesOfParts>
    <vt:vector size="12" baseType="lpstr">
      <vt:lpstr>Aptos</vt:lpstr>
      <vt:lpstr>Arial</vt:lpstr>
      <vt:lpstr>Calibri</vt:lpstr>
      <vt:lpstr>Century Gothic</vt:lpstr>
      <vt:lpstr>Roboto</vt:lpstr>
      <vt:lpstr>Content Slides</vt:lpstr>
      <vt:lpstr>Title Page</vt:lpstr>
      <vt:lpstr>think-cell Slide</vt:lpstr>
      <vt:lpstr>Company Profile</vt:lpstr>
      <vt:lpstr>Teaser</vt:lpstr>
      <vt:lpstr>Longlist (Strategische Investoren)</vt:lpstr>
      <vt:lpstr>Longlist (Finanzinvestoren)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Name or Title]</dc:title>
  <dc:creator>Sascha Haggenmüller</dc:creator>
  <cp:lastModifiedBy>Oliver Lazim</cp:lastModifiedBy>
  <cp:revision>20</cp:revision>
  <dcterms:created xsi:type="dcterms:W3CDTF">2023-04-28T18:11:52Z</dcterms:created>
  <dcterms:modified xsi:type="dcterms:W3CDTF">2026-01-26T00:11:43Z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0x010100020212459052754CB4B9043713DD6672</vt:lpwstr>
  </property>
  <property fmtid="{D5CDD505-2E9C-101B-9397-08002B2CF9AE}" pid="3" name="MediaServiceImageTags">
    <vt:lpwstr/>
  </property>
</Properties>
</file>