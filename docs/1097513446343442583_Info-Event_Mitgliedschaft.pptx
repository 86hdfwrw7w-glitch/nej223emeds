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695" r:id="rId3"/>
  </p:sldMasterIdLst>
  <p:notesMasterIdLst>
    <p:notesMasterId r:id="rId30"/>
  </p:notes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715000" type="screen16x10"/>
  <p:notesSz cx="6858000" cy="9144000"/>
  <p:embeddedFontLst>
    <p:embeddedFont>
      <p:font typeface="Helvetica Neue" panose="020B0604020202020204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Lato Black" panose="020F0502020204030203" pitchFamily="34" charset="0"/>
      <p:bold r:id="rId39"/>
      <p:boldItalic r:id="rId40"/>
    </p:embeddedFont>
    <p:embeddedFont>
      <p:font typeface="Lato Light" panose="020F0502020204030203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9.fntdata"/><Relationship Id="rId21" Type="http://schemas.openxmlformats.org/officeDocument/2006/relationships/slide" Target="slides/slide18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7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f154662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f154662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f8574cd7ec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f8574cd7ec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ea4bf1b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ea4bf1b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f04b995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0f04b995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f04b995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0f04b995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dae1652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edae1652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edae1652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edae1652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dae1652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edae1652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edae1652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edae1652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edae1652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edae1652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dae16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edae16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edae1652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edae1652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0f04b995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0f04b9952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f8574cd7ec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f8574cd7ec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0ea4bf1b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0ea4bf1b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0ea4bf1b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40ea4bf1b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8574cd7ec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f8574cd7ec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0ea4bf1b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0ea4bf1b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40ea4bf1b8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40ea4bf1b8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fd5a4c6a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fd5a4c6a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fd5a4c6a6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fd5a4c6a6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40ea4bf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40ea4bf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0ea4bf58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40ea4bf58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40ea4bf58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40ea4bf58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40ea4bf58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40ea4bf58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40ea4bf588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1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40ea4bf588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spcFirstLastPara="1" wrap="square" lIns="92350" tIns="92350" rIns="92350" bIns="923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2350" tIns="92350" rIns="92350" bIns="9235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2350" tIns="92350" rIns="92350" bIns="923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2350" tIns="92350" rIns="92350" bIns="923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spcFirstLastPara="1" wrap="square" lIns="92350" tIns="92350" rIns="92350" bIns="923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1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0" name="Google Shape;150;p3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0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7" name="Google Shape;157;p41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8" name="Google Shape;158;p4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5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2" name="Google Shape;172;p45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3" name="Google Shape;173;p45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4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6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77" name="Google Shape;177;p4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37EF3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ato"/>
              <a:buNone/>
              <a:defRPr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37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Char char="●"/>
              <a:defRPr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143" name="Google Shape;143;p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94925" y="5226312"/>
            <a:ext cx="1010710" cy="23093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3.jp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/>
          <p:nvPr/>
        </p:nvSpPr>
        <p:spPr>
          <a:xfrm>
            <a:off x="654275" y="4106925"/>
            <a:ext cx="46623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F3F4F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49"/>
          <p:cNvSpPr txBox="1"/>
          <p:nvPr/>
        </p:nvSpPr>
        <p:spPr>
          <a:xfrm>
            <a:off x="1798450" y="1247800"/>
            <a:ext cx="57735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AIESEC in Augsburg</a:t>
            </a:r>
            <a:endParaRPr sz="4800" b="1">
              <a:solidFill>
                <a:srgbClr val="FFFFFF"/>
              </a:solidFill>
              <a:highlight>
                <a:schemeClr val="accent6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49"/>
          <p:cNvSpPr txBox="1"/>
          <p:nvPr/>
        </p:nvSpPr>
        <p:spPr>
          <a:xfrm>
            <a:off x="1798450" y="2939550"/>
            <a:ext cx="57735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Welcome to the AIESEC </a:t>
            </a:r>
            <a:endParaRPr sz="3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 Event</a:t>
            </a:r>
            <a:endParaRPr sz="3000">
              <a:solidFill>
                <a:srgbClr val="FFFFFF"/>
              </a:solidFill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1" name="Google Shape;1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900" y="2347550"/>
            <a:ext cx="570974" cy="100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50"/>
          <p:cNvPicPr preferRelativeResize="0"/>
          <p:nvPr/>
        </p:nvPicPr>
        <p:blipFill rotWithShape="1">
          <a:blip r:embed="rId3">
            <a:alphaModFix/>
          </a:blip>
          <a:srcRect b="16673"/>
          <a:stretch/>
        </p:blipFill>
        <p:spPr>
          <a:xfrm>
            <a:off x="0" y="0"/>
            <a:ext cx="9222125" cy="644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0"/>
          <p:cNvSpPr/>
          <p:nvPr/>
        </p:nvSpPr>
        <p:spPr>
          <a:xfrm>
            <a:off x="0" y="0"/>
            <a:ext cx="4322368" cy="6446520"/>
          </a:xfrm>
          <a:custGeom>
            <a:avLst/>
            <a:gdLst/>
            <a:ahLst/>
            <a:cxnLst/>
            <a:rect l="l" t="t" r="r" b="b"/>
            <a:pathLst>
              <a:path w="3535679" h="6858000" extrusionOk="0">
                <a:moveTo>
                  <a:pt x="0" y="6858000"/>
                </a:moveTo>
                <a:lnTo>
                  <a:pt x="3535578" y="6858000"/>
                </a:lnTo>
                <a:lnTo>
                  <a:pt x="353557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30C39E">
                  <a:alpha val="80392"/>
                  <a:alpha val="76920"/>
                </a:srgbClr>
              </a:gs>
              <a:gs pos="100000">
                <a:srgbClr val="037EF3">
                  <a:alpha val="80000"/>
                  <a:alpha val="76920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457200" marR="5080" lvl="0" indent="0" algn="l" rtl="0">
              <a:lnSpc>
                <a:spcPct val="115000"/>
              </a:lnSpc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50"/>
          <p:cNvSpPr txBox="1"/>
          <p:nvPr/>
        </p:nvSpPr>
        <p:spPr>
          <a:xfrm>
            <a:off x="-12" y="2441705"/>
            <a:ext cx="43224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3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JOIN THE TEAM</a:t>
            </a:r>
            <a:endParaRPr sz="30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4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AIESEC in Augsburg</a:t>
            </a:r>
            <a:endParaRPr sz="2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00" name="Google Shape;20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7753" y="4068553"/>
            <a:ext cx="1626881" cy="23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1"/>
          <p:cNvSpPr txBox="1"/>
          <p:nvPr/>
        </p:nvSpPr>
        <p:spPr>
          <a:xfrm>
            <a:off x="340175" y="496725"/>
            <a:ext cx="25740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AGENDA</a:t>
            </a:r>
            <a:endParaRPr sz="4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07" name="Google Shape;207;p51"/>
          <p:cNvSpPr txBox="1"/>
          <p:nvPr/>
        </p:nvSpPr>
        <p:spPr>
          <a:xfrm>
            <a:off x="340175" y="1780975"/>
            <a:ext cx="8477700" cy="3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Get</a:t>
            </a:r>
            <a:r>
              <a:rPr lang="en-GB" sz="2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GB" sz="24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know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 is </a:t>
            </a:r>
            <a:r>
              <a:rPr lang="en-GB" sz="24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AIESEC</a:t>
            </a: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 does </a:t>
            </a:r>
            <a:r>
              <a:rPr lang="en-GB" sz="24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AIESEC </a:t>
            </a:r>
            <a:r>
              <a:rPr lang="en-GB" sz="24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offer</a:t>
            </a: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 can you </a:t>
            </a:r>
            <a:r>
              <a:rPr lang="en-GB" sz="2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work on</a:t>
            </a: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 are the </a:t>
            </a:r>
            <a:r>
              <a:rPr lang="en-GB" sz="2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requirements</a:t>
            </a: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What’s </a:t>
            </a:r>
            <a:r>
              <a:rPr lang="en-GB" sz="2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next</a:t>
            </a: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2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 Light"/>
              <a:buAutoNum type="arabicPeriod"/>
            </a:pPr>
            <a:r>
              <a:rPr lang="en-GB" sz="24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GET-</a:t>
            </a:r>
            <a:r>
              <a:rPr lang="en-GB" sz="24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TOGETHER</a:t>
            </a:r>
            <a:endParaRPr sz="24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3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Get 2 Know</a:t>
            </a:r>
            <a:endParaRPr sz="6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53"/>
          <p:cNvSpPr txBox="1">
            <a:spLocks noGrp="1"/>
          </p:cNvSpPr>
          <p:nvPr>
            <p:ph type="body" idx="1"/>
          </p:nvPr>
        </p:nvSpPr>
        <p:spPr>
          <a:xfrm>
            <a:off x="311700" y="1509128"/>
            <a:ext cx="8520600" cy="3795900"/>
          </a:xfrm>
          <a:prstGeom prst="rect">
            <a:avLst/>
          </a:prstGeom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GB" sz="24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What’s your name and where are you from?</a:t>
            </a:r>
            <a:endParaRPr sz="24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GB" sz="24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Why are you at AIESEC or here today :)?</a:t>
            </a:r>
            <a:endParaRPr sz="24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GB" sz="24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Which countries are on your bucket list?</a:t>
            </a:r>
            <a:endParaRPr sz="24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GB" sz="24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Which </a:t>
            </a:r>
            <a:r>
              <a:rPr lang="en-GB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historical Figure- </a:t>
            </a:r>
            <a:r>
              <a:rPr lang="en-GB" sz="24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living or passed - would you like to go out to dinner with?</a:t>
            </a:r>
            <a:endParaRPr sz="24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4"/>
          <p:cNvSpPr txBox="1"/>
          <p:nvPr/>
        </p:nvSpPr>
        <p:spPr>
          <a:xfrm>
            <a:off x="755850" y="1913900"/>
            <a:ext cx="76323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 is</a:t>
            </a:r>
            <a:r>
              <a:rPr lang="en-GB" sz="6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 AIESEC?</a:t>
            </a:r>
            <a:endParaRPr sz="6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31" name="Google Shape;2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462" y="187750"/>
            <a:ext cx="4563077" cy="513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88" y="152400"/>
            <a:ext cx="7952024" cy="4943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500" y="228600"/>
            <a:ext cx="7452977" cy="4943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011" y="223375"/>
            <a:ext cx="5725025" cy="487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287" y="564925"/>
            <a:ext cx="5027424" cy="485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900" y="156400"/>
            <a:ext cx="1957850" cy="6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325" y="866554"/>
            <a:ext cx="5503552" cy="343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50" y="512175"/>
            <a:ext cx="884851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274" y="1473524"/>
            <a:ext cx="659201" cy="6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750" y="2577601"/>
            <a:ext cx="596250" cy="638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275" y="3567675"/>
            <a:ext cx="659201" cy="61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9613" y="4519551"/>
            <a:ext cx="702519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61"/>
          <p:cNvSpPr txBox="1"/>
          <p:nvPr/>
        </p:nvSpPr>
        <p:spPr>
          <a:xfrm>
            <a:off x="1314525" y="474813"/>
            <a:ext cx="15429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30,579+</a:t>
            </a:r>
            <a:endParaRPr b="1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Members worldwide</a:t>
            </a:r>
            <a:endParaRPr sz="1100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61"/>
          <p:cNvSpPr txBox="1"/>
          <p:nvPr/>
        </p:nvSpPr>
        <p:spPr>
          <a:xfrm>
            <a:off x="1314525" y="1473575"/>
            <a:ext cx="17730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120+</a:t>
            </a:r>
            <a:endParaRPr b="1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Countries and territories </a:t>
            </a:r>
            <a:endParaRPr sz="1100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61"/>
          <p:cNvSpPr txBox="1"/>
          <p:nvPr/>
        </p:nvSpPr>
        <p:spPr>
          <a:xfrm>
            <a:off x="1314525" y="2516075"/>
            <a:ext cx="161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7,978+</a:t>
            </a:r>
            <a:endParaRPr b="1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Partner organizations</a:t>
            </a:r>
            <a:endParaRPr sz="1100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61"/>
          <p:cNvSpPr txBox="1"/>
          <p:nvPr/>
        </p:nvSpPr>
        <p:spPr>
          <a:xfrm>
            <a:off x="1328225" y="3547400"/>
            <a:ext cx="19374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106,454+</a:t>
            </a:r>
            <a:endParaRPr b="1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Experiences in the last year</a:t>
            </a:r>
            <a:endParaRPr sz="1100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61"/>
          <p:cNvSpPr txBox="1"/>
          <p:nvPr/>
        </p:nvSpPr>
        <p:spPr>
          <a:xfrm>
            <a:off x="1328225" y="4468150"/>
            <a:ext cx="189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1,000,000+</a:t>
            </a:r>
            <a:endParaRPr b="1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AIESEC Alumni</a:t>
            </a:r>
            <a:endParaRPr sz="1100">
              <a:solidFill>
                <a:srgbClr val="5555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1" name="Google Shape;291;p6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 txBox="1"/>
          <p:nvPr/>
        </p:nvSpPr>
        <p:spPr>
          <a:xfrm>
            <a:off x="755850" y="1913900"/>
            <a:ext cx="76323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Your opportunity with </a:t>
            </a:r>
            <a:r>
              <a:rPr lang="en-GB" sz="60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GB" sz="6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IESEC</a:t>
            </a:r>
            <a:endParaRPr sz="6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97" name="Google Shape;29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63"/>
          <p:cNvSpPr txBox="1"/>
          <p:nvPr/>
        </p:nvSpPr>
        <p:spPr>
          <a:xfrm>
            <a:off x="5751950" y="492100"/>
            <a:ext cx="23457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Meline</a:t>
            </a:r>
            <a:endParaRPr sz="3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63"/>
          <p:cNvSpPr txBox="1"/>
          <p:nvPr/>
        </p:nvSpPr>
        <p:spPr>
          <a:xfrm>
            <a:off x="4672575" y="1207900"/>
            <a:ext cx="3709500" cy="4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Went on a Global Volunteer Experience to Iran 2017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Joined  AIESEC Stuttgart  in </a:t>
            </a:r>
            <a:r>
              <a:rPr lang="en-GB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March 2021</a:t>
            </a:r>
            <a:b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Leader of oGTe </a:t>
            </a: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(outgoing Global Teacher)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Just managed to find a 7 months Teaching opportunity  for a  girl in Ecuador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Had contact to people from over 15 countries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And: Working for </a:t>
            </a:r>
            <a:r>
              <a:rPr lang="en-GB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AIESEC Belarus</a:t>
            </a: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to stabilize their team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5" name="Google Shape;30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13" y="203200"/>
            <a:ext cx="2555725" cy="150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8837" y="826825"/>
            <a:ext cx="1306776" cy="130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700" y="2354087"/>
            <a:ext cx="4088874" cy="17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3"/>
          <p:cNvPicPr preferRelativeResize="0"/>
          <p:nvPr/>
        </p:nvPicPr>
        <p:blipFill rotWithShape="1">
          <a:blip r:embed="rId7">
            <a:alphaModFix/>
          </a:blip>
          <a:srcRect l="15436" t="20320" r="15436" b="33009"/>
          <a:stretch/>
        </p:blipFill>
        <p:spPr>
          <a:xfrm>
            <a:off x="1104488" y="3928825"/>
            <a:ext cx="2345701" cy="178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212" y="763400"/>
            <a:ext cx="9144000" cy="147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5557" y="2451700"/>
            <a:ext cx="1237305" cy="145523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4"/>
          <p:cNvSpPr/>
          <p:nvPr/>
        </p:nvSpPr>
        <p:spPr>
          <a:xfrm>
            <a:off x="4213" y="1914950"/>
            <a:ext cx="9144000" cy="435000"/>
          </a:xfrm>
          <a:prstGeom prst="rect">
            <a:avLst/>
          </a:prstGeom>
          <a:gradFill>
            <a:gsLst>
              <a:gs pos="0">
                <a:srgbClr val="30C39E"/>
              </a:gs>
              <a:gs pos="100000">
                <a:srgbClr val="037EF3"/>
              </a:gs>
            </a:gsLst>
            <a:lin ang="2698631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64"/>
          <p:cNvSpPr/>
          <p:nvPr/>
        </p:nvSpPr>
        <p:spPr>
          <a:xfrm>
            <a:off x="4213" y="328400"/>
            <a:ext cx="9144000" cy="435000"/>
          </a:xfrm>
          <a:prstGeom prst="rect">
            <a:avLst/>
          </a:prstGeom>
          <a:gradFill>
            <a:gsLst>
              <a:gs pos="0">
                <a:srgbClr val="30C39E"/>
              </a:gs>
              <a:gs pos="100000">
                <a:srgbClr val="037EF3"/>
              </a:gs>
            </a:gsLst>
            <a:lin ang="2698631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4"/>
          <p:cNvSpPr txBox="1"/>
          <p:nvPr/>
        </p:nvSpPr>
        <p:spPr>
          <a:xfrm>
            <a:off x="1682500" y="4179625"/>
            <a:ext cx="5723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A6A6A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In an era of globalisation, AIESEC's programmes have helped young people around the world to develop a broader understanding of cultural socio-economic and business management issues. — </a:t>
            </a:r>
            <a:r>
              <a:rPr lang="en-GB" sz="1100" b="1">
                <a:solidFill>
                  <a:srgbClr val="6A6A6A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Kofi Annan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5"/>
          <p:cNvSpPr txBox="1"/>
          <p:nvPr/>
        </p:nvSpPr>
        <p:spPr>
          <a:xfrm>
            <a:off x="340175" y="344325"/>
            <a:ext cx="6092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1">
                <a:latin typeface="Lato"/>
                <a:ea typeface="Lato"/>
                <a:cs typeface="Lato"/>
                <a:sym typeface="Lato"/>
              </a:rPr>
              <a:t>What do you achieve?</a:t>
            </a:r>
            <a:endParaRPr sz="34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65"/>
          <p:cNvSpPr txBox="1"/>
          <p:nvPr/>
        </p:nvSpPr>
        <p:spPr>
          <a:xfrm>
            <a:off x="398725" y="1207225"/>
            <a:ext cx="81777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400"/>
              <a:buFont typeface="Lato"/>
              <a:buChar char="●"/>
            </a:pPr>
            <a:r>
              <a:rPr lang="en-GB" sz="2400">
                <a:latin typeface="Lato"/>
                <a:ea typeface="Lato"/>
                <a:cs typeface="Lato"/>
                <a:sym typeface="Lato"/>
              </a:rPr>
              <a:t>Entrepreneurial thinking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400"/>
              <a:buFont typeface="Lato"/>
              <a:buChar char="●"/>
            </a:pPr>
            <a:r>
              <a:rPr lang="en-GB" sz="2400">
                <a:latin typeface="Lato"/>
                <a:ea typeface="Lato"/>
                <a:cs typeface="Lato"/>
                <a:sym typeface="Lato"/>
              </a:rPr>
              <a:t>Presentation and communication skills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400"/>
              <a:buFont typeface="Lato"/>
              <a:buChar char="●"/>
            </a:pPr>
            <a:r>
              <a:rPr lang="en-GB" sz="2400">
                <a:latin typeface="Lato"/>
                <a:ea typeface="Lato"/>
                <a:cs typeface="Lato"/>
                <a:sym typeface="Lato"/>
              </a:rPr>
              <a:t>Time and project management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400"/>
              <a:buFont typeface="Lato"/>
              <a:buChar char="●"/>
            </a:pPr>
            <a:r>
              <a:rPr lang="en-GB" sz="2400">
                <a:latin typeface="Lato"/>
                <a:ea typeface="Lato"/>
                <a:cs typeface="Lato"/>
                <a:sym typeface="Lato"/>
              </a:rPr>
              <a:t>Improve English language skills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400"/>
              <a:buFont typeface="Lato"/>
              <a:buChar char="●"/>
            </a:pPr>
            <a:r>
              <a:rPr lang="en-GB" sz="2400">
                <a:latin typeface="Lato"/>
                <a:ea typeface="Lato"/>
                <a:cs typeface="Lato"/>
                <a:sym typeface="Lato"/>
              </a:rPr>
              <a:t>Worldwide and lifelong network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5" name="Google Shape;3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6"/>
          <p:cNvSpPr txBox="1"/>
          <p:nvPr/>
        </p:nvSpPr>
        <p:spPr>
          <a:xfrm>
            <a:off x="755850" y="1913900"/>
            <a:ext cx="76323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Which team can you </a:t>
            </a:r>
            <a:endParaRPr sz="48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work on</a:t>
            </a:r>
            <a:r>
              <a:rPr lang="en-GB" sz="48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?</a:t>
            </a:r>
            <a:endParaRPr sz="48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32" name="Google Shape;33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7"/>
          <p:cNvSpPr/>
          <p:nvPr/>
        </p:nvSpPr>
        <p:spPr>
          <a:xfrm>
            <a:off x="-12425" y="-2675"/>
            <a:ext cx="9156300" cy="5720400"/>
          </a:xfrm>
          <a:prstGeom prst="rect">
            <a:avLst/>
          </a:prstGeom>
          <a:gradFill>
            <a:gsLst>
              <a:gs pos="0">
                <a:srgbClr val="30C39E"/>
              </a:gs>
              <a:gs pos="100000">
                <a:srgbClr val="037EF3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67"/>
          <p:cNvSpPr txBox="1"/>
          <p:nvPr/>
        </p:nvSpPr>
        <p:spPr>
          <a:xfrm>
            <a:off x="2638275" y="3173594"/>
            <a:ext cx="13194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Marketing</a:t>
            </a:r>
            <a:endParaRPr b="1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67"/>
          <p:cNvSpPr txBox="1"/>
          <p:nvPr/>
        </p:nvSpPr>
        <p:spPr>
          <a:xfrm>
            <a:off x="5744113" y="3005289"/>
            <a:ext cx="12495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Member Experience</a:t>
            </a:r>
            <a:endParaRPr b="1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67"/>
          <p:cNvSpPr txBox="1"/>
          <p:nvPr/>
        </p:nvSpPr>
        <p:spPr>
          <a:xfrm>
            <a:off x="461975" y="3005306"/>
            <a:ext cx="1319400" cy="6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Outgoing Global Volunteer</a:t>
            </a:r>
            <a:endParaRPr b="1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67"/>
          <p:cNvSpPr/>
          <p:nvPr/>
        </p:nvSpPr>
        <p:spPr>
          <a:xfrm>
            <a:off x="575518" y="1825243"/>
            <a:ext cx="1092300" cy="1133700"/>
          </a:xfrm>
          <a:prstGeom prst="ellipse">
            <a:avLst/>
          </a:prstGeom>
          <a:solidFill>
            <a:srgbClr val="65C7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oGV</a:t>
            </a:r>
            <a:endParaRPr sz="1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42" name="Google Shape;342;p67"/>
          <p:cNvSpPr txBox="1"/>
          <p:nvPr/>
        </p:nvSpPr>
        <p:spPr>
          <a:xfrm>
            <a:off x="2071975" y="3005300"/>
            <a:ext cx="1381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67"/>
          <p:cNvSpPr txBox="1"/>
          <p:nvPr/>
        </p:nvSpPr>
        <p:spPr>
          <a:xfrm>
            <a:off x="7512325" y="3005311"/>
            <a:ext cx="13194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Finance</a:t>
            </a:r>
            <a:endParaRPr b="1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67"/>
          <p:cNvSpPr txBox="1">
            <a:spLocks noGrp="1"/>
          </p:cNvSpPr>
          <p:nvPr>
            <p:ph type="title"/>
          </p:nvPr>
        </p:nvSpPr>
        <p:spPr>
          <a:xfrm>
            <a:off x="4167625" y="1276392"/>
            <a:ext cx="854400" cy="282900"/>
          </a:xfrm>
          <a:prstGeom prst="rect">
            <a:avLst/>
          </a:prstGeom>
        </p:spPr>
        <p:txBody>
          <a:bodyPr spcFirstLastPara="1" wrap="square" lIns="92350" tIns="92350" rIns="92350" bIns="923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Teams</a:t>
            </a:r>
            <a:endParaRPr sz="1600" i="1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45" name="Google Shape;345;p67"/>
          <p:cNvSpPr/>
          <p:nvPr/>
        </p:nvSpPr>
        <p:spPr>
          <a:xfrm>
            <a:off x="2751818" y="1825243"/>
            <a:ext cx="1092300" cy="1133700"/>
          </a:xfrm>
          <a:prstGeom prst="ellipse">
            <a:avLst/>
          </a:prstGeom>
          <a:solidFill>
            <a:srgbClr val="65C7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MKT</a:t>
            </a:r>
            <a:endParaRPr sz="1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46" name="Google Shape;346;p67"/>
          <p:cNvSpPr/>
          <p:nvPr/>
        </p:nvSpPr>
        <p:spPr>
          <a:xfrm>
            <a:off x="5822718" y="1871593"/>
            <a:ext cx="1092300" cy="1133700"/>
          </a:xfrm>
          <a:prstGeom prst="ellipse">
            <a:avLst/>
          </a:prstGeom>
          <a:solidFill>
            <a:srgbClr val="65C7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TM</a:t>
            </a:r>
            <a:endParaRPr sz="1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47" name="Google Shape;347;p67"/>
          <p:cNvSpPr/>
          <p:nvPr/>
        </p:nvSpPr>
        <p:spPr>
          <a:xfrm>
            <a:off x="7625868" y="1871593"/>
            <a:ext cx="1092300" cy="1133700"/>
          </a:xfrm>
          <a:prstGeom prst="ellipse">
            <a:avLst/>
          </a:prstGeom>
          <a:solidFill>
            <a:srgbClr val="65C7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FIN</a:t>
            </a:r>
            <a:endParaRPr sz="10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8"/>
          <p:cNvSpPr txBox="1"/>
          <p:nvPr/>
        </p:nvSpPr>
        <p:spPr>
          <a:xfrm>
            <a:off x="340175" y="344325"/>
            <a:ext cx="5171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1">
                <a:latin typeface="Lato"/>
                <a:ea typeface="Lato"/>
                <a:cs typeface="Lato"/>
                <a:sym typeface="Lato"/>
              </a:rPr>
              <a:t>Experience Management</a:t>
            </a:r>
            <a:endParaRPr sz="36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3" name="Google Shape;353;p68"/>
          <p:cNvSpPr txBox="1"/>
          <p:nvPr/>
        </p:nvSpPr>
        <p:spPr>
          <a:xfrm>
            <a:off x="3712250" y="1888500"/>
            <a:ext cx="4901700" cy="2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 responsible for ensuring that students find the right project and have sustainable experience abroad.</a:t>
            </a:r>
            <a:endParaRPr sz="3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1353553" y="2200653"/>
            <a:ext cx="1230493" cy="1830114"/>
          </a:xfrm>
          <a:custGeom>
            <a:avLst/>
            <a:gdLst/>
            <a:ahLst/>
            <a:cxnLst/>
            <a:rect l="l" t="t" r="r" b="b"/>
            <a:pathLst>
              <a:path w="21483" h="21600" extrusionOk="0">
                <a:moveTo>
                  <a:pt x="10250" y="0"/>
                </a:moveTo>
                <a:cubicBezTo>
                  <a:pt x="9814" y="0"/>
                  <a:pt x="9433" y="155"/>
                  <a:pt x="9220" y="385"/>
                </a:cubicBezTo>
                <a:cubicBezTo>
                  <a:pt x="9223" y="388"/>
                  <a:pt x="9226" y="391"/>
                  <a:pt x="9230" y="394"/>
                </a:cubicBezTo>
                <a:cubicBezTo>
                  <a:pt x="9058" y="411"/>
                  <a:pt x="8887" y="431"/>
                  <a:pt x="8717" y="453"/>
                </a:cubicBezTo>
                <a:cubicBezTo>
                  <a:pt x="8396" y="278"/>
                  <a:pt x="7949" y="215"/>
                  <a:pt x="7531" y="316"/>
                </a:cubicBezTo>
                <a:lnTo>
                  <a:pt x="6587" y="545"/>
                </a:lnTo>
                <a:cubicBezTo>
                  <a:pt x="6177" y="644"/>
                  <a:pt x="5899" y="876"/>
                  <a:pt x="5817" y="1141"/>
                </a:cubicBezTo>
                <a:cubicBezTo>
                  <a:pt x="5823" y="1143"/>
                  <a:pt x="5828" y="1147"/>
                  <a:pt x="5835" y="1149"/>
                </a:cubicBezTo>
                <a:cubicBezTo>
                  <a:pt x="5683" y="1204"/>
                  <a:pt x="5533" y="1261"/>
                  <a:pt x="5386" y="1321"/>
                </a:cubicBezTo>
                <a:cubicBezTo>
                  <a:pt x="4992" y="1227"/>
                  <a:pt x="4537" y="1270"/>
                  <a:pt x="4194" y="1462"/>
                </a:cubicBezTo>
                <a:lnTo>
                  <a:pt x="3426" y="1891"/>
                </a:lnTo>
                <a:cubicBezTo>
                  <a:pt x="3092" y="2078"/>
                  <a:pt x="2949" y="2358"/>
                  <a:pt x="3008" y="2627"/>
                </a:cubicBezTo>
                <a:cubicBezTo>
                  <a:pt x="3018" y="2628"/>
                  <a:pt x="3026" y="2630"/>
                  <a:pt x="3036" y="2632"/>
                </a:cubicBezTo>
                <a:cubicBezTo>
                  <a:pt x="2922" y="2717"/>
                  <a:pt x="2810" y="2805"/>
                  <a:pt x="2702" y="2895"/>
                </a:cubicBezTo>
                <a:cubicBezTo>
                  <a:pt x="2281" y="2894"/>
                  <a:pt x="1873" y="3038"/>
                  <a:pt x="1648" y="3297"/>
                </a:cubicBezTo>
                <a:lnTo>
                  <a:pt x="1146" y="3876"/>
                </a:lnTo>
                <a:cubicBezTo>
                  <a:pt x="928" y="4128"/>
                  <a:pt x="937" y="4424"/>
                  <a:pt x="1130" y="4662"/>
                </a:cubicBezTo>
                <a:cubicBezTo>
                  <a:pt x="1140" y="4661"/>
                  <a:pt x="1149" y="4662"/>
                  <a:pt x="1159" y="4661"/>
                </a:cubicBezTo>
                <a:cubicBezTo>
                  <a:pt x="1095" y="4767"/>
                  <a:pt x="1035" y="4874"/>
                  <a:pt x="980" y="4983"/>
                </a:cubicBezTo>
                <a:cubicBezTo>
                  <a:pt x="585" y="5078"/>
                  <a:pt x="275" y="5307"/>
                  <a:pt x="197" y="5601"/>
                </a:cubicBezTo>
                <a:lnTo>
                  <a:pt x="23" y="6260"/>
                </a:lnTo>
                <a:cubicBezTo>
                  <a:pt x="-52" y="6546"/>
                  <a:pt x="109" y="6822"/>
                  <a:pt x="414" y="7002"/>
                </a:cubicBezTo>
                <a:cubicBezTo>
                  <a:pt x="423" y="6998"/>
                  <a:pt x="432" y="6997"/>
                  <a:pt x="442" y="6993"/>
                </a:cubicBezTo>
                <a:cubicBezTo>
                  <a:pt x="439" y="7058"/>
                  <a:pt x="437" y="7123"/>
                  <a:pt x="437" y="7189"/>
                </a:cubicBezTo>
                <a:cubicBezTo>
                  <a:pt x="437" y="7238"/>
                  <a:pt x="440" y="7287"/>
                  <a:pt x="442" y="7336"/>
                </a:cubicBezTo>
                <a:cubicBezTo>
                  <a:pt x="118" y="7516"/>
                  <a:pt x="-60" y="7802"/>
                  <a:pt x="18" y="8097"/>
                </a:cubicBezTo>
                <a:lnTo>
                  <a:pt x="194" y="8756"/>
                </a:lnTo>
                <a:cubicBezTo>
                  <a:pt x="270" y="9042"/>
                  <a:pt x="563" y="9265"/>
                  <a:pt x="942" y="9365"/>
                </a:cubicBezTo>
                <a:cubicBezTo>
                  <a:pt x="947" y="9361"/>
                  <a:pt x="954" y="9356"/>
                  <a:pt x="960" y="9352"/>
                </a:cubicBezTo>
                <a:cubicBezTo>
                  <a:pt x="1014" y="9461"/>
                  <a:pt x="1073" y="9569"/>
                  <a:pt x="1136" y="9676"/>
                </a:cubicBezTo>
                <a:cubicBezTo>
                  <a:pt x="927" y="9918"/>
                  <a:pt x="912" y="10224"/>
                  <a:pt x="1136" y="10483"/>
                </a:cubicBezTo>
                <a:lnTo>
                  <a:pt x="1636" y="11061"/>
                </a:lnTo>
                <a:cubicBezTo>
                  <a:pt x="1854" y="11313"/>
                  <a:pt x="2246" y="11456"/>
                  <a:pt x="2653" y="11464"/>
                </a:cubicBezTo>
                <a:cubicBezTo>
                  <a:pt x="2656" y="11459"/>
                  <a:pt x="2661" y="11454"/>
                  <a:pt x="2664" y="11449"/>
                </a:cubicBezTo>
                <a:cubicBezTo>
                  <a:pt x="2771" y="11539"/>
                  <a:pt x="2881" y="11629"/>
                  <a:pt x="2995" y="11715"/>
                </a:cubicBezTo>
                <a:cubicBezTo>
                  <a:pt x="2924" y="11989"/>
                  <a:pt x="3066" y="12279"/>
                  <a:pt x="3409" y="12471"/>
                </a:cubicBezTo>
                <a:lnTo>
                  <a:pt x="4176" y="12900"/>
                </a:lnTo>
                <a:cubicBezTo>
                  <a:pt x="4511" y="13087"/>
                  <a:pt x="4953" y="13131"/>
                  <a:pt x="5340" y="13046"/>
                </a:cubicBezTo>
                <a:cubicBezTo>
                  <a:pt x="5340" y="13043"/>
                  <a:pt x="5340" y="13040"/>
                  <a:pt x="5340" y="13036"/>
                </a:cubicBezTo>
                <a:cubicBezTo>
                  <a:pt x="5487" y="13097"/>
                  <a:pt x="5639" y="13155"/>
                  <a:pt x="5791" y="13211"/>
                </a:cubicBezTo>
                <a:cubicBezTo>
                  <a:pt x="5868" y="13482"/>
                  <a:pt x="6150" y="13721"/>
                  <a:pt x="6567" y="13822"/>
                </a:cubicBezTo>
                <a:lnTo>
                  <a:pt x="7511" y="14050"/>
                </a:lnTo>
                <a:cubicBezTo>
                  <a:pt x="7920" y="14149"/>
                  <a:pt x="8357" y="14090"/>
                  <a:pt x="8676" y="13922"/>
                </a:cubicBezTo>
                <a:cubicBezTo>
                  <a:pt x="8676" y="13921"/>
                  <a:pt x="8675" y="13921"/>
                  <a:pt x="8674" y="13919"/>
                </a:cubicBezTo>
                <a:cubicBezTo>
                  <a:pt x="8844" y="13942"/>
                  <a:pt x="9016" y="13962"/>
                  <a:pt x="9189" y="13980"/>
                </a:cubicBezTo>
                <a:cubicBezTo>
                  <a:pt x="9402" y="14215"/>
                  <a:pt x="9789" y="14372"/>
                  <a:pt x="10230" y="14372"/>
                </a:cubicBezTo>
                <a:lnTo>
                  <a:pt x="11233" y="14372"/>
                </a:lnTo>
                <a:cubicBezTo>
                  <a:pt x="11669" y="14372"/>
                  <a:pt x="12049" y="14217"/>
                  <a:pt x="12263" y="13987"/>
                </a:cubicBezTo>
                <a:cubicBezTo>
                  <a:pt x="12263" y="13987"/>
                  <a:pt x="12263" y="13985"/>
                  <a:pt x="12263" y="13985"/>
                </a:cubicBezTo>
                <a:cubicBezTo>
                  <a:pt x="12437" y="13968"/>
                  <a:pt x="12610" y="13948"/>
                  <a:pt x="12781" y="13926"/>
                </a:cubicBezTo>
                <a:cubicBezTo>
                  <a:pt x="13101" y="14095"/>
                  <a:pt x="13541" y="14154"/>
                  <a:pt x="13952" y="14055"/>
                </a:cubicBezTo>
                <a:lnTo>
                  <a:pt x="14896" y="13827"/>
                </a:lnTo>
                <a:cubicBezTo>
                  <a:pt x="15303" y="13729"/>
                  <a:pt x="15582" y="13498"/>
                  <a:pt x="15666" y="13235"/>
                </a:cubicBezTo>
                <a:cubicBezTo>
                  <a:pt x="15823" y="13178"/>
                  <a:pt x="15979" y="13118"/>
                  <a:pt x="16131" y="13056"/>
                </a:cubicBezTo>
                <a:cubicBezTo>
                  <a:pt x="16516" y="13141"/>
                  <a:pt x="16955" y="13097"/>
                  <a:pt x="17289" y="12910"/>
                </a:cubicBezTo>
                <a:lnTo>
                  <a:pt x="18059" y="12481"/>
                </a:lnTo>
                <a:cubicBezTo>
                  <a:pt x="18391" y="12296"/>
                  <a:pt x="18533" y="12017"/>
                  <a:pt x="18477" y="11751"/>
                </a:cubicBezTo>
                <a:cubicBezTo>
                  <a:pt x="18597" y="11662"/>
                  <a:pt x="18712" y="11569"/>
                  <a:pt x="18824" y="11476"/>
                </a:cubicBezTo>
                <a:cubicBezTo>
                  <a:pt x="19229" y="11467"/>
                  <a:pt x="19620" y="11325"/>
                  <a:pt x="19837" y="11075"/>
                </a:cubicBezTo>
                <a:lnTo>
                  <a:pt x="20337" y="10496"/>
                </a:lnTo>
                <a:cubicBezTo>
                  <a:pt x="20552" y="10248"/>
                  <a:pt x="20546" y="9955"/>
                  <a:pt x="20360" y="9718"/>
                </a:cubicBezTo>
                <a:cubicBezTo>
                  <a:pt x="20427" y="9606"/>
                  <a:pt x="20491" y="9493"/>
                  <a:pt x="20549" y="9377"/>
                </a:cubicBezTo>
                <a:cubicBezTo>
                  <a:pt x="20922" y="9276"/>
                  <a:pt x="21211" y="9052"/>
                  <a:pt x="21286" y="8769"/>
                </a:cubicBezTo>
                <a:lnTo>
                  <a:pt x="21460" y="8112"/>
                </a:lnTo>
                <a:cubicBezTo>
                  <a:pt x="21534" y="7829"/>
                  <a:pt x="21377" y="7554"/>
                  <a:pt x="21080" y="7374"/>
                </a:cubicBezTo>
                <a:cubicBezTo>
                  <a:pt x="21082" y="7312"/>
                  <a:pt x="21082" y="7251"/>
                  <a:pt x="21082" y="7189"/>
                </a:cubicBezTo>
                <a:cubicBezTo>
                  <a:pt x="21082" y="7130"/>
                  <a:pt x="21082" y="7072"/>
                  <a:pt x="21080" y="7014"/>
                </a:cubicBezTo>
                <a:cubicBezTo>
                  <a:pt x="21380" y="6834"/>
                  <a:pt x="21540" y="6557"/>
                  <a:pt x="21465" y="6274"/>
                </a:cubicBezTo>
                <a:lnTo>
                  <a:pt x="21289" y="5616"/>
                </a:lnTo>
                <a:cubicBezTo>
                  <a:pt x="21214" y="5334"/>
                  <a:pt x="20924" y="5112"/>
                  <a:pt x="20551" y="5010"/>
                </a:cubicBezTo>
                <a:cubicBezTo>
                  <a:pt x="20494" y="4896"/>
                  <a:pt x="20434" y="4783"/>
                  <a:pt x="20368" y="4671"/>
                </a:cubicBezTo>
                <a:cubicBezTo>
                  <a:pt x="20557" y="4433"/>
                  <a:pt x="20567" y="4138"/>
                  <a:pt x="20350" y="3888"/>
                </a:cubicBezTo>
                <a:lnTo>
                  <a:pt x="19847" y="3309"/>
                </a:lnTo>
                <a:cubicBezTo>
                  <a:pt x="19630" y="3059"/>
                  <a:pt x="19240" y="2917"/>
                  <a:pt x="18835" y="2908"/>
                </a:cubicBezTo>
                <a:cubicBezTo>
                  <a:pt x="18725" y="2816"/>
                  <a:pt x="18610" y="2726"/>
                  <a:pt x="18493" y="2638"/>
                </a:cubicBezTo>
                <a:cubicBezTo>
                  <a:pt x="18553" y="2370"/>
                  <a:pt x="18409" y="2087"/>
                  <a:pt x="18074" y="1900"/>
                </a:cubicBezTo>
                <a:lnTo>
                  <a:pt x="17307" y="1470"/>
                </a:lnTo>
                <a:cubicBezTo>
                  <a:pt x="16972" y="1284"/>
                  <a:pt x="16530" y="1239"/>
                  <a:pt x="16143" y="1324"/>
                </a:cubicBezTo>
                <a:cubicBezTo>
                  <a:pt x="16143" y="1325"/>
                  <a:pt x="16143" y="1326"/>
                  <a:pt x="16143" y="1326"/>
                </a:cubicBezTo>
                <a:cubicBezTo>
                  <a:pt x="15994" y="1265"/>
                  <a:pt x="15843" y="1207"/>
                  <a:pt x="15689" y="1151"/>
                </a:cubicBezTo>
                <a:cubicBezTo>
                  <a:pt x="15609" y="884"/>
                  <a:pt x="15328" y="650"/>
                  <a:pt x="14916" y="550"/>
                </a:cubicBezTo>
                <a:lnTo>
                  <a:pt x="13972" y="321"/>
                </a:lnTo>
                <a:cubicBezTo>
                  <a:pt x="13562" y="222"/>
                  <a:pt x="13126" y="280"/>
                  <a:pt x="12807" y="448"/>
                </a:cubicBezTo>
                <a:cubicBezTo>
                  <a:pt x="12808" y="450"/>
                  <a:pt x="12808" y="452"/>
                  <a:pt x="12809" y="453"/>
                </a:cubicBezTo>
                <a:cubicBezTo>
                  <a:pt x="12639" y="431"/>
                  <a:pt x="12466" y="411"/>
                  <a:pt x="12294" y="394"/>
                </a:cubicBezTo>
                <a:cubicBezTo>
                  <a:pt x="12082" y="158"/>
                  <a:pt x="11697" y="0"/>
                  <a:pt x="11256" y="0"/>
                </a:cubicBezTo>
                <a:lnTo>
                  <a:pt x="10250" y="0"/>
                </a:lnTo>
                <a:close/>
                <a:moveTo>
                  <a:pt x="10761" y="2494"/>
                </a:moveTo>
                <a:cubicBezTo>
                  <a:pt x="14153" y="2494"/>
                  <a:pt x="16984" y="4085"/>
                  <a:pt x="17666" y="6207"/>
                </a:cubicBezTo>
                <a:cubicBezTo>
                  <a:pt x="17678" y="6243"/>
                  <a:pt x="17689" y="6280"/>
                  <a:pt x="17699" y="6316"/>
                </a:cubicBezTo>
                <a:cubicBezTo>
                  <a:pt x="17710" y="6352"/>
                  <a:pt x="17718" y="6388"/>
                  <a:pt x="17727" y="6425"/>
                </a:cubicBezTo>
                <a:cubicBezTo>
                  <a:pt x="17735" y="6454"/>
                  <a:pt x="17744" y="6482"/>
                  <a:pt x="17750" y="6511"/>
                </a:cubicBezTo>
                <a:cubicBezTo>
                  <a:pt x="17762" y="6564"/>
                  <a:pt x="17770" y="6616"/>
                  <a:pt x="17778" y="6669"/>
                </a:cubicBezTo>
                <a:cubicBezTo>
                  <a:pt x="17785" y="6707"/>
                  <a:pt x="17791" y="6744"/>
                  <a:pt x="17796" y="6781"/>
                </a:cubicBezTo>
                <a:cubicBezTo>
                  <a:pt x="17800" y="6805"/>
                  <a:pt x="17801" y="6830"/>
                  <a:pt x="17804" y="6854"/>
                </a:cubicBezTo>
                <a:cubicBezTo>
                  <a:pt x="17812" y="6927"/>
                  <a:pt x="17817" y="6999"/>
                  <a:pt x="17819" y="7072"/>
                </a:cubicBezTo>
                <a:cubicBezTo>
                  <a:pt x="17820" y="7082"/>
                  <a:pt x="17822" y="7093"/>
                  <a:pt x="17822" y="7104"/>
                </a:cubicBezTo>
                <a:cubicBezTo>
                  <a:pt x="17826" y="7244"/>
                  <a:pt x="17819" y="7385"/>
                  <a:pt x="17804" y="7523"/>
                </a:cubicBezTo>
                <a:lnTo>
                  <a:pt x="17807" y="7523"/>
                </a:lnTo>
                <a:cubicBezTo>
                  <a:pt x="17796" y="7624"/>
                  <a:pt x="17780" y="7723"/>
                  <a:pt x="17761" y="7822"/>
                </a:cubicBezTo>
                <a:lnTo>
                  <a:pt x="17756" y="7822"/>
                </a:lnTo>
                <a:cubicBezTo>
                  <a:pt x="17743" y="7882"/>
                  <a:pt x="17731" y="7943"/>
                  <a:pt x="17715" y="8004"/>
                </a:cubicBezTo>
                <a:cubicBezTo>
                  <a:pt x="17611" y="8394"/>
                  <a:pt x="17437" y="8765"/>
                  <a:pt x="17205" y="9111"/>
                </a:cubicBezTo>
                <a:lnTo>
                  <a:pt x="17212" y="9111"/>
                </a:lnTo>
                <a:cubicBezTo>
                  <a:pt x="17151" y="9202"/>
                  <a:pt x="17086" y="9294"/>
                  <a:pt x="17016" y="9382"/>
                </a:cubicBezTo>
                <a:lnTo>
                  <a:pt x="17006" y="9381"/>
                </a:lnTo>
                <a:cubicBezTo>
                  <a:pt x="16963" y="9435"/>
                  <a:pt x="16919" y="9489"/>
                  <a:pt x="16873" y="9542"/>
                </a:cubicBezTo>
                <a:cubicBezTo>
                  <a:pt x="16575" y="9885"/>
                  <a:pt x="16224" y="10193"/>
                  <a:pt x="15827" y="10466"/>
                </a:cubicBezTo>
                <a:lnTo>
                  <a:pt x="15832" y="10467"/>
                </a:lnTo>
                <a:cubicBezTo>
                  <a:pt x="15727" y="10539"/>
                  <a:pt x="15620" y="10610"/>
                  <a:pt x="15508" y="10678"/>
                </a:cubicBezTo>
                <a:lnTo>
                  <a:pt x="15500" y="10674"/>
                </a:lnTo>
                <a:cubicBezTo>
                  <a:pt x="15433" y="10715"/>
                  <a:pt x="15365" y="10755"/>
                  <a:pt x="15294" y="10795"/>
                </a:cubicBezTo>
                <a:cubicBezTo>
                  <a:pt x="14838" y="11049"/>
                  <a:pt x="14347" y="11259"/>
                  <a:pt x="13835" y="11425"/>
                </a:cubicBezTo>
                <a:lnTo>
                  <a:pt x="13840" y="11430"/>
                </a:lnTo>
                <a:cubicBezTo>
                  <a:pt x="13704" y="11474"/>
                  <a:pt x="13564" y="11512"/>
                  <a:pt x="13424" y="11550"/>
                </a:cubicBezTo>
                <a:lnTo>
                  <a:pt x="13421" y="11547"/>
                </a:lnTo>
                <a:cubicBezTo>
                  <a:pt x="13337" y="11570"/>
                  <a:pt x="13251" y="11592"/>
                  <a:pt x="13164" y="11613"/>
                </a:cubicBezTo>
                <a:cubicBezTo>
                  <a:pt x="12604" y="11749"/>
                  <a:pt x="12037" y="11834"/>
                  <a:pt x="11470" y="11873"/>
                </a:cubicBezTo>
                <a:lnTo>
                  <a:pt x="11470" y="11875"/>
                </a:lnTo>
                <a:cubicBezTo>
                  <a:pt x="11269" y="11888"/>
                  <a:pt x="11066" y="11895"/>
                  <a:pt x="10860" y="11897"/>
                </a:cubicBezTo>
                <a:cubicBezTo>
                  <a:pt x="10824" y="11897"/>
                  <a:pt x="10786" y="11898"/>
                  <a:pt x="10750" y="11899"/>
                </a:cubicBezTo>
                <a:cubicBezTo>
                  <a:pt x="6853" y="11895"/>
                  <a:pt x="3697" y="9792"/>
                  <a:pt x="3697" y="7197"/>
                </a:cubicBezTo>
                <a:cubicBezTo>
                  <a:pt x="3697" y="4600"/>
                  <a:pt x="6859" y="2494"/>
                  <a:pt x="10761" y="2494"/>
                </a:cubicBezTo>
                <a:close/>
                <a:moveTo>
                  <a:pt x="10740" y="2745"/>
                </a:moveTo>
                <a:cubicBezTo>
                  <a:pt x="7061" y="2745"/>
                  <a:pt x="4069" y="4737"/>
                  <a:pt x="4069" y="7185"/>
                </a:cubicBezTo>
                <a:cubicBezTo>
                  <a:pt x="4069" y="9634"/>
                  <a:pt x="7061" y="11625"/>
                  <a:pt x="10740" y="11625"/>
                </a:cubicBezTo>
                <a:cubicBezTo>
                  <a:pt x="14419" y="11625"/>
                  <a:pt x="17414" y="9634"/>
                  <a:pt x="17414" y="7185"/>
                </a:cubicBezTo>
                <a:cubicBezTo>
                  <a:pt x="17414" y="4737"/>
                  <a:pt x="14419" y="2745"/>
                  <a:pt x="10740" y="2745"/>
                </a:cubicBezTo>
                <a:close/>
                <a:moveTo>
                  <a:pt x="16115" y="13233"/>
                </a:moveTo>
                <a:lnTo>
                  <a:pt x="16100" y="13289"/>
                </a:lnTo>
                <a:cubicBezTo>
                  <a:pt x="15983" y="13667"/>
                  <a:pt x="15588" y="13971"/>
                  <a:pt x="15046" y="14102"/>
                </a:cubicBezTo>
                <a:lnTo>
                  <a:pt x="14102" y="14332"/>
                </a:lnTo>
                <a:cubicBezTo>
                  <a:pt x="13920" y="14376"/>
                  <a:pt x="13731" y="14398"/>
                  <a:pt x="13539" y="14398"/>
                </a:cubicBezTo>
                <a:cubicBezTo>
                  <a:pt x="13190" y="14398"/>
                  <a:pt x="12858" y="14324"/>
                  <a:pt x="12585" y="14196"/>
                </a:cubicBezTo>
                <a:cubicBezTo>
                  <a:pt x="12381" y="14389"/>
                  <a:pt x="12098" y="14530"/>
                  <a:pt x="11773" y="14605"/>
                </a:cubicBezTo>
                <a:lnTo>
                  <a:pt x="10965" y="16610"/>
                </a:lnTo>
                <a:lnTo>
                  <a:pt x="12975" y="21600"/>
                </a:lnTo>
                <a:lnTo>
                  <a:pt x="15587" y="20004"/>
                </a:lnTo>
                <a:lnTo>
                  <a:pt x="19049" y="20517"/>
                </a:lnTo>
                <a:lnTo>
                  <a:pt x="16115" y="13233"/>
                </a:lnTo>
                <a:close/>
                <a:moveTo>
                  <a:pt x="5365" y="13294"/>
                </a:moveTo>
                <a:lnTo>
                  <a:pt x="2457" y="20517"/>
                </a:lnTo>
                <a:lnTo>
                  <a:pt x="5921" y="20004"/>
                </a:lnTo>
                <a:lnTo>
                  <a:pt x="8534" y="21600"/>
                </a:lnTo>
                <a:lnTo>
                  <a:pt x="11327" y="14663"/>
                </a:lnTo>
                <a:cubicBezTo>
                  <a:pt x="11296" y="14664"/>
                  <a:pt x="11264" y="14664"/>
                  <a:pt x="11233" y="14664"/>
                </a:cubicBezTo>
                <a:lnTo>
                  <a:pt x="10227" y="14664"/>
                </a:lnTo>
                <a:cubicBezTo>
                  <a:pt x="9666" y="14664"/>
                  <a:pt x="9169" y="14476"/>
                  <a:pt x="8870" y="14191"/>
                </a:cubicBezTo>
                <a:cubicBezTo>
                  <a:pt x="8592" y="14320"/>
                  <a:pt x="8260" y="14393"/>
                  <a:pt x="7921" y="14393"/>
                </a:cubicBezTo>
                <a:cubicBezTo>
                  <a:pt x="7729" y="14393"/>
                  <a:pt x="7541" y="14370"/>
                  <a:pt x="7360" y="14326"/>
                </a:cubicBezTo>
                <a:lnTo>
                  <a:pt x="6416" y="14097"/>
                </a:lnTo>
                <a:cubicBezTo>
                  <a:pt x="6002" y="13997"/>
                  <a:pt x="5669" y="13795"/>
                  <a:pt x="5483" y="13528"/>
                </a:cubicBezTo>
                <a:cubicBezTo>
                  <a:pt x="5429" y="13452"/>
                  <a:pt x="5391" y="13374"/>
                  <a:pt x="5365" y="13294"/>
                </a:cubicBezTo>
                <a:close/>
              </a:path>
            </a:pathLst>
          </a:custGeom>
          <a:solidFill>
            <a:srgbClr val="377CEB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endParaRPr sz="2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75" y="1025725"/>
            <a:ext cx="363001" cy="36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8"/>
          <p:cNvSpPr/>
          <p:nvPr/>
        </p:nvSpPr>
        <p:spPr>
          <a:xfrm>
            <a:off x="906275" y="982725"/>
            <a:ext cx="14007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75" tIns="21675" rIns="21675" bIns="2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2"/>
              <a:buFont typeface="Lato"/>
              <a:buNone/>
            </a:pPr>
            <a:r>
              <a:rPr lang="en-GB" sz="230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Outgoing</a:t>
            </a:r>
            <a:endParaRPr sz="2300">
              <a:solidFill>
                <a:srgbClr val="59595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58" name="Google Shape;35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9"/>
          <p:cNvSpPr txBox="1"/>
          <p:nvPr/>
        </p:nvSpPr>
        <p:spPr>
          <a:xfrm>
            <a:off x="340175" y="344325"/>
            <a:ext cx="5171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1">
                <a:latin typeface="Lato"/>
                <a:ea typeface="Lato"/>
                <a:cs typeface="Lato"/>
                <a:sym typeface="Lato"/>
              </a:rPr>
              <a:t>Marketing</a:t>
            </a:r>
            <a:endParaRPr sz="36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69"/>
          <p:cNvSpPr/>
          <p:nvPr/>
        </p:nvSpPr>
        <p:spPr>
          <a:xfrm>
            <a:off x="902825" y="2430249"/>
            <a:ext cx="1996218" cy="99570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9788" y="0"/>
                </a:moveTo>
                <a:lnTo>
                  <a:pt x="1296" y="8342"/>
                </a:lnTo>
                <a:lnTo>
                  <a:pt x="1296" y="7965"/>
                </a:lnTo>
                <a:cubicBezTo>
                  <a:pt x="1296" y="7822"/>
                  <a:pt x="1235" y="7702"/>
                  <a:pt x="1163" y="7702"/>
                </a:cubicBezTo>
                <a:lnTo>
                  <a:pt x="132" y="7702"/>
                </a:lnTo>
                <a:cubicBezTo>
                  <a:pt x="59" y="7702"/>
                  <a:pt x="0" y="7822"/>
                  <a:pt x="0" y="7965"/>
                </a:cubicBezTo>
                <a:lnTo>
                  <a:pt x="0" y="13572"/>
                </a:lnTo>
                <a:cubicBezTo>
                  <a:pt x="0" y="13715"/>
                  <a:pt x="59" y="13831"/>
                  <a:pt x="132" y="13831"/>
                </a:cubicBezTo>
                <a:lnTo>
                  <a:pt x="1163" y="13831"/>
                </a:lnTo>
                <a:cubicBezTo>
                  <a:pt x="1235" y="13831"/>
                  <a:pt x="1296" y="13715"/>
                  <a:pt x="1296" y="13572"/>
                </a:cubicBezTo>
                <a:lnTo>
                  <a:pt x="1296" y="13258"/>
                </a:lnTo>
                <a:lnTo>
                  <a:pt x="4868" y="14871"/>
                </a:lnTo>
                <a:cubicBezTo>
                  <a:pt x="4831" y="15727"/>
                  <a:pt x="4856" y="17088"/>
                  <a:pt x="5246" y="18369"/>
                </a:cubicBezTo>
                <a:cubicBezTo>
                  <a:pt x="5666" y="19743"/>
                  <a:pt x="6385" y="20665"/>
                  <a:pt x="7391" y="21110"/>
                </a:cubicBezTo>
                <a:cubicBezTo>
                  <a:pt x="7411" y="21118"/>
                  <a:pt x="7709" y="21237"/>
                  <a:pt x="8130" y="21237"/>
                </a:cubicBezTo>
                <a:cubicBezTo>
                  <a:pt x="8379" y="21237"/>
                  <a:pt x="8670" y="21198"/>
                  <a:pt x="8972" y="21067"/>
                </a:cubicBezTo>
                <a:cubicBezTo>
                  <a:pt x="9689" y="20757"/>
                  <a:pt x="10583" y="19899"/>
                  <a:pt x="10999" y="17636"/>
                </a:cubicBezTo>
                <a:lnTo>
                  <a:pt x="19788" y="21600"/>
                </a:lnTo>
                <a:cubicBezTo>
                  <a:pt x="19788" y="21600"/>
                  <a:pt x="21349" y="19032"/>
                  <a:pt x="21600" y="10803"/>
                </a:cubicBezTo>
                <a:lnTo>
                  <a:pt x="21360" y="10800"/>
                </a:lnTo>
                <a:lnTo>
                  <a:pt x="21600" y="10797"/>
                </a:lnTo>
                <a:cubicBezTo>
                  <a:pt x="21349" y="2568"/>
                  <a:pt x="19788" y="0"/>
                  <a:pt x="19788" y="0"/>
                </a:cubicBezTo>
                <a:close/>
                <a:moveTo>
                  <a:pt x="5884" y="15327"/>
                </a:moveTo>
                <a:lnTo>
                  <a:pt x="9983" y="17176"/>
                </a:lnTo>
                <a:cubicBezTo>
                  <a:pt x="9401" y="19745"/>
                  <a:pt x="7796" y="19199"/>
                  <a:pt x="7607" y="19125"/>
                </a:cubicBezTo>
                <a:cubicBezTo>
                  <a:pt x="6898" y="18811"/>
                  <a:pt x="6403" y="18209"/>
                  <a:pt x="6132" y="17336"/>
                </a:cubicBezTo>
                <a:cubicBezTo>
                  <a:pt x="5918" y="16643"/>
                  <a:pt x="5877" y="15882"/>
                  <a:pt x="5884" y="15327"/>
                </a:cubicBezTo>
                <a:close/>
              </a:path>
            </a:pathLst>
          </a:custGeom>
          <a:solidFill>
            <a:srgbClr val="377CEB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endParaRPr sz="2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69"/>
          <p:cNvSpPr txBox="1"/>
          <p:nvPr/>
        </p:nvSpPr>
        <p:spPr>
          <a:xfrm>
            <a:off x="3712250" y="1870175"/>
            <a:ext cx="5171100" cy="1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Work with us to improve our market presence and thus our influence on society.</a:t>
            </a:r>
            <a:endParaRPr sz="3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6" name="Google Shape;36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9"/>
          <p:cNvSpPr/>
          <p:nvPr/>
        </p:nvSpPr>
        <p:spPr>
          <a:xfrm>
            <a:off x="984175" y="1244950"/>
            <a:ext cx="28719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75" tIns="21675" rIns="21675" bIns="2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2"/>
              <a:buFont typeface="Lato"/>
              <a:buNone/>
            </a:pPr>
            <a:r>
              <a:rPr lang="en-GB" sz="230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Social Media </a:t>
            </a:r>
            <a:endParaRPr sz="2300">
              <a:solidFill>
                <a:srgbClr val="595959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2"/>
              <a:buFont typeface="Lato"/>
              <a:buNone/>
            </a:pPr>
            <a:r>
              <a:rPr lang="en-GB" sz="230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&amp; Events</a:t>
            </a:r>
            <a:endParaRPr sz="2300">
              <a:solidFill>
                <a:srgbClr val="59595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68" name="Google Shape;36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75" y="1104450"/>
            <a:ext cx="644001" cy="6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0"/>
          <p:cNvSpPr txBox="1"/>
          <p:nvPr/>
        </p:nvSpPr>
        <p:spPr>
          <a:xfrm>
            <a:off x="340175" y="344325"/>
            <a:ext cx="5171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1">
                <a:latin typeface="Lato"/>
                <a:ea typeface="Lato"/>
                <a:cs typeface="Lato"/>
                <a:sym typeface="Lato"/>
              </a:rPr>
              <a:t>Talent Management</a:t>
            </a:r>
            <a:endParaRPr sz="36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70"/>
          <p:cNvSpPr txBox="1"/>
          <p:nvPr/>
        </p:nvSpPr>
        <p:spPr>
          <a:xfrm>
            <a:off x="3712250" y="1870175"/>
            <a:ext cx="5171100" cy="1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Select the new generation of members and assure a great experience inside the organization</a:t>
            </a:r>
            <a:endParaRPr sz="3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6" name="Google Shape;37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0"/>
          <p:cNvSpPr/>
          <p:nvPr/>
        </p:nvSpPr>
        <p:spPr>
          <a:xfrm>
            <a:off x="984175" y="1244950"/>
            <a:ext cx="28719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75" tIns="21675" rIns="21675" bIns="2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2"/>
              <a:buFont typeface="Lato"/>
              <a:buNone/>
            </a:pPr>
            <a:r>
              <a:rPr lang="en-GB" sz="230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Member experience</a:t>
            </a:r>
            <a:endParaRPr sz="2300">
              <a:solidFill>
                <a:srgbClr val="59595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78" name="Google Shape;37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75" y="1104450"/>
            <a:ext cx="644001" cy="6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1"/>
          <p:cNvSpPr txBox="1"/>
          <p:nvPr/>
        </p:nvSpPr>
        <p:spPr>
          <a:xfrm>
            <a:off x="340175" y="344325"/>
            <a:ext cx="5171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1">
                <a:latin typeface="Lato"/>
                <a:ea typeface="Lato"/>
                <a:cs typeface="Lato"/>
                <a:sym typeface="Lato"/>
              </a:rPr>
              <a:t>Finance</a:t>
            </a:r>
            <a:endParaRPr sz="36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71"/>
          <p:cNvSpPr txBox="1"/>
          <p:nvPr/>
        </p:nvSpPr>
        <p:spPr>
          <a:xfrm>
            <a:off x="3712250" y="1870175"/>
            <a:ext cx="5171100" cy="1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50" tIns="92350" rIns="92350" bIns="92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Handle the income and expenses of the LC and create the monthly and yearly review.</a:t>
            </a:r>
            <a:endParaRPr sz="3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6" name="Google Shape;38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1"/>
          <p:cNvSpPr/>
          <p:nvPr/>
        </p:nvSpPr>
        <p:spPr>
          <a:xfrm>
            <a:off x="984175" y="1244950"/>
            <a:ext cx="28719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75" tIns="21675" rIns="21675" bIns="2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2"/>
              <a:buFont typeface="Lato"/>
              <a:buNone/>
            </a:pPr>
            <a:r>
              <a:rPr lang="en-GB" sz="230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Money </a:t>
            </a:r>
            <a:endParaRPr sz="2300">
              <a:solidFill>
                <a:srgbClr val="59595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88" name="Google Shape;38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75" y="1104450"/>
            <a:ext cx="644001" cy="6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2"/>
          <p:cNvSpPr txBox="1"/>
          <p:nvPr/>
        </p:nvSpPr>
        <p:spPr>
          <a:xfrm>
            <a:off x="340175" y="344325"/>
            <a:ext cx="56844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Lato Black"/>
                <a:ea typeface="Lato Black"/>
                <a:cs typeface="Lato Black"/>
                <a:sym typeface="Lato Black"/>
              </a:rPr>
              <a:t>REQUIREMENTS</a:t>
            </a:r>
            <a:endParaRPr sz="360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95" name="Google Shape;395;p72"/>
          <p:cNvSpPr txBox="1"/>
          <p:nvPr/>
        </p:nvSpPr>
        <p:spPr>
          <a:xfrm>
            <a:off x="398725" y="1457775"/>
            <a:ext cx="8177700" cy="3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800"/>
              <a:buFont typeface="Lato"/>
              <a:buChar char="●"/>
            </a:pPr>
            <a:r>
              <a:rPr lang="en-GB" sz="2800">
                <a:latin typeface="Lato"/>
                <a:ea typeface="Lato"/>
                <a:cs typeface="Lato"/>
                <a:sym typeface="Lato"/>
              </a:rPr>
              <a:t>8-10 hours per week</a:t>
            </a:r>
            <a:endParaRPr sz="2800">
              <a:latin typeface="Lato"/>
              <a:ea typeface="Lato"/>
              <a:cs typeface="Lato"/>
              <a:sym typeface="Lato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800"/>
              <a:buFont typeface="Lato"/>
              <a:buChar char="●"/>
            </a:pPr>
            <a:r>
              <a:rPr lang="en-GB" sz="2800">
                <a:latin typeface="Lato"/>
                <a:ea typeface="Lato"/>
                <a:cs typeface="Lato"/>
                <a:sym typeface="Lato"/>
              </a:rPr>
              <a:t>Accountability </a:t>
            </a:r>
            <a:endParaRPr sz="2800">
              <a:latin typeface="Lato"/>
              <a:ea typeface="Lato"/>
              <a:cs typeface="Lato"/>
              <a:sym typeface="Lato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800"/>
              <a:buFont typeface="Lato"/>
              <a:buChar char="●"/>
            </a:pPr>
            <a:r>
              <a:rPr lang="en-GB" sz="2800">
                <a:latin typeface="Lato"/>
                <a:ea typeface="Lato"/>
                <a:cs typeface="Lato"/>
                <a:sym typeface="Lato"/>
              </a:rPr>
              <a:t>Attend team and local committee meetings</a:t>
            </a:r>
            <a:endParaRPr sz="2800">
              <a:latin typeface="Lato"/>
              <a:ea typeface="Lato"/>
              <a:cs typeface="Lato"/>
              <a:sym typeface="Lato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7CEB"/>
              </a:buClr>
              <a:buSzPts val="2800"/>
              <a:buFont typeface="Lato"/>
              <a:buChar char="●"/>
            </a:pPr>
            <a:r>
              <a:rPr lang="en-GB" sz="2800">
                <a:latin typeface="Lato"/>
                <a:ea typeface="Lato"/>
                <a:cs typeface="Lato"/>
                <a:sym typeface="Lato"/>
              </a:rPr>
              <a:t>Participation in conferences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6" name="Google Shape;39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3"/>
          <p:cNvSpPr txBox="1"/>
          <p:nvPr/>
        </p:nvSpPr>
        <p:spPr>
          <a:xfrm>
            <a:off x="755850" y="1913900"/>
            <a:ext cx="76323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What’s </a:t>
            </a:r>
            <a:r>
              <a:rPr lang="en-GB" sz="5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next?</a:t>
            </a:r>
            <a:endParaRPr sz="51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403" name="Google Shape;4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4"/>
          <p:cNvSpPr txBox="1"/>
          <p:nvPr/>
        </p:nvSpPr>
        <p:spPr>
          <a:xfrm>
            <a:off x="340175" y="344325"/>
            <a:ext cx="56844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Lato Black"/>
                <a:ea typeface="Lato Black"/>
                <a:cs typeface="Lato Black"/>
                <a:sym typeface="Lato Black"/>
              </a:rPr>
              <a:t>What’s next?</a:t>
            </a:r>
            <a:endParaRPr sz="360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9" name="Google Shape;409;p74"/>
          <p:cNvSpPr txBox="1"/>
          <p:nvPr/>
        </p:nvSpPr>
        <p:spPr>
          <a:xfrm>
            <a:off x="473725" y="3501309"/>
            <a:ext cx="2074800" cy="15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latin typeface="Lato"/>
                <a:ea typeface="Lato"/>
                <a:cs typeface="Lato"/>
                <a:sym typeface="Lato"/>
              </a:rPr>
              <a:t>Sign-up on  </a:t>
            </a:r>
            <a:r>
              <a:rPr lang="en-GB" sz="2000" b="1" i="1">
                <a:latin typeface="Lato"/>
                <a:ea typeface="Lato"/>
                <a:cs typeface="Lato"/>
                <a:sym typeface="Lato"/>
              </a:rPr>
              <a:t>aiesec.de/join</a:t>
            </a:r>
            <a:endParaRPr sz="2000" b="1" i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0" name="Google Shape;410;p74"/>
          <p:cNvCxnSpPr/>
          <p:nvPr/>
        </p:nvCxnSpPr>
        <p:spPr>
          <a:xfrm>
            <a:off x="528475" y="3108075"/>
            <a:ext cx="7844100" cy="0"/>
          </a:xfrm>
          <a:prstGeom prst="straightConnector1">
            <a:avLst/>
          </a:prstGeom>
          <a:noFill/>
          <a:ln w="76200" cap="flat" cmpd="sng">
            <a:solidFill>
              <a:srgbClr val="377CEB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" name="Google Shape;411;p74"/>
          <p:cNvCxnSpPr/>
          <p:nvPr/>
        </p:nvCxnSpPr>
        <p:spPr>
          <a:xfrm flipH="1">
            <a:off x="3461550" y="2846175"/>
            <a:ext cx="1800" cy="261900"/>
          </a:xfrm>
          <a:prstGeom prst="straightConnector1">
            <a:avLst/>
          </a:prstGeom>
          <a:noFill/>
          <a:ln w="76200" cap="flat" cmpd="sng">
            <a:solidFill>
              <a:srgbClr val="377C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74"/>
          <p:cNvSpPr txBox="1"/>
          <p:nvPr/>
        </p:nvSpPr>
        <p:spPr>
          <a:xfrm>
            <a:off x="2371925" y="1492650"/>
            <a:ext cx="21786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latin typeface="Lato"/>
                <a:ea typeface="Lato"/>
                <a:cs typeface="Lato"/>
                <a:sym typeface="Lato"/>
              </a:rPr>
              <a:t>Interview</a:t>
            </a:r>
            <a:r>
              <a:rPr lang="en-GB" sz="2400" i="1">
                <a:latin typeface="Lato"/>
                <a:ea typeface="Lato"/>
                <a:cs typeface="Lato"/>
                <a:sym typeface="Lato"/>
              </a:rPr>
              <a:t> with </a:t>
            </a:r>
            <a:endParaRPr sz="2400" i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latin typeface="Lato"/>
                <a:ea typeface="Lato"/>
                <a:cs typeface="Lato"/>
                <a:sym typeface="Lato"/>
              </a:rPr>
              <a:t>one of our</a:t>
            </a:r>
            <a:endParaRPr sz="2400" i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latin typeface="Lato"/>
                <a:ea typeface="Lato"/>
                <a:cs typeface="Lato"/>
                <a:sym typeface="Lato"/>
              </a:rPr>
              <a:t>members</a:t>
            </a:r>
            <a:endParaRPr sz="2400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74"/>
          <p:cNvSpPr txBox="1"/>
          <p:nvPr/>
        </p:nvSpPr>
        <p:spPr>
          <a:xfrm>
            <a:off x="4044675" y="3428200"/>
            <a:ext cx="27315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Kick-off Meeting </a:t>
            </a:r>
            <a:endParaRPr sz="2000" b="1" i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 the team</a:t>
            </a:r>
            <a:endParaRPr sz="2000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74"/>
          <p:cNvSpPr txBox="1"/>
          <p:nvPr/>
        </p:nvSpPr>
        <p:spPr>
          <a:xfrm>
            <a:off x="5237325" y="1940225"/>
            <a:ext cx="36423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First local committee meeting</a:t>
            </a:r>
            <a:endParaRPr sz="2000" b="1" i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be announced</a:t>
            </a:r>
            <a:endParaRPr sz="2000"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5" name="Google Shape;415;p74"/>
          <p:cNvCxnSpPr/>
          <p:nvPr/>
        </p:nvCxnSpPr>
        <p:spPr>
          <a:xfrm flipH="1">
            <a:off x="1512675" y="3083500"/>
            <a:ext cx="1800" cy="261900"/>
          </a:xfrm>
          <a:prstGeom prst="straightConnector1">
            <a:avLst/>
          </a:prstGeom>
          <a:noFill/>
          <a:ln w="76200" cap="flat" cmpd="sng">
            <a:solidFill>
              <a:srgbClr val="377CE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74"/>
          <p:cNvCxnSpPr/>
          <p:nvPr/>
        </p:nvCxnSpPr>
        <p:spPr>
          <a:xfrm flipH="1">
            <a:off x="5410588" y="3083500"/>
            <a:ext cx="1800" cy="261900"/>
          </a:xfrm>
          <a:prstGeom prst="straightConnector1">
            <a:avLst/>
          </a:prstGeom>
          <a:noFill/>
          <a:ln w="76200" cap="flat" cmpd="sng">
            <a:solidFill>
              <a:srgbClr val="377CE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74"/>
          <p:cNvCxnSpPr/>
          <p:nvPr/>
        </p:nvCxnSpPr>
        <p:spPr>
          <a:xfrm flipH="1">
            <a:off x="7359650" y="2846175"/>
            <a:ext cx="1800" cy="261900"/>
          </a:xfrm>
          <a:prstGeom prst="straightConnector1">
            <a:avLst/>
          </a:prstGeom>
          <a:noFill/>
          <a:ln w="76200" cap="flat" cmpd="sng">
            <a:solidFill>
              <a:srgbClr val="377CE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8" name="Google Shape;41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546" y="0"/>
            <a:ext cx="446175" cy="72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C39E"/>
            </a:gs>
            <a:gs pos="100000">
              <a:srgbClr val="037EF3"/>
            </a:gs>
          </a:gsLst>
          <a:lin ang="2698631" scaled="0"/>
        </a:gra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5"/>
          <p:cNvSpPr txBox="1"/>
          <p:nvPr/>
        </p:nvSpPr>
        <p:spPr>
          <a:xfrm>
            <a:off x="755850" y="1913900"/>
            <a:ext cx="76323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GET-TOGETHER</a:t>
            </a:r>
            <a:endParaRPr sz="5100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425" name="Google Shape;42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65175"/>
            <a:ext cx="1245769" cy="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6"/>
          <p:cNvSpPr txBox="1"/>
          <p:nvPr/>
        </p:nvSpPr>
        <p:spPr>
          <a:xfrm>
            <a:off x="340175" y="344325"/>
            <a:ext cx="83268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1">
                <a:latin typeface="Lato"/>
                <a:ea typeface="Lato"/>
                <a:cs typeface="Lato"/>
                <a:sym typeface="Lato"/>
              </a:rPr>
              <a:t>Get-together - what are your questions?</a:t>
            </a:r>
            <a:endParaRPr sz="3600"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76"/>
          <p:cNvSpPr txBox="1"/>
          <p:nvPr/>
        </p:nvSpPr>
        <p:spPr>
          <a:xfrm>
            <a:off x="3694500" y="5172075"/>
            <a:ext cx="1755000" cy="349500"/>
          </a:xfrm>
          <a:prstGeom prst="rect">
            <a:avLst/>
          </a:prstGeom>
          <a:solidFill>
            <a:srgbClr val="377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AIESEC.DE/JOIN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2" name="Google Shape;43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00" y="5254950"/>
            <a:ext cx="1245776" cy="18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5650" y="1135131"/>
            <a:ext cx="6772699" cy="3809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On-screen Show (16:10)</PresentationFormat>
  <Paragraphs>91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Lato Light</vt:lpstr>
      <vt:lpstr>Lato</vt:lpstr>
      <vt:lpstr>Verdana</vt:lpstr>
      <vt:lpstr>Helvetica Neue</vt:lpstr>
      <vt:lpstr>Lato Black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Get 2 Know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Arezo Gholami</cp:lastModifiedBy>
  <cp:revision>1</cp:revision>
  <dcterms:modified xsi:type="dcterms:W3CDTF">2022-10-25T09:15:03Z</dcterms:modified>
</cp:coreProperties>
</file>