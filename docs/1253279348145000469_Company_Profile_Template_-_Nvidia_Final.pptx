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347" userDrawn="1">
          <p15:clr>
            <a:srgbClr val="A4A3A4"/>
          </p15:clr>
        </p15:guide>
        <p15:guide id="3" pos="4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enia Silbe" initials="X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E6"/>
    <a:srgbClr val="002B5B"/>
    <a:srgbClr val="1E2B5A"/>
    <a:srgbClr val="D9D9D9"/>
    <a:srgbClr val="C8004B"/>
    <a:srgbClr val="25685E"/>
    <a:srgbClr val="FFCC13"/>
    <a:srgbClr val="52B68D"/>
    <a:srgbClr val="16A8E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0" autoAdjust="0"/>
    <p:restoredTop sz="96283" autoAdjust="0"/>
  </p:normalViewPr>
  <p:slideViewPr>
    <p:cSldViewPr snapToGrid="0" showGuides="1">
      <p:cViewPr varScale="1">
        <p:scale>
          <a:sx n="107" d="100"/>
          <a:sy n="107" d="100"/>
        </p:scale>
        <p:origin x="708" y="114"/>
      </p:cViewPr>
      <p:guideLst>
        <p:guide orient="horz" pos="935"/>
        <p:guide pos="3347"/>
        <p:guide pos="4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96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5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7A-41C3-801B-CC1B9A4A6B4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7A-41C3-801B-CC1B9A4A6B4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7A-41C3-801B-CC1B9A4A6B45}"/>
              </c:ext>
            </c:extLst>
          </c:dPt>
          <c:dLbls>
            <c:dLbl>
              <c:idx val="0"/>
              <c:layout>
                <c:manualLayout>
                  <c:x val="-9.0997644138864804E-3"/>
                  <c:y val="-0.56582203802664854"/>
                </c:manualLayout>
              </c:layout>
              <c:tx>
                <c:rich>
                  <a:bodyPr rot="0" spcFirstLastPara="1" vertOverflow="ellipsis" vert="horz" wrap="square" lIns="0" tIns="0" rIns="0" bIns="0" anchor="ctr" anchorCtr="1">
                    <a:spAutoFit/>
                  </a:bodyPr>
                  <a:lstStyle/>
                  <a:p>
                    <a:pPr>
                      <a:defRPr sz="1100" b="0" i="0" u="none" strike="noStrike" kern="1200" baseline="0">
                        <a:solidFill>
                          <a:srgbClr val="002B5B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1EAB5C1-9D2F-4E20-976A-57FB620AA400}" type="CATEGORYNAME">
                      <a:rPr lang="en-US" sz="1100" dirty="0"/>
                      <a:pPr>
                        <a:defRPr sz="1100" b="0">
                          <a:solidFill>
                            <a:srgbClr val="002B5B"/>
                          </a:solidFill>
                        </a:defRPr>
                      </a:pPr>
                      <a:t>[CATEGORY NAME]</a:t>
                    </a:fld>
                    <a:endParaRPr lang="en-US" baseline="0" dirty="0"/>
                  </a:p>
                  <a:p>
                    <a:pPr>
                      <a:defRPr sz="1100" b="0">
                        <a:solidFill>
                          <a:srgbClr val="002B5B"/>
                        </a:solidFill>
                      </a:defRPr>
                    </a:pPr>
                    <a:fld id="{A27C4037-5663-4E73-88E9-C7174BAE3255}" type="PERCENTAGE">
                      <a:rPr lang="en-US" dirty="0"/>
                      <a:pPr>
                        <a:defRPr sz="1100" b="0">
                          <a:solidFill>
                            <a:srgbClr val="002B5B"/>
                          </a:solidFill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rgbClr val="002B5B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82285901804727"/>
                      <c:h val="0.2463193660756469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7A-41C3-801B-CC1B9A4A6B45}"/>
                </c:ext>
              </c:extLst>
            </c:dLbl>
            <c:dLbl>
              <c:idx val="1"/>
              <c:layout>
                <c:manualLayout>
                  <c:x val="0"/>
                  <c:y val="6.2178245936994345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85120438051994"/>
                      <c:h val="0.3222076704455046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17A-41C3-801B-CC1B9A4A6B45}"/>
                </c:ext>
              </c:extLst>
            </c:dLbl>
            <c:dLbl>
              <c:idx val="2"/>
              <c:layout>
                <c:manualLayout>
                  <c:x val="7.1713867481378091E-2"/>
                  <c:y val="7.461389512439321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rgbClr val="002B5B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375362908657357"/>
                      <c:h val="0.283626313637843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17A-41C3-801B-CC1B9A4A6B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2B5B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Inst. Ownership</c:v>
                </c:pt>
                <c:pt idx="1">
                  <c:v>Insider Ownership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66.900000000000006</c:v>
                </c:pt>
                <c:pt idx="1">
                  <c:v>4.25</c:v>
                </c:pt>
                <c:pt idx="2">
                  <c:v>28.85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3-441F-A7B4-CB5EB5A0F44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 rot="0" vert="horz" anchor="t" anchorCtr="0"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3B059-801B-4262-A34B-81439EFEBDC6}" type="datetimeFigureOut">
              <a:rPr lang="en-GB" smtClean="0"/>
              <a:t>20/06/2024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25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7325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D5806-93AC-48DA-8360-1D4C7F7307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8537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11503-E0B3-4DA1-8E3D-117348CB5681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1235075"/>
            <a:ext cx="48101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51225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25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7325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F722E-D058-40A9-9B0D-2CA7A02908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62095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F722E-D058-40A9-9B0D-2CA7A02908C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20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/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BA8808C-560F-46D3-B5B5-45B15125028A}"/>
              </a:ext>
            </a:extLst>
          </p:cNvPr>
          <p:cNvSpPr/>
          <p:nvPr userDrawn="1"/>
        </p:nvSpPr>
        <p:spPr>
          <a:xfrm>
            <a:off x="7871704" y="6574700"/>
            <a:ext cx="2034296" cy="273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400" noProof="0">
              <a:solidFill>
                <a:schemeClr val="accent1"/>
              </a:solidFill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BC4310-A5B9-4C5B-8F0E-2A009B0921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100" y="188913"/>
            <a:ext cx="9576000" cy="396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 noProof="0"/>
              <a:t>Headline – Calibri – 20pt – RGB 0/43/91</a:t>
            </a:r>
          </a:p>
        </p:txBody>
      </p:sp>
    </p:spTree>
    <p:extLst>
      <p:ext uri="{BB962C8B-B14F-4D97-AF65-F5344CB8AC3E}">
        <p14:creationId xmlns:p14="http://schemas.microsoft.com/office/powerpoint/2010/main" val="191500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B445-EA6F-49C8-A704-DC6688BD9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100" y="188913"/>
            <a:ext cx="9576000" cy="396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 noProof="0"/>
              <a:t>Headline – Calibri – 20pt – RGB 0/43/91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84E2B28-B797-47C9-8558-75BC57A284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00" y="584038"/>
            <a:ext cx="9576000" cy="396875"/>
          </a:xfrm>
        </p:spPr>
        <p:txBody>
          <a:bodyPr lIns="0" anchor="ctr">
            <a:noAutofit/>
          </a:bodyPr>
          <a:lstStyle>
            <a:lvl3pPr marL="0" indent="0">
              <a:buNone/>
              <a:defRPr sz="1600">
                <a:solidFill>
                  <a:srgbClr val="002B5B"/>
                </a:solidFill>
              </a:defRPr>
            </a:lvl3pPr>
          </a:lstStyle>
          <a:p>
            <a:pPr lvl="2"/>
            <a:r>
              <a:rPr lang="en-GB" sz="1600" noProof="0"/>
              <a:t>Subtitle</a:t>
            </a:r>
            <a:endParaRPr lang="en-GB" noProof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9C8C0FD0-1513-47CE-9F9B-F0F52B75FF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5100" y="6318000"/>
            <a:ext cx="9575798" cy="287342"/>
          </a:xfrm>
          <a:noFill/>
          <a:ln w="6350">
            <a:noFill/>
          </a:ln>
        </p:spPr>
        <p:txBody>
          <a:bodyPr wrap="square" lIns="0" tIns="0" rIns="0" bIns="0" rtlCol="0" anchor="ctr">
            <a:noAutofit/>
          </a:bodyPr>
          <a:lstStyle>
            <a:lvl1pPr>
              <a:spcBef>
                <a:spcPts val="0"/>
              </a:spcBef>
              <a:defRPr lang="de-DE" sz="700" i="1" dirty="0">
                <a:solidFill>
                  <a:srgbClr val="002B5B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 defTabSz="457200"/>
            <a:r>
              <a:rPr lang="en-GB" noProof="0"/>
              <a:t>Source: Company information</a:t>
            </a:r>
            <a:br>
              <a:rPr lang="en-GB" noProof="0"/>
            </a:br>
            <a:r>
              <a:rPr lang="en-GB" noProof="0"/>
              <a:t>Note: (1) …</a:t>
            </a:r>
          </a:p>
        </p:txBody>
      </p:sp>
    </p:spTree>
    <p:extLst>
      <p:ext uri="{BB962C8B-B14F-4D97-AF65-F5344CB8AC3E}">
        <p14:creationId xmlns:p14="http://schemas.microsoft.com/office/powerpoint/2010/main" val="181421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100" y="188913"/>
            <a:ext cx="9576000" cy="39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 noProof="0"/>
              <a:t>Headline – Calibri – 20pt – RGB 0/43/91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100" y="1062000"/>
            <a:ext cx="9575800" cy="5256208"/>
          </a:xfrm>
          <a:prstGeom prst="rect">
            <a:avLst/>
          </a:prstGeom>
        </p:spPr>
        <p:txBody>
          <a:bodyPr vert="horz" lIns="36000" tIns="0" rIns="0" bIns="0" rtlCol="0">
            <a:noAutofit/>
          </a:bodyPr>
          <a:lstStyle/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2nd level (RGB 0/93/196)</a:t>
            </a:r>
          </a:p>
          <a:p>
            <a:pPr lvl="2"/>
            <a:r>
              <a:rPr lang="en-GB" noProof="0" dirty="0"/>
              <a:t>3rd level (RGB 0/93/196)</a:t>
            </a:r>
          </a:p>
          <a:p>
            <a:pPr lvl="3"/>
            <a:r>
              <a:rPr lang="en-GB" noProof="0" dirty="0"/>
              <a:t>4th level (RGB 0/93/196)</a:t>
            </a:r>
          </a:p>
          <a:p>
            <a:pPr lvl="3"/>
            <a:endParaRPr lang="en-GB" noProof="0" dirty="0"/>
          </a:p>
        </p:txBody>
      </p:sp>
      <p:pic>
        <p:nvPicPr>
          <p:cNvPr id="42" name="Bild 9">
            <a:extLst>
              <a:ext uri="{FF2B5EF4-FFF2-40B4-BE49-F238E27FC236}">
                <a16:creationId xmlns:a16="http://schemas.microsoft.com/office/drawing/2014/main" id="{F05DEADB-6C83-477D-9CB7-67DA65B6E1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1307" y="198000"/>
            <a:ext cx="941388" cy="396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0B42B5F-409A-45EE-8A20-E33E7C0772D0}"/>
              </a:ext>
            </a:extLst>
          </p:cNvPr>
          <p:cNvSpPr/>
          <p:nvPr userDrawn="1"/>
        </p:nvSpPr>
        <p:spPr>
          <a:xfrm>
            <a:off x="146052" y="6584950"/>
            <a:ext cx="4428000" cy="26280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l"/>
            <a:r>
              <a:rPr lang="en-GB" sz="800" kern="1200" noProof="0" dirty="0">
                <a:solidFill>
                  <a:srgbClr val="002B5B"/>
                </a:solidFill>
                <a:latin typeface="+mn-lt"/>
                <a:ea typeface="+mn-ea"/>
                <a:cs typeface="+mn-cs"/>
              </a:rPr>
              <a:t>| IEG-Investment Banking Group| Strictly Confidential | Company Profile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B4B34ED-5BC8-445E-9574-065BE66486BA}"/>
              </a:ext>
            </a:extLst>
          </p:cNvPr>
          <p:cNvSpPr/>
          <p:nvPr userDrawn="1"/>
        </p:nvSpPr>
        <p:spPr>
          <a:xfrm>
            <a:off x="4363573" y="6584950"/>
            <a:ext cx="1168071" cy="2628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GB" sz="800" kern="1200" noProof="0" dirty="0">
                <a:solidFill>
                  <a:srgbClr val="002B5B"/>
                </a:solidFill>
                <a:latin typeface="+mn-lt"/>
                <a:ea typeface="+mn-ea"/>
                <a:cs typeface="+mn-cs"/>
              </a:rPr>
              <a:t>March 2023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4C491E3C-5E76-4212-B733-5DAD9716B100}"/>
              </a:ext>
            </a:extLst>
          </p:cNvPr>
          <p:cNvSpPr txBox="1">
            <a:spLocks/>
          </p:cNvSpPr>
          <p:nvPr userDrawn="1"/>
        </p:nvSpPr>
        <p:spPr>
          <a:xfrm>
            <a:off x="9057736" y="6584950"/>
            <a:ext cx="683164" cy="262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800">
                <a:solidFill>
                  <a:srgbClr val="002B5B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B3B3FE1A-7AC7-4401-9393-0B01A9155DE4}" type="slidenum">
              <a:rPr lang="en-GB" noProof="0" smtClean="0"/>
              <a:pPr lvl="0"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4081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85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None/>
        <a:defRPr sz="1200" kern="1200">
          <a:solidFill>
            <a:srgbClr val="002B5B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005DC4"/>
        </a:buClr>
        <a:buFont typeface="Wingdings" panose="05000000000000000000" pitchFamily="2" charset="2"/>
        <a:buChar char="§"/>
        <a:defRPr sz="1200" kern="1200" baseline="0">
          <a:solidFill>
            <a:srgbClr val="002B5B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005DC4"/>
        </a:buClr>
        <a:buFont typeface="Symbol" panose="05050102010706020507" pitchFamily="18" charset="2"/>
        <a:buChar char="-"/>
        <a:defRPr sz="1200" kern="1200" baseline="0">
          <a:solidFill>
            <a:srgbClr val="002B5B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005DC4"/>
        </a:buClr>
        <a:buFont typeface="Arial" panose="020B0604020202020204" pitchFamily="34" charset="0"/>
        <a:buChar char="•"/>
        <a:defRPr sz="1200" kern="1200" baseline="0">
          <a:solidFill>
            <a:srgbClr val="002B5B"/>
          </a:solidFill>
          <a:latin typeface="+mn-lt"/>
          <a:ea typeface="+mn-ea"/>
          <a:cs typeface="+mn-cs"/>
        </a:defRPr>
      </a:lvl4pPr>
      <a:lvl5pPr marL="54000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640026"/>
        </a:buClr>
        <a:buSzTx/>
        <a:buFont typeface="Arial" panose="020B0604020202020204" pitchFamily="34" charset="0"/>
        <a:buNone/>
        <a:tabLst/>
        <a:defRPr lang="en-US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4000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640026"/>
        </a:buClr>
        <a:buSzTx/>
        <a:buFont typeface="Arial" panose="020B06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640026"/>
        </a:buClr>
        <a:buSzTx/>
        <a:buFont typeface="Arial" panose="020B06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640026"/>
        </a:buClr>
        <a:buSzTx/>
        <a:buFont typeface="Arial" panose="020B06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640026"/>
        </a:buClr>
        <a:buSzTx/>
        <a:buFont typeface="Arial" panose="020B06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7" userDrawn="1">
          <p15:clr>
            <a:srgbClr val="F26B43"/>
          </p15:clr>
        </p15:guide>
        <p15:guide id="6" pos="6136" userDrawn="1">
          <p15:clr>
            <a:srgbClr val="F26B43"/>
          </p15:clr>
        </p15:guide>
        <p15:guide id="12" orient="horz" pos="4156" userDrawn="1">
          <p15:clr>
            <a:srgbClr val="F26B43"/>
          </p15:clr>
        </p15:guide>
        <p15:guide id="14" orient="horz" pos="663" userDrawn="1">
          <p15:clr>
            <a:srgbClr val="F26B43"/>
          </p15:clr>
        </p15:guide>
        <p15:guide id="15" orient="horz" pos="368" userDrawn="1">
          <p15:clr>
            <a:srgbClr val="F26B43"/>
          </p15:clr>
        </p15:guide>
        <p15:guide id="17" orient="horz" pos="119" userDrawn="1">
          <p15:clr>
            <a:srgbClr val="F26B43"/>
          </p15:clr>
        </p15:guide>
        <p15:guide id="18" pos="3120" userDrawn="1">
          <p15:clr>
            <a:srgbClr val="F26B43"/>
          </p15:clr>
        </p15:guide>
        <p15:guide id="19" orient="horz" pos="2364" userDrawn="1">
          <p15:clr>
            <a:srgbClr val="F26B43"/>
          </p15:clr>
        </p15:guide>
        <p15:guide id="20" pos="104" userDrawn="1">
          <p15:clr>
            <a:srgbClr val="F26B43"/>
          </p15:clr>
        </p15:guide>
        <p15:guide id="23" orient="horz" pos="3974" userDrawn="1">
          <p15:clr>
            <a:srgbClr val="F26B43"/>
          </p15:clr>
        </p15:guide>
        <p15:guide id="24" orient="horz" pos="3906" userDrawn="1">
          <p15:clr>
            <a:srgbClr val="F26B43"/>
          </p15:clr>
        </p15:guide>
        <p15:guide id="25" pos="3220" userDrawn="1">
          <p15:clr>
            <a:srgbClr val="F26B43"/>
          </p15:clr>
        </p15:guide>
        <p15:guide id="26" pos="3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chart" Target="../charts/chart1.xml"/><Relationship Id="rId10" Type="http://schemas.openxmlformats.org/officeDocument/2006/relationships/image" Target="../media/image6.png"/><Relationship Id="rId4" Type="http://schemas.openxmlformats.org/officeDocument/2006/relationships/hyperlink" Target="https://finance.yahoo.com/quote/NVDA.NE/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B4B53A-4099-473E-B3AF-2FD77E23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NVIDIA Corporation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8CBF84-2E88-4DBD-B470-110FDFFAE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leading</a:t>
            </a:r>
            <a:r>
              <a:rPr lang="de-DE" dirty="0"/>
              <a:t> </a:t>
            </a:r>
            <a:r>
              <a:rPr lang="de-DE" dirty="0" err="1"/>
              <a:t>company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manufacturing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 </a:t>
            </a:r>
            <a:r>
              <a:rPr lang="de-DE" dirty="0" err="1"/>
              <a:t>chips</a:t>
            </a:r>
            <a:r>
              <a:rPr lang="de-DE" dirty="0"/>
              <a:t> and </a:t>
            </a:r>
            <a:r>
              <a:rPr lang="de-DE" dirty="0" err="1"/>
              <a:t>GPUs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high-end Data Centers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36BFAE-8177-4A8E-B9D9-EA77AD1A7F7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5197" y="6296116"/>
            <a:ext cx="9575798" cy="287342"/>
          </a:xfrm>
        </p:spPr>
        <p:txBody>
          <a:bodyPr/>
          <a:lstStyle/>
          <a:p>
            <a:r>
              <a:rPr lang="de-DE" dirty="0"/>
              <a:t>Source: </a:t>
            </a:r>
            <a:r>
              <a:rPr lang="de-DE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de-DE" u="sng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finance.yahoo.com</a:t>
            </a:r>
            <a:r>
              <a:rPr lang="de-DE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de-DE" u="sng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quote</a:t>
            </a:r>
            <a:r>
              <a:rPr lang="de-DE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de-DE" u="sng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NVDA.NE</a:t>
            </a:r>
            <a:r>
              <a:rPr lang="de-DE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de-DE" u="sng" dirty="0"/>
              <a:t>, </a:t>
            </a:r>
            <a:r>
              <a:rPr lang="de-DE" dirty="0" err="1"/>
              <a:t>Factset</a:t>
            </a:r>
            <a:r>
              <a:rPr lang="de-DE" dirty="0"/>
              <a:t>, Nvidia Annual Report 2024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A5CC7-2014-10E3-C338-936F889B2B20}"/>
              </a:ext>
            </a:extLst>
          </p:cNvPr>
          <p:cNvSpPr/>
          <p:nvPr/>
        </p:nvSpPr>
        <p:spPr>
          <a:xfrm>
            <a:off x="165090" y="1111809"/>
            <a:ext cx="4698886" cy="222191"/>
          </a:xfrm>
          <a:prstGeom prst="rect">
            <a:avLst/>
          </a:prstGeom>
          <a:solidFill>
            <a:srgbClr val="002B5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Company Description</a:t>
            </a:r>
            <a:endParaRPr 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43F11-A735-138F-44DD-3A4197DEBC52}"/>
              </a:ext>
            </a:extLst>
          </p:cNvPr>
          <p:cNvSpPr txBox="1"/>
          <p:nvPr/>
        </p:nvSpPr>
        <p:spPr>
          <a:xfrm>
            <a:off x="76073" y="1342859"/>
            <a:ext cx="47879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>
                <a:solidFill>
                  <a:schemeClr val="accent1"/>
                </a:solidFill>
              </a:rPr>
              <a:t>NVIDIA Corporation </a:t>
            </a:r>
            <a:r>
              <a:rPr lang="de-DE" sz="1100" dirty="0" err="1">
                <a:solidFill>
                  <a:schemeClr val="accent1"/>
                </a:solidFill>
              </a:rPr>
              <a:t>operates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through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the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two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segments</a:t>
            </a:r>
            <a:r>
              <a:rPr lang="de-DE" sz="1100" dirty="0">
                <a:solidFill>
                  <a:schemeClr val="accent1"/>
                </a:solidFill>
              </a:rPr>
              <a:t> Graphics Processing Unit (GPU) and </a:t>
            </a:r>
            <a:r>
              <a:rPr lang="de-DE" sz="1100" dirty="0" err="1">
                <a:solidFill>
                  <a:schemeClr val="accent1"/>
                </a:solidFill>
              </a:rPr>
              <a:t>Compute</a:t>
            </a:r>
            <a:r>
              <a:rPr lang="de-DE" sz="1100" dirty="0">
                <a:solidFill>
                  <a:schemeClr val="accent1"/>
                </a:solidFill>
              </a:rPr>
              <a:t> &amp; Networking.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>
                <a:solidFill>
                  <a:schemeClr val="accent1"/>
                </a:solidFill>
              </a:rPr>
              <a:t>Main </a:t>
            </a:r>
            <a:r>
              <a:rPr lang="de-DE" sz="1100" dirty="0" err="1">
                <a:solidFill>
                  <a:schemeClr val="accent1"/>
                </a:solidFill>
              </a:rPr>
              <a:t>revenues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flow</a:t>
            </a:r>
            <a:r>
              <a:rPr lang="de-DE" sz="1100" dirty="0">
                <a:solidFill>
                  <a:schemeClr val="accent1"/>
                </a:solidFill>
              </a:rPr>
              <a:t> from </a:t>
            </a:r>
            <a:r>
              <a:rPr lang="de-DE" sz="1100" dirty="0" err="1">
                <a:solidFill>
                  <a:schemeClr val="accent1"/>
                </a:solidFill>
              </a:rPr>
              <a:t>the</a:t>
            </a:r>
            <a:r>
              <a:rPr lang="de-DE" sz="1100" dirty="0">
                <a:solidFill>
                  <a:schemeClr val="accent1"/>
                </a:solidFill>
              </a:rPr>
              <a:t> US (44%), Taiwan (22%) and China (17%) with additional </a:t>
            </a:r>
            <a:r>
              <a:rPr lang="de-DE" sz="1100" dirty="0" err="1">
                <a:solidFill>
                  <a:schemeClr val="accent1"/>
                </a:solidFill>
              </a:rPr>
              <a:t>sales</a:t>
            </a:r>
            <a:r>
              <a:rPr lang="de-DE" sz="1100" dirty="0">
                <a:solidFill>
                  <a:schemeClr val="accent1"/>
                </a:solidFill>
              </a:rPr>
              <a:t> in Japan, Germany, India, UK and France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 err="1">
                <a:solidFill>
                  <a:schemeClr val="accent1"/>
                </a:solidFill>
              </a:rPr>
              <a:t>Revenues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are</a:t>
            </a:r>
            <a:r>
              <a:rPr lang="de-DE" sz="1100" dirty="0">
                <a:solidFill>
                  <a:schemeClr val="accent1"/>
                </a:solidFill>
              </a:rPr>
              <a:t> 100% </a:t>
            </a:r>
            <a:r>
              <a:rPr lang="de-DE" sz="1100" dirty="0" err="1">
                <a:solidFill>
                  <a:schemeClr val="accent1"/>
                </a:solidFill>
              </a:rPr>
              <a:t>based</a:t>
            </a:r>
            <a:r>
              <a:rPr lang="de-DE" sz="1100" dirty="0">
                <a:solidFill>
                  <a:schemeClr val="accent1"/>
                </a:solidFill>
              </a:rPr>
              <a:t> on Video Multimedia and Semiconductors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>
                <a:solidFill>
                  <a:schemeClr val="accent1"/>
                </a:solidFill>
              </a:rPr>
              <a:t>Ownership: Public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 err="1">
                <a:solidFill>
                  <a:schemeClr val="accent1"/>
                </a:solidFill>
              </a:rPr>
              <a:t>Founded</a:t>
            </a:r>
            <a:r>
              <a:rPr lang="de-DE" sz="1100" dirty="0">
                <a:solidFill>
                  <a:schemeClr val="accent1"/>
                </a:solidFill>
              </a:rPr>
              <a:t> in 1993 and </a:t>
            </a:r>
            <a:r>
              <a:rPr lang="de-DE" sz="1100" dirty="0" err="1">
                <a:solidFill>
                  <a:schemeClr val="accent1"/>
                </a:solidFill>
              </a:rPr>
              <a:t>headquartered</a:t>
            </a:r>
            <a:r>
              <a:rPr lang="de-DE" sz="1100" dirty="0">
                <a:solidFill>
                  <a:schemeClr val="accent1"/>
                </a:solidFill>
              </a:rPr>
              <a:t> Santa Clara, California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>
                <a:solidFill>
                  <a:schemeClr val="accent1"/>
                </a:solidFill>
              </a:rPr>
              <a:t>29,600 </a:t>
            </a:r>
            <a:r>
              <a:rPr lang="de-DE" sz="1100" dirty="0" err="1">
                <a:solidFill>
                  <a:schemeClr val="accent1"/>
                </a:solidFill>
              </a:rPr>
              <a:t>employees</a:t>
            </a:r>
            <a:r>
              <a:rPr lang="de-DE" sz="1100" dirty="0">
                <a:solidFill>
                  <a:schemeClr val="accent1"/>
                </a:solidFill>
              </a:rPr>
              <a:t> in 36 countries, </a:t>
            </a:r>
            <a:r>
              <a:rPr lang="de-DE" sz="1100" dirty="0" err="1">
                <a:solidFill>
                  <a:schemeClr val="accent1"/>
                </a:solidFill>
              </a:rPr>
              <a:t>thereof</a:t>
            </a:r>
            <a:r>
              <a:rPr lang="de-DE" sz="1100" dirty="0">
                <a:solidFill>
                  <a:schemeClr val="accent1"/>
                </a:solidFill>
              </a:rPr>
              <a:t> 22,200 in </a:t>
            </a:r>
            <a:r>
              <a:rPr lang="de-DE" sz="1100" dirty="0" err="1">
                <a:solidFill>
                  <a:schemeClr val="accent1"/>
                </a:solidFill>
              </a:rPr>
              <a:t>R&amp;D</a:t>
            </a:r>
            <a:r>
              <a:rPr lang="de-DE" sz="1100" dirty="0">
                <a:solidFill>
                  <a:schemeClr val="accent1"/>
                </a:solidFill>
              </a:rPr>
              <a:t> and 7,400 in </a:t>
            </a:r>
            <a:r>
              <a:rPr lang="de-DE" sz="1100" dirty="0" err="1">
                <a:solidFill>
                  <a:schemeClr val="accent1"/>
                </a:solidFill>
              </a:rPr>
              <a:t>sales</a:t>
            </a:r>
            <a:r>
              <a:rPr lang="de-DE" sz="1100" dirty="0">
                <a:solidFill>
                  <a:schemeClr val="accent1"/>
                </a:solidFill>
              </a:rPr>
              <a:t>, </a:t>
            </a:r>
            <a:r>
              <a:rPr lang="de-DE" sz="1100" dirty="0" err="1">
                <a:solidFill>
                  <a:schemeClr val="accent1"/>
                </a:solidFill>
              </a:rPr>
              <a:t>marketing</a:t>
            </a:r>
            <a:r>
              <a:rPr lang="de-DE" sz="1100" dirty="0">
                <a:solidFill>
                  <a:schemeClr val="accent1"/>
                </a:solidFill>
              </a:rPr>
              <a:t>, </a:t>
            </a:r>
            <a:r>
              <a:rPr lang="de-DE" sz="1100" dirty="0" err="1">
                <a:solidFill>
                  <a:schemeClr val="accent1"/>
                </a:solidFill>
              </a:rPr>
              <a:t>operations</a:t>
            </a:r>
            <a:r>
              <a:rPr lang="de-DE" sz="1100" dirty="0">
                <a:solidFill>
                  <a:schemeClr val="accent1"/>
                </a:solidFill>
              </a:rPr>
              <a:t> and administrative </a:t>
            </a:r>
            <a:r>
              <a:rPr lang="de-DE" sz="1100" dirty="0" err="1">
                <a:solidFill>
                  <a:schemeClr val="accent1"/>
                </a:solidFill>
              </a:rPr>
              <a:t>positions</a:t>
            </a:r>
            <a:endParaRPr lang="de-DE" sz="1100" dirty="0">
              <a:solidFill>
                <a:schemeClr val="accent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100" dirty="0" err="1">
                <a:solidFill>
                  <a:schemeClr val="accent1"/>
                </a:solidFill>
              </a:rPr>
              <a:t>Recent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M&amp;A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Activity</a:t>
            </a:r>
            <a:r>
              <a:rPr lang="de-DE" sz="1100" dirty="0">
                <a:solidFill>
                  <a:schemeClr val="accent1"/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June 2023: NVIDIA </a:t>
            </a:r>
            <a:r>
              <a:rPr lang="de-DE" sz="1100" dirty="0" err="1">
                <a:solidFill>
                  <a:schemeClr val="accent1"/>
                </a:solidFill>
              </a:rPr>
              <a:t>acquired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OmniML</a:t>
            </a:r>
            <a:r>
              <a:rPr lang="de-DE" sz="1100" dirty="0">
                <a:solidFill>
                  <a:schemeClr val="accent1"/>
                </a:solidFill>
              </a:rPr>
              <a:t>, a </a:t>
            </a:r>
            <a:r>
              <a:rPr lang="de-DE" sz="1100" dirty="0" err="1">
                <a:solidFill>
                  <a:schemeClr val="accent1"/>
                </a:solidFill>
              </a:rPr>
              <a:t>two-year-old</a:t>
            </a:r>
            <a:r>
              <a:rPr lang="de-DE" sz="1100" dirty="0">
                <a:solidFill>
                  <a:schemeClr val="accent1"/>
                </a:solidFill>
              </a:rPr>
              <a:t> AI </a:t>
            </a:r>
            <a:r>
              <a:rPr lang="de-DE" sz="1100" dirty="0" err="1">
                <a:solidFill>
                  <a:schemeClr val="accent1"/>
                </a:solidFill>
              </a:rPr>
              <a:t>startup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whose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software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helps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shrink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machine-learning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models</a:t>
            </a:r>
            <a:endParaRPr lang="de-DE" sz="1100" dirty="0">
              <a:solidFill>
                <a:schemeClr val="accent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April 2024: NVIDIA </a:t>
            </a:r>
            <a:r>
              <a:rPr lang="de-DE" sz="1100" dirty="0" err="1">
                <a:solidFill>
                  <a:schemeClr val="accent1"/>
                </a:solidFill>
              </a:rPr>
              <a:t>wants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to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buy</a:t>
            </a:r>
            <a:r>
              <a:rPr lang="de-DE" sz="1100" dirty="0">
                <a:solidFill>
                  <a:schemeClr val="accent1"/>
                </a:solidFill>
              </a:rPr>
              <a:t> an Israeli </a:t>
            </a:r>
            <a:r>
              <a:rPr lang="de-DE" sz="1100" dirty="0" err="1">
                <a:solidFill>
                  <a:schemeClr val="accent1"/>
                </a:solidFill>
              </a:rPr>
              <a:t>startup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which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promotes</a:t>
            </a:r>
            <a:r>
              <a:rPr lang="de-DE" sz="1100" dirty="0">
                <a:solidFill>
                  <a:schemeClr val="accent1"/>
                </a:solidFill>
              </a:rPr>
              <a:t> an interface </a:t>
            </a:r>
            <a:r>
              <a:rPr lang="de-DE" sz="1100" dirty="0" err="1">
                <a:solidFill>
                  <a:schemeClr val="accent1"/>
                </a:solidFill>
              </a:rPr>
              <a:t>to</a:t>
            </a:r>
            <a:r>
              <a:rPr lang="de-DE" sz="1100" dirty="0">
                <a:solidFill>
                  <a:schemeClr val="accent1"/>
                </a:solidFill>
              </a:rPr>
              <a:t> manage </a:t>
            </a:r>
            <a:r>
              <a:rPr lang="de-DE" sz="1100" dirty="0" err="1">
                <a:solidFill>
                  <a:schemeClr val="accent1"/>
                </a:solidFill>
              </a:rPr>
              <a:t>shared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compute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infrastructure</a:t>
            </a:r>
            <a:endParaRPr lang="de-DE" sz="11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D21A9-1A5D-8CBE-00F8-B312EA2F98E6}"/>
              </a:ext>
            </a:extLst>
          </p:cNvPr>
          <p:cNvSpPr/>
          <p:nvPr/>
        </p:nvSpPr>
        <p:spPr>
          <a:xfrm>
            <a:off x="165295" y="3906191"/>
            <a:ext cx="4698778" cy="222191"/>
          </a:xfrm>
          <a:prstGeom prst="rect">
            <a:avLst/>
          </a:prstGeom>
          <a:solidFill>
            <a:srgbClr val="002B5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Management &amp; Ownership</a:t>
            </a:r>
            <a:endParaRPr 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E8EF3F-BB6C-A242-999C-A1E89E69C4FF}"/>
              </a:ext>
            </a:extLst>
          </p:cNvPr>
          <p:cNvSpPr/>
          <p:nvPr/>
        </p:nvSpPr>
        <p:spPr>
          <a:xfrm>
            <a:off x="5041920" y="1111809"/>
            <a:ext cx="4698978" cy="222191"/>
          </a:xfrm>
          <a:prstGeom prst="rect">
            <a:avLst/>
          </a:prstGeom>
          <a:solidFill>
            <a:srgbClr val="002B5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Key </a:t>
            </a:r>
            <a:r>
              <a:rPr lang="de-DE" sz="1400" b="1" dirty="0" err="1">
                <a:solidFill>
                  <a:schemeClr val="bg1"/>
                </a:solidFill>
              </a:rPr>
              <a:t>Financials</a:t>
            </a:r>
            <a:endParaRPr 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D56804E0-FEDE-7FA8-9929-921BB9EB0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0968208"/>
              </p:ext>
            </p:extLst>
          </p:nvPr>
        </p:nvGraphicFramePr>
        <p:xfrm>
          <a:off x="2034988" y="4198999"/>
          <a:ext cx="2828988" cy="2042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7AA9987B-90EA-08B0-45D8-3FB591CE0333}"/>
              </a:ext>
            </a:extLst>
          </p:cNvPr>
          <p:cNvSpPr/>
          <p:nvPr/>
        </p:nvSpPr>
        <p:spPr>
          <a:xfrm>
            <a:off x="5041920" y="3906191"/>
            <a:ext cx="4705278" cy="222191"/>
          </a:xfrm>
          <a:prstGeom prst="rect">
            <a:avLst/>
          </a:prstGeom>
          <a:solidFill>
            <a:srgbClr val="002B5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bg1"/>
                </a:solidFill>
              </a:rPr>
              <a:t>Target </a:t>
            </a:r>
            <a:r>
              <a:rPr lang="de-DE" sz="1400" b="1" dirty="0" err="1">
                <a:solidFill>
                  <a:schemeClr val="bg1"/>
                </a:solidFill>
              </a:rPr>
              <a:t>Markets</a:t>
            </a:r>
            <a:endParaRPr 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954408-9EBC-CC81-B518-9C03E8CE8DC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2925591"/>
              </p:ext>
            </p:extLst>
          </p:nvPr>
        </p:nvGraphicFramePr>
        <p:xfrm>
          <a:off x="5041920" y="1376894"/>
          <a:ext cx="4698889" cy="2240799"/>
        </p:xfrm>
        <a:graphic>
          <a:graphicData uri="http://schemas.openxmlformats.org/drawingml/2006/table">
            <a:tbl>
              <a:tblPr/>
              <a:tblGrid>
                <a:gridCol w="2091413">
                  <a:extLst>
                    <a:ext uri="{9D8B030D-6E8A-4147-A177-3AD203B41FA5}">
                      <a16:colId xmlns:a16="http://schemas.microsoft.com/office/drawing/2014/main" val="1981294971"/>
                    </a:ext>
                  </a:extLst>
                </a:gridCol>
                <a:gridCol w="651869">
                  <a:extLst>
                    <a:ext uri="{9D8B030D-6E8A-4147-A177-3AD203B41FA5}">
                      <a16:colId xmlns:a16="http://schemas.microsoft.com/office/drawing/2014/main" val="3329569970"/>
                    </a:ext>
                  </a:extLst>
                </a:gridCol>
                <a:gridCol w="651869">
                  <a:extLst>
                    <a:ext uri="{9D8B030D-6E8A-4147-A177-3AD203B41FA5}">
                      <a16:colId xmlns:a16="http://schemas.microsoft.com/office/drawing/2014/main" val="1695790714"/>
                    </a:ext>
                  </a:extLst>
                </a:gridCol>
                <a:gridCol w="651869">
                  <a:extLst>
                    <a:ext uri="{9D8B030D-6E8A-4147-A177-3AD203B41FA5}">
                      <a16:colId xmlns:a16="http://schemas.microsoft.com/office/drawing/2014/main" val="3447097199"/>
                    </a:ext>
                  </a:extLst>
                </a:gridCol>
                <a:gridCol w="651869">
                  <a:extLst>
                    <a:ext uri="{9D8B030D-6E8A-4147-A177-3AD203B41FA5}">
                      <a16:colId xmlns:a16="http://schemas.microsoft.com/office/drawing/2014/main" val="917115267"/>
                    </a:ext>
                  </a:extLst>
                </a:gridCol>
              </a:tblGrid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50A8"/>
                          </a:highlight>
                          <a:latin typeface="Calibri" panose="020F0502020204030204" pitchFamily="34" charset="0"/>
                        </a:rPr>
                        <a:t>€M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A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50A8"/>
                          </a:highlight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A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50A8"/>
                          </a:highlight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A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50A8"/>
                          </a:highlight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A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50A8"/>
                          </a:highlight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927693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16,675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26,914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26,974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60,922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071210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growth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125.9%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995398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Gross profit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10,396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17,475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15,356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44,301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362343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growth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68.1%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-12.1%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188.5%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748628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EBITDA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5,714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11,215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7,121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34,480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48830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margin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41.7%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26.4%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56.6%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55966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Depreciation &amp; Amortization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1,098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1,174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1,544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1,508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592229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sales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524974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4,616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10,041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5,577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32,972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641452"/>
                  </a:ext>
                </a:extLst>
              </a:tr>
              <a:tr h="2037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margin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37.3%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54.1%</a:t>
                      </a:r>
                    </a:p>
                  </a:txBody>
                  <a:tcPr marL="10186" marR="10186" marT="1018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5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51991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9F6F418F-123F-AF07-7B53-F2CF4F80745A}"/>
              </a:ext>
            </a:extLst>
          </p:cNvPr>
          <p:cNvGrpSpPr/>
          <p:nvPr/>
        </p:nvGrpSpPr>
        <p:grpSpPr>
          <a:xfrm>
            <a:off x="593920" y="4297429"/>
            <a:ext cx="1620362" cy="1836135"/>
            <a:chOff x="739642" y="4347574"/>
            <a:chExt cx="2164924" cy="183613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DBDEB8-89A0-58B2-7E42-29DA845F65C5}"/>
                </a:ext>
              </a:extLst>
            </p:cNvPr>
            <p:cNvSpPr txBox="1"/>
            <p:nvPr/>
          </p:nvSpPr>
          <p:spPr>
            <a:xfrm>
              <a:off x="739776" y="4347574"/>
              <a:ext cx="2164790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de-DE" sz="1100" b="1" dirty="0">
                  <a:solidFill>
                    <a:schemeClr val="accent1"/>
                  </a:solidFill>
                </a:rPr>
                <a:t>Jen-Hsun Huang </a:t>
              </a:r>
            </a:p>
            <a:p>
              <a:r>
                <a:rPr lang="de-DE" sz="1100" i="1" dirty="0" err="1">
                  <a:solidFill>
                    <a:schemeClr val="accent1"/>
                  </a:solidFill>
                </a:rPr>
                <a:t>President</a:t>
              </a:r>
              <a:r>
                <a:rPr lang="de-DE" sz="1100" i="1" dirty="0">
                  <a:solidFill>
                    <a:schemeClr val="accent1"/>
                  </a:solidFill>
                </a:rPr>
                <a:t> and CEO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22DC41-1C8C-559E-0EE0-BFF5048A5D77}"/>
                </a:ext>
              </a:extLst>
            </p:cNvPr>
            <p:cNvSpPr txBox="1"/>
            <p:nvPr/>
          </p:nvSpPr>
          <p:spPr>
            <a:xfrm>
              <a:off x="739775" y="4722982"/>
              <a:ext cx="2164790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de-DE" sz="1100" b="1" dirty="0">
                  <a:solidFill>
                    <a:schemeClr val="accent1"/>
                  </a:solidFill>
                </a:rPr>
                <a:t>Colette M. Kress </a:t>
              </a:r>
            </a:p>
            <a:p>
              <a:r>
                <a:rPr lang="de-DE" sz="1100" i="1" dirty="0">
                  <a:solidFill>
                    <a:schemeClr val="accent1"/>
                  </a:solidFill>
                </a:rPr>
                <a:t>EVP and CFO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2B8B15-5CAD-58C7-1676-050CE492CB4F}"/>
                </a:ext>
              </a:extLst>
            </p:cNvPr>
            <p:cNvSpPr txBox="1"/>
            <p:nvPr/>
          </p:nvSpPr>
          <p:spPr>
            <a:xfrm>
              <a:off x="739775" y="5098390"/>
              <a:ext cx="2164656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de-DE" sz="1100" b="1" dirty="0">
                  <a:solidFill>
                    <a:schemeClr val="accent1"/>
                  </a:solidFill>
                </a:rPr>
                <a:t>Ajay K. Puri </a:t>
              </a:r>
            </a:p>
            <a:p>
              <a:r>
                <a:rPr lang="de-DE" sz="1100" i="1" dirty="0">
                  <a:solidFill>
                    <a:schemeClr val="accent1"/>
                  </a:solidFill>
                </a:rPr>
                <a:t>EVP, Field </a:t>
              </a:r>
              <a:r>
                <a:rPr lang="de-DE" sz="1100" i="1" dirty="0" err="1">
                  <a:solidFill>
                    <a:schemeClr val="accent1"/>
                  </a:solidFill>
                </a:rPr>
                <a:t>Operations</a:t>
              </a:r>
              <a:endParaRPr lang="de-DE" sz="1100" i="1" dirty="0">
                <a:solidFill>
                  <a:schemeClr val="accent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D38E67-BF64-B5AB-C644-C4572F4B8210}"/>
                </a:ext>
              </a:extLst>
            </p:cNvPr>
            <p:cNvSpPr txBox="1"/>
            <p:nvPr/>
          </p:nvSpPr>
          <p:spPr>
            <a:xfrm>
              <a:off x="739642" y="5470161"/>
              <a:ext cx="2164790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de-DE" sz="1100" b="1" dirty="0">
                  <a:solidFill>
                    <a:schemeClr val="accent1"/>
                  </a:solidFill>
                </a:rPr>
                <a:t>Debora </a:t>
              </a:r>
              <a:r>
                <a:rPr lang="de-DE" sz="1100" b="1" dirty="0" err="1">
                  <a:solidFill>
                    <a:schemeClr val="accent1"/>
                  </a:solidFill>
                </a:rPr>
                <a:t>Shoquist</a:t>
              </a:r>
              <a:r>
                <a:rPr lang="de-DE" sz="1100" b="1" dirty="0">
                  <a:solidFill>
                    <a:schemeClr val="accent1"/>
                  </a:solidFill>
                </a:rPr>
                <a:t> </a:t>
              </a:r>
            </a:p>
            <a:p>
              <a:r>
                <a:rPr lang="de-DE" sz="1100" i="1" dirty="0">
                  <a:solidFill>
                    <a:schemeClr val="accent1"/>
                  </a:solidFill>
                </a:rPr>
                <a:t>EVP, </a:t>
              </a:r>
              <a:r>
                <a:rPr lang="de-DE" sz="1100" i="1" dirty="0" err="1">
                  <a:solidFill>
                    <a:schemeClr val="accent1"/>
                  </a:solidFill>
                </a:rPr>
                <a:t>Operations</a:t>
              </a:r>
              <a:endParaRPr lang="de-DE" sz="1100" i="1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F3E072-ED07-F942-E3B3-A134236CCE62}"/>
                </a:ext>
              </a:extLst>
            </p:cNvPr>
            <p:cNvSpPr txBox="1"/>
            <p:nvPr/>
          </p:nvSpPr>
          <p:spPr>
            <a:xfrm>
              <a:off x="739775" y="5845155"/>
              <a:ext cx="2164789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de-DE" sz="1100" b="1" dirty="0">
                  <a:solidFill>
                    <a:schemeClr val="accent1"/>
                  </a:solidFill>
                </a:rPr>
                <a:t>Timothy S. </a:t>
              </a:r>
              <a:r>
                <a:rPr lang="de-DE" sz="1100" b="1" dirty="0" err="1">
                  <a:solidFill>
                    <a:schemeClr val="accent1"/>
                  </a:solidFill>
                </a:rPr>
                <a:t>Teter</a:t>
              </a:r>
              <a:r>
                <a:rPr lang="de-DE" sz="1100" b="1" dirty="0">
                  <a:solidFill>
                    <a:schemeClr val="accent1"/>
                  </a:solidFill>
                </a:rPr>
                <a:t> </a:t>
              </a:r>
            </a:p>
            <a:p>
              <a:r>
                <a:rPr lang="de-DE" sz="1100" i="1" dirty="0">
                  <a:solidFill>
                    <a:schemeClr val="accent1"/>
                  </a:solidFill>
                </a:rPr>
                <a:t>EVP, General </a:t>
              </a:r>
              <a:r>
                <a:rPr lang="de-DE" sz="1100" i="1" dirty="0" err="1">
                  <a:solidFill>
                    <a:schemeClr val="accent1"/>
                  </a:solidFill>
                </a:rPr>
                <a:t>Counsel</a:t>
              </a:r>
              <a:endParaRPr lang="de-DE" sz="1100" i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C537779-830E-01E2-3030-BEBDB6E284C9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65090" y="4297655"/>
            <a:ext cx="337880" cy="3383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3532F1D-D590-5A30-8B40-9FBDF81B7D03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65090" y="4670163"/>
            <a:ext cx="337880" cy="3383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98F8A71-B3A3-D446-CAE0-C747BEDF243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65090" y="5054271"/>
            <a:ext cx="337880" cy="3383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2B1D3B1-463E-A431-704C-EE5FEF6A1B05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65090" y="5420016"/>
            <a:ext cx="337881" cy="3383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EB7ED98-9A04-BEA7-64F9-16E0FD4747A6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65090" y="5785761"/>
            <a:ext cx="337881" cy="34667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1FB74BD-5F36-F62D-3C9C-911C31E24F39}"/>
              </a:ext>
            </a:extLst>
          </p:cNvPr>
          <p:cNvGrpSpPr/>
          <p:nvPr/>
        </p:nvGrpSpPr>
        <p:grpSpPr>
          <a:xfrm>
            <a:off x="5041921" y="4198999"/>
            <a:ext cx="4698882" cy="224124"/>
            <a:chOff x="5094940" y="4041397"/>
            <a:chExt cx="4552504" cy="22412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EF5B309-C674-FA75-8D83-3EE6BCD0D81C}"/>
                </a:ext>
              </a:extLst>
            </p:cNvPr>
            <p:cNvSpPr/>
            <p:nvPr/>
          </p:nvSpPr>
          <p:spPr>
            <a:xfrm>
              <a:off x="5094940" y="4043330"/>
              <a:ext cx="1107868" cy="222191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1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Data Center</a:t>
              </a:r>
              <a:endParaRPr lang="en-US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B7F36C6-5A26-3FFF-A2A4-C8E93C87972A}"/>
                </a:ext>
              </a:extLst>
            </p:cNvPr>
            <p:cNvSpPr/>
            <p:nvPr/>
          </p:nvSpPr>
          <p:spPr>
            <a:xfrm>
              <a:off x="6243152" y="4041398"/>
              <a:ext cx="1107868" cy="222191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1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Data Center</a:t>
              </a:r>
              <a:endParaRPr lang="en-US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E3E5AF-6778-8ECA-C387-239B22E18E99}"/>
                </a:ext>
              </a:extLst>
            </p:cNvPr>
            <p:cNvSpPr/>
            <p:nvPr/>
          </p:nvSpPr>
          <p:spPr>
            <a:xfrm>
              <a:off x="7391364" y="4041398"/>
              <a:ext cx="1107868" cy="222191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1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Data Center</a:t>
              </a:r>
              <a:endParaRPr lang="en-US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D29249-0A5F-74AE-FBA1-9D38D4E18280}"/>
                </a:ext>
              </a:extLst>
            </p:cNvPr>
            <p:cNvSpPr/>
            <p:nvPr/>
          </p:nvSpPr>
          <p:spPr>
            <a:xfrm>
              <a:off x="8539576" y="4041397"/>
              <a:ext cx="1107868" cy="222191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1"/>
            <a:lstStyle/>
            <a:p>
              <a:pPr algn="ctr"/>
              <a:r>
                <a:rPr lang="de-DE" sz="1200" b="1" dirty="0">
                  <a:solidFill>
                    <a:schemeClr val="bg1"/>
                  </a:solidFill>
                </a:rPr>
                <a:t>Data Center</a:t>
              </a:r>
              <a:endParaRPr lang="en-US" sz="1200" b="1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7774E14-32A6-04FB-4B25-4FC2B3905982}"/>
              </a:ext>
            </a:extLst>
          </p:cNvPr>
          <p:cNvSpPr txBox="1"/>
          <p:nvPr/>
        </p:nvSpPr>
        <p:spPr>
          <a:xfrm>
            <a:off x="5041920" y="4495524"/>
            <a:ext cx="1143491" cy="43088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$</a:t>
            </a:r>
            <a:r>
              <a:rPr lang="de-DE" sz="1100" dirty="0" err="1">
                <a:solidFill>
                  <a:schemeClr val="accent1"/>
                </a:solidFill>
              </a:rPr>
              <a:t>47.5bn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revenue</a:t>
            </a:r>
            <a:endParaRPr lang="de-DE" sz="1100" dirty="0">
              <a:solidFill>
                <a:schemeClr val="accent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217% y-o-y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259DC3-40EB-4ECC-1A90-947C7E08E7E4}"/>
              </a:ext>
            </a:extLst>
          </p:cNvPr>
          <p:cNvSpPr txBox="1"/>
          <p:nvPr/>
        </p:nvSpPr>
        <p:spPr>
          <a:xfrm>
            <a:off x="6227052" y="4495524"/>
            <a:ext cx="1143491" cy="43088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$</a:t>
            </a:r>
            <a:r>
              <a:rPr lang="de-DE" sz="1100" dirty="0" err="1">
                <a:solidFill>
                  <a:schemeClr val="accent1"/>
                </a:solidFill>
              </a:rPr>
              <a:t>10.4bn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revenue</a:t>
            </a:r>
            <a:endParaRPr lang="de-DE" sz="1100" dirty="0">
              <a:solidFill>
                <a:schemeClr val="accent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15% y-o-y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0C8144-E44E-8175-A7DF-78F12A8BEDA1}"/>
              </a:ext>
            </a:extLst>
          </p:cNvPr>
          <p:cNvSpPr txBox="1"/>
          <p:nvPr/>
        </p:nvSpPr>
        <p:spPr>
          <a:xfrm>
            <a:off x="7412182" y="4495524"/>
            <a:ext cx="1143491" cy="43088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$</a:t>
            </a:r>
            <a:r>
              <a:rPr lang="de-DE" sz="1100" dirty="0" err="1">
                <a:solidFill>
                  <a:schemeClr val="accent1"/>
                </a:solidFill>
              </a:rPr>
              <a:t>1.6bn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revenue</a:t>
            </a:r>
            <a:endParaRPr lang="de-DE" sz="1100" dirty="0">
              <a:solidFill>
                <a:schemeClr val="accent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1% y-o-y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EA8A30-E2C8-17A6-EF40-7F2E38BEA79D}"/>
              </a:ext>
            </a:extLst>
          </p:cNvPr>
          <p:cNvSpPr txBox="1"/>
          <p:nvPr/>
        </p:nvSpPr>
        <p:spPr>
          <a:xfrm>
            <a:off x="8597312" y="4495524"/>
            <a:ext cx="1143491" cy="43088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$</a:t>
            </a:r>
            <a:r>
              <a:rPr lang="de-DE" sz="1100" dirty="0" err="1">
                <a:solidFill>
                  <a:schemeClr val="accent1"/>
                </a:solidFill>
              </a:rPr>
              <a:t>1.1bn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revenue</a:t>
            </a:r>
            <a:endParaRPr lang="de-DE" sz="1100" dirty="0">
              <a:solidFill>
                <a:schemeClr val="accent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accent1"/>
                </a:solidFill>
              </a:rPr>
              <a:t>21% y-o-y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F9B0E71-B32E-53FF-7C2C-2C43BF260D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0842" y="5034275"/>
            <a:ext cx="1022181" cy="9601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A0F79E1-0B0F-3987-FD11-99BADFA229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7706" y="5030785"/>
            <a:ext cx="1022181" cy="9601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0D1BBAB-2AAE-5AEC-2863-7ED72679C8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4570" y="5034570"/>
            <a:ext cx="1029747" cy="96012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EC58805-9A67-AB69-64AE-5BCA48CF92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54316" y="5034570"/>
            <a:ext cx="1029481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76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A4F7134D_C261_4083_9B1E_EC98CCD38EE8&quot;,&quot;SourceFullName&quot;:&quot;&quot;,&quot;LastUpdate&quot;:&quot;2024-06-20 10:17 AM&quot;,&quot;UpdatedBy&quot;:&quot;Stegi&quot;,&quot;IsLinked&quot;:false,&quot;IsBrokenLink&quot;:false,&quot;Type&quot;:2}"/>
</p:tagLst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B5B"/>
      </a:accent1>
      <a:accent2>
        <a:srgbClr val="C8004B"/>
      </a:accent2>
      <a:accent3>
        <a:srgbClr val="00AAE6"/>
      </a:accent3>
      <a:accent4>
        <a:srgbClr val="42609E"/>
      </a:accent4>
      <a:accent5>
        <a:srgbClr val="178D6B"/>
      </a:accent5>
      <a:accent6>
        <a:srgbClr val="97BC4C"/>
      </a:accent6>
      <a:hlink>
        <a:srgbClr val="FFFF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400" dirty="0" err="1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D5D8E1-00F8-42A9-9946-4459BCFA1788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344</Words>
  <Application>Microsoft Office PowerPoint</Application>
  <PresentationFormat>A4 Paper (210x297 mm)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Symbol</vt:lpstr>
      <vt:lpstr>Wingdings</vt:lpstr>
      <vt:lpstr>Office</vt:lpstr>
      <vt:lpstr>NVIDIA Corporation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Vanessa Otto</dc:creator>
  <cp:lastModifiedBy>Tim Stegmaier</cp:lastModifiedBy>
  <cp:revision>907</cp:revision>
  <cp:lastPrinted>2022-01-19T10:30:51Z</cp:lastPrinted>
  <dcterms:created xsi:type="dcterms:W3CDTF">2017-09-27T15:01:38Z</dcterms:created>
  <dcterms:modified xsi:type="dcterms:W3CDTF">2024-06-20T09:20:37Z</dcterms:modified>
</cp:coreProperties>
</file>