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68" r:id="rId5"/>
    <p:sldId id="265" r:id="rId6"/>
    <p:sldId id="266" r:id="rId7"/>
    <p:sldId id="267" r:id="rId8"/>
  </p:sldIdLst>
  <p:sldSz cx="12192000" cy="6858000"/>
  <p:notesSz cx="12192000" cy="6858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5"/>
  </p:normalViewPr>
  <p:slideViewPr>
    <p:cSldViewPr>
      <p:cViewPr varScale="1">
        <p:scale>
          <a:sx n="62" d="100"/>
          <a:sy n="62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E4-439B-A946-0AE49E0968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99626479"/>
        <c:axId val="1699621071"/>
      </c:barChart>
      <c:catAx>
        <c:axId val="1699626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99621071"/>
        <c:crosses val="autoZero"/>
        <c:auto val="1"/>
        <c:lblAlgn val="ctr"/>
        <c:lblOffset val="100"/>
        <c:noMultiLvlLbl val="0"/>
      </c:catAx>
      <c:valAx>
        <c:axId val="16996210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996264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E4-439B-A946-0AE49E0968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99626479"/>
        <c:axId val="1699621071"/>
      </c:barChart>
      <c:catAx>
        <c:axId val="1699626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99621071"/>
        <c:crosses val="autoZero"/>
        <c:auto val="1"/>
        <c:lblAlgn val="ctr"/>
        <c:lblOffset val="100"/>
        <c:noMultiLvlLbl val="0"/>
      </c:catAx>
      <c:valAx>
        <c:axId val="16996210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996264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E4-439B-A946-0AE49E0968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99626479"/>
        <c:axId val="1699621071"/>
      </c:barChart>
      <c:catAx>
        <c:axId val="1699626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99621071"/>
        <c:crosses val="autoZero"/>
        <c:auto val="1"/>
        <c:lblAlgn val="ctr"/>
        <c:lblOffset val="100"/>
        <c:noMultiLvlLbl val="0"/>
      </c:catAx>
      <c:valAx>
        <c:axId val="16996210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996264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E4-439B-A946-0AE49E09689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699626479"/>
        <c:axId val="1699621071"/>
      </c:barChart>
      <c:catAx>
        <c:axId val="169962647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99621071"/>
        <c:crosses val="autoZero"/>
        <c:auto val="1"/>
        <c:lblAlgn val="ctr"/>
        <c:lblOffset val="100"/>
        <c:noMultiLvlLbl val="0"/>
      </c:catAx>
      <c:valAx>
        <c:axId val="16996210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96264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983200" y="207791"/>
            <a:ext cx="1040429" cy="352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419103" y="2741193"/>
            <a:ext cx="3353792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983200" y="207791"/>
            <a:ext cx="1040429" cy="352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1546" y="1198275"/>
            <a:ext cx="755650" cy="0"/>
          </a:xfrm>
          <a:custGeom>
            <a:avLst/>
            <a:gdLst/>
            <a:ahLst/>
            <a:cxnLst/>
            <a:rect l="l" t="t" r="r" b="b"/>
            <a:pathLst>
              <a:path w="755650">
                <a:moveTo>
                  <a:pt x="0" y="0"/>
                </a:moveTo>
                <a:lnTo>
                  <a:pt x="755373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983200" y="207791"/>
            <a:ext cx="1040429" cy="352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862550" y="2926152"/>
            <a:ext cx="2466837" cy="11608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983200" y="207791"/>
            <a:ext cx="1040429" cy="3527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16050" y="910914"/>
            <a:ext cx="9359900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98054" y="2334365"/>
            <a:ext cx="9396095" cy="1884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43400" y="2438400"/>
            <a:ext cx="335152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150" dirty="0">
                <a:solidFill>
                  <a:srgbClr val="FFFFFF"/>
                </a:solidFill>
                <a:latin typeface="Arial"/>
                <a:cs typeface="Arial"/>
              </a:rPr>
              <a:t>Case</a:t>
            </a:r>
            <a:r>
              <a:rPr sz="4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800" b="1" spc="-120" dirty="0">
                <a:solidFill>
                  <a:srgbClr val="FFFFFF"/>
                </a:solidFill>
                <a:latin typeface="Arial"/>
                <a:cs typeface="Arial"/>
              </a:rPr>
              <a:t>Study</a:t>
            </a:r>
            <a:endParaRPr sz="4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19600" y="3657600"/>
            <a:ext cx="3352800" cy="143052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 marR="5080" indent="243840">
              <a:lnSpc>
                <a:spcPts val="5180"/>
              </a:lnSpc>
              <a:spcBef>
                <a:spcPts val="755"/>
              </a:spcBef>
            </a:pPr>
            <a:r>
              <a:rPr sz="4800" b="1" spc="-15" dirty="0">
                <a:solidFill>
                  <a:srgbClr val="FFFFFF"/>
                </a:solidFill>
                <a:latin typeface="Arial"/>
                <a:cs typeface="Arial"/>
              </a:rPr>
              <a:t>Customer  </a:t>
            </a:r>
            <a:r>
              <a:rPr sz="4800" b="1" spc="-85" dirty="0">
                <a:solidFill>
                  <a:srgbClr val="FFFFFF"/>
                </a:solidFill>
                <a:latin typeface="Arial"/>
                <a:cs typeface="Arial"/>
              </a:rPr>
              <a:t>Exper</a:t>
            </a:r>
            <a:r>
              <a:rPr sz="4800" b="1" spc="-19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4800" b="1" spc="280" dirty="0">
                <a:solidFill>
                  <a:srgbClr val="FFFFFF"/>
                </a:solidFill>
                <a:latin typeface="Arial"/>
                <a:cs typeface="Arial"/>
              </a:rPr>
              <a:t>ence</a:t>
            </a:r>
            <a:endParaRPr sz="48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85963" y="685800"/>
            <a:ext cx="2420073" cy="7497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16050" y="910914"/>
            <a:ext cx="67214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de-DE" spc="114" dirty="0"/>
              <a:t>Agenda</a:t>
            </a:r>
            <a:endParaRPr spc="114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75561"/>
              </p:ext>
            </p:extLst>
          </p:nvPr>
        </p:nvGraphicFramePr>
        <p:xfrm>
          <a:off x="1398054" y="2334365"/>
          <a:ext cx="9396095" cy="18840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0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72"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lang="de-DE"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.1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57150" marB="0">
                    <a:lnR w="53975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600" b="1" spc="25" dirty="0">
                          <a:latin typeface="Arial"/>
                          <a:cs typeface="Arial"/>
                        </a:rPr>
                        <a:t>Overview </a:t>
                      </a:r>
                      <a:r>
                        <a:rPr sz="1600" b="1" spc="70" dirty="0">
                          <a:latin typeface="Arial"/>
                          <a:cs typeface="Arial"/>
                        </a:rPr>
                        <a:t>and </a:t>
                      </a:r>
                      <a:r>
                        <a:rPr sz="1600" b="1" spc="-15" dirty="0">
                          <a:latin typeface="Arial"/>
                          <a:cs typeface="Arial"/>
                        </a:rPr>
                        <a:t>introduction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600" b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30" dirty="0">
                          <a:latin typeface="Arial"/>
                          <a:cs typeface="Arial"/>
                        </a:rPr>
                        <a:t>Gorillas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89535" marB="0">
                    <a:lnL w="53975">
                      <a:solidFill>
                        <a:srgbClr val="FFFFFF"/>
                      </a:solidFill>
                      <a:prstDash val="solid"/>
                    </a:lnL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4"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lang="de-DE"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1.2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R w="53975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600" b="1" spc="-80" dirty="0">
                          <a:latin typeface="Arial"/>
                          <a:cs typeface="Arial"/>
                        </a:rPr>
                        <a:t>Task </a:t>
                      </a:r>
                      <a:r>
                        <a:rPr sz="1600" b="1" spc="-45" dirty="0">
                          <a:latin typeface="Arial"/>
                          <a:cs typeface="Arial"/>
                        </a:rPr>
                        <a:t>1: </a:t>
                      </a:r>
                      <a:r>
                        <a:rPr sz="1600" b="1" spc="-7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600" b="1" spc="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85" dirty="0">
                          <a:latin typeface="Arial"/>
                          <a:cs typeface="Arial"/>
                        </a:rPr>
                        <a:t>data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314" marB="0">
                    <a:lnL w="53975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841"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lang="de-DE"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81915" marB="0">
                    <a:lnR w="53975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600" b="1" spc="-80" dirty="0">
                          <a:latin typeface="Arial"/>
                          <a:cs typeface="Arial"/>
                        </a:rPr>
                        <a:t>Task </a:t>
                      </a:r>
                      <a:r>
                        <a:rPr sz="1600" b="1" spc="-45" dirty="0">
                          <a:latin typeface="Arial"/>
                          <a:cs typeface="Arial"/>
                        </a:rPr>
                        <a:t>2: </a:t>
                      </a:r>
                      <a:r>
                        <a:rPr sz="1600" b="1" spc="55" dirty="0">
                          <a:latin typeface="Arial"/>
                          <a:cs typeface="Arial"/>
                        </a:rPr>
                        <a:t>Mapping </a:t>
                      </a:r>
                      <a:r>
                        <a:rPr sz="1600" b="1" spc="15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600" b="1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0" dirty="0">
                          <a:latin typeface="Arial"/>
                          <a:cs typeface="Arial"/>
                        </a:rPr>
                        <a:t>process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0" marB="0">
                    <a:lnL w="53975">
                      <a:solidFill>
                        <a:srgbClr val="FFFFFF"/>
                      </a:solidFill>
                      <a:prstDash val="solid"/>
                    </a:lnL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049"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lang="de-DE"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77470" marB="0">
                    <a:lnR w="53975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1600" b="1" spc="-80" dirty="0">
                          <a:latin typeface="Arial"/>
                          <a:cs typeface="Arial"/>
                        </a:rPr>
                        <a:t>Task </a:t>
                      </a:r>
                      <a:r>
                        <a:rPr sz="1600" b="1" spc="-45" dirty="0">
                          <a:latin typeface="Arial"/>
                          <a:cs typeface="Arial"/>
                        </a:rPr>
                        <a:t>3: Your</a:t>
                      </a:r>
                      <a:r>
                        <a:rPr sz="1600" b="1" spc="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presentation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110490" marB="0">
                    <a:lnL w="53975">
                      <a:solidFill>
                        <a:srgbClr val="FFFFFF"/>
                      </a:solidFill>
                      <a:prstDash val="solid"/>
                    </a:lnL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6712D0-880A-2745-B4A2-5868E6C48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838200"/>
            <a:ext cx="9359900" cy="984885"/>
          </a:xfrm>
        </p:spPr>
        <p:txBody>
          <a:bodyPr/>
          <a:lstStyle/>
          <a:p>
            <a:r>
              <a:rPr lang="de-DE" dirty="0" err="1">
                <a:latin typeface="Trebuchet MS" panose="020B0703020202090204" pitchFamily="34" charset="0"/>
              </a:rPr>
              <a:t>Wrong</a:t>
            </a:r>
            <a:r>
              <a:rPr lang="de-DE" dirty="0">
                <a:latin typeface="Trebuchet MS" panose="020B0703020202090204" pitchFamily="34" charset="0"/>
              </a:rPr>
              <a:t> </a:t>
            </a:r>
            <a:r>
              <a:rPr lang="de-DE" dirty="0" err="1">
                <a:latin typeface="Trebuchet MS" panose="020B0703020202090204" pitchFamily="34" charset="0"/>
              </a:rPr>
              <a:t>order</a:t>
            </a:r>
            <a:r>
              <a:rPr lang="de-DE" dirty="0">
                <a:latin typeface="Trebuchet MS" panose="020B0703020202090204" pitchFamily="34" charset="0"/>
              </a:rPr>
              <a:t>, </a:t>
            </a:r>
            <a:r>
              <a:rPr lang="de-DE" dirty="0" err="1">
                <a:latin typeface="Trebuchet MS" panose="020B0703020202090204" pitchFamily="34" charset="0"/>
              </a:rPr>
              <a:t>delayed</a:t>
            </a:r>
            <a:r>
              <a:rPr lang="de-DE" dirty="0">
                <a:latin typeface="Trebuchet MS" panose="020B0703020202090204" pitchFamily="34" charset="0"/>
              </a:rPr>
              <a:t> </a:t>
            </a:r>
            <a:r>
              <a:rPr lang="de-DE" dirty="0" err="1">
                <a:latin typeface="Trebuchet MS" panose="020B0703020202090204" pitchFamily="34" charset="0"/>
              </a:rPr>
              <a:t>order</a:t>
            </a:r>
            <a:r>
              <a:rPr lang="de-DE" dirty="0">
                <a:latin typeface="Trebuchet MS" panose="020B0703020202090204" pitchFamily="34" charset="0"/>
              </a:rPr>
              <a:t> </a:t>
            </a:r>
            <a:r>
              <a:rPr lang="de-DE" dirty="0" err="1">
                <a:latin typeface="Trebuchet MS" panose="020B0703020202090204" pitchFamily="34" charset="0"/>
              </a:rPr>
              <a:t>and</a:t>
            </a:r>
            <a:r>
              <a:rPr lang="de-DE" dirty="0">
                <a:latin typeface="Trebuchet MS" panose="020B0703020202090204" pitchFamily="34" charset="0"/>
              </a:rPr>
              <a:t> </a:t>
            </a:r>
            <a:r>
              <a:rPr lang="de-DE" dirty="0" err="1">
                <a:latin typeface="Trebuchet MS" panose="020B0703020202090204" pitchFamily="34" charset="0"/>
              </a:rPr>
              <a:t>missing</a:t>
            </a:r>
            <a:r>
              <a:rPr lang="de-DE" dirty="0">
                <a:latin typeface="Trebuchet MS" panose="020B0703020202090204" pitchFamily="34" charset="0"/>
              </a:rPr>
              <a:t> item </a:t>
            </a:r>
            <a:r>
              <a:rPr lang="de-DE" dirty="0" err="1">
                <a:latin typeface="Trebuchet MS" panose="020B0703020202090204" pitchFamily="34" charset="0"/>
              </a:rPr>
              <a:t>are</a:t>
            </a:r>
            <a:r>
              <a:rPr lang="de-DE" dirty="0">
                <a:latin typeface="Trebuchet MS" panose="020B0703020202090204" pitchFamily="34" charset="0"/>
              </a:rPr>
              <a:t> </a:t>
            </a:r>
            <a:r>
              <a:rPr lang="de-DE" dirty="0" err="1">
                <a:latin typeface="Trebuchet MS" panose="020B0703020202090204" pitchFamily="34" charset="0"/>
              </a:rPr>
              <a:t>the</a:t>
            </a:r>
            <a:r>
              <a:rPr lang="de-DE" dirty="0">
                <a:latin typeface="Trebuchet MS" panose="020B0703020202090204" pitchFamily="34" charset="0"/>
              </a:rPr>
              <a:t> </a:t>
            </a:r>
            <a:r>
              <a:rPr lang="de-DE" dirty="0" err="1">
                <a:latin typeface="Trebuchet MS" panose="020B0703020202090204" pitchFamily="34" charset="0"/>
              </a:rPr>
              <a:t>main</a:t>
            </a:r>
            <a:r>
              <a:rPr lang="de-DE" dirty="0">
                <a:latin typeface="Trebuchet MS" panose="020B0703020202090204" pitchFamily="34" charset="0"/>
              </a:rPr>
              <a:t> </a:t>
            </a:r>
            <a:r>
              <a:rPr lang="de-DE" dirty="0" err="1">
                <a:latin typeface="Trebuchet MS" panose="020B0703020202090204" pitchFamily="34" charset="0"/>
              </a:rPr>
              <a:t>issues</a:t>
            </a:r>
            <a:r>
              <a:rPr lang="de-DE" dirty="0">
                <a:latin typeface="Trebuchet MS" panose="020B0703020202090204" pitchFamily="34" charset="0"/>
              </a:rPr>
              <a:t> </a:t>
            </a:r>
          </a:p>
        </p:txBody>
      </p:sp>
      <p:pic>
        <p:nvPicPr>
          <p:cNvPr id="6" name="Grafik 5" descr="Marke 1 mit einfarbiger Füllung">
            <a:extLst>
              <a:ext uri="{FF2B5EF4-FFF2-40B4-BE49-F238E27FC236}">
                <a16:creationId xmlns:a16="http://schemas.microsoft.com/office/drawing/2014/main" id="{190D4045-5007-1B42-9D88-447C8D817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2057400"/>
            <a:ext cx="609600" cy="609600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F371FE41-2579-6848-9BC5-5F778D233508}"/>
              </a:ext>
            </a:extLst>
          </p:cNvPr>
          <p:cNvSpPr/>
          <p:nvPr/>
        </p:nvSpPr>
        <p:spPr>
          <a:xfrm>
            <a:off x="914400" y="2209800"/>
            <a:ext cx="15828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spc="-15" dirty="0" err="1">
                <a:latin typeface="Trebuchet MS" panose="020B0703020202090204" pitchFamily="34" charset="0"/>
                <a:cs typeface="Arial"/>
              </a:rPr>
              <a:t>Wrong</a:t>
            </a:r>
            <a:r>
              <a:rPr lang="de-DE" b="1" spc="-15" dirty="0">
                <a:latin typeface="Trebuchet MS" panose="020B0703020202090204" pitchFamily="34" charset="0"/>
                <a:cs typeface="Arial"/>
              </a:rPr>
              <a:t> Order</a:t>
            </a:r>
            <a:endParaRPr lang="de-DE" dirty="0">
              <a:latin typeface="Trebuchet MS" panose="020B0703020202090204" pitchFamily="34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74F09D5-C91D-DC4B-B134-9BED9C48144F}"/>
              </a:ext>
            </a:extLst>
          </p:cNvPr>
          <p:cNvSpPr/>
          <p:nvPr/>
        </p:nvSpPr>
        <p:spPr>
          <a:xfrm>
            <a:off x="381000" y="2971800"/>
            <a:ext cx="802399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600" spc="-15" dirty="0">
                <a:latin typeface="Trebuchet MS" panose="020B0703020202090204" pitchFamily="34" charset="0"/>
                <a:cs typeface="Arial"/>
              </a:rPr>
              <a:t>Most 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common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complaint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issued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by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customers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out 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of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42.006 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overall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complaints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(30,96%)</a:t>
            </a:r>
            <a:endParaRPr lang="de-DE" sz="1600" dirty="0">
              <a:latin typeface="Trebuchet MS" panose="020B0703020202090204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45259EE-0483-464F-B1BA-2DA3A2F50C71}"/>
              </a:ext>
            </a:extLst>
          </p:cNvPr>
          <p:cNvSpPr/>
          <p:nvPr/>
        </p:nvSpPr>
        <p:spPr>
          <a:xfrm>
            <a:off x="381000" y="3276600"/>
            <a:ext cx="111229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Subcategorized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into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“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missing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item“ (11.462) 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and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„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wrong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item“ (1545)– „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missing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item“ 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being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the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most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frequent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(88,12%) </a:t>
            </a:r>
            <a:endParaRPr lang="de-DE" sz="1600" dirty="0">
              <a:latin typeface="Trebuchet MS" panose="020B0703020202090204" pitchFamily="34" charset="0"/>
            </a:endParaRPr>
          </a:p>
        </p:txBody>
      </p:sp>
      <p:pic>
        <p:nvPicPr>
          <p:cNvPr id="12" name="Grafik 11" descr="Abzeichen mit einfarbiger Füllung">
            <a:extLst>
              <a:ext uri="{FF2B5EF4-FFF2-40B4-BE49-F238E27FC236}">
                <a16:creationId xmlns:a16="http://schemas.microsoft.com/office/drawing/2014/main" id="{4E3F4AC9-38A4-7F45-AC94-BFF4D85401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6000" y="3733800"/>
            <a:ext cx="608400" cy="608400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C6802C7D-A92A-1A49-9ACB-5E28B17573E0}"/>
              </a:ext>
            </a:extLst>
          </p:cNvPr>
          <p:cNvSpPr/>
          <p:nvPr/>
        </p:nvSpPr>
        <p:spPr>
          <a:xfrm>
            <a:off x="914400" y="3886200"/>
            <a:ext cx="17370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spc="-15" dirty="0" err="1">
                <a:latin typeface="Trebuchet MS" panose="020B0703020202090204" pitchFamily="34" charset="0"/>
                <a:cs typeface="Arial"/>
              </a:rPr>
              <a:t>Delayed</a:t>
            </a:r>
            <a:r>
              <a:rPr lang="de-DE" b="1" spc="-15" dirty="0">
                <a:latin typeface="Trebuchet MS" panose="020B0703020202090204" pitchFamily="34" charset="0"/>
                <a:cs typeface="Arial"/>
              </a:rPr>
              <a:t> Order</a:t>
            </a:r>
            <a:endParaRPr lang="de-DE" dirty="0">
              <a:latin typeface="Trebuchet MS" panose="020B0703020202090204" pitchFamily="34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66AB352-AD84-294F-84F4-04C921830E34}"/>
              </a:ext>
            </a:extLst>
          </p:cNvPr>
          <p:cNvSpPr/>
          <p:nvPr/>
        </p:nvSpPr>
        <p:spPr>
          <a:xfrm>
            <a:off x="381000" y="4309646"/>
            <a:ext cx="169469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600" dirty="0">
                <a:latin typeface="Trebuchet MS" panose="020B0703020202090204" pitchFamily="34" charset="0"/>
              </a:rPr>
              <a:t>11.567 </a:t>
            </a:r>
            <a:r>
              <a:rPr lang="de-DE" sz="1600" dirty="0" err="1">
                <a:latin typeface="Trebuchet MS" panose="020B0703020202090204" pitchFamily="34" charset="0"/>
              </a:rPr>
              <a:t>incidents</a:t>
            </a:r>
            <a:endParaRPr lang="de-DE" sz="1600" dirty="0">
              <a:latin typeface="Trebuchet MS" panose="020B0703020202090204" pitchFamily="34" charset="0"/>
            </a:endParaRPr>
          </a:p>
        </p:txBody>
      </p:sp>
      <p:pic>
        <p:nvPicPr>
          <p:cNvPr id="17" name="Grafik 16" descr="Marke 3 mit einfarbiger Füllung">
            <a:extLst>
              <a:ext uri="{FF2B5EF4-FFF2-40B4-BE49-F238E27FC236}">
                <a16:creationId xmlns:a16="http://schemas.microsoft.com/office/drawing/2014/main" id="{24B103AC-ED68-9049-82E5-ACCD873BED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4800" y="5106600"/>
            <a:ext cx="608400" cy="608400"/>
          </a:xfrm>
          <a:prstGeom prst="rect">
            <a:avLst/>
          </a:prstGeom>
        </p:spPr>
      </p:pic>
      <p:sp>
        <p:nvSpPr>
          <p:cNvPr id="18" name="Rechteck 17">
            <a:extLst>
              <a:ext uri="{FF2B5EF4-FFF2-40B4-BE49-F238E27FC236}">
                <a16:creationId xmlns:a16="http://schemas.microsoft.com/office/drawing/2014/main" id="{4679EBF1-741C-C048-A6EE-07B0556AC142}"/>
              </a:ext>
            </a:extLst>
          </p:cNvPr>
          <p:cNvSpPr/>
          <p:nvPr/>
        </p:nvSpPr>
        <p:spPr>
          <a:xfrm>
            <a:off x="914400" y="5269468"/>
            <a:ext cx="14824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spc="-15" dirty="0" err="1">
                <a:latin typeface="Trebuchet MS" panose="020B0703020202090204" pitchFamily="34" charset="0"/>
                <a:cs typeface="Arial"/>
              </a:rPr>
              <a:t>Missing</a:t>
            </a:r>
            <a:r>
              <a:rPr lang="de-DE" b="1" spc="-15" dirty="0">
                <a:latin typeface="Trebuchet MS" panose="020B0703020202090204" pitchFamily="34" charset="0"/>
                <a:cs typeface="Arial"/>
              </a:rPr>
              <a:t> item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0F7B8B3-0C49-DD41-AED6-8A9FA98B39F1}"/>
              </a:ext>
            </a:extLst>
          </p:cNvPr>
          <p:cNvSpPr/>
          <p:nvPr/>
        </p:nvSpPr>
        <p:spPr>
          <a:xfrm>
            <a:off x="381000" y="6062246"/>
            <a:ext cx="906498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Subcategorized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into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„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unvailable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“ 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and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„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available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“ – “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unavailable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“ 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being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the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most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frequent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(95,5%)</a:t>
            </a:r>
            <a:endParaRPr lang="de-DE" sz="1600" dirty="0">
              <a:latin typeface="Trebuchet MS" panose="020B0703020202090204" pitchFamily="34" charset="0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8CBC4263-DA83-E149-B673-EDEC512B6BD4}"/>
              </a:ext>
            </a:extLst>
          </p:cNvPr>
          <p:cNvSpPr/>
          <p:nvPr/>
        </p:nvSpPr>
        <p:spPr>
          <a:xfrm>
            <a:off x="381000" y="5681246"/>
            <a:ext cx="155844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600" spc="-15" dirty="0">
                <a:latin typeface="Trebuchet MS" panose="020B0703020202090204" pitchFamily="34" charset="0"/>
                <a:cs typeface="Arial"/>
              </a:rPr>
              <a:t>7.178 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incidents</a:t>
            </a:r>
            <a:endParaRPr lang="de-DE" sz="1600" dirty="0">
              <a:latin typeface="Trebuchet MS" panose="020B0703020202090204" pitchFamily="34" charset="0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DDEA3DB-E93D-6942-91AF-1E53642A8091}"/>
              </a:ext>
            </a:extLst>
          </p:cNvPr>
          <p:cNvSpPr/>
          <p:nvPr/>
        </p:nvSpPr>
        <p:spPr>
          <a:xfrm>
            <a:off x="381000" y="2667000"/>
            <a:ext cx="16639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600" spc="-15" dirty="0">
                <a:latin typeface="Trebuchet MS" panose="020B0703020202090204" pitchFamily="34" charset="0"/>
                <a:cs typeface="Arial"/>
              </a:rPr>
              <a:t>13.007 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incidents</a:t>
            </a:r>
            <a:endParaRPr lang="de-DE" sz="1600" dirty="0">
              <a:latin typeface="Trebuchet MS" panose="020B0703020202090204" pitchFamily="34" charset="0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AAB6E30F-44E6-C841-B1CE-F82D8AB3FA72}"/>
              </a:ext>
            </a:extLst>
          </p:cNvPr>
          <p:cNvSpPr/>
          <p:nvPr/>
        </p:nvSpPr>
        <p:spPr>
          <a:xfrm>
            <a:off x="381000" y="4648200"/>
            <a:ext cx="100046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Subcategorized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into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different 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timestamps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– 10minutes (4.592) 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and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5minutes (4.102) 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being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the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most</a:t>
            </a:r>
            <a:r>
              <a:rPr lang="de-DE" sz="1600" spc="-15" dirty="0">
                <a:latin typeface="Trebuchet MS" panose="020B0703020202090204" pitchFamily="34" charset="0"/>
                <a:cs typeface="Arial"/>
              </a:rPr>
              <a:t> </a:t>
            </a:r>
            <a:r>
              <a:rPr lang="de-DE" sz="1600" spc="-15" dirty="0" err="1">
                <a:latin typeface="Trebuchet MS" panose="020B0703020202090204" pitchFamily="34" charset="0"/>
                <a:cs typeface="Arial"/>
              </a:rPr>
              <a:t>frequent</a:t>
            </a:r>
            <a:endParaRPr lang="de-DE" sz="1600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175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6712D0-880A-2745-B4A2-5868E6C48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838200"/>
            <a:ext cx="9359900" cy="984885"/>
          </a:xfrm>
        </p:spPr>
        <p:txBody>
          <a:bodyPr/>
          <a:lstStyle/>
          <a:p>
            <a:r>
              <a:rPr lang="de-DE" dirty="0" err="1">
                <a:latin typeface="Trebuchet MS" panose="020B0703020202090204" pitchFamily="34" charset="0"/>
              </a:rPr>
              <a:t>Wrong</a:t>
            </a:r>
            <a:r>
              <a:rPr lang="de-DE" dirty="0">
                <a:latin typeface="Trebuchet MS" panose="020B0703020202090204" pitchFamily="34" charset="0"/>
              </a:rPr>
              <a:t> </a:t>
            </a:r>
            <a:r>
              <a:rPr lang="de-DE" dirty="0" err="1">
                <a:latin typeface="Trebuchet MS" panose="020B0703020202090204" pitchFamily="34" charset="0"/>
              </a:rPr>
              <a:t>order</a:t>
            </a:r>
            <a:r>
              <a:rPr lang="de-DE" dirty="0">
                <a:latin typeface="Trebuchet MS" panose="020B0703020202090204" pitchFamily="34" charset="0"/>
              </a:rPr>
              <a:t>, </a:t>
            </a:r>
            <a:r>
              <a:rPr lang="de-DE" dirty="0" err="1">
                <a:latin typeface="Trebuchet MS" panose="020B0703020202090204" pitchFamily="34" charset="0"/>
              </a:rPr>
              <a:t>delayed</a:t>
            </a:r>
            <a:r>
              <a:rPr lang="de-DE" dirty="0">
                <a:latin typeface="Trebuchet MS" panose="020B0703020202090204" pitchFamily="34" charset="0"/>
              </a:rPr>
              <a:t> </a:t>
            </a:r>
            <a:r>
              <a:rPr lang="de-DE" dirty="0" err="1">
                <a:latin typeface="Trebuchet MS" panose="020B0703020202090204" pitchFamily="34" charset="0"/>
              </a:rPr>
              <a:t>order</a:t>
            </a:r>
            <a:r>
              <a:rPr lang="de-DE" dirty="0">
                <a:latin typeface="Trebuchet MS" panose="020B0703020202090204" pitchFamily="34" charset="0"/>
              </a:rPr>
              <a:t> </a:t>
            </a:r>
            <a:r>
              <a:rPr lang="de-DE" dirty="0" err="1">
                <a:latin typeface="Trebuchet MS" panose="020B0703020202090204" pitchFamily="34" charset="0"/>
              </a:rPr>
              <a:t>and</a:t>
            </a:r>
            <a:r>
              <a:rPr lang="de-DE" dirty="0">
                <a:latin typeface="Trebuchet MS" panose="020B0703020202090204" pitchFamily="34" charset="0"/>
              </a:rPr>
              <a:t> </a:t>
            </a:r>
            <a:r>
              <a:rPr lang="de-DE" dirty="0" err="1">
                <a:latin typeface="Trebuchet MS" panose="020B0703020202090204" pitchFamily="34" charset="0"/>
              </a:rPr>
              <a:t>missing</a:t>
            </a:r>
            <a:r>
              <a:rPr lang="de-DE" dirty="0">
                <a:latin typeface="Trebuchet MS" panose="020B0703020202090204" pitchFamily="34" charset="0"/>
              </a:rPr>
              <a:t> item </a:t>
            </a:r>
            <a:r>
              <a:rPr lang="de-DE" dirty="0" err="1">
                <a:latin typeface="Trebuchet MS" panose="020B0703020202090204" pitchFamily="34" charset="0"/>
              </a:rPr>
              <a:t>are</a:t>
            </a:r>
            <a:r>
              <a:rPr lang="de-DE" dirty="0">
                <a:latin typeface="Trebuchet MS" panose="020B0703020202090204" pitchFamily="34" charset="0"/>
              </a:rPr>
              <a:t> </a:t>
            </a:r>
            <a:r>
              <a:rPr lang="de-DE" dirty="0" err="1">
                <a:latin typeface="Trebuchet MS" panose="020B0703020202090204" pitchFamily="34" charset="0"/>
              </a:rPr>
              <a:t>the</a:t>
            </a:r>
            <a:r>
              <a:rPr lang="de-DE" dirty="0">
                <a:latin typeface="Trebuchet MS" panose="020B0703020202090204" pitchFamily="34" charset="0"/>
              </a:rPr>
              <a:t> </a:t>
            </a:r>
            <a:r>
              <a:rPr lang="de-DE" dirty="0" err="1">
                <a:latin typeface="Trebuchet MS" panose="020B0703020202090204" pitchFamily="34" charset="0"/>
              </a:rPr>
              <a:t>main</a:t>
            </a:r>
            <a:r>
              <a:rPr lang="de-DE" dirty="0">
                <a:latin typeface="Trebuchet MS" panose="020B0703020202090204" pitchFamily="34" charset="0"/>
              </a:rPr>
              <a:t> </a:t>
            </a:r>
            <a:r>
              <a:rPr lang="de-DE" dirty="0" err="1">
                <a:latin typeface="Trebuchet MS" panose="020B0703020202090204" pitchFamily="34" charset="0"/>
              </a:rPr>
              <a:t>issues</a:t>
            </a:r>
            <a:r>
              <a:rPr lang="de-DE" dirty="0">
                <a:latin typeface="Trebuchet MS" panose="020B0703020202090204" pitchFamily="34" charset="0"/>
              </a:rPr>
              <a:t>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695A072-9212-4E4F-AC6B-1F464C346B96}"/>
              </a:ext>
            </a:extLst>
          </p:cNvPr>
          <p:cNvGrpSpPr/>
          <p:nvPr/>
        </p:nvGrpSpPr>
        <p:grpSpPr>
          <a:xfrm>
            <a:off x="457200" y="4691587"/>
            <a:ext cx="7239000" cy="2057400"/>
            <a:chOff x="2286000" y="4691587"/>
            <a:chExt cx="7239000" cy="2057400"/>
          </a:xfrm>
        </p:grpSpPr>
        <p:graphicFrame>
          <p:nvGraphicFramePr>
            <p:cNvPr id="26" name="Chart 25">
              <a:extLst>
                <a:ext uri="{FF2B5EF4-FFF2-40B4-BE49-F238E27FC236}">
                  <a16:creationId xmlns:a16="http://schemas.microsoft.com/office/drawing/2014/main" id="{7291D965-3138-47A5-BFA1-A9E3E1AEBA3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968994698"/>
                </p:ext>
              </p:extLst>
            </p:nvPr>
          </p:nvGraphicFramePr>
          <p:xfrm>
            <a:off x="2286000" y="4691587"/>
            <a:ext cx="3276600" cy="20574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27" name="Chart 26">
              <a:extLst>
                <a:ext uri="{FF2B5EF4-FFF2-40B4-BE49-F238E27FC236}">
                  <a16:creationId xmlns:a16="http://schemas.microsoft.com/office/drawing/2014/main" id="{68FDD998-3786-46FE-94E8-4DB571714F6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59589316"/>
                </p:ext>
              </p:extLst>
            </p:nvPr>
          </p:nvGraphicFramePr>
          <p:xfrm>
            <a:off x="6248400" y="4691587"/>
            <a:ext cx="3276600" cy="20574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E9D6279-2915-4CBA-9E06-C197CD4BF29A}"/>
              </a:ext>
            </a:extLst>
          </p:cNvPr>
          <p:cNvGrpSpPr/>
          <p:nvPr/>
        </p:nvGrpSpPr>
        <p:grpSpPr>
          <a:xfrm>
            <a:off x="457200" y="2209800"/>
            <a:ext cx="7239000" cy="2057400"/>
            <a:chOff x="2286000" y="4691587"/>
            <a:chExt cx="7239000" cy="2057400"/>
          </a:xfrm>
        </p:grpSpPr>
        <p:graphicFrame>
          <p:nvGraphicFramePr>
            <p:cNvPr id="29" name="Chart 28">
              <a:extLst>
                <a:ext uri="{FF2B5EF4-FFF2-40B4-BE49-F238E27FC236}">
                  <a16:creationId xmlns:a16="http://schemas.microsoft.com/office/drawing/2014/main" id="{30F08BA4-700F-46A8-8170-CCFFA11CD3C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968994698"/>
                </p:ext>
              </p:extLst>
            </p:nvPr>
          </p:nvGraphicFramePr>
          <p:xfrm>
            <a:off x="2286000" y="4691587"/>
            <a:ext cx="3276600" cy="20574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aphicFrame>
          <p:nvGraphicFramePr>
            <p:cNvPr id="30" name="Chart 29">
              <a:extLst>
                <a:ext uri="{FF2B5EF4-FFF2-40B4-BE49-F238E27FC236}">
                  <a16:creationId xmlns:a16="http://schemas.microsoft.com/office/drawing/2014/main" id="{D476CD75-66CB-425D-8B21-5E7EFE9D3C7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59589316"/>
                </p:ext>
              </p:extLst>
            </p:nvPr>
          </p:nvGraphicFramePr>
          <p:xfrm>
            <a:off x="6248400" y="4691587"/>
            <a:ext cx="3276600" cy="20574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</p:grp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5D27A860-40C9-4AC7-BE5F-7065B2C732ED}"/>
              </a:ext>
            </a:extLst>
          </p:cNvPr>
          <p:cNvSpPr/>
          <p:nvPr/>
        </p:nvSpPr>
        <p:spPr>
          <a:xfrm rot="16200000">
            <a:off x="6048055" y="4076699"/>
            <a:ext cx="4439292" cy="38100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827726-F0B0-4A5C-B2B4-DC348A11DD49}"/>
              </a:ext>
            </a:extLst>
          </p:cNvPr>
          <p:cNvSpPr txBox="1"/>
          <p:nvPr/>
        </p:nvSpPr>
        <p:spPr>
          <a:xfrm>
            <a:off x="9067800" y="2209800"/>
            <a:ext cx="1905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+mj-lt"/>
              </a:rPr>
              <a:t>Key </a:t>
            </a:r>
            <a:r>
              <a:rPr lang="de-DE" b="1" dirty="0" err="1">
                <a:latin typeface="+mj-lt"/>
              </a:rPr>
              <a:t>Learnings</a:t>
            </a:r>
            <a:r>
              <a:rPr lang="de-DE" b="1" dirty="0">
                <a:latin typeface="+mj-lt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Learning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Learning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Learning 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C57549-E9F3-4968-8C13-DCB0DBBF9660}"/>
              </a:ext>
            </a:extLst>
          </p:cNvPr>
          <p:cNvSpPr txBox="1"/>
          <p:nvPr/>
        </p:nvSpPr>
        <p:spPr>
          <a:xfrm>
            <a:off x="5029200" y="1999180"/>
            <a:ext cx="1905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latin typeface="+mj-lt"/>
              </a:rPr>
              <a:t>Überschrift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3007664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C11A3A-38E4-4C48-8F78-730ADAD32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910914"/>
            <a:ext cx="9359900" cy="984885"/>
          </a:xfrm>
        </p:spPr>
        <p:txBody>
          <a:bodyPr/>
          <a:lstStyle/>
          <a:p>
            <a:r>
              <a:rPr lang="de-DE" dirty="0"/>
              <a:t>Quality </a:t>
            </a:r>
            <a:r>
              <a:rPr lang="de-DE" dirty="0" err="1"/>
              <a:t>of</a:t>
            </a:r>
            <a:r>
              <a:rPr lang="de-DE" dirty="0"/>
              <a:t> Data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well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Structuring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improved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B7D5F07-7D2F-8348-83C0-7FA661B70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98054" y="2334365"/>
            <a:ext cx="9396095" cy="1938992"/>
          </a:xfrm>
        </p:spPr>
        <p:txBody>
          <a:bodyPr/>
          <a:lstStyle/>
          <a:p>
            <a:r>
              <a:rPr lang="de-DE" dirty="0"/>
              <a:t>Daten überlappen sich 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de-DE" dirty="0" err="1">
                <a:sym typeface="Wingdings" pitchFamily="2" charset="2"/>
              </a:rPr>
              <a:t>Missing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Iteam</a:t>
            </a:r>
            <a:r>
              <a:rPr lang="de-DE" dirty="0">
                <a:sym typeface="Wingdings" pitchFamily="2" charset="2"/>
              </a:rPr>
              <a:t> und </a:t>
            </a:r>
            <a:r>
              <a:rPr lang="de-DE" dirty="0" err="1">
                <a:sym typeface="Wingdings" pitchFamily="2" charset="2"/>
              </a:rPr>
              <a:t>Wrong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order</a:t>
            </a:r>
            <a:endParaRPr lang="de-DE" dirty="0">
              <a:sym typeface="Wingdings" pitchFamily="2" charset="2"/>
            </a:endParaRPr>
          </a:p>
          <a:p>
            <a:pPr marL="285750" indent="-285750">
              <a:buFont typeface="Wingdings" pitchFamily="2" charset="2"/>
              <a:buChar char="à"/>
            </a:pPr>
            <a:r>
              <a:rPr lang="de-DE" dirty="0" err="1">
                <a:sym typeface="Wingdings" pitchFamily="2" charset="2"/>
              </a:rPr>
              <a:t>Timestamps</a:t>
            </a:r>
            <a:r>
              <a:rPr lang="de-DE" dirty="0">
                <a:sym typeface="Wingdings" pitchFamily="2" charset="2"/>
              </a:rPr>
              <a:t> bei </a:t>
            </a:r>
            <a:r>
              <a:rPr lang="de-DE" dirty="0" err="1">
                <a:sym typeface="Wingdings" pitchFamily="2" charset="2"/>
              </a:rPr>
              <a:t>delayed</a:t>
            </a:r>
            <a:endParaRPr lang="de-DE" dirty="0">
              <a:sym typeface="Wingdings" pitchFamily="2" charset="2"/>
            </a:endParaRPr>
          </a:p>
          <a:p>
            <a:r>
              <a:rPr lang="de-DE" dirty="0">
                <a:sym typeface="Wingdings" pitchFamily="2" charset="2"/>
              </a:rPr>
              <a:t>Uhrzeit ist schlecht dargestellt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de-DE" dirty="0">
                <a:sym typeface="Wingdings" pitchFamily="2" charset="2"/>
              </a:rPr>
              <a:t>Tag Und Uhrzeit separieren?</a:t>
            </a:r>
          </a:p>
          <a:p>
            <a:r>
              <a:rPr lang="de-DE" dirty="0" err="1">
                <a:sym typeface="Wingdings" pitchFamily="2" charset="2"/>
              </a:rPr>
              <a:t>Warehouses</a:t>
            </a:r>
            <a:r>
              <a:rPr lang="de-DE" dirty="0">
                <a:sym typeface="Wingdings" pitchFamily="2" charset="2"/>
              </a:rPr>
              <a:t> und Standort zusammenfügen?</a:t>
            </a:r>
          </a:p>
          <a:p>
            <a:r>
              <a:rPr lang="de-DE" dirty="0" err="1">
                <a:sym typeface="Wingdings" pitchFamily="2" charset="2"/>
              </a:rPr>
              <a:t>Warehouses</a:t>
            </a:r>
            <a:r>
              <a:rPr lang="de-DE" dirty="0">
                <a:sym typeface="Wingdings" pitchFamily="2" charset="2"/>
              </a:rPr>
              <a:t> anders </a:t>
            </a:r>
            <a:r>
              <a:rPr lang="de-DE" dirty="0" err="1">
                <a:sym typeface="Wingdings" pitchFamily="2" charset="2"/>
              </a:rPr>
              <a:t>numerieren</a:t>
            </a:r>
            <a:r>
              <a:rPr lang="de-DE" dirty="0">
                <a:sym typeface="Wingdings" pitchFamily="2" charset="2"/>
              </a:rPr>
              <a:t>? NY 1- 100 l Berlin 101-200 l Singapur 201-300 etc.</a:t>
            </a:r>
          </a:p>
        </p:txBody>
      </p:sp>
    </p:spTree>
    <p:extLst>
      <p:ext uri="{BB962C8B-B14F-4D97-AF65-F5344CB8AC3E}">
        <p14:creationId xmlns:p14="http://schemas.microsoft.com/office/powerpoint/2010/main" val="183237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196873-6DDB-4A45-B7B1-C62CCD4EC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910914"/>
            <a:ext cx="9359900" cy="492443"/>
          </a:xfrm>
        </p:spPr>
        <p:txBody>
          <a:bodyPr/>
          <a:lstStyle/>
          <a:p>
            <a:r>
              <a:rPr lang="de-DE" dirty="0" err="1"/>
              <a:t>Moldy</a:t>
            </a:r>
            <a:r>
              <a:rPr lang="de-DE" dirty="0"/>
              <a:t> Case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C334DA-7FF1-8040-8150-EB4754935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98054" y="2334365"/>
            <a:ext cx="9396095" cy="830997"/>
          </a:xfrm>
        </p:spPr>
        <p:txBody>
          <a:bodyPr/>
          <a:lstStyle/>
          <a:p>
            <a:r>
              <a:rPr lang="de-DE" dirty="0"/>
              <a:t>HIER PROCESS CHART BAUEN</a:t>
            </a:r>
          </a:p>
          <a:p>
            <a:endParaRPr lang="de-DE" dirty="0"/>
          </a:p>
          <a:p>
            <a:r>
              <a:rPr lang="de-DE" dirty="0"/>
              <a:t>WENN MOLDY CASE </a:t>
            </a:r>
            <a:r>
              <a:rPr lang="de-DE" dirty="0">
                <a:sym typeface="Wingdings" pitchFamily="2" charset="2"/>
              </a:rPr>
              <a:t> DANN DAS  DANN DAS ETC..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9135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9AF470-1BFB-C947-B15F-A9AE3522B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910914"/>
            <a:ext cx="9359900" cy="492443"/>
          </a:xfrm>
        </p:spPr>
        <p:txBody>
          <a:bodyPr/>
          <a:lstStyle/>
          <a:p>
            <a:r>
              <a:rPr lang="de-DE" dirty="0"/>
              <a:t>STRATEGIC SOLUTIONS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41A4799-BB92-EC4C-8A78-467FCCEBE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98054" y="2334365"/>
            <a:ext cx="9396095" cy="4154984"/>
          </a:xfrm>
        </p:spPr>
        <p:txBody>
          <a:bodyPr/>
          <a:lstStyle/>
          <a:p>
            <a:r>
              <a:rPr lang="de-DE" dirty="0"/>
              <a:t>HAUPTPROBLEM IST WRONG ITEM</a:t>
            </a:r>
          </a:p>
          <a:p>
            <a:r>
              <a:rPr lang="de-DE" dirty="0"/>
              <a:t>KORRELATION MIT 3 WAREHOUSES UND ALLE AUS NY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ANSATZ:</a:t>
            </a:r>
          </a:p>
          <a:p>
            <a:endParaRPr lang="de-DE" dirty="0"/>
          </a:p>
          <a:p>
            <a:r>
              <a:rPr lang="de-DE" dirty="0"/>
              <a:t>DIE WAREHOUSES IN NEW YORK BELIEFERN ZU VIELE KUNDEN. MAN MÜSSTE IN NEW YORK MEHR WAREHOUSES AUFBAUEN DAMIT DIESE ENTLASTET WERDEN</a:t>
            </a:r>
          </a:p>
          <a:p>
            <a:endParaRPr lang="de-DE" dirty="0"/>
          </a:p>
          <a:p>
            <a:r>
              <a:rPr lang="de-DE" dirty="0"/>
              <a:t>INTERNE PROZESSE:</a:t>
            </a:r>
          </a:p>
          <a:p>
            <a:endParaRPr lang="de-DE" dirty="0"/>
          </a:p>
          <a:p>
            <a:r>
              <a:rPr lang="de-DE" dirty="0"/>
              <a:t>4 AUGEN PRINZIP? EHER UNEFFIZIENT WEGEN ZEIT</a:t>
            </a:r>
          </a:p>
          <a:p>
            <a:r>
              <a:rPr lang="de-DE" dirty="0"/>
              <a:t>Double Check am Ende, ob alles da ist seitens der Person, die die Tüte einpackt</a:t>
            </a:r>
          </a:p>
          <a:p>
            <a:r>
              <a:rPr lang="de-DE" dirty="0"/>
              <a:t>Produkte Scannen und auf Computer bzw. Handygerät anzeigen lassen?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84584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302</Words>
  <Application>Microsoft Office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Trebuchet MS</vt:lpstr>
      <vt:lpstr>Wingdings</vt:lpstr>
      <vt:lpstr>Office Theme</vt:lpstr>
      <vt:lpstr>PowerPoint Presentation</vt:lpstr>
      <vt:lpstr>Agenda</vt:lpstr>
      <vt:lpstr>Wrong order, delayed order and missing item are the main issues </vt:lpstr>
      <vt:lpstr>Wrong order, delayed order and missing item are the main issues </vt:lpstr>
      <vt:lpstr>Quality of Data as well as Structuring need to be improved</vt:lpstr>
      <vt:lpstr>Moldy Case</vt:lpstr>
      <vt:lpstr>STRATEGIC SOLUTIONS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cp:lastModifiedBy>jonas.stegh@pumpkincareers.com</cp:lastModifiedBy>
  <cp:revision>11</cp:revision>
  <dcterms:created xsi:type="dcterms:W3CDTF">2021-06-02T15:39:33Z</dcterms:created>
  <dcterms:modified xsi:type="dcterms:W3CDTF">2021-06-03T08:37:40Z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2021-05-27T00:00:00Z</vt:filetime>
  </property>
  <property fmtid="{D5CDD505-2E9C-101B-9397-08002B2CF9AE}" pid="3" name="Creator">
    <vt:lpwstr>Google</vt:lpwstr>
  </property>
  <property fmtid="{D5CDD505-2E9C-101B-9397-08002B2CF9AE}" pid="4" name="LastSaved">
    <vt:filetime>2021-06-02T00:00:00Z</vt:filetime>
  </property>
</Properties>
</file>