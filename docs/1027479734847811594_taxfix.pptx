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60" r:id="rId3"/>
    <p:sldId id="265" r:id="rId4"/>
    <p:sldId id="266" r:id="rId5"/>
    <p:sldId id="258" r:id="rId6"/>
    <p:sldId id="261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3ACF3B-3C1A-46CA-BF39-62A33A4019F7}" v="1798" dt="2022-10-05T20:40:21.801"/>
    <p1510:client id="{276EA40F-C9CA-4D9F-B6CD-70FD7F658B27}" v="2450" dt="2022-10-05T20:17:28.673"/>
    <p1510:client id="{875270D6-E979-4D8F-A73B-C654DE125003}" v="12" dt="2022-10-05T19:33:26.694"/>
    <p1510:client id="{B623E2AA-CD08-7148-920C-B553EE454B47}" v="1781" dt="2022-10-05T19:17:12.801"/>
    <p1510:client id="{DF6D1760-B2D8-4FA6-B5B3-201AC31DE4DE}" v="45" dt="2022-10-05T19:31:03.009"/>
    <p1510:client id="{FC393B9B-0603-4533-A8F4-37D94AC4FB08}" v="1176" dt="2022-10-06T05:20:49.6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2"/>
  </p:normalViewPr>
  <p:slideViewPr>
    <p:cSldViewPr snapToGrid="0">
      <p:cViewPr varScale="1">
        <p:scale>
          <a:sx n="106" d="100"/>
          <a:sy n="106" d="100"/>
        </p:scale>
        <p:origin x="792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523BC0-A6AF-44DF-B2B0-BD44C73386AA}" type="datetimeFigureOut">
              <a:rPr lang="de-DE" smtClean="0"/>
              <a:t>06.10.22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2BC2DD-51CA-4039-A3C3-44312B6C0DA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2811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2149B-E3EB-5B1A-2D6C-A4C30C8822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345ED4-EEE5-0453-D44B-5F7740D156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FC6B5-01D8-D844-D919-2FB18AA72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4DF18-FE3A-40AA-A4E5-64547F59AC08}" type="datetime1">
              <a:rPr lang="de-DE" smtClean="0"/>
              <a:t>06.10.22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AE90B-6237-9631-46AA-2FE4DF378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67865-CE36-A2A2-3575-475746181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5682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54366-A4B4-2F03-649E-E6D0A4C31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C9199-9DF0-7B39-6F28-876847FC9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CB3E9-3CFA-F979-EE4C-E2236AB2D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DD711-2956-4290-B266-E18207570973}" type="datetime1">
              <a:rPr lang="de-DE" smtClean="0"/>
              <a:t>06.10.22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0964B-7C5C-17BC-A417-83DD71535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BE557-0FDF-CFC4-3365-3991F4E60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1685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840DB-FE2D-4A3B-AA83-CEBE59F21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77A2E-4D1D-9CE6-AFB0-1D4255E59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00027-EA15-7081-E153-DA9306D45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CC198-00FA-4ED5-81B3-9E558430A184}" type="datetime1">
              <a:rPr lang="de-DE" smtClean="0"/>
              <a:t>06.10.22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E5CD9-47F0-9AE7-5E51-FB4F5997D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A102D-75EB-BD00-0125-401335193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3611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A7A7E-54ED-E7C5-C780-9EBBCC3CB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CF9C7-13AF-4686-8001-2E1182739B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000529-6D18-B616-A60B-A5E3CE262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E8E231-C398-D365-5AE8-C617B71D7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D5E3B-5C54-4D4B-ABB8-6C1B6461E5CA}" type="datetime1">
              <a:rPr lang="de-DE" smtClean="0"/>
              <a:t>06.10.22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6191EB-503A-81B6-A8E1-0EEDDA7B6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833B0-F5CE-0571-C388-194118C74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1652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1B8AF-EB2E-1721-D83A-0AF9A9E4A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75442-C941-5804-32B7-7141D4C28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830CBC-494E-2918-1978-BE783C1015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D324B0-F923-F7E8-A094-E41F5708AC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048C3D-4285-4C02-9A75-883A8FF2C9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2A11A9-241F-AEAE-0AC8-F0CA8652D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5CF50-1C36-4407-8E27-383CDF5E9E04}" type="datetime1">
              <a:rPr lang="de-DE" smtClean="0"/>
              <a:t>06.10.22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23E3DF-32D7-8E9D-E7F3-8A8B924D2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405E17-1355-2C91-53CD-F92A8D31B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3626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B2BF1-C629-9597-0CD1-D5CF79EED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85D0F6-E966-B3AD-77DE-050C52656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BE2BA-B185-494B-9586-13FE273FC853}" type="datetime1">
              <a:rPr lang="de-DE" smtClean="0"/>
              <a:t>06.10.22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2A619A-0BD6-7BE7-2EF2-86E97C167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D2FB4-B486-F16B-6948-AA9D82C7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6860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A03976-AE93-19CB-55AC-2EC0CCC7F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6BC6E-1FF3-4C45-8B92-7FC1C09B719F}" type="datetime1">
              <a:rPr lang="de-DE" smtClean="0"/>
              <a:t>06.10.22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81F43C-BBB6-AB49-DC7D-BC9594490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B5FB3-EC6B-3806-19F0-8912FE771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5970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FBF62-8BA9-220A-6CBC-C2C1A9F67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DC8B1-17FA-7400-7792-5E635657B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6A63BB-3BEB-4421-404A-B18DC10FF3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728450-7DD4-D941-13D5-A7A92B262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162FC-175C-4258-9C5A-4146E1E5A2FE}" type="datetime1">
              <a:rPr lang="de-DE" smtClean="0"/>
              <a:t>06.10.22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8EEC48-5960-E677-800D-F7B03A856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B66240-7172-CCAD-380C-9585B6AAE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0428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29C73-CEE9-BEF4-D927-400086106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D91E80-31A3-E1EF-AD6F-D47AC99F0C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901B20-C6EF-6036-4487-6587FF4104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79A4C2-B187-FD0C-7102-294B7DA33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945D0-5D1D-400B-950D-B2FB40583E2F}" type="datetime1">
              <a:rPr lang="de-DE" smtClean="0"/>
              <a:t>06.10.22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E168A9-ACBA-6CC9-76B6-C01BF8D9C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0FB36F-4108-E8AE-38FC-B188AF89D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0001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287C5-6542-61A4-1C4A-42B799083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BFF338-3EA9-EF9C-DCDE-7B116AED1F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937D5-1425-19D4-952A-4E62DA4BA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31B3C-AA44-40DB-8275-B26E881265BD}" type="datetime1">
              <a:rPr lang="de-DE" smtClean="0"/>
              <a:t>06.10.22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D8FCB-BD2C-3080-5DBA-37D29AA9D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AF1D3-6ADF-0BB2-C275-41B2A38A5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1072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BE17C7-A9B3-3A1D-9303-B55593C539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C0B199-2F80-C1DC-2C61-B360FDEBDF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856D9-6049-95DF-FB7C-4328274C2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2F275-1097-4BDF-B256-ECEB809FC5B9}" type="datetime1">
              <a:rPr lang="de-DE" smtClean="0"/>
              <a:t>06.10.22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0E878-DD60-803E-DF3D-D2B933577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DBD55-50AE-71D5-0A71-BD1E9A96E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3273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08ABE8-6F28-B450-6FBD-F2996C81F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BF307-E15E-6A9E-2F43-AF18D2652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06A0B-A977-06E8-D9BF-92BB57D9E2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FA6458-BDED-428A-96AB-DCB9A023510A}" type="datetime1">
              <a:rPr lang="de-DE" smtClean="0"/>
              <a:t>06.10.22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DDDDA-A510-F4A6-CFFF-13E03B86B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Joel Herrmann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00880-0810-B204-72E8-F7D4A25B58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6635D-16E7-498F-9F40-65FB7786E60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9073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de.wikipedia.org/wiki/Liste_der_L%C3%A4nder_nach_Bruttonationaleinkommen_pro_Kopf#L%C3%A4nder_nach_BNE_pro_Kopf" TargetMode="External"/><Relationship Id="rId13" Type="http://schemas.openxmlformats.org/officeDocument/2006/relationships/image" Target="../media/image2.png"/><Relationship Id="rId3" Type="http://schemas.openxmlformats.org/officeDocument/2006/relationships/hyperlink" Target="https://www.steuern.de/steuererklaerung-pflicht" TargetMode="External"/><Relationship Id="rId7" Type="http://schemas.openxmlformats.org/officeDocument/2006/relationships/hyperlink" Target="https://en.wikipedia.org/wiki/Netherlands" TargetMode="External"/><Relationship Id="rId12" Type="http://schemas.openxmlformats.org/officeDocument/2006/relationships/hyperlink" Target="https://longreads.cbs.nl/the-netherlands-in-numbers-2020/how-many-people-shop-online-and-what/" TargetMode="External"/><Relationship Id="rId2" Type="http://schemas.openxmlformats.org/officeDocument/2006/relationships/hyperlink" Target="https://www.einkommensverteilung.eu/einkommenspyramide-oesterreich/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de.wikipedia.org/wiki/Vereinigtes_K%C3%B6nigreich" TargetMode="External"/><Relationship Id="rId11" Type="http://schemas.openxmlformats.org/officeDocument/2006/relationships/hyperlink" Target="https://www.statista.com/statistics/286273/internet-banking-penetration-in-great-britain/" TargetMode="External"/><Relationship Id="rId5" Type="http://schemas.openxmlformats.org/officeDocument/2006/relationships/hyperlink" Target="https://de.wikipedia.org/wiki/%C3%96sterreich" TargetMode="External"/><Relationship Id="rId10" Type="http://schemas.openxmlformats.org/officeDocument/2006/relationships/hyperlink" Target="https://www.freefinance.at/wie-es-funktioniert/finanzamt.html" TargetMode="External"/><Relationship Id="rId4" Type="http://schemas.openxmlformats.org/officeDocument/2006/relationships/hyperlink" Target="https://www.google.com/search?q=altersverteilung+in+%C3%B6sterreich&amp;client=safari&amp;rls=en&amp;sxsrf=ALiCzsbOwYZXFstzvqyugSORI5gsJvjOlQ:1664965537325&amp;source=lnms&amp;tbm=isch&amp;sa=X&amp;ved=2ahUKEwic7aj778j6AhW3h_0HHeZ1CT8Q_AUoAXoECAEQAw&amp;biw=761&amp;bih=733&amp;dpr=2#imgrc=sH-McfmDgD9EsM" TargetMode="External"/><Relationship Id="rId9" Type="http://schemas.openxmlformats.org/officeDocument/2006/relationships/hyperlink" Target="https://www.bmf.gv.at/services/finanzonline.html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4E93E-3DA2-6AF9-9D87-24E38B303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210"/>
            <a:ext cx="10515600" cy="1325563"/>
          </a:xfrm>
        </p:spPr>
        <p:txBody>
          <a:bodyPr anchor="t">
            <a:normAutofit/>
          </a:bodyPr>
          <a:lstStyle/>
          <a:p>
            <a:r>
              <a:rPr lang="de-DE" sz="3200" dirty="0"/>
              <a:t>International </a:t>
            </a:r>
            <a:r>
              <a:rPr lang="de-DE" sz="3200" err="1"/>
              <a:t>expansion</a:t>
            </a:r>
            <a:endParaRPr lang="de-DE" sz="32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6B1E1-8922-635D-EB8B-3235F25CE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6E3C9-C561-2B8A-DC53-778E95D49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1</a:t>
            </a:fld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2EF472-0B0D-57A4-1955-AF9AE7D45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65E80-791E-4009-8E59-F88D5FB2CC11}" type="datetime1">
              <a:rPr lang="de-DE" smtClean="0"/>
              <a:t>06.10.22</a:t>
            </a:fld>
            <a:endParaRPr lang="de-D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3759FD-ACB4-EB4A-A162-9B17836F6719}"/>
              </a:ext>
            </a:extLst>
          </p:cNvPr>
          <p:cNvSpPr/>
          <p:nvPr/>
        </p:nvSpPr>
        <p:spPr>
          <a:xfrm>
            <a:off x="838200" y="310872"/>
            <a:ext cx="10515600" cy="1584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err="1">
                <a:solidFill>
                  <a:schemeClr val="tx1"/>
                </a:solidFill>
              </a:rPr>
              <a:t>Which</a:t>
            </a:r>
            <a:r>
              <a:rPr lang="de-DE" sz="2400">
                <a:solidFill>
                  <a:schemeClr val="tx1"/>
                </a:solidFill>
              </a:rPr>
              <a:t> </a:t>
            </a:r>
            <a:r>
              <a:rPr lang="de-DE" sz="2400" err="1">
                <a:solidFill>
                  <a:schemeClr val="tx1"/>
                </a:solidFill>
              </a:rPr>
              <a:t>of</a:t>
            </a:r>
            <a:r>
              <a:rPr lang="de-DE" sz="2400">
                <a:solidFill>
                  <a:schemeClr val="tx1"/>
                </a:solidFill>
              </a:rPr>
              <a:t> </a:t>
            </a:r>
            <a:r>
              <a:rPr lang="de-DE" sz="2400" err="1">
                <a:solidFill>
                  <a:schemeClr val="tx1"/>
                </a:solidFill>
              </a:rPr>
              <a:t>the</a:t>
            </a:r>
            <a:r>
              <a:rPr lang="de-DE" sz="2400">
                <a:solidFill>
                  <a:schemeClr val="tx1"/>
                </a:solidFill>
              </a:rPr>
              <a:t> </a:t>
            </a:r>
            <a:r>
              <a:rPr lang="de-DE" sz="2400" err="1">
                <a:solidFill>
                  <a:schemeClr val="tx1"/>
                </a:solidFill>
              </a:rPr>
              <a:t>three</a:t>
            </a:r>
            <a:r>
              <a:rPr lang="de-DE" sz="2400">
                <a:solidFill>
                  <a:schemeClr val="tx1"/>
                </a:solidFill>
              </a:rPr>
              <a:t> countries </a:t>
            </a:r>
            <a:r>
              <a:rPr lang="de-DE" sz="2400" err="1">
                <a:solidFill>
                  <a:schemeClr val="tx1"/>
                </a:solidFill>
              </a:rPr>
              <a:t>would</a:t>
            </a:r>
            <a:r>
              <a:rPr lang="de-DE" sz="2400">
                <a:solidFill>
                  <a:schemeClr val="tx1"/>
                </a:solidFill>
              </a:rPr>
              <a:t> </a:t>
            </a:r>
            <a:r>
              <a:rPr lang="de-DE" sz="2400" err="1">
                <a:solidFill>
                  <a:schemeClr val="tx1"/>
                </a:solidFill>
              </a:rPr>
              <a:t>be</a:t>
            </a:r>
            <a:r>
              <a:rPr lang="de-DE" sz="2400">
                <a:solidFill>
                  <a:schemeClr val="tx1"/>
                </a:solidFill>
              </a:rPr>
              <a:t> </a:t>
            </a:r>
            <a:r>
              <a:rPr lang="de-DE" sz="2400" err="1">
                <a:solidFill>
                  <a:schemeClr val="tx1"/>
                </a:solidFill>
              </a:rPr>
              <a:t>the</a:t>
            </a:r>
            <a:r>
              <a:rPr lang="de-DE" sz="2400">
                <a:solidFill>
                  <a:schemeClr val="tx1"/>
                </a:solidFill>
              </a:rPr>
              <a:t> </a:t>
            </a:r>
            <a:r>
              <a:rPr lang="de-DE" sz="2400" err="1">
                <a:solidFill>
                  <a:schemeClr val="tx1"/>
                </a:solidFill>
              </a:rPr>
              <a:t>best</a:t>
            </a:r>
            <a:r>
              <a:rPr lang="de-DE" sz="2400">
                <a:solidFill>
                  <a:schemeClr val="tx1"/>
                </a:solidFill>
              </a:rPr>
              <a:t> </a:t>
            </a:r>
            <a:r>
              <a:rPr lang="de-DE" sz="2400" err="1">
                <a:solidFill>
                  <a:schemeClr val="tx1"/>
                </a:solidFill>
              </a:rPr>
              <a:t>to</a:t>
            </a:r>
            <a:r>
              <a:rPr lang="de-DE" sz="2400">
                <a:solidFill>
                  <a:schemeClr val="tx1"/>
                </a:solidFill>
              </a:rPr>
              <a:t> </a:t>
            </a:r>
            <a:r>
              <a:rPr lang="de-DE" sz="2400" err="1">
                <a:solidFill>
                  <a:schemeClr val="tx1"/>
                </a:solidFill>
              </a:rPr>
              <a:t>assesed</a:t>
            </a:r>
            <a:r>
              <a:rPr lang="de-DE" sz="2400">
                <a:solidFill>
                  <a:schemeClr val="tx1"/>
                </a:solidFill>
              </a:rPr>
              <a:t> in a </a:t>
            </a:r>
            <a:r>
              <a:rPr lang="de-DE" sz="2400" err="1">
                <a:solidFill>
                  <a:schemeClr val="tx1"/>
                </a:solidFill>
              </a:rPr>
              <a:t>full</a:t>
            </a:r>
            <a:r>
              <a:rPr lang="de-DE" sz="2400">
                <a:solidFill>
                  <a:schemeClr val="tx1"/>
                </a:solidFill>
              </a:rPr>
              <a:t> </a:t>
            </a:r>
            <a:r>
              <a:rPr lang="de-DE" sz="2400" err="1">
                <a:solidFill>
                  <a:schemeClr val="tx1"/>
                </a:solidFill>
              </a:rPr>
              <a:t>project</a:t>
            </a:r>
            <a:r>
              <a:rPr lang="de-DE" sz="2400">
                <a:solidFill>
                  <a:schemeClr val="tx1"/>
                </a:solidFill>
              </a:rPr>
              <a:t>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E5405D-628B-4234-4642-A72EF103B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172" y="1669620"/>
            <a:ext cx="4985656" cy="441139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BEBF4C-A83C-FFB8-557F-894C084AF044}"/>
              </a:ext>
            </a:extLst>
          </p:cNvPr>
          <p:cNvCxnSpPr>
            <a:cxnSpLocks/>
            <a:endCxn id="16" idx="3"/>
          </p:cNvCxnSpPr>
          <p:nvPr/>
        </p:nvCxnSpPr>
        <p:spPr>
          <a:xfrm flipH="1">
            <a:off x="3287487" y="3843874"/>
            <a:ext cx="17525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69B9AF6-1896-A5AB-04F6-9729335E2D7C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6281056" y="4735286"/>
            <a:ext cx="305888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3BAF265-8646-3FDD-9F67-DB901E939F8E}"/>
              </a:ext>
            </a:extLst>
          </p:cNvPr>
          <p:cNvSpPr/>
          <p:nvPr/>
        </p:nvSpPr>
        <p:spPr>
          <a:xfrm>
            <a:off x="1023259" y="3354018"/>
            <a:ext cx="2264228" cy="9797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United Kingdom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FB877C-87B4-7490-32F2-DE160843160A}"/>
              </a:ext>
            </a:extLst>
          </p:cNvPr>
          <p:cNvSpPr/>
          <p:nvPr/>
        </p:nvSpPr>
        <p:spPr>
          <a:xfrm>
            <a:off x="8327568" y="3541703"/>
            <a:ext cx="2264228" cy="9797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err="1">
                <a:solidFill>
                  <a:schemeClr val="tx1"/>
                </a:solidFill>
              </a:rPr>
              <a:t>Netherlands</a:t>
            </a:r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1C4330-3980-1D18-7AD8-956227391FF6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5617029" y="4031559"/>
            <a:ext cx="27105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A5A11143-95B8-CF3C-D35A-5A58CE1CF18B}"/>
              </a:ext>
            </a:extLst>
          </p:cNvPr>
          <p:cNvSpPr/>
          <p:nvPr/>
        </p:nvSpPr>
        <p:spPr>
          <a:xfrm>
            <a:off x="9339942" y="4245430"/>
            <a:ext cx="2264228" cy="9797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Austria</a:t>
            </a:r>
          </a:p>
        </p:txBody>
      </p:sp>
      <p:pic>
        <p:nvPicPr>
          <p:cNvPr id="1026" name="Picture 2" descr="Taxfix Improves Deliverability, Conversions, and Scalability… | Braze">
            <a:extLst>
              <a:ext uri="{FF2B5EF4-FFF2-40B4-BE49-F238E27FC236}">
                <a16:creationId xmlns:a16="http://schemas.microsoft.com/office/drawing/2014/main" id="{466D46FF-482A-7758-6790-07A69EABA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5553" y="195948"/>
            <a:ext cx="1460499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1064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4E93E-3DA2-6AF9-9D87-24E38B303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158" y="263525"/>
            <a:ext cx="10515600" cy="1325563"/>
          </a:xfrm>
        </p:spPr>
        <p:txBody>
          <a:bodyPr anchor="t">
            <a:normAutofit/>
          </a:bodyPr>
          <a:lstStyle/>
          <a:p>
            <a:r>
              <a:rPr lang="de-DE" sz="2400"/>
              <a:t>Market </a:t>
            </a:r>
            <a:r>
              <a:rPr lang="de-DE" sz="2400" err="1"/>
              <a:t>size</a:t>
            </a:r>
            <a:r>
              <a:rPr lang="de-DE" sz="2400"/>
              <a:t>, </a:t>
            </a:r>
            <a:r>
              <a:rPr lang="de-DE" sz="2400" err="1"/>
              <a:t>competition</a:t>
            </a:r>
            <a:r>
              <a:rPr lang="de-DE" sz="2400"/>
              <a:t>, </a:t>
            </a:r>
            <a:r>
              <a:rPr lang="de-DE" sz="2400" err="1"/>
              <a:t>product</a:t>
            </a:r>
            <a:r>
              <a:rPr lang="de-DE" sz="2400"/>
              <a:t> </a:t>
            </a:r>
            <a:r>
              <a:rPr lang="de-DE" sz="2400" err="1"/>
              <a:t>portability</a:t>
            </a:r>
            <a:r>
              <a:rPr lang="de-DE" sz="2400"/>
              <a:t> and </a:t>
            </a:r>
            <a:r>
              <a:rPr lang="de-DE" sz="2400" err="1"/>
              <a:t>inhabitant's</a:t>
            </a:r>
            <a:r>
              <a:rPr lang="de-DE" sz="2400"/>
              <a:t> online </a:t>
            </a:r>
            <a:r>
              <a:rPr lang="de-DE" sz="2400" err="1"/>
              <a:t>usage</a:t>
            </a:r>
            <a:r>
              <a:rPr lang="de-DE" sz="2400"/>
              <a:t> </a:t>
            </a:r>
            <a:r>
              <a:rPr lang="de-DE" sz="2400" err="1"/>
              <a:t>determine</a:t>
            </a:r>
            <a:r>
              <a:rPr lang="de-DE" sz="2400"/>
              <a:t> </a:t>
            </a:r>
            <a:r>
              <a:rPr lang="de-DE" sz="2400" err="1"/>
              <a:t>the</a:t>
            </a:r>
            <a:r>
              <a:rPr lang="de-DE" sz="2400"/>
              <a:t> </a:t>
            </a:r>
            <a:r>
              <a:rPr lang="de-DE" sz="2400" err="1"/>
              <a:t>attractiveness</a:t>
            </a:r>
            <a:r>
              <a:rPr lang="de-DE" sz="2400"/>
              <a:t> </a:t>
            </a:r>
            <a:r>
              <a:rPr lang="de-DE" sz="2400" err="1"/>
              <a:t>of</a:t>
            </a:r>
            <a:r>
              <a:rPr lang="de-DE" sz="2400"/>
              <a:t> </a:t>
            </a:r>
            <a:r>
              <a:rPr lang="de-DE" sz="2400" err="1"/>
              <a:t>the</a:t>
            </a:r>
            <a:r>
              <a:rPr lang="de-DE" sz="2400"/>
              <a:t> </a:t>
            </a:r>
            <a:r>
              <a:rPr lang="de-DE" sz="2400" err="1"/>
              <a:t>market</a:t>
            </a:r>
            <a:r>
              <a:rPr lang="de-DE" sz="2400"/>
              <a:t>.</a:t>
            </a:r>
            <a:endParaRPr lang="de-DE" sz="2400">
              <a:cs typeface="Calibri Ligh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95F54AB-FC94-CFFC-930D-98FA68484DC9}"/>
              </a:ext>
            </a:extLst>
          </p:cNvPr>
          <p:cNvSpPr/>
          <p:nvPr/>
        </p:nvSpPr>
        <p:spPr>
          <a:xfrm>
            <a:off x="676470" y="1461364"/>
            <a:ext cx="5540178" cy="2351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de-DE" sz="1300" b="1" u="sng" dirty="0">
                <a:solidFill>
                  <a:schemeClr val="tx1"/>
                </a:solidFill>
              </a:rPr>
              <a:t>1. Market </a:t>
            </a:r>
            <a:r>
              <a:rPr lang="de-DE" sz="1300" b="1" u="sng" dirty="0" err="1">
                <a:solidFill>
                  <a:schemeClr val="tx1"/>
                </a:solidFill>
              </a:rPr>
              <a:t>size</a:t>
            </a:r>
            <a:endParaRPr lang="en-US" sz="1300" dirty="0">
              <a:solidFill>
                <a:schemeClr val="tx1"/>
              </a:solidFill>
              <a:cs typeface="Calibri"/>
            </a:endParaRPr>
          </a:p>
          <a:p>
            <a:pPr algn="ctr"/>
            <a:endParaRPr lang="de-DE" sz="1300">
              <a:solidFill>
                <a:schemeClr val="tx1"/>
              </a:solidFill>
              <a:cs typeface="Calibri"/>
            </a:endParaRPr>
          </a:p>
          <a:p>
            <a:pPr algn="ctr"/>
            <a:r>
              <a:rPr lang="de-DE" sz="1300" dirty="0" err="1">
                <a:solidFill>
                  <a:schemeClr val="tx1"/>
                </a:solidFill>
                <a:cs typeface="Calibri"/>
              </a:rPr>
              <a:t>Calculation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: Potential Customers *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Chargeable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Price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adjusted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to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the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gross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national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income</a:t>
            </a:r>
            <a:endParaRPr lang="de-DE" sz="1300" dirty="0">
              <a:solidFill>
                <a:schemeClr val="tx1"/>
              </a:solidFill>
              <a:cs typeface="Calibri"/>
            </a:endParaRPr>
          </a:p>
          <a:p>
            <a:pPr algn="ctr"/>
            <a:endParaRPr lang="de-DE" sz="1300">
              <a:solidFill>
                <a:schemeClr val="tx1"/>
              </a:solidFill>
              <a:cs typeface="Calibri"/>
            </a:endParaRPr>
          </a:p>
          <a:p>
            <a:pPr algn="ctr"/>
            <a:r>
              <a:rPr lang="de-DE" sz="1300" dirty="0">
                <a:solidFill>
                  <a:schemeClr val="tx1"/>
                </a:solidFill>
                <a:cs typeface="Calibri"/>
              </a:rPr>
              <a:t>Austria: 310.3 Million €</a:t>
            </a:r>
          </a:p>
          <a:p>
            <a:pPr algn="ctr"/>
            <a:r>
              <a:rPr lang="de-DE" sz="1300" dirty="0" err="1">
                <a:solidFill>
                  <a:schemeClr val="tx1"/>
                </a:solidFill>
                <a:cs typeface="Calibri"/>
              </a:rPr>
              <a:t>Netherlands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: 626.7 Million €</a:t>
            </a:r>
          </a:p>
          <a:p>
            <a:pPr algn="ctr"/>
            <a:r>
              <a:rPr lang="de-DE" sz="1300" dirty="0">
                <a:solidFill>
                  <a:schemeClr val="tx1"/>
                </a:solidFill>
                <a:cs typeface="Calibri"/>
              </a:rPr>
              <a:t>United Kingdom: 1.84 Billion € </a:t>
            </a:r>
          </a:p>
          <a:p>
            <a:pPr algn="ctr"/>
            <a:endParaRPr lang="de-DE" sz="1300">
              <a:solidFill>
                <a:schemeClr val="tx1"/>
              </a:solidFill>
              <a:cs typeface="Calibri"/>
            </a:endParaRPr>
          </a:p>
          <a:p>
            <a:pPr algn="ctr"/>
            <a:r>
              <a:rPr lang="de-DE" sz="1300" dirty="0">
                <a:solidFill>
                  <a:schemeClr val="tx1"/>
                </a:solidFill>
                <a:ea typeface="+mn-lt"/>
                <a:cs typeface="+mn-lt"/>
              </a:rPr>
              <a:t>Market Size </a:t>
            </a:r>
            <a:r>
              <a:rPr lang="de-DE" sz="1300" dirty="0" err="1">
                <a:solidFill>
                  <a:schemeClr val="tx1"/>
                </a:solidFill>
                <a:ea typeface="+mn-lt"/>
                <a:cs typeface="+mn-lt"/>
              </a:rPr>
              <a:t>as</a:t>
            </a:r>
            <a:r>
              <a:rPr lang="de-DE" sz="1300" dirty="0">
                <a:solidFill>
                  <a:schemeClr val="tx1"/>
                </a:solidFill>
                <a:ea typeface="+mn-lt"/>
                <a:cs typeface="+mn-lt"/>
              </a:rPr>
              <a:t> </a:t>
            </a:r>
            <a:r>
              <a:rPr lang="de-DE" sz="1300" dirty="0" err="1">
                <a:solidFill>
                  <a:schemeClr val="tx1"/>
                </a:solidFill>
                <a:ea typeface="+mn-lt"/>
                <a:cs typeface="+mn-lt"/>
              </a:rPr>
              <a:t>the</a:t>
            </a:r>
            <a:r>
              <a:rPr lang="de-DE" sz="1300" dirty="0">
                <a:solidFill>
                  <a:schemeClr val="tx1"/>
                </a:solidFill>
                <a:ea typeface="+mn-lt"/>
                <a:cs typeface="+mn-lt"/>
              </a:rPr>
              <a:t> </a:t>
            </a:r>
            <a:r>
              <a:rPr lang="de-DE" sz="1300" dirty="0" err="1">
                <a:solidFill>
                  <a:schemeClr val="tx1"/>
                </a:solidFill>
                <a:ea typeface="+mn-lt"/>
                <a:cs typeface="+mn-lt"/>
              </a:rPr>
              <a:t>No</a:t>
            </a:r>
            <a:r>
              <a:rPr lang="de-DE" sz="1300" dirty="0">
                <a:solidFill>
                  <a:schemeClr val="tx1"/>
                </a:solidFill>
                <a:ea typeface="+mn-lt"/>
                <a:cs typeface="+mn-lt"/>
              </a:rPr>
              <a:t>. 1 </a:t>
            </a:r>
            <a:r>
              <a:rPr lang="de-DE" sz="1300" dirty="0" err="1">
                <a:solidFill>
                  <a:schemeClr val="tx1"/>
                </a:solidFill>
                <a:ea typeface="+mn-lt"/>
                <a:cs typeface="+mn-lt"/>
              </a:rPr>
              <a:t>determinant</a:t>
            </a:r>
            <a:r>
              <a:rPr lang="de-DE" sz="1300" dirty="0">
                <a:solidFill>
                  <a:schemeClr val="tx1"/>
                </a:solidFill>
                <a:ea typeface="+mn-lt"/>
                <a:cs typeface="+mn-lt"/>
              </a:rPr>
              <a:t> </a:t>
            </a:r>
            <a:r>
              <a:rPr lang="de-DE" sz="1300" dirty="0" err="1">
                <a:solidFill>
                  <a:schemeClr val="tx1"/>
                </a:solidFill>
                <a:ea typeface="+mn-lt"/>
                <a:cs typeface="+mn-lt"/>
              </a:rPr>
              <a:t>of</a:t>
            </a:r>
            <a:r>
              <a:rPr lang="de-DE" sz="1300" dirty="0">
                <a:solidFill>
                  <a:schemeClr val="tx1"/>
                </a:solidFill>
                <a:ea typeface="+mn-lt"/>
                <a:cs typeface="+mn-lt"/>
              </a:rPr>
              <a:t> potential </a:t>
            </a:r>
            <a:r>
              <a:rPr lang="de-DE" sz="1300" dirty="0" err="1">
                <a:solidFill>
                  <a:schemeClr val="tx1"/>
                </a:solidFill>
                <a:ea typeface="+mn-lt"/>
                <a:cs typeface="+mn-lt"/>
              </a:rPr>
              <a:t>revenue</a:t>
            </a:r>
            <a:endParaRPr lang="de-DE" dirty="0" err="1">
              <a:solidFill>
                <a:schemeClr val="tx1"/>
              </a:solidFill>
              <a:cs typeface="Calibri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6B1E1-8922-635D-EB8B-3235F25CE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6E3C9-C561-2B8A-DC53-778E95D49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2</a:t>
            </a:fld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2EF472-0B0D-57A4-1955-AF9AE7D45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65E80-791E-4009-8E59-F88D5FB2CC11}" type="datetime1">
              <a:rPr lang="de-DE" smtClean="0"/>
              <a:t>06.10.22</a:t>
            </a:fld>
            <a:endParaRPr lang="de-D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2B08D1-F8DA-7C02-F957-CF899FA28087}"/>
              </a:ext>
            </a:extLst>
          </p:cNvPr>
          <p:cNvSpPr/>
          <p:nvPr/>
        </p:nvSpPr>
        <p:spPr>
          <a:xfrm>
            <a:off x="655303" y="3878254"/>
            <a:ext cx="5540178" cy="2351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de-DE" sz="1300" b="1" u="sng">
                <a:solidFill>
                  <a:schemeClr val="tx1"/>
                </a:solidFill>
              </a:rPr>
              <a:t>3.</a:t>
            </a:r>
            <a:r>
              <a:rPr lang="en-DE" sz="1300" b="1" u="sng">
                <a:solidFill>
                  <a:schemeClr val="tx1"/>
                </a:solidFill>
              </a:rPr>
              <a:t> Changes needed to the product when expanding</a:t>
            </a:r>
            <a:endParaRPr lang="en-US" sz="1300" b="1" u="sng">
              <a:solidFill>
                <a:schemeClr val="tx1"/>
              </a:solidFill>
              <a:cs typeface="Calibri"/>
            </a:endParaRPr>
          </a:p>
          <a:p>
            <a:pPr algn="ctr"/>
            <a:endParaRPr lang="en-DE" sz="1300">
              <a:solidFill>
                <a:schemeClr val="tx1"/>
              </a:solidFill>
              <a:cs typeface="Calibri"/>
            </a:endParaRPr>
          </a:p>
          <a:p>
            <a:pPr algn="ctr"/>
            <a:r>
              <a:rPr lang="de-DE" sz="1300" err="1">
                <a:solidFill>
                  <a:schemeClr val="tx1"/>
                </a:solidFill>
                <a:cs typeface="Calibri"/>
              </a:rPr>
              <a:t>How</a:t>
            </a:r>
            <a:r>
              <a:rPr lang="de-DE" sz="130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comparable</a:t>
            </a:r>
            <a:r>
              <a:rPr lang="de-DE" sz="130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is</a:t>
            </a:r>
            <a:r>
              <a:rPr lang="de-DE" sz="130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the</a:t>
            </a:r>
            <a:r>
              <a:rPr lang="de-DE" sz="130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german</a:t>
            </a:r>
            <a:r>
              <a:rPr lang="de-DE" sz="130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tax</a:t>
            </a:r>
            <a:r>
              <a:rPr lang="de-DE" sz="130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system</a:t>
            </a:r>
            <a:r>
              <a:rPr lang="de-DE" sz="130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to</a:t>
            </a:r>
            <a:r>
              <a:rPr lang="de-DE" sz="130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the</a:t>
            </a:r>
            <a:r>
              <a:rPr lang="de-DE" sz="130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others</a:t>
            </a:r>
            <a:r>
              <a:rPr lang="de-DE" sz="1300">
                <a:solidFill>
                  <a:schemeClr val="tx1"/>
                </a:solidFill>
                <a:cs typeface="Calibri"/>
              </a:rPr>
              <a:t>?</a:t>
            </a:r>
          </a:p>
          <a:p>
            <a:pPr algn="ctr"/>
            <a:endParaRPr lang="de-DE" sz="1300">
              <a:solidFill>
                <a:schemeClr val="tx1"/>
              </a:solidFill>
              <a:cs typeface="Calibri"/>
            </a:endParaRPr>
          </a:p>
          <a:p>
            <a:pPr algn="ctr"/>
            <a:r>
              <a:rPr lang="de-DE" sz="1300">
                <a:solidFill>
                  <a:schemeClr val="tx1"/>
                </a:solidFill>
                <a:cs typeface="Calibri"/>
              </a:rPr>
              <a:t>-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How</a:t>
            </a:r>
            <a:r>
              <a:rPr lang="de-DE" sz="130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complex</a:t>
            </a:r>
            <a:r>
              <a:rPr lang="de-DE" sz="1300">
                <a:solidFill>
                  <a:schemeClr val="tx1"/>
                </a:solidFill>
                <a:cs typeface="Calibri"/>
              </a:rPr>
              <a:t>? </a:t>
            </a:r>
          </a:p>
          <a:p>
            <a:pPr algn="ctr"/>
            <a:r>
              <a:rPr lang="de-DE" sz="1300">
                <a:solidFill>
                  <a:schemeClr val="tx1"/>
                </a:solidFill>
                <a:cs typeface="Calibri"/>
              </a:rPr>
              <a:t>- Are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tax</a:t>
            </a:r>
            <a:r>
              <a:rPr lang="de-DE" sz="130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consultants</a:t>
            </a:r>
            <a:r>
              <a:rPr lang="de-DE" sz="130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needed</a:t>
            </a:r>
            <a:r>
              <a:rPr lang="de-DE" sz="130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instead</a:t>
            </a:r>
            <a:r>
              <a:rPr lang="de-DE" sz="130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of</a:t>
            </a:r>
            <a:r>
              <a:rPr lang="de-DE" sz="130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taxfix</a:t>
            </a:r>
            <a:r>
              <a:rPr lang="de-DE" sz="1300">
                <a:solidFill>
                  <a:schemeClr val="tx1"/>
                </a:solidFill>
                <a:cs typeface="Calibri"/>
              </a:rPr>
              <a:t>? </a:t>
            </a:r>
          </a:p>
          <a:p>
            <a:pPr algn="ctr"/>
            <a:r>
              <a:rPr lang="de-DE" sz="1300">
                <a:solidFill>
                  <a:schemeClr val="tx1"/>
                </a:solidFill>
                <a:cs typeface="Calibri"/>
              </a:rPr>
              <a:t>-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Does</a:t>
            </a:r>
            <a:r>
              <a:rPr lang="de-DE" sz="130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the</a:t>
            </a:r>
            <a:r>
              <a:rPr lang="de-DE" sz="130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government</a:t>
            </a:r>
            <a:r>
              <a:rPr lang="de-DE" sz="130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use</a:t>
            </a:r>
            <a:r>
              <a:rPr lang="de-DE" sz="130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anything</a:t>
            </a:r>
            <a:r>
              <a:rPr lang="de-DE" sz="130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similar</a:t>
            </a:r>
            <a:r>
              <a:rPr lang="de-DE" sz="130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to</a:t>
            </a:r>
            <a:r>
              <a:rPr lang="de-DE" sz="1300">
                <a:solidFill>
                  <a:schemeClr val="tx1"/>
                </a:solidFill>
                <a:cs typeface="Calibri"/>
              </a:rPr>
              <a:t> Elster?</a:t>
            </a:r>
          </a:p>
          <a:p>
            <a:pPr algn="ctr"/>
            <a:endParaRPr lang="de-DE" sz="1300">
              <a:solidFill>
                <a:schemeClr val="tx1"/>
              </a:solidFill>
              <a:cs typeface="Calibri"/>
            </a:endParaRPr>
          </a:p>
          <a:p>
            <a:pPr algn="ctr"/>
            <a:r>
              <a:rPr lang="de-DE" sz="1300" err="1">
                <a:solidFill>
                  <a:schemeClr val="tx1"/>
                </a:solidFill>
                <a:cs typeface="Calibri"/>
              </a:rPr>
              <a:t>Lowers</a:t>
            </a:r>
            <a:r>
              <a:rPr lang="de-DE" sz="1300">
                <a:solidFill>
                  <a:schemeClr val="tx1"/>
                </a:solidFill>
                <a:cs typeface="Calibri"/>
              </a:rPr>
              <a:t> potential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problems</a:t>
            </a:r>
            <a:r>
              <a:rPr lang="de-DE" sz="130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during</a:t>
            </a:r>
            <a:r>
              <a:rPr lang="de-DE" sz="130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the</a:t>
            </a:r>
            <a:r>
              <a:rPr lang="de-DE" sz="130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expanding</a:t>
            </a:r>
            <a:r>
              <a:rPr lang="de-DE" sz="130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phase</a:t>
            </a:r>
            <a:r>
              <a:rPr lang="de-DE" sz="1300">
                <a:solidFill>
                  <a:schemeClr val="tx1"/>
                </a:solidFill>
                <a:cs typeface="Calibri"/>
              </a:rPr>
              <a:t>,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which</a:t>
            </a:r>
            <a:r>
              <a:rPr lang="de-DE" sz="130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results</a:t>
            </a:r>
            <a:r>
              <a:rPr lang="de-DE" sz="1300">
                <a:solidFill>
                  <a:schemeClr val="tx1"/>
                </a:solidFill>
                <a:cs typeface="Calibri"/>
              </a:rPr>
              <a:t> in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higher</a:t>
            </a:r>
            <a:r>
              <a:rPr lang="de-DE" sz="1300">
                <a:solidFill>
                  <a:schemeClr val="tx1"/>
                </a:solidFill>
                <a:cs typeface="Calibri"/>
              </a:rPr>
              <a:t> 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profits</a:t>
            </a:r>
            <a:endParaRPr lang="de-DE" sz="1300">
              <a:solidFill>
                <a:schemeClr val="tx1"/>
              </a:solidFill>
              <a:cs typeface="Calibri"/>
            </a:endParaRPr>
          </a:p>
          <a:p>
            <a:pPr algn="ctr"/>
            <a:endParaRPr lang="de-DE" sz="1300">
              <a:solidFill>
                <a:schemeClr val="tx1"/>
              </a:solidFill>
              <a:cs typeface="Calibri"/>
            </a:endParaRPr>
          </a:p>
          <a:p>
            <a:pPr algn="ctr"/>
            <a:endParaRPr lang="de-DE" sz="1300">
              <a:solidFill>
                <a:schemeClr val="tx1"/>
              </a:solidFill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89F5F2-9304-606B-D187-401BCC178FB5}"/>
              </a:ext>
            </a:extLst>
          </p:cNvPr>
          <p:cNvSpPr/>
          <p:nvPr/>
        </p:nvSpPr>
        <p:spPr>
          <a:xfrm>
            <a:off x="6289870" y="1461364"/>
            <a:ext cx="5540178" cy="2351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de-DE" sz="1300" b="1" u="sng" dirty="0">
                <a:solidFill>
                  <a:schemeClr val="tx1"/>
                </a:solidFill>
              </a:rPr>
              <a:t>2. Competition</a:t>
            </a:r>
            <a:endParaRPr lang="de-DE" sz="1300" b="1" u="sng" dirty="0">
              <a:solidFill>
                <a:schemeClr val="tx1"/>
              </a:solidFill>
              <a:cs typeface="Calibri"/>
            </a:endParaRPr>
          </a:p>
          <a:p>
            <a:pPr algn="ctr"/>
            <a:endParaRPr lang="de-DE" sz="1300" b="1" u="sng">
              <a:solidFill>
                <a:schemeClr val="tx1"/>
              </a:solidFill>
              <a:cs typeface="Calibri"/>
            </a:endParaRPr>
          </a:p>
          <a:p>
            <a:pPr algn="ctr"/>
            <a:r>
              <a:rPr lang="de-DE" sz="1300" dirty="0">
                <a:solidFill>
                  <a:schemeClr val="tx1"/>
                </a:solidFill>
                <a:cs typeface="Calibri"/>
              </a:rPr>
              <a:t>2.1 </a:t>
            </a:r>
            <a:r>
              <a:rPr lang="de-DE" sz="1300" dirty="0" err="1">
                <a:solidFill>
                  <a:srgbClr val="FF0000"/>
                </a:solidFill>
                <a:cs typeface="Calibri"/>
              </a:rPr>
              <a:t>What</a:t>
            </a:r>
            <a:r>
              <a:rPr lang="de-DE" sz="1300" dirty="0">
                <a:solidFill>
                  <a:srgbClr val="FF0000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rgbClr val="FF0000"/>
                </a:solidFill>
                <a:cs typeface="Calibri"/>
              </a:rPr>
              <a:t>is</a:t>
            </a:r>
            <a:r>
              <a:rPr lang="de-DE" sz="1300" dirty="0">
                <a:solidFill>
                  <a:srgbClr val="FF0000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rgbClr val="FF0000"/>
                </a:solidFill>
                <a:cs typeface="Calibri"/>
              </a:rPr>
              <a:t>the</a:t>
            </a:r>
            <a:r>
              <a:rPr lang="de-DE" sz="1300" dirty="0">
                <a:solidFill>
                  <a:srgbClr val="FF0000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rgbClr val="FF0000"/>
                </a:solidFill>
                <a:cs typeface="Calibri"/>
              </a:rPr>
              <a:t>ratio</a:t>
            </a:r>
            <a:r>
              <a:rPr lang="de-DE" sz="1300" dirty="0">
                <a:solidFill>
                  <a:srgbClr val="FF0000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rgbClr val="FF0000"/>
                </a:solidFill>
                <a:cs typeface="Calibri"/>
              </a:rPr>
              <a:t>of</a:t>
            </a:r>
            <a:r>
              <a:rPr lang="de-DE" sz="1300" dirty="0">
                <a:solidFill>
                  <a:srgbClr val="FF0000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rgbClr val="FF0000"/>
                </a:solidFill>
                <a:cs typeface="Calibri"/>
              </a:rPr>
              <a:t>tax</a:t>
            </a:r>
            <a:r>
              <a:rPr lang="de-DE" sz="1300" dirty="0">
                <a:solidFill>
                  <a:srgbClr val="FF0000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rgbClr val="FF0000"/>
                </a:solidFill>
                <a:cs typeface="Calibri"/>
              </a:rPr>
              <a:t>declarations</a:t>
            </a:r>
            <a:r>
              <a:rPr lang="de-DE" sz="1300" dirty="0">
                <a:solidFill>
                  <a:srgbClr val="FF0000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rgbClr val="FF0000"/>
                </a:solidFill>
                <a:cs typeface="Calibri"/>
              </a:rPr>
              <a:t>done</a:t>
            </a:r>
            <a:r>
              <a:rPr lang="de-DE" sz="1300" dirty="0">
                <a:solidFill>
                  <a:srgbClr val="FF0000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rgbClr val="FF0000"/>
                </a:solidFill>
                <a:cs typeface="Calibri"/>
              </a:rPr>
              <a:t>by</a:t>
            </a:r>
            <a:r>
              <a:rPr lang="de-DE" sz="1300" dirty="0">
                <a:solidFill>
                  <a:srgbClr val="FF0000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rgbClr val="FF0000"/>
                </a:solidFill>
                <a:cs typeface="Calibri"/>
              </a:rPr>
              <a:t>the</a:t>
            </a:r>
            <a:r>
              <a:rPr lang="de-DE" sz="1300" dirty="0">
                <a:solidFill>
                  <a:srgbClr val="FF0000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rgbClr val="FF0000"/>
                </a:solidFill>
                <a:cs typeface="Calibri"/>
              </a:rPr>
              <a:t>competition</a:t>
            </a:r>
            <a:r>
              <a:rPr lang="de-DE" sz="1300" dirty="0">
                <a:solidFill>
                  <a:srgbClr val="FF0000"/>
                </a:solidFill>
                <a:cs typeface="Calibri"/>
              </a:rPr>
              <a:t> </a:t>
            </a:r>
            <a:r>
              <a:rPr lang="de-DE" sz="1300" dirty="0" err="1">
                <a:solidFill>
                  <a:srgbClr val="FF0000"/>
                </a:solidFill>
                <a:cs typeface="Calibri"/>
              </a:rPr>
              <a:t>to</a:t>
            </a:r>
            <a:r>
              <a:rPr lang="de-DE" sz="1300" dirty="0">
                <a:solidFill>
                  <a:srgbClr val="FF0000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rgbClr val="FF0000"/>
                </a:solidFill>
                <a:cs typeface="Calibri"/>
              </a:rPr>
              <a:t>tax</a:t>
            </a:r>
            <a:r>
              <a:rPr lang="de-DE" sz="1300" dirty="0">
                <a:solidFill>
                  <a:srgbClr val="FF0000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rgbClr val="FF0000"/>
                </a:solidFill>
                <a:cs typeface="Calibri"/>
              </a:rPr>
              <a:t>declarations</a:t>
            </a:r>
            <a:r>
              <a:rPr lang="de-DE" sz="1300" dirty="0">
                <a:solidFill>
                  <a:srgbClr val="FF0000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rgbClr val="FF0000"/>
                </a:solidFill>
                <a:cs typeface="Calibri"/>
              </a:rPr>
              <a:t>done</a:t>
            </a:r>
            <a:r>
              <a:rPr lang="de-DE" sz="1300" dirty="0">
                <a:solidFill>
                  <a:srgbClr val="FF0000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rgbClr val="FF0000"/>
                </a:solidFill>
                <a:cs typeface="Calibri"/>
              </a:rPr>
              <a:t>by</a:t>
            </a:r>
            <a:r>
              <a:rPr lang="de-DE" sz="1300" dirty="0">
                <a:solidFill>
                  <a:srgbClr val="FF0000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rgbClr val="FF0000"/>
                </a:solidFill>
                <a:cs typeface="Calibri"/>
              </a:rPr>
              <a:t>the</a:t>
            </a:r>
            <a:r>
              <a:rPr lang="de-DE" sz="1300" dirty="0">
                <a:solidFill>
                  <a:srgbClr val="FF0000"/>
                </a:solidFill>
                <a:cs typeface="Calibri"/>
              </a:rPr>
              <a:t> </a:t>
            </a:r>
            <a:r>
              <a:rPr lang="de-DE" sz="1300" dirty="0" err="1">
                <a:solidFill>
                  <a:srgbClr val="FF0000"/>
                </a:solidFill>
                <a:cs typeface="Calibri"/>
              </a:rPr>
              <a:t>governmental</a:t>
            </a:r>
            <a:r>
              <a:rPr lang="de-DE" sz="1300" dirty="0">
                <a:solidFill>
                  <a:srgbClr val="FF0000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rgbClr val="FF0000"/>
                </a:solidFill>
                <a:cs typeface="Calibri"/>
              </a:rPr>
              <a:t>application</a:t>
            </a:r>
            <a:r>
              <a:rPr lang="de-DE" sz="1300" dirty="0">
                <a:solidFill>
                  <a:srgbClr val="FF0000"/>
                </a:solidFill>
                <a:cs typeface="Calibri"/>
              </a:rPr>
              <a:t>. </a:t>
            </a:r>
          </a:p>
          <a:p>
            <a:pPr algn="ctr"/>
            <a:endParaRPr lang="de-DE" sz="1300">
              <a:solidFill>
                <a:schemeClr val="tx1"/>
              </a:solidFill>
              <a:cs typeface="Calibri"/>
            </a:endParaRPr>
          </a:p>
          <a:p>
            <a:pPr algn="ctr"/>
            <a:r>
              <a:rPr lang="de-DE" sz="1300" dirty="0">
                <a:solidFill>
                  <a:schemeClr val="tx1"/>
                </a:solidFill>
                <a:cs typeface="Calibri"/>
              </a:rPr>
              <a:t>2.2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How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good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are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 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their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products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 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compared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to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Taxfix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?</a:t>
            </a:r>
          </a:p>
          <a:p>
            <a:pPr algn="ctr"/>
            <a:r>
              <a:rPr lang="de-DE" sz="1300" dirty="0">
                <a:solidFill>
                  <a:schemeClr val="tx1"/>
                </a:solidFill>
                <a:cs typeface="Calibri"/>
              </a:rPr>
              <a:t>- Duration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of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a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tax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declaration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 </a:t>
            </a:r>
          </a:p>
          <a:p>
            <a:pPr algn="ctr"/>
            <a:r>
              <a:rPr lang="de-DE" sz="1300" dirty="0">
                <a:solidFill>
                  <a:schemeClr val="tx1"/>
                </a:solidFill>
                <a:cs typeface="Calibri"/>
              </a:rPr>
              <a:t>- Data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security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 </a:t>
            </a:r>
          </a:p>
          <a:p>
            <a:pPr algn="ctr"/>
            <a:r>
              <a:rPr lang="de-DE" sz="1300" dirty="0">
                <a:solidFill>
                  <a:schemeClr val="tx1"/>
                </a:solidFill>
                <a:cs typeface="Calibri"/>
              </a:rPr>
              <a:t>- Price </a:t>
            </a:r>
          </a:p>
          <a:p>
            <a:pPr algn="ctr"/>
            <a:r>
              <a:rPr lang="de-DE" sz="1300" dirty="0">
                <a:solidFill>
                  <a:schemeClr val="tx1"/>
                </a:solidFill>
                <a:cs typeface="Calibri"/>
              </a:rPr>
              <a:t>-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Ease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of</a:t>
            </a:r>
            <a:r>
              <a:rPr lang="de-DE" sz="1300" dirty="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dirty="0" err="1">
                <a:solidFill>
                  <a:schemeClr val="tx1"/>
                </a:solidFill>
                <a:cs typeface="Calibri"/>
              </a:rPr>
              <a:t>use</a:t>
            </a:r>
            <a:endParaRPr lang="de-DE" sz="1300" dirty="0">
              <a:solidFill>
                <a:schemeClr val="tx1"/>
              </a:solidFill>
              <a:cs typeface="Calibri"/>
            </a:endParaRPr>
          </a:p>
          <a:p>
            <a:pPr algn="ctr"/>
            <a:r>
              <a:rPr lang="de-DE" sz="1300" dirty="0">
                <a:solidFill>
                  <a:schemeClr val="tx1"/>
                </a:solidFill>
                <a:ea typeface="+mn-lt"/>
                <a:cs typeface="+mn-lt"/>
              </a:rPr>
              <a:t>Both </a:t>
            </a:r>
            <a:r>
              <a:rPr lang="de-DE" sz="1300" dirty="0" err="1">
                <a:solidFill>
                  <a:schemeClr val="tx1"/>
                </a:solidFill>
                <a:ea typeface="+mn-lt"/>
                <a:cs typeface="+mn-lt"/>
              </a:rPr>
              <a:t>determine</a:t>
            </a:r>
            <a:r>
              <a:rPr lang="de-DE" sz="1300" dirty="0">
                <a:solidFill>
                  <a:schemeClr val="tx1"/>
                </a:solidFill>
                <a:ea typeface="+mn-lt"/>
                <a:cs typeface="+mn-lt"/>
              </a:rPr>
              <a:t> </a:t>
            </a:r>
            <a:r>
              <a:rPr lang="de-DE" sz="1300" dirty="0" err="1">
                <a:solidFill>
                  <a:schemeClr val="tx1"/>
                </a:solidFill>
                <a:ea typeface="+mn-lt"/>
                <a:cs typeface="+mn-lt"/>
              </a:rPr>
              <a:t>Taxfix's</a:t>
            </a:r>
            <a:r>
              <a:rPr lang="de-DE" sz="1300" dirty="0">
                <a:solidFill>
                  <a:schemeClr val="tx1"/>
                </a:solidFill>
                <a:ea typeface="+mn-lt"/>
                <a:cs typeface="+mn-lt"/>
              </a:rPr>
              <a:t> potential </a:t>
            </a:r>
            <a:r>
              <a:rPr lang="de-DE" sz="1300" dirty="0" err="1">
                <a:solidFill>
                  <a:schemeClr val="tx1"/>
                </a:solidFill>
                <a:ea typeface="+mn-lt"/>
                <a:cs typeface="+mn-lt"/>
              </a:rPr>
              <a:t>future</a:t>
            </a:r>
            <a:r>
              <a:rPr lang="de-DE" sz="1300" dirty="0">
                <a:solidFill>
                  <a:schemeClr val="tx1"/>
                </a:solidFill>
                <a:ea typeface="+mn-lt"/>
                <a:cs typeface="+mn-lt"/>
              </a:rPr>
              <a:t> </a:t>
            </a:r>
            <a:r>
              <a:rPr lang="de-DE" sz="1300" dirty="0" err="1">
                <a:solidFill>
                  <a:schemeClr val="tx1"/>
                </a:solidFill>
                <a:ea typeface="+mn-lt"/>
                <a:cs typeface="+mn-lt"/>
              </a:rPr>
              <a:t>market</a:t>
            </a:r>
            <a:r>
              <a:rPr lang="de-DE" sz="1300" dirty="0">
                <a:solidFill>
                  <a:schemeClr val="tx1"/>
                </a:solidFill>
                <a:ea typeface="+mn-lt"/>
                <a:cs typeface="+mn-lt"/>
              </a:rPr>
              <a:t> </a:t>
            </a:r>
            <a:r>
              <a:rPr lang="de-DE" sz="1300" dirty="0" err="1">
                <a:solidFill>
                  <a:schemeClr val="tx1"/>
                </a:solidFill>
                <a:ea typeface="+mn-lt"/>
                <a:cs typeface="+mn-lt"/>
              </a:rPr>
              <a:t>share</a:t>
            </a:r>
            <a:r>
              <a:rPr lang="de-DE" sz="1300" dirty="0">
                <a:solidFill>
                  <a:schemeClr val="tx1"/>
                </a:solidFill>
                <a:ea typeface="+mn-lt"/>
                <a:cs typeface="+mn-lt"/>
              </a:rPr>
              <a:t>. </a:t>
            </a:r>
            <a:endParaRPr lang="de-DE" dirty="0">
              <a:solidFill>
                <a:schemeClr val="tx1"/>
              </a:solidFill>
              <a:cs typeface="Calibri"/>
            </a:endParaRPr>
          </a:p>
          <a:p>
            <a:pPr algn="ctr"/>
            <a:endParaRPr lang="de-DE" sz="1300">
              <a:solidFill>
                <a:schemeClr val="tx1"/>
              </a:solidFill>
              <a:cs typeface="Calib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CCE598-CBC1-94DD-53D7-01F589BF592D}"/>
              </a:ext>
            </a:extLst>
          </p:cNvPr>
          <p:cNvSpPr/>
          <p:nvPr/>
        </p:nvSpPr>
        <p:spPr>
          <a:xfrm>
            <a:off x="6294103" y="3878254"/>
            <a:ext cx="5540178" cy="2351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de-DE" sz="1300" b="1" u="sng">
                <a:solidFill>
                  <a:schemeClr val="tx1"/>
                </a:solidFill>
              </a:rPr>
              <a:t>4. </a:t>
            </a:r>
            <a:r>
              <a:rPr lang="en-DE" sz="1300" b="1" u="sng">
                <a:solidFill>
                  <a:schemeClr val="tx1"/>
                </a:solidFill>
              </a:rPr>
              <a:t>Do inhabitants use other online applications? </a:t>
            </a:r>
            <a:endParaRPr lang="en-US" sz="1300" b="1" u="sng">
              <a:solidFill>
                <a:schemeClr val="tx1"/>
              </a:solidFill>
              <a:cs typeface="Calibri"/>
            </a:endParaRPr>
          </a:p>
          <a:p>
            <a:pPr algn="ctr"/>
            <a:endParaRPr lang="de-DE" sz="1300">
              <a:solidFill>
                <a:schemeClr val="tx1"/>
              </a:solidFill>
              <a:cs typeface="Calibri"/>
            </a:endParaRPr>
          </a:p>
          <a:p>
            <a:pPr algn="ctr"/>
            <a:r>
              <a:rPr lang="de-DE" sz="1300" err="1">
                <a:solidFill>
                  <a:schemeClr val="tx1"/>
                </a:solidFill>
                <a:cs typeface="Calibri"/>
              </a:rPr>
              <a:t>Which</a:t>
            </a:r>
            <a:r>
              <a:rPr lang="de-DE" sz="130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country</a:t>
            </a:r>
            <a:r>
              <a:rPr lang="de-DE" sz="130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has</a:t>
            </a:r>
            <a:r>
              <a:rPr lang="de-DE" sz="1300">
                <a:solidFill>
                  <a:schemeClr val="tx1"/>
                </a:solidFill>
                <a:cs typeface="Calibri"/>
              </a:rPr>
              <a:t> a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bigger</a:t>
            </a:r>
            <a:r>
              <a:rPr lang="de-DE" sz="130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tendency</a:t>
            </a:r>
            <a:r>
              <a:rPr lang="de-DE" sz="130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towards</a:t>
            </a:r>
            <a:r>
              <a:rPr lang="de-DE" sz="1300">
                <a:solidFill>
                  <a:schemeClr val="tx1"/>
                </a:solidFill>
                <a:cs typeface="Calibri"/>
              </a:rPr>
              <a:t> digital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applications</a:t>
            </a:r>
            <a:r>
              <a:rPr lang="de-DE" sz="1300">
                <a:solidFill>
                  <a:schemeClr val="tx1"/>
                </a:solidFill>
                <a:cs typeface="Calibri"/>
              </a:rPr>
              <a:t>? </a:t>
            </a:r>
          </a:p>
          <a:p>
            <a:pPr algn="ctr"/>
            <a:endParaRPr lang="de-DE" sz="1300">
              <a:solidFill>
                <a:schemeClr val="tx1"/>
              </a:solidFill>
              <a:cs typeface="Calibri"/>
            </a:endParaRPr>
          </a:p>
          <a:p>
            <a:pPr algn="ctr"/>
            <a:r>
              <a:rPr lang="de-DE" sz="1300">
                <a:solidFill>
                  <a:schemeClr val="tx1"/>
                </a:solidFill>
                <a:cs typeface="Calibri"/>
              </a:rPr>
              <a:t>-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internet</a:t>
            </a:r>
            <a:r>
              <a:rPr lang="de-DE" sz="130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usage</a:t>
            </a:r>
            <a:r>
              <a:rPr lang="de-DE" sz="1300">
                <a:solidFill>
                  <a:schemeClr val="tx1"/>
                </a:solidFill>
                <a:cs typeface="Calibri"/>
              </a:rPr>
              <a:t>?</a:t>
            </a:r>
          </a:p>
          <a:p>
            <a:pPr algn="ctr"/>
            <a:r>
              <a:rPr lang="de-DE" sz="1300">
                <a:solidFill>
                  <a:schemeClr val="tx1"/>
                </a:solidFill>
                <a:cs typeface="Calibri"/>
              </a:rPr>
              <a:t>- online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banking</a:t>
            </a:r>
            <a:r>
              <a:rPr lang="de-DE" sz="1300">
                <a:solidFill>
                  <a:schemeClr val="tx1"/>
                </a:solidFill>
                <a:cs typeface="Calibri"/>
              </a:rPr>
              <a:t>? </a:t>
            </a:r>
          </a:p>
          <a:p>
            <a:pPr algn="ctr"/>
            <a:r>
              <a:rPr lang="de-DE" sz="1300">
                <a:solidFill>
                  <a:schemeClr val="tx1"/>
                </a:solidFill>
                <a:cs typeface="Calibri"/>
              </a:rPr>
              <a:t>- online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shopping</a:t>
            </a:r>
            <a:r>
              <a:rPr lang="de-DE" sz="1300">
                <a:solidFill>
                  <a:schemeClr val="tx1"/>
                </a:solidFill>
                <a:cs typeface="Calibri"/>
              </a:rPr>
              <a:t>?</a:t>
            </a:r>
          </a:p>
          <a:p>
            <a:pPr algn="ctr"/>
            <a:endParaRPr lang="de-DE" sz="1300">
              <a:solidFill>
                <a:schemeClr val="tx1"/>
              </a:solidFill>
              <a:cs typeface="Calibri"/>
            </a:endParaRPr>
          </a:p>
          <a:p>
            <a:pPr algn="ctr"/>
            <a:endParaRPr lang="de-DE" sz="1300">
              <a:solidFill>
                <a:schemeClr val="tx1"/>
              </a:solidFill>
              <a:cs typeface="Calibri"/>
            </a:endParaRPr>
          </a:p>
          <a:p>
            <a:pPr algn="ctr"/>
            <a:r>
              <a:rPr lang="de-DE" sz="1300" err="1">
                <a:solidFill>
                  <a:schemeClr val="tx1"/>
                </a:solidFill>
                <a:cs typeface="Calibri"/>
              </a:rPr>
              <a:t>Lowers</a:t>
            </a:r>
            <a:r>
              <a:rPr lang="de-DE" sz="130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the</a:t>
            </a:r>
            <a:r>
              <a:rPr lang="de-DE" sz="130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risk</a:t>
            </a:r>
            <a:r>
              <a:rPr lang="de-DE" sz="130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of</a:t>
            </a:r>
            <a:r>
              <a:rPr lang="de-DE" sz="130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entering</a:t>
            </a:r>
            <a:r>
              <a:rPr lang="de-DE" sz="1300">
                <a:solidFill>
                  <a:schemeClr val="tx1"/>
                </a:solidFill>
                <a:cs typeface="Calibri"/>
              </a:rPr>
              <a:t> a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market</a:t>
            </a:r>
            <a:r>
              <a:rPr lang="de-DE" sz="130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which</a:t>
            </a:r>
            <a:r>
              <a:rPr lang="de-DE" sz="130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doesn't</a:t>
            </a:r>
            <a:r>
              <a:rPr lang="de-DE" sz="130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recognise</a:t>
            </a:r>
            <a:r>
              <a:rPr lang="de-DE" sz="130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the</a:t>
            </a:r>
            <a:r>
              <a:rPr lang="de-DE" sz="130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value</a:t>
            </a:r>
            <a:r>
              <a:rPr lang="de-DE" sz="1300">
                <a:solidFill>
                  <a:schemeClr val="tx1"/>
                </a:solidFill>
                <a:cs typeface="Calibri"/>
              </a:rPr>
              <a:t> 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of</a:t>
            </a:r>
            <a:r>
              <a:rPr lang="de-DE" sz="1300">
                <a:solidFill>
                  <a:schemeClr val="tx1"/>
                </a:solidFill>
                <a:cs typeface="Calibri"/>
              </a:rPr>
              <a:t>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autonomous</a:t>
            </a:r>
            <a:r>
              <a:rPr lang="de-DE" sz="1300">
                <a:solidFill>
                  <a:schemeClr val="tx1"/>
                </a:solidFill>
                <a:cs typeface="Calibri"/>
              </a:rPr>
              <a:t> online </a:t>
            </a:r>
            <a:r>
              <a:rPr lang="de-DE" sz="1300" err="1">
                <a:solidFill>
                  <a:schemeClr val="tx1"/>
                </a:solidFill>
                <a:cs typeface="Calibri"/>
              </a:rPr>
              <a:t>applications</a:t>
            </a:r>
            <a:endParaRPr lang="de-DE" sz="1300">
              <a:solidFill>
                <a:schemeClr val="tx1"/>
              </a:solidFill>
              <a:cs typeface="Calibri"/>
            </a:endParaRPr>
          </a:p>
          <a:p>
            <a:pPr algn="ctr"/>
            <a:endParaRPr lang="de-DE" sz="1300">
              <a:solidFill>
                <a:schemeClr val="tx1"/>
              </a:solidFill>
              <a:cs typeface="Calibri"/>
            </a:endParaRPr>
          </a:p>
        </p:txBody>
      </p:sp>
      <p:pic>
        <p:nvPicPr>
          <p:cNvPr id="8" name="Picture 2" descr="Taxfix Improves Deliverability, Conversions, and Scalability… | Braze">
            <a:extLst>
              <a:ext uri="{FF2B5EF4-FFF2-40B4-BE49-F238E27FC236}">
                <a16:creationId xmlns:a16="http://schemas.microsoft.com/office/drawing/2014/main" id="{A6896977-A13C-59FF-467B-83249B1E2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5553" y="195948"/>
            <a:ext cx="1460499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3372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4E93E-3DA2-6AF9-9D87-24E38B303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117" y="198211"/>
            <a:ext cx="10811933" cy="813435"/>
          </a:xfrm>
        </p:spPr>
        <p:txBody>
          <a:bodyPr anchor="t">
            <a:normAutofit fontScale="90000"/>
          </a:bodyPr>
          <a:lstStyle/>
          <a:p>
            <a:r>
              <a:rPr lang="de-DE" sz="3200"/>
              <a:t>Multiple </a:t>
            </a:r>
            <a:r>
              <a:rPr lang="de-DE" sz="3200" err="1"/>
              <a:t>reasons</a:t>
            </a:r>
            <a:r>
              <a:rPr lang="de-DE" sz="3200"/>
              <a:t> </a:t>
            </a:r>
            <a:r>
              <a:rPr lang="de-DE" sz="3200" err="1"/>
              <a:t>make</a:t>
            </a:r>
            <a:r>
              <a:rPr lang="de-DE" sz="3200"/>
              <a:t> </a:t>
            </a:r>
            <a:r>
              <a:rPr lang="de-DE" sz="3200" err="1"/>
              <a:t>the</a:t>
            </a:r>
            <a:r>
              <a:rPr lang="de-DE" sz="3200"/>
              <a:t> United Kingdom </a:t>
            </a:r>
            <a:r>
              <a:rPr lang="de-DE" sz="3200" err="1"/>
              <a:t>the</a:t>
            </a:r>
            <a:r>
              <a:rPr lang="de-DE" sz="3200"/>
              <a:t> </a:t>
            </a:r>
            <a:r>
              <a:rPr lang="de-DE" sz="3200" err="1"/>
              <a:t>most</a:t>
            </a:r>
            <a:r>
              <a:rPr lang="de-DE" sz="3200"/>
              <a:t> </a:t>
            </a:r>
            <a:r>
              <a:rPr lang="de-DE" sz="3200" err="1"/>
              <a:t>attractive</a:t>
            </a:r>
            <a:r>
              <a:rPr lang="de-DE" sz="3200"/>
              <a:t> </a:t>
            </a:r>
            <a:br>
              <a:rPr lang="de-DE" sz="3200"/>
            </a:br>
            <a:r>
              <a:rPr lang="de-DE" sz="3200" err="1"/>
              <a:t>market</a:t>
            </a:r>
            <a:r>
              <a:rPr lang="de-DE" sz="3200"/>
              <a:t>.</a:t>
            </a:r>
            <a:endParaRPr lang="de-DE" sz="3200">
              <a:cs typeface="Calibri Ligh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6B1E1-8922-635D-EB8B-3235F25CE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6E3C9-C561-2B8A-DC53-778E95D49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3</a:t>
            </a:fld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2EF472-0B0D-57A4-1955-AF9AE7D45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65E80-791E-4009-8E59-F88D5FB2CC11}" type="datetime1">
              <a:rPr lang="de-DE" smtClean="0"/>
              <a:t>06.10.22</a:t>
            </a:fld>
            <a:endParaRPr lang="de-DE"/>
          </a:p>
        </p:txBody>
      </p:sp>
      <p:graphicFrame>
        <p:nvGraphicFramePr>
          <p:cNvPr id="12" name="Table 13">
            <a:extLst>
              <a:ext uri="{FF2B5EF4-FFF2-40B4-BE49-F238E27FC236}">
                <a16:creationId xmlns:a16="http://schemas.microsoft.com/office/drawing/2014/main" id="{FB4B1BF8-F41C-AC66-A3FC-28F0EAAED1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313419"/>
              </p:ext>
            </p:extLst>
          </p:nvPr>
        </p:nvGraphicFramePr>
        <p:xfrm>
          <a:off x="529166" y="1211791"/>
          <a:ext cx="10891700" cy="4073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2925">
                  <a:extLst>
                    <a:ext uri="{9D8B030D-6E8A-4147-A177-3AD203B41FA5}">
                      <a16:colId xmlns:a16="http://schemas.microsoft.com/office/drawing/2014/main" val="2187696343"/>
                    </a:ext>
                  </a:extLst>
                </a:gridCol>
                <a:gridCol w="2722925">
                  <a:extLst>
                    <a:ext uri="{9D8B030D-6E8A-4147-A177-3AD203B41FA5}">
                      <a16:colId xmlns:a16="http://schemas.microsoft.com/office/drawing/2014/main" val="2780702445"/>
                    </a:ext>
                  </a:extLst>
                </a:gridCol>
                <a:gridCol w="2722925">
                  <a:extLst>
                    <a:ext uri="{9D8B030D-6E8A-4147-A177-3AD203B41FA5}">
                      <a16:colId xmlns:a16="http://schemas.microsoft.com/office/drawing/2014/main" val="3494471887"/>
                    </a:ext>
                  </a:extLst>
                </a:gridCol>
                <a:gridCol w="2722925">
                  <a:extLst>
                    <a:ext uri="{9D8B030D-6E8A-4147-A177-3AD203B41FA5}">
                      <a16:colId xmlns:a16="http://schemas.microsoft.com/office/drawing/2014/main" val="967692193"/>
                    </a:ext>
                  </a:extLst>
                </a:gridCol>
              </a:tblGrid>
              <a:tr h="306714">
                <a:tc>
                  <a:txBody>
                    <a:bodyPr/>
                    <a:lstStyle/>
                    <a:p>
                      <a:r>
                        <a:rPr lang="de-DE" sz="1400" err="1">
                          <a:solidFill>
                            <a:schemeClr val="tx1"/>
                          </a:solidFill>
                          <a:latin typeface="Calibri"/>
                        </a:rPr>
                        <a:t>Criteria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>
                          <a:solidFill>
                            <a:schemeClr val="tx1"/>
                          </a:solidFill>
                          <a:latin typeface="Calibri"/>
                        </a:rPr>
                        <a:t>United Kingdom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err="1">
                          <a:solidFill>
                            <a:schemeClr val="tx1"/>
                          </a:solidFill>
                          <a:latin typeface="Calibri"/>
                        </a:rPr>
                        <a:t>Netherlands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>
                          <a:solidFill>
                            <a:schemeClr val="tx1"/>
                          </a:solidFill>
                          <a:latin typeface="Calibri"/>
                        </a:rPr>
                        <a:t>Austria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585"/>
                  </a:ext>
                </a:extLst>
              </a:tr>
              <a:tr h="306714">
                <a:tc>
                  <a:txBody>
                    <a:bodyPr/>
                    <a:lstStyle/>
                    <a:p>
                      <a:r>
                        <a:rPr lang="de-DE" sz="1400" i="1">
                          <a:latin typeface="Calibri"/>
                        </a:rPr>
                        <a:t>Market size:</a:t>
                      </a:r>
                      <a:endParaRPr lang="de-DE" sz="1400" i="1" err="1"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tx1"/>
                          </a:solidFill>
                          <a:latin typeface="Calibri"/>
                          <a:ea typeface="+mn-lt"/>
                          <a:cs typeface="+mn-lt"/>
                        </a:rPr>
                        <a:t>1,84 Billion € </a:t>
                      </a:r>
                      <a:endParaRPr lang="de-DE" sz="1400" b="1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latin typeface="Calibri"/>
                          <a:ea typeface="+mn-lt"/>
                          <a:cs typeface="+mn-lt"/>
                        </a:rPr>
                        <a:t>626,75 Million €</a:t>
                      </a:r>
                      <a:r>
                        <a:rPr lang="de-DE" sz="1400" i="1">
                          <a:solidFill>
                            <a:schemeClr val="tx1"/>
                          </a:solidFill>
                          <a:latin typeface="Calibri"/>
                        </a:rPr>
                        <a:t> </a:t>
                      </a:r>
                      <a:endParaRPr lang="de-DE" sz="1400"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latin typeface="Calibri"/>
                          <a:ea typeface="+mn-lt"/>
                          <a:cs typeface="+mn-lt"/>
                        </a:rPr>
                        <a:t>310,3 Million €</a:t>
                      </a:r>
                      <a:r>
                        <a:rPr lang="de-DE" sz="1400" i="1">
                          <a:solidFill>
                            <a:schemeClr val="tx1"/>
                          </a:solidFill>
                          <a:latin typeface="Calibri"/>
                        </a:rPr>
                        <a:t> </a:t>
                      </a:r>
                      <a:endParaRPr lang="de-DE" sz="1400"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5747707"/>
                  </a:ext>
                </a:extLst>
              </a:tr>
              <a:tr h="1955305">
                <a:tc>
                  <a:txBody>
                    <a:bodyPr/>
                    <a:lstStyle/>
                    <a:p>
                      <a:r>
                        <a:rPr lang="de-DE" sz="1400" i="1">
                          <a:latin typeface="Calibri"/>
                        </a:rPr>
                        <a:t>Competition:</a:t>
                      </a:r>
                      <a:endParaRPr lang="en-US" sz="1400"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>
                          <a:latin typeface="Calibri"/>
                        </a:rPr>
                        <a:t>Taxscouts: </a:t>
                      </a:r>
                    </a:p>
                    <a:p>
                      <a:pPr lvl="0">
                        <a:buNone/>
                      </a:pPr>
                      <a:r>
                        <a:rPr lang="de-DE" sz="1400">
                          <a:latin typeface="Calibri"/>
                        </a:rPr>
                        <a:t>- 48 </a:t>
                      </a:r>
                      <a:r>
                        <a:rPr lang="de-DE" sz="1400" err="1">
                          <a:latin typeface="Calibri"/>
                        </a:rPr>
                        <a:t>hour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process</a:t>
                      </a:r>
                      <a:endParaRPr lang="de-DE" sz="140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de-DE" sz="1400">
                          <a:latin typeface="Calibri"/>
                        </a:rPr>
                        <a:t>- </a:t>
                      </a:r>
                      <a:r>
                        <a:rPr lang="de-DE" sz="1400" err="1">
                          <a:latin typeface="Calibri"/>
                        </a:rPr>
                        <a:t>well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under</a:t>
                      </a:r>
                      <a:r>
                        <a:rPr lang="de-DE" sz="1400">
                          <a:latin typeface="Calibri"/>
                        </a:rPr>
                        <a:t> 50 </a:t>
                      </a:r>
                      <a:r>
                        <a:rPr lang="de-DE" sz="1400" err="1">
                          <a:latin typeface="Calibri"/>
                        </a:rPr>
                        <a:t>employees</a:t>
                      </a:r>
                      <a:endParaRPr lang="de-DE" sz="140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de-DE" sz="1400">
                          <a:latin typeface="Calibri"/>
                        </a:rPr>
                        <a:t>- 1:1 </a:t>
                      </a:r>
                      <a:r>
                        <a:rPr lang="de-DE" sz="1400" err="1">
                          <a:latin typeface="Calibri"/>
                        </a:rPr>
                        <a:t>videocalls</a:t>
                      </a:r>
                      <a:r>
                        <a:rPr lang="de-DE" sz="1400">
                          <a:latin typeface="Calibri"/>
                        </a:rPr>
                        <a:t> </a:t>
                      </a:r>
                    </a:p>
                    <a:p>
                      <a:pPr lvl="0">
                        <a:buNone/>
                      </a:pPr>
                      <a:endParaRPr lang="de-DE" sz="140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de-DE" sz="1400">
                          <a:latin typeface="Calibri"/>
                        </a:rPr>
                        <a:t>=&gt; not </a:t>
                      </a:r>
                      <a:r>
                        <a:rPr lang="de-DE" sz="1400" err="1">
                          <a:latin typeface="Calibri"/>
                        </a:rPr>
                        <a:t>comparable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to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taxfix</a:t>
                      </a:r>
                      <a:endParaRPr lang="de-DE" sz="1400">
                        <a:latin typeface="Calibri"/>
                      </a:endParaRPr>
                    </a:p>
                    <a:p>
                      <a:pPr lvl="0">
                        <a:buNone/>
                      </a:pPr>
                      <a:endParaRPr lang="de-DE" sz="1400"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err="1">
                          <a:latin typeface="Calibri"/>
                        </a:rPr>
                        <a:t>Blueumbrella</a:t>
                      </a:r>
                      <a:r>
                        <a:rPr lang="de-DE" sz="1400">
                          <a:latin typeface="Calibri"/>
                        </a:rPr>
                        <a:t>: </a:t>
                      </a:r>
                    </a:p>
                    <a:p>
                      <a:pPr lvl="0">
                        <a:buNone/>
                      </a:pPr>
                      <a:r>
                        <a:rPr lang="de-DE" sz="1400">
                          <a:latin typeface="Calibri"/>
                        </a:rPr>
                        <a:t>- Income </a:t>
                      </a:r>
                      <a:r>
                        <a:rPr lang="de-DE" sz="1400" err="1">
                          <a:latin typeface="Calibri"/>
                        </a:rPr>
                        <a:t>tax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return</a:t>
                      </a:r>
                      <a:endParaRPr lang="de-DE" sz="140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de-DE" sz="1400">
                          <a:latin typeface="Calibri"/>
                        </a:rPr>
                        <a:t>- 30 </a:t>
                      </a:r>
                      <a:r>
                        <a:rPr lang="de-DE" sz="1400" err="1">
                          <a:latin typeface="Calibri"/>
                        </a:rPr>
                        <a:t>minutes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till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sent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to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the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dutch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government</a:t>
                      </a:r>
                      <a:endParaRPr lang="de-DE" sz="140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de-DE" sz="1400">
                          <a:latin typeface="Calibri"/>
                        </a:rPr>
                        <a:t>- </a:t>
                      </a:r>
                      <a:r>
                        <a:rPr lang="de-DE" sz="1400" err="1">
                          <a:latin typeface="Calibri"/>
                        </a:rPr>
                        <a:t>tax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returns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comes</a:t>
                      </a:r>
                      <a:r>
                        <a:rPr lang="de-DE" sz="1400">
                          <a:latin typeface="Calibri"/>
                        </a:rPr>
                        <a:t> in 3 </a:t>
                      </a:r>
                      <a:r>
                        <a:rPr lang="de-DE" sz="1400" err="1">
                          <a:latin typeface="Calibri"/>
                        </a:rPr>
                        <a:t>months</a:t>
                      </a:r>
                      <a:r>
                        <a:rPr lang="de-DE" sz="1400">
                          <a:latin typeface="Calibri"/>
                        </a:rPr>
                        <a:t> </a:t>
                      </a:r>
                    </a:p>
                    <a:p>
                      <a:pPr lvl="0">
                        <a:buNone/>
                      </a:pPr>
                      <a:endParaRPr lang="de-DE" sz="140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de-DE" sz="1400">
                          <a:latin typeface="Calibri"/>
                        </a:rPr>
                        <a:t>=&gt; not </a:t>
                      </a:r>
                      <a:r>
                        <a:rPr lang="de-DE" sz="1400" err="1">
                          <a:latin typeface="Calibri"/>
                        </a:rPr>
                        <a:t>comparable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to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taxfix</a:t>
                      </a:r>
                      <a:endParaRPr lang="de-DE" sz="1400"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err="1">
                          <a:latin typeface="Calibri"/>
                        </a:rPr>
                        <a:t>No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comparable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competition</a:t>
                      </a:r>
                      <a:r>
                        <a:rPr lang="de-DE" sz="1400">
                          <a:latin typeface="Calibri"/>
                        </a:rPr>
                        <a:t>: </a:t>
                      </a:r>
                    </a:p>
                    <a:p>
                      <a:pPr lvl="0">
                        <a:buNone/>
                      </a:pPr>
                      <a:endParaRPr lang="de-DE" sz="140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de-DE" sz="1400" err="1">
                          <a:latin typeface="Calibri"/>
                        </a:rPr>
                        <a:t>Automatical</a:t>
                      </a:r>
                      <a:r>
                        <a:rPr lang="de-DE" sz="1400">
                          <a:latin typeface="Calibri"/>
                        </a:rPr>
                        <a:t> </a:t>
                      </a:r>
                      <a:r>
                        <a:rPr lang="de-DE" sz="1400" err="1">
                          <a:latin typeface="Calibri"/>
                        </a:rPr>
                        <a:t>refund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by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the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government</a:t>
                      </a:r>
                      <a:r>
                        <a:rPr lang="de-DE" sz="1400">
                          <a:latin typeface="Calibri"/>
                        </a:rPr>
                        <a:t> </a:t>
                      </a:r>
                    </a:p>
                    <a:p>
                      <a:pPr lvl="0">
                        <a:buNone/>
                      </a:pPr>
                      <a:endParaRPr lang="de-DE" sz="140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de-DE" sz="1400">
                          <a:latin typeface="Calibri"/>
                        </a:rPr>
                        <a:t>=&gt; </a:t>
                      </a:r>
                      <a:r>
                        <a:rPr lang="de-DE" sz="1400" err="1">
                          <a:latin typeface="Calibri"/>
                        </a:rPr>
                        <a:t>low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demand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for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tax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declarations</a:t>
                      </a:r>
                      <a:r>
                        <a:rPr lang="de-DE" sz="1400">
                          <a:latin typeface="Calibri"/>
                        </a:rPr>
                        <a:t> and </a:t>
                      </a:r>
                      <a:r>
                        <a:rPr lang="de-DE" sz="1400" err="1">
                          <a:latin typeface="Calibri"/>
                        </a:rPr>
                        <a:t>taxfix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solution</a:t>
                      </a:r>
                      <a:endParaRPr lang="de-DE" sz="1400"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036462"/>
                  </a:ext>
                </a:extLst>
              </a:tr>
              <a:tr h="977652">
                <a:tc>
                  <a:txBody>
                    <a:bodyPr/>
                    <a:lstStyle/>
                    <a:p>
                      <a:r>
                        <a:rPr lang="de-DE" sz="1400" i="1" err="1">
                          <a:latin typeface="Calibri"/>
                        </a:rPr>
                        <a:t>Changes</a:t>
                      </a:r>
                      <a:r>
                        <a:rPr lang="de-DE" sz="1400" i="1">
                          <a:latin typeface="Calibri"/>
                        </a:rPr>
                        <a:t> </a:t>
                      </a:r>
                      <a:r>
                        <a:rPr lang="de-DE" sz="1400" i="1" err="1">
                          <a:latin typeface="Calibri"/>
                        </a:rPr>
                        <a:t>to</a:t>
                      </a:r>
                      <a:r>
                        <a:rPr lang="de-DE" sz="1400" i="1">
                          <a:latin typeface="Calibri"/>
                        </a:rPr>
                        <a:t> </a:t>
                      </a:r>
                      <a:r>
                        <a:rPr lang="de-DE" sz="1400" i="1" err="1">
                          <a:latin typeface="Calibri"/>
                        </a:rPr>
                        <a:t>the</a:t>
                      </a:r>
                      <a:r>
                        <a:rPr lang="de-DE" sz="1400" i="1">
                          <a:latin typeface="Calibri"/>
                        </a:rPr>
                        <a:t> </a:t>
                      </a:r>
                      <a:r>
                        <a:rPr lang="de-DE" sz="1400" i="1" err="1">
                          <a:latin typeface="Calibri"/>
                        </a:rPr>
                        <a:t>product</a:t>
                      </a:r>
                      <a:r>
                        <a:rPr lang="de-DE" sz="1400" i="1">
                          <a:latin typeface="Calibri"/>
                        </a:rPr>
                        <a:t> </a:t>
                      </a:r>
                      <a:r>
                        <a:rPr lang="de-DE" sz="1400" i="1" err="1">
                          <a:latin typeface="Calibri"/>
                        </a:rPr>
                        <a:t>during</a:t>
                      </a:r>
                      <a:r>
                        <a:rPr lang="de-DE" sz="1400" i="1">
                          <a:latin typeface="Calibri"/>
                        </a:rPr>
                        <a:t> </a:t>
                      </a:r>
                      <a:r>
                        <a:rPr lang="de-DE" sz="1400" i="1" err="1">
                          <a:latin typeface="Calibri"/>
                        </a:rPr>
                        <a:t>expansion</a:t>
                      </a:r>
                      <a:r>
                        <a:rPr lang="de-DE" sz="1400" i="1">
                          <a:latin typeface="Calibri"/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>
                          <a:latin typeface="Calibri"/>
                        </a:rPr>
                        <a:t>HMRC = Elster </a:t>
                      </a:r>
                      <a:br>
                        <a:rPr lang="de-DE" sz="1400">
                          <a:latin typeface="Calibri"/>
                        </a:rPr>
                      </a:br>
                      <a:r>
                        <a:rPr lang="de-DE" sz="1400">
                          <a:latin typeface="Calibri"/>
                        </a:rPr>
                        <a:t>=&gt; </a:t>
                      </a:r>
                      <a:r>
                        <a:rPr lang="de-DE" sz="1400" err="1">
                          <a:latin typeface="Calibri"/>
                        </a:rPr>
                        <a:t>similar</a:t>
                      </a:r>
                      <a:r>
                        <a:rPr lang="de-DE" sz="1400">
                          <a:latin typeface="Calibri"/>
                        </a:rPr>
                        <a:t> System; not so </a:t>
                      </a:r>
                      <a:r>
                        <a:rPr lang="de-DE" sz="1400" err="1">
                          <a:latin typeface="Calibri"/>
                        </a:rPr>
                        <a:t>many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changes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needed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err="1">
                          <a:latin typeface="Calibri"/>
                        </a:rPr>
                        <a:t>Belastingdienst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works</a:t>
                      </a:r>
                      <a:r>
                        <a:rPr lang="de-DE" sz="1400">
                          <a:latin typeface="Calibri"/>
                        </a:rPr>
                        <a:t> like </a:t>
                      </a:r>
                      <a:r>
                        <a:rPr lang="de-DE" sz="1400" err="1">
                          <a:latin typeface="Calibri"/>
                        </a:rPr>
                        <a:t>the</a:t>
                      </a:r>
                      <a:r>
                        <a:rPr lang="de-DE" sz="1400">
                          <a:latin typeface="Calibri"/>
                        </a:rPr>
                        <a:t> Finanzamt </a:t>
                      </a:r>
                      <a:br>
                        <a:rPr lang="de-DE" sz="1400">
                          <a:latin typeface="Calibri"/>
                        </a:rPr>
                      </a:br>
                      <a:r>
                        <a:rPr lang="de-DE" sz="1400">
                          <a:latin typeface="Calibri"/>
                        </a:rPr>
                        <a:t>=&gt; </a:t>
                      </a:r>
                      <a:r>
                        <a:rPr lang="de-DE" sz="1400" err="1">
                          <a:latin typeface="Calibri"/>
                        </a:rPr>
                        <a:t>similar</a:t>
                      </a:r>
                      <a:r>
                        <a:rPr lang="de-DE" sz="1400">
                          <a:latin typeface="Calibri"/>
                        </a:rPr>
                        <a:t> </a:t>
                      </a:r>
                      <a:r>
                        <a:rPr lang="de-DE" sz="1400" err="1">
                          <a:latin typeface="Calibri"/>
                        </a:rPr>
                        <a:t>system</a:t>
                      </a:r>
                      <a:r>
                        <a:rPr lang="de-DE" sz="1400">
                          <a:latin typeface="Calibri"/>
                        </a:rPr>
                        <a:t>; </a:t>
                      </a:r>
                      <a:r>
                        <a:rPr lang="de-DE" sz="1400" b="0" i="0" u="none" strike="noStrike" noProof="0"/>
                        <a:t>not so </a:t>
                      </a:r>
                      <a:r>
                        <a:rPr lang="de-DE" sz="1400" b="0" i="0" u="none" strike="noStrike" noProof="0" err="1"/>
                        <a:t>many</a:t>
                      </a:r>
                      <a:r>
                        <a:rPr lang="de-DE" sz="1400" b="0" i="0" u="none" strike="noStrike" noProof="0"/>
                        <a:t> </a:t>
                      </a:r>
                      <a:r>
                        <a:rPr lang="de-DE" sz="1400" b="0" i="0" u="none" strike="noStrike" noProof="0" err="1"/>
                        <a:t>changes</a:t>
                      </a:r>
                      <a:r>
                        <a:rPr lang="de-DE" sz="1400" b="0" i="0" u="none" strike="noStrike" noProof="0"/>
                        <a:t> </a:t>
                      </a:r>
                      <a:r>
                        <a:rPr lang="de-DE" sz="1400" b="0" i="0" u="none" strike="noStrike" noProof="0" err="1"/>
                        <a:t>needed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448873"/>
                  </a:ext>
                </a:extLst>
              </a:tr>
              <a:tr h="527165">
                <a:tc>
                  <a:txBody>
                    <a:bodyPr/>
                    <a:lstStyle/>
                    <a:p>
                      <a:r>
                        <a:rPr lang="de-DE" sz="1400" i="1" err="1">
                          <a:latin typeface="Calibri"/>
                        </a:rPr>
                        <a:t>Usage</a:t>
                      </a:r>
                      <a:r>
                        <a:rPr lang="de-DE" sz="1400" i="1">
                          <a:latin typeface="Calibri"/>
                        </a:rPr>
                        <a:t> </a:t>
                      </a:r>
                      <a:r>
                        <a:rPr lang="de-DE" sz="1400" i="1" err="1">
                          <a:latin typeface="Calibri"/>
                        </a:rPr>
                        <a:t>of</a:t>
                      </a:r>
                      <a:r>
                        <a:rPr lang="de-DE" sz="1400" i="1">
                          <a:latin typeface="Calibri"/>
                        </a:rPr>
                        <a:t> </a:t>
                      </a:r>
                      <a:r>
                        <a:rPr lang="de-DE" sz="1400" i="1" err="1">
                          <a:latin typeface="Calibri"/>
                        </a:rPr>
                        <a:t>similar</a:t>
                      </a:r>
                      <a:r>
                        <a:rPr lang="de-DE" sz="1400" i="1">
                          <a:latin typeface="Calibri"/>
                        </a:rPr>
                        <a:t> Solutions: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>
                          <a:latin typeface="Calibri"/>
                        </a:rPr>
                        <a:t>Online Banking: </a:t>
                      </a:r>
                      <a:r>
                        <a:rPr lang="de-DE" sz="1400" b="1">
                          <a:latin typeface="Calibri"/>
                        </a:rPr>
                        <a:t>93%</a:t>
                      </a:r>
                    </a:p>
                    <a:p>
                      <a:pPr lvl="0">
                        <a:buNone/>
                      </a:pPr>
                      <a:r>
                        <a:rPr lang="de-DE" sz="1400">
                          <a:latin typeface="Calibri"/>
                        </a:rPr>
                        <a:t>Online </a:t>
                      </a:r>
                      <a:r>
                        <a:rPr lang="de-DE" sz="1400" err="1">
                          <a:latin typeface="Calibri"/>
                        </a:rPr>
                        <a:t>shopping</a:t>
                      </a:r>
                      <a:r>
                        <a:rPr lang="de-DE" sz="1400">
                          <a:latin typeface="Calibri"/>
                        </a:rPr>
                        <a:t>: </a:t>
                      </a:r>
                      <a:r>
                        <a:rPr lang="de-DE" sz="1400" b="1">
                          <a:latin typeface="Calibri"/>
                        </a:rPr>
                        <a:t>93%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400" b="0" i="0" u="none" strike="noStrike" noProof="0">
                          <a:latin typeface="Calibri"/>
                        </a:rPr>
                        <a:t>Online Banking: 78,3%</a:t>
                      </a:r>
                      <a:endParaRPr lang="en-US" sz="1400" b="0" i="0" u="none" strike="noStrike" noProof="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de-DE" sz="1400" b="0" i="0" u="none" strike="noStrike" noProof="0">
                          <a:latin typeface="Calibri"/>
                        </a:rPr>
                        <a:t>Online </a:t>
                      </a:r>
                      <a:r>
                        <a:rPr lang="de-DE" sz="1400" b="0" i="0" u="none" strike="noStrike" noProof="0" err="1">
                          <a:latin typeface="Calibri"/>
                        </a:rPr>
                        <a:t>shopping</a:t>
                      </a:r>
                      <a:r>
                        <a:rPr lang="de-DE" sz="1400" b="0" i="0" u="none" strike="noStrike" noProof="0">
                          <a:latin typeface="Calibri"/>
                        </a:rPr>
                        <a:t>: 79%</a:t>
                      </a:r>
                      <a:endParaRPr lang="de-DE" sz="1400"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651011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5B6C752B-F80F-757D-174B-07C23E1CAA0D}"/>
              </a:ext>
            </a:extLst>
          </p:cNvPr>
          <p:cNvSpPr/>
          <p:nvPr/>
        </p:nvSpPr>
        <p:spPr>
          <a:xfrm>
            <a:off x="544308" y="5380113"/>
            <a:ext cx="10902299" cy="858479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b="1">
                <a:solidFill>
                  <a:schemeClr val="tx1"/>
                </a:solidFill>
              </a:rPr>
              <a:t>Due </a:t>
            </a:r>
            <a:r>
              <a:rPr lang="de-DE" b="1" err="1">
                <a:solidFill>
                  <a:schemeClr val="tx1"/>
                </a:solidFill>
              </a:rPr>
              <a:t>to</a:t>
            </a:r>
            <a:r>
              <a:rPr lang="de-DE" b="1">
                <a:solidFill>
                  <a:schemeClr val="tx1"/>
                </a:solidFill>
              </a:rPr>
              <a:t> </a:t>
            </a:r>
            <a:r>
              <a:rPr lang="de-DE" b="1" err="1">
                <a:solidFill>
                  <a:schemeClr val="tx1"/>
                </a:solidFill>
              </a:rPr>
              <a:t>the</a:t>
            </a:r>
            <a:r>
              <a:rPr lang="de-DE" b="1">
                <a:solidFill>
                  <a:schemeClr val="tx1"/>
                </a:solidFill>
              </a:rPr>
              <a:t> </a:t>
            </a:r>
            <a:r>
              <a:rPr lang="de-DE" b="1" err="1">
                <a:solidFill>
                  <a:schemeClr val="tx1"/>
                </a:solidFill>
              </a:rPr>
              <a:t>bigger</a:t>
            </a:r>
            <a:r>
              <a:rPr lang="de-DE" b="1">
                <a:solidFill>
                  <a:schemeClr val="tx1"/>
                </a:solidFill>
              </a:rPr>
              <a:t> </a:t>
            </a:r>
            <a:r>
              <a:rPr lang="de-DE" b="1" err="1">
                <a:solidFill>
                  <a:schemeClr val="tx1"/>
                </a:solidFill>
              </a:rPr>
              <a:t>market</a:t>
            </a:r>
            <a:r>
              <a:rPr lang="de-DE" b="1">
                <a:solidFill>
                  <a:schemeClr val="tx1"/>
                </a:solidFill>
              </a:rPr>
              <a:t> </a:t>
            </a:r>
            <a:r>
              <a:rPr lang="de-DE" b="1" err="1">
                <a:solidFill>
                  <a:schemeClr val="tx1"/>
                </a:solidFill>
              </a:rPr>
              <a:t>size</a:t>
            </a:r>
            <a:r>
              <a:rPr lang="de-DE" b="1">
                <a:solidFill>
                  <a:schemeClr val="tx1"/>
                </a:solidFill>
              </a:rPr>
              <a:t> </a:t>
            </a:r>
            <a:r>
              <a:rPr lang="de-DE" b="1" err="1">
                <a:solidFill>
                  <a:schemeClr val="tx1"/>
                </a:solidFill>
              </a:rPr>
              <a:t>combined</a:t>
            </a:r>
            <a:r>
              <a:rPr lang="de-DE" b="1">
                <a:solidFill>
                  <a:schemeClr val="tx1"/>
                </a:solidFill>
              </a:rPr>
              <a:t> </a:t>
            </a:r>
            <a:r>
              <a:rPr lang="de-DE" b="1" err="1">
                <a:solidFill>
                  <a:schemeClr val="tx1"/>
                </a:solidFill>
              </a:rPr>
              <a:t>with</a:t>
            </a:r>
            <a:r>
              <a:rPr lang="de-DE" b="1">
                <a:solidFill>
                  <a:schemeClr val="tx1"/>
                </a:solidFill>
              </a:rPr>
              <a:t> a </a:t>
            </a:r>
            <a:r>
              <a:rPr lang="de-DE" b="1" err="1">
                <a:solidFill>
                  <a:schemeClr val="tx1"/>
                </a:solidFill>
              </a:rPr>
              <a:t>similar</a:t>
            </a:r>
            <a:r>
              <a:rPr lang="de-DE" b="1">
                <a:solidFill>
                  <a:schemeClr val="tx1"/>
                </a:solidFill>
              </a:rPr>
              <a:t> </a:t>
            </a:r>
            <a:r>
              <a:rPr lang="de-DE" b="1" err="1">
                <a:solidFill>
                  <a:schemeClr val="tx1"/>
                </a:solidFill>
              </a:rPr>
              <a:t>competition</a:t>
            </a:r>
            <a:r>
              <a:rPr lang="de-DE" b="1">
                <a:solidFill>
                  <a:schemeClr val="tx1"/>
                </a:solidFill>
              </a:rPr>
              <a:t> and a </a:t>
            </a:r>
            <a:r>
              <a:rPr lang="de-DE" b="1" err="1">
                <a:solidFill>
                  <a:schemeClr val="tx1"/>
                </a:solidFill>
              </a:rPr>
              <a:t>bigger</a:t>
            </a:r>
            <a:r>
              <a:rPr lang="de-DE" b="1">
                <a:solidFill>
                  <a:schemeClr val="tx1"/>
                </a:solidFill>
              </a:rPr>
              <a:t> </a:t>
            </a:r>
            <a:r>
              <a:rPr lang="de-DE" b="1" err="1">
                <a:solidFill>
                  <a:schemeClr val="tx1"/>
                </a:solidFill>
              </a:rPr>
              <a:t>affinity</a:t>
            </a:r>
            <a:r>
              <a:rPr lang="de-DE" b="1">
                <a:solidFill>
                  <a:schemeClr val="tx1"/>
                </a:solidFill>
              </a:rPr>
              <a:t> </a:t>
            </a:r>
            <a:r>
              <a:rPr lang="de-DE" b="1" err="1">
                <a:solidFill>
                  <a:schemeClr val="tx1"/>
                </a:solidFill>
              </a:rPr>
              <a:t>towards</a:t>
            </a:r>
            <a:r>
              <a:rPr lang="de-DE" b="1">
                <a:solidFill>
                  <a:schemeClr val="tx1"/>
                </a:solidFill>
              </a:rPr>
              <a:t> digital </a:t>
            </a:r>
            <a:r>
              <a:rPr lang="de-DE" b="1" err="1">
                <a:solidFill>
                  <a:schemeClr val="tx1"/>
                </a:solidFill>
              </a:rPr>
              <a:t>solutions</a:t>
            </a:r>
            <a:r>
              <a:rPr lang="de-DE" b="1">
                <a:solidFill>
                  <a:schemeClr val="tx1"/>
                </a:solidFill>
              </a:rPr>
              <a:t> </a:t>
            </a:r>
            <a:r>
              <a:rPr lang="de-DE" b="1" err="1">
                <a:solidFill>
                  <a:schemeClr val="tx1"/>
                </a:solidFill>
              </a:rPr>
              <a:t>Taxfix</a:t>
            </a:r>
            <a:r>
              <a:rPr lang="de-DE" b="1">
                <a:solidFill>
                  <a:schemeClr val="tx1"/>
                </a:solidFill>
              </a:rPr>
              <a:t> </a:t>
            </a:r>
            <a:r>
              <a:rPr lang="de-DE" b="1" err="1">
                <a:solidFill>
                  <a:schemeClr val="tx1"/>
                </a:solidFill>
              </a:rPr>
              <a:t>should</a:t>
            </a:r>
            <a:r>
              <a:rPr lang="de-DE" b="1">
                <a:solidFill>
                  <a:schemeClr val="tx1"/>
                </a:solidFill>
              </a:rPr>
              <a:t> </a:t>
            </a:r>
            <a:r>
              <a:rPr lang="de-DE" b="1" err="1">
                <a:solidFill>
                  <a:schemeClr val="tx1"/>
                </a:solidFill>
              </a:rPr>
              <a:t>enter</a:t>
            </a:r>
            <a:r>
              <a:rPr lang="de-DE" b="1">
                <a:solidFill>
                  <a:schemeClr val="tx1"/>
                </a:solidFill>
              </a:rPr>
              <a:t> </a:t>
            </a:r>
            <a:r>
              <a:rPr lang="de-DE" b="1" err="1">
                <a:solidFill>
                  <a:schemeClr val="tx1"/>
                </a:solidFill>
              </a:rPr>
              <a:t>the</a:t>
            </a:r>
            <a:r>
              <a:rPr lang="de-DE" b="1">
                <a:solidFill>
                  <a:schemeClr val="tx1"/>
                </a:solidFill>
              </a:rPr>
              <a:t> </a:t>
            </a:r>
            <a:r>
              <a:rPr lang="de-DE" b="1" err="1">
                <a:solidFill>
                  <a:schemeClr val="tx1"/>
                </a:solidFill>
              </a:rPr>
              <a:t>market</a:t>
            </a:r>
            <a:r>
              <a:rPr lang="de-DE" b="1">
                <a:solidFill>
                  <a:schemeClr val="tx1"/>
                </a:solidFill>
              </a:rPr>
              <a:t> </a:t>
            </a:r>
            <a:r>
              <a:rPr lang="de-DE" b="1" err="1">
                <a:solidFill>
                  <a:schemeClr val="tx1"/>
                </a:solidFill>
              </a:rPr>
              <a:t>of</a:t>
            </a:r>
            <a:r>
              <a:rPr lang="de-DE" b="1">
                <a:solidFill>
                  <a:schemeClr val="tx1"/>
                </a:solidFill>
              </a:rPr>
              <a:t> </a:t>
            </a:r>
            <a:r>
              <a:rPr lang="de-DE" b="1" err="1">
                <a:solidFill>
                  <a:schemeClr val="tx1"/>
                </a:solidFill>
              </a:rPr>
              <a:t>the</a:t>
            </a:r>
            <a:r>
              <a:rPr lang="de-DE" b="1">
                <a:solidFill>
                  <a:schemeClr val="tx1"/>
                </a:solidFill>
              </a:rPr>
              <a:t> United Kingdom</a:t>
            </a:r>
          </a:p>
        </p:txBody>
      </p:sp>
      <p:pic>
        <p:nvPicPr>
          <p:cNvPr id="3" name="Picture 2" descr="Taxfix Improves Deliverability, Conversions, and Scalability… | Braze">
            <a:extLst>
              <a:ext uri="{FF2B5EF4-FFF2-40B4-BE49-F238E27FC236}">
                <a16:creationId xmlns:a16="http://schemas.microsoft.com/office/drawing/2014/main" id="{58EF4327-96E5-B53C-6CC4-D1A5ABE35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5553" y="195948"/>
            <a:ext cx="1460499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0422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84840-CEFD-917A-AC5A-08BF219AA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cs typeface="Calibri Light"/>
              </a:rPr>
              <a:t>Quellen</a:t>
            </a:r>
            <a:endParaRPr lang="en-GB" dirty="0" err="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71DB57-E0A0-D3CD-1D1B-52C836577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BE2BA-B185-494B-9586-13FE273FC853}" type="datetime1">
              <a:rPr lang="de-DE" smtClean="0"/>
              <a:t>06.10.22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8B0B74-FD69-C08E-DA7D-FA90F7EB1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E4797A-1BF5-86F3-7C97-517A59267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4</a:t>
            </a:fld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1E5A08-956E-D14C-A7F4-1C5A0395710A}"/>
              </a:ext>
            </a:extLst>
          </p:cNvPr>
          <p:cNvSpPr txBox="1"/>
          <p:nvPr/>
        </p:nvSpPr>
        <p:spPr>
          <a:xfrm>
            <a:off x="888999" y="1661584"/>
            <a:ext cx="10785474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" dirty="0">
                <a:ea typeface="+mn-lt"/>
                <a:cs typeface="+mn-lt"/>
                <a:hlinkClick r:id="rId2"/>
              </a:rPr>
              <a:t>https://www.einkommensverteilung.eu/einkommenspyramide-oesterreich/</a:t>
            </a:r>
            <a:endParaRPr lang="en-US"/>
          </a:p>
          <a:p>
            <a:r>
              <a:rPr lang="de" dirty="0">
                <a:ea typeface="+mn-lt"/>
                <a:cs typeface="+mn-lt"/>
                <a:hlinkClick r:id="rId3"/>
              </a:rPr>
              <a:t>https://www.steuern.de/steuererklaerung-pflicht</a:t>
            </a:r>
            <a:endParaRPr lang="en-GB"/>
          </a:p>
          <a:p>
            <a:r>
              <a:rPr lang="de" dirty="0">
                <a:ea typeface="+mn-lt"/>
                <a:cs typeface="+mn-lt"/>
                <a:hlinkClick r:id="rId4"/>
              </a:rPr>
              <a:t>https://www.google.com/search?q=altersverteilung+in+%C3%B6sterreich&amp;client=safari&amp;rls=en&amp;sxsrf=ALiCzsbOwYZXFstzvqyugSORI5gsJvjOlQ:1664965537325&amp;source=lnms&amp;tbm=isch&amp;sa=X&amp;ved=2ahUKEwic7aj778j6AhW3h_0HHeZ1CT8Q_AUoAXoECAEQAw&amp;biw=761&amp;bih=733&amp;dpr=2#imgrc=sH-McfmDgD9EsM</a:t>
            </a:r>
            <a:endParaRPr lang="en-GB"/>
          </a:p>
          <a:p>
            <a:r>
              <a:rPr lang="de" dirty="0">
                <a:ea typeface="+mn-lt"/>
                <a:cs typeface="+mn-lt"/>
                <a:hlinkClick r:id="rId5"/>
              </a:rPr>
              <a:t>https://de.wikipedia.org/wiki/Österreich</a:t>
            </a:r>
            <a:endParaRPr lang="en-GB"/>
          </a:p>
          <a:p>
            <a:r>
              <a:rPr lang="de" dirty="0">
                <a:ea typeface="+mn-lt"/>
                <a:cs typeface="+mn-lt"/>
                <a:hlinkClick r:id="rId6"/>
              </a:rPr>
              <a:t>https://de.wikipedia.org/wiki/Vereinigtes_Königreich</a:t>
            </a:r>
            <a:endParaRPr lang="en-GB"/>
          </a:p>
          <a:p>
            <a:r>
              <a:rPr lang="de" dirty="0">
                <a:ea typeface="+mn-lt"/>
                <a:cs typeface="+mn-lt"/>
                <a:hlinkClick r:id="rId7"/>
              </a:rPr>
              <a:t>https://en.wikipedia.org/wiki/Netherlands</a:t>
            </a:r>
            <a:endParaRPr lang="en-GB"/>
          </a:p>
          <a:p>
            <a:r>
              <a:rPr lang="de" dirty="0">
                <a:ea typeface="+mn-lt"/>
                <a:cs typeface="+mn-lt"/>
                <a:hlinkClick r:id="rId8"/>
              </a:rPr>
              <a:t>https://de.wikipedia.org/wiki/Liste_der_Länder_nach_Bruttonationaleinkommen_pro_Kopf#Länder_nach_BNE_pro_Kopf</a:t>
            </a:r>
            <a:endParaRPr lang="en-GB"/>
          </a:p>
          <a:p>
            <a:r>
              <a:rPr lang="de" dirty="0">
                <a:ea typeface="+mn-lt"/>
                <a:cs typeface="+mn-lt"/>
                <a:hlinkClick r:id="rId9"/>
              </a:rPr>
              <a:t>https://www.bmf.gv.at/services/finanzonline.html</a:t>
            </a:r>
            <a:endParaRPr lang="en-GB"/>
          </a:p>
          <a:p>
            <a:r>
              <a:rPr lang="de" dirty="0">
                <a:ea typeface="+mn-lt"/>
                <a:cs typeface="+mn-lt"/>
                <a:hlinkClick r:id="rId10"/>
              </a:rPr>
              <a:t>https://www.freefinance.at/wie-es-funktioniert/finanzamt.html</a:t>
            </a:r>
            <a:endParaRPr lang="en-GB"/>
          </a:p>
          <a:p>
            <a:pPr algn="l"/>
            <a:r>
              <a:rPr lang="de" dirty="0">
                <a:ea typeface="+mn-lt"/>
                <a:cs typeface="+mn-lt"/>
                <a:hlinkClick r:id="rId11"/>
              </a:rPr>
              <a:t>https://www.statista.com/statistics/286273/internet-banking-penetration-in-great-britain/</a:t>
            </a:r>
            <a:r>
              <a:rPr lang="de" dirty="0">
                <a:ea typeface="+mn-lt"/>
                <a:cs typeface="+mn-lt"/>
                <a:hlinkClick r:id="rId12"/>
              </a:rPr>
              <a:t>https://longreads.cbs.nl/the-netherlands-in-numbers-2020/how-many-people-shop-online-and-what/</a:t>
            </a:r>
            <a:endParaRPr lang="en-GB"/>
          </a:p>
        </p:txBody>
      </p:sp>
      <p:pic>
        <p:nvPicPr>
          <p:cNvPr id="8" name="Picture 7" descr="Taxfix Improves Deliverability, Conversions, and Scalability… | Braze">
            <a:extLst>
              <a:ext uri="{FF2B5EF4-FFF2-40B4-BE49-F238E27FC236}">
                <a16:creationId xmlns:a16="http://schemas.microsoft.com/office/drawing/2014/main" id="{9FA18292-B43F-D0DD-7F86-3A265AEF2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0153" y="183248"/>
            <a:ext cx="1460499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4454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BD5C1C4-6B9D-9C99-7B5E-849CEAF8377D}"/>
              </a:ext>
            </a:extLst>
          </p:cNvPr>
          <p:cNvSpPr txBox="1"/>
          <p:nvPr/>
        </p:nvSpPr>
        <p:spPr>
          <a:xfrm>
            <a:off x="439584" y="1142922"/>
            <a:ext cx="4790699" cy="40934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AutoNum type="arabicPeriod"/>
            </a:pPr>
            <a:r>
              <a:rPr lang="en-DE" sz="1400"/>
              <a:t>Calculating the potential market</a:t>
            </a:r>
            <a:endParaRPr lang="en-US" sz="1400">
              <a:cs typeface="Calibri"/>
            </a:endParaRPr>
          </a:p>
          <a:p>
            <a:endParaRPr lang="en-DE" sz="1400">
              <a:cs typeface="Calibri"/>
            </a:endParaRPr>
          </a:p>
          <a:p>
            <a:r>
              <a:rPr lang="en-DE" sz="1400"/>
              <a:t>	1.1 Potential Customers</a:t>
            </a:r>
            <a:endParaRPr lang="en-DE" sz="1400">
              <a:cs typeface="Calibri"/>
            </a:endParaRPr>
          </a:p>
          <a:p>
            <a:r>
              <a:rPr lang="en-DE" sz="1400"/>
              <a:t>	1.2 Chargeable Price</a:t>
            </a:r>
            <a:endParaRPr lang="en-DE" sz="1400">
              <a:cs typeface="Calibri"/>
            </a:endParaRPr>
          </a:p>
          <a:p>
            <a:endParaRPr lang="en-DE" sz="1400">
              <a:cs typeface="Calibri"/>
            </a:endParaRPr>
          </a:p>
          <a:p>
            <a:r>
              <a:rPr lang="en-DE" sz="1400"/>
              <a:t>1.1 Total population, excluding age 0-19, excluding age 65+ because of retirement, excluding the unemployed, excluding people who don’t do the</a:t>
            </a:r>
            <a:r>
              <a:rPr lang="en-GB" sz="1400" err="1"/>
              <a:t>ir</a:t>
            </a:r>
            <a:r>
              <a:rPr lang="en-DE" sz="1400"/>
              <a:t> tax declaration </a:t>
            </a:r>
            <a:endParaRPr lang="en-DE" sz="1400">
              <a:cs typeface="Calibri" panose="020F0502020204030204"/>
            </a:endParaRPr>
          </a:p>
          <a:p>
            <a:endParaRPr lang="en-DE" sz="1400">
              <a:cs typeface="Calibri" panose="020F0502020204030204"/>
            </a:endParaRPr>
          </a:p>
          <a:p>
            <a:r>
              <a:rPr lang="en-DE" sz="1400"/>
              <a:t>    Austria:</a:t>
            </a:r>
            <a:br>
              <a:rPr lang="en-DE" sz="1400"/>
            </a:br>
            <a:r>
              <a:rPr lang="en-DE" sz="1400"/>
              <a:t>	8.9 Million*0.8*0.8*0.94*0.85 = 4.55 Million</a:t>
            </a:r>
            <a:endParaRPr lang="en-DE" sz="1400">
              <a:cs typeface="Calibri"/>
            </a:endParaRPr>
          </a:p>
          <a:p>
            <a:r>
              <a:rPr lang="en-DE" sz="1400"/>
              <a:t>    </a:t>
            </a:r>
            <a:endParaRPr lang="en-DE" sz="1400">
              <a:cs typeface="Calibri"/>
            </a:endParaRPr>
          </a:p>
          <a:p>
            <a:r>
              <a:rPr lang="en-DE" sz="1400"/>
              <a:t>    Netherlands: </a:t>
            </a:r>
            <a:endParaRPr lang="en-DE" sz="1400">
              <a:cs typeface="Calibri"/>
            </a:endParaRPr>
          </a:p>
          <a:p>
            <a:r>
              <a:rPr lang="en-DE" sz="1400"/>
              <a:t>	17.5 Million*0.8*0.8*0.95*0.85 = 9.044 Million</a:t>
            </a:r>
            <a:endParaRPr lang="en-DE" sz="1400">
              <a:cs typeface="Calibri"/>
            </a:endParaRPr>
          </a:p>
          <a:p>
            <a:endParaRPr lang="en-DE" sz="1400">
              <a:cs typeface="Calibri"/>
            </a:endParaRPr>
          </a:p>
          <a:p>
            <a:r>
              <a:rPr lang="en-DE" sz="1400"/>
              <a:t>     United Kingdom: </a:t>
            </a:r>
            <a:endParaRPr lang="en-DE" sz="1400">
              <a:cs typeface="Calibri"/>
            </a:endParaRPr>
          </a:p>
          <a:p>
            <a:r>
              <a:rPr lang="en-DE" sz="1400"/>
              <a:t>	67 Million*0.8*0.81*0.97*0.85 = 35.35 Million</a:t>
            </a:r>
            <a:endParaRPr lang="en-DE" sz="1400">
              <a:cs typeface="Calibri"/>
            </a:endParaRPr>
          </a:p>
          <a:p>
            <a:endParaRPr lang="en-DE" sz="1100">
              <a:cs typeface="Calibri"/>
            </a:endParaRPr>
          </a:p>
          <a:p>
            <a:r>
              <a:rPr lang="en-DE" sz="1100"/>
              <a:t>                </a:t>
            </a:r>
            <a:endParaRPr lang="en-DE" sz="1100"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AB2A82-42A2-8DC0-9FAB-47F37D65F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877D6A-25E7-2DAD-9D1D-FAC85E819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5</a:t>
            </a:fld>
            <a:endParaRPr lang="de-D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01AE0A3-C038-4B4E-3975-D6D5E8AF9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BED6C-C1F6-4877-A345-9922268CBAD1}" type="datetime1">
              <a:rPr lang="de-DE" smtClean="0"/>
              <a:t>06.10.22</a:t>
            </a:fld>
            <a:endParaRPr lang="de-D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98C509-23FD-C7F1-2F30-02DAFD64777F}"/>
              </a:ext>
            </a:extLst>
          </p:cNvPr>
          <p:cNvSpPr txBox="1"/>
          <p:nvPr/>
        </p:nvSpPr>
        <p:spPr>
          <a:xfrm>
            <a:off x="5619748" y="1016000"/>
            <a:ext cx="5599641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ea typeface="+mn-lt"/>
                <a:cs typeface="+mn-lt"/>
              </a:rPr>
              <a:t>1.2  Adjusting the price to the difference in gross national income</a:t>
            </a:r>
          </a:p>
          <a:p>
            <a:endParaRPr lang="en-US" sz="1400">
              <a:ea typeface="+mn-lt"/>
              <a:cs typeface="+mn-lt"/>
            </a:endParaRPr>
          </a:p>
          <a:p>
            <a:r>
              <a:rPr lang="en-US" sz="1400">
                <a:ea typeface="+mn-lt"/>
                <a:cs typeface="+mn-lt"/>
              </a:rPr>
              <a:t>Assuming that the </a:t>
            </a:r>
            <a:r>
              <a:rPr lang="en-US" sz="1400" err="1">
                <a:ea typeface="+mn-lt"/>
                <a:cs typeface="+mn-lt"/>
              </a:rPr>
              <a:t>german</a:t>
            </a:r>
            <a:r>
              <a:rPr lang="en-US" sz="1400">
                <a:ea typeface="+mn-lt"/>
                <a:cs typeface="+mn-lt"/>
              </a:rPr>
              <a:t> prices are reasonably priced: </a:t>
            </a:r>
          </a:p>
          <a:p>
            <a:endParaRPr lang="en-US" sz="1400">
              <a:ea typeface="+mn-lt"/>
              <a:cs typeface="+mn-lt"/>
            </a:endParaRPr>
          </a:p>
          <a:p>
            <a:r>
              <a:rPr lang="en-US" sz="1400">
                <a:ea typeface="+mn-lt"/>
                <a:cs typeface="+mn-lt"/>
              </a:rPr>
              <a:t>Dividing the gross national income for country 1 by the </a:t>
            </a:r>
            <a:r>
              <a:rPr lang="en-US" sz="1400" err="1">
                <a:ea typeface="+mn-lt"/>
                <a:cs typeface="+mn-lt"/>
              </a:rPr>
              <a:t>german</a:t>
            </a:r>
            <a:r>
              <a:rPr lang="en-US" sz="1400">
                <a:ea typeface="+mn-lt"/>
                <a:cs typeface="+mn-lt"/>
              </a:rPr>
              <a:t> gross national income = a</a:t>
            </a:r>
          </a:p>
          <a:p>
            <a:r>
              <a:rPr lang="en-US" sz="1400">
                <a:ea typeface="+mn-lt"/>
                <a:cs typeface="+mn-lt"/>
              </a:rPr>
              <a:t>In Germany 23 million people are considered single and 35 million people are married - A number which is transferable to the other countries. </a:t>
            </a:r>
          </a:p>
          <a:p>
            <a:endParaRPr lang="en-US" sz="1400">
              <a:ea typeface="+mn-lt"/>
              <a:cs typeface="+mn-lt"/>
            </a:endParaRPr>
          </a:p>
          <a:p>
            <a:r>
              <a:rPr lang="en-US" sz="1400">
                <a:ea typeface="+mn-lt"/>
                <a:cs typeface="+mn-lt"/>
              </a:rPr>
              <a:t>Average Price: (23/58) * a * 40€ + (35/58) * a * 60€ </a:t>
            </a:r>
          </a:p>
          <a:p>
            <a:endParaRPr lang="en-US" sz="1400">
              <a:ea typeface="+mn-lt"/>
              <a:cs typeface="+mn-lt"/>
            </a:endParaRPr>
          </a:p>
          <a:p>
            <a:r>
              <a:rPr lang="en-US" sz="1400">
                <a:ea typeface="+mn-lt"/>
                <a:cs typeface="+mn-lt"/>
              </a:rPr>
              <a:t>Prices </a:t>
            </a:r>
          </a:p>
          <a:p>
            <a:r>
              <a:rPr lang="en-US" sz="1400">
                <a:ea typeface="+mn-lt"/>
                <a:cs typeface="+mn-lt"/>
              </a:rPr>
              <a:t> Austria: 68,2€</a:t>
            </a:r>
          </a:p>
          <a:p>
            <a:r>
              <a:rPr lang="en-US" sz="1400">
                <a:ea typeface="+mn-lt"/>
                <a:cs typeface="+mn-lt"/>
              </a:rPr>
              <a:t> Netherlands: 69,3€</a:t>
            </a:r>
          </a:p>
          <a:p>
            <a:r>
              <a:rPr lang="en-US" sz="1400">
                <a:ea typeface="+mn-lt"/>
                <a:cs typeface="+mn-lt"/>
              </a:rPr>
              <a:t> United Kingdom: 52 €</a:t>
            </a:r>
          </a:p>
          <a:p>
            <a:endParaRPr lang="en-US" sz="1400">
              <a:ea typeface="+mn-lt"/>
              <a:cs typeface="+mn-lt"/>
            </a:endParaRPr>
          </a:p>
          <a:p>
            <a:r>
              <a:rPr lang="en-US" sz="1400">
                <a:ea typeface="+mn-lt"/>
                <a:cs typeface="+mn-lt"/>
              </a:rPr>
              <a:t>Prices * Potential Customers = Market Size</a:t>
            </a:r>
          </a:p>
          <a:p>
            <a:endParaRPr lang="en-US" sz="1400">
              <a:ea typeface="+mn-lt"/>
              <a:cs typeface="+mn-lt"/>
            </a:endParaRPr>
          </a:p>
          <a:p>
            <a:r>
              <a:rPr lang="en-US" sz="1400">
                <a:ea typeface="+mn-lt"/>
                <a:cs typeface="+mn-lt"/>
              </a:rPr>
              <a:t>Austria: 310,3 Million €</a:t>
            </a:r>
          </a:p>
          <a:p>
            <a:r>
              <a:rPr lang="en-US" sz="1400">
                <a:ea typeface="+mn-lt"/>
                <a:cs typeface="+mn-lt"/>
              </a:rPr>
              <a:t>Netherlands: 626,75 Million €</a:t>
            </a:r>
          </a:p>
          <a:p>
            <a:r>
              <a:rPr lang="en-US" sz="1400">
                <a:ea typeface="+mn-lt"/>
                <a:cs typeface="+mn-lt"/>
              </a:rPr>
              <a:t>United Kingdom: 1,84 Billion €</a:t>
            </a:r>
          </a:p>
          <a:p>
            <a:endParaRPr lang="en-GB" sz="1400"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836820-1277-98B0-7E7B-0031543AB6A2}"/>
              </a:ext>
            </a:extLst>
          </p:cNvPr>
          <p:cNvSpPr txBox="1"/>
          <p:nvPr/>
        </p:nvSpPr>
        <p:spPr>
          <a:xfrm>
            <a:off x="486832" y="222250"/>
            <a:ext cx="868997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 u="sng">
                <a:cs typeface="Calibri"/>
              </a:rPr>
              <a:t>Calculations: </a:t>
            </a:r>
            <a:endParaRPr lang="en-GB" sz="2400" b="1" u="sng"/>
          </a:p>
        </p:txBody>
      </p:sp>
      <p:pic>
        <p:nvPicPr>
          <p:cNvPr id="4" name="Picture 2" descr="Taxfix Improves Deliverability, Conversions, and Scalability… | Braze">
            <a:extLst>
              <a:ext uri="{FF2B5EF4-FFF2-40B4-BE49-F238E27FC236}">
                <a16:creationId xmlns:a16="http://schemas.microsoft.com/office/drawing/2014/main" id="{186D3355-AE7B-2E9B-BD6C-EF55A51B1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5553" y="195948"/>
            <a:ext cx="1460499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129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4E93E-3DA2-6AF9-9D87-24E38B303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211"/>
            <a:ext cx="10515600" cy="813435"/>
          </a:xfrm>
        </p:spPr>
        <p:txBody>
          <a:bodyPr anchor="t">
            <a:normAutofit/>
          </a:bodyPr>
          <a:lstStyle/>
          <a:p>
            <a:r>
              <a:rPr lang="de-DE" sz="3200"/>
              <a:t>Action title…</a:t>
            </a:r>
            <a:r>
              <a:rPr lang="de-DE" sz="3200" err="1"/>
              <a:t>we</a:t>
            </a:r>
            <a:r>
              <a:rPr lang="de-DE" sz="3200"/>
              <a:t> </a:t>
            </a:r>
            <a:r>
              <a:rPr lang="de-DE" sz="3200" err="1"/>
              <a:t>should</a:t>
            </a:r>
            <a:r>
              <a:rPr lang="de-DE" sz="3200"/>
              <a:t> </a:t>
            </a:r>
            <a:r>
              <a:rPr lang="de-DE" sz="3200" err="1"/>
              <a:t>go</a:t>
            </a:r>
            <a:r>
              <a:rPr lang="de-DE" sz="3200"/>
              <a:t> </a:t>
            </a:r>
            <a:r>
              <a:rPr lang="de-DE" sz="3200" err="1"/>
              <a:t>with</a:t>
            </a:r>
            <a:r>
              <a:rPr lang="de-DE" sz="3200"/>
              <a:t> </a:t>
            </a:r>
            <a:r>
              <a:rPr lang="de-DE" sz="3200" err="1"/>
              <a:t>the</a:t>
            </a:r>
            <a:r>
              <a:rPr lang="de-DE" sz="3200"/>
              <a:t> UK…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9D6B6CB-E04A-75D1-47CD-CD745F548881}"/>
              </a:ext>
            </a:extLst>
          </p:cNvPr>
          <p:cNvSpPr/>
          <p:nvPr/>
        </p:nvSpPr>
        <p:spPr>
          <a:xfrm>
            <a:off x="708350" y="4691743"/>
            <a:ext cx="10775301" cy="1287558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err="1">
                <a:solidFill>
                  <a:schemeClr val="tx1"/>
                </a:solidFill>
              </a:rPr>
              <a:t>Conclusion</a:t>
            </a:r>
            <a:endParaRPr lang="de-DE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6B1E1-8922-635D-EB8B-3235F25CE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Joel Herrmann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6E3C9-C561-2B8A-DC53-778E95D49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635D-16E7-498F-9F40-65FB7786E600}" type="slidenum">
              <a:rPr lang="de-DE" smtClean="0"/>
              <a:t>6</a:t>
            </a:fld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2EF472-0B0D-57A4-1955-AF9AE7D45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65E80-791E-4009-8E59-F88D5FB2CC11}" type="datetime1">
              <a:rPr lang="de-DE" smtClean="0"/>
              <a:t>06.10.22</a:t>
            </a:fld>
            <a:endParaRPr lang="de-DE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90D99E1-1185-0DDE-8EA1-CFA68F34D494}"/>
              </a:ext>
            </a:extLst>
          </p:cNvPr>
          <p:cNvGrpSpPr/>
          <p:nvPr/>
        </p:nvGrpSpPr>
        <p:grpSpPr>
          <a:xfrm>
            <a:off x="708350" y="1257663"/>
            <a:ext cx="10775301" cy="3092605"/>
            <a:chOff x="578499" y="1257663"/>
            <a:chExt cx="10775301" cy="309260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B3BBDB9-1000-47E9-DBBF-04015434050F}"/>
                </a:ext>
              </a:extLst>
            </p:cNvPr>
            <p:cNvSpPr/>
            <p:nvPr/>
          </p:nvSpPr>
          <p:spPr>
            <a:xfrm>
              <a:off x="578499" y="1257663"/>
              <a:ext cx="10775301" cy="309260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de-DE" b="1">
                  <a:solidFill>
                    <a:schemeClr val="tx1"/>
                  </a:solidFill>
                </a:rPr>
                <a:t>United Kingdom: </a:t>
              </a:r>
              <a:r>
                <a:rPr lang="de-DE" i="1">
                  <a:solidFill>
                    <a:schemeClr val="tx1"/>
                  </a:solidFill>
                </a:rPr>
                <a:t>Market </a:t>
              </a:r>
              <a:r>
                <a:rPr lang="de-DE" i="1" err="1">
                  <a:solidFill>
                    <a:schemeClr val="tx1"/>
                  </a:solidFill>
                </a:rPr>
                <a:t>size</a:t>
              </a:r>
              <a:r>
                <a:rPr lang="de-DE" i="1">
                  <a:solidFill>
                    <a:schemeClr val="tx1"/>
                  </a:solidFill>
                </a:rPr>
                <a:t>: </a:t>
              </a:r>
              <a:r>
                <a:rPr lang="en-US" sz="1800">
                  <a:solidFill>
                    <a:schemeClr val="tx1"/>
                  </a:solidFill>
                  <a:ea typeface="+mn-lt"/>
                  <a:cs typeface="+mn-lt"/>
                </a:rPr>
                <a:t>1,84 Billion € </a:t>
              </a:r>
              <a:r>
                <a:rPr lang="de-DE" i="1">
                  <a:solidFill>
                    <a:schemeClr val="tx1"/>
                  </a:solidFill>
                </a:rPr>
                <a:t>Competition: …</a:t>
              </a:r>
            </a:p>
            <a:p>
              <a:r>
                <a:rPr lang="de-DE" b="1" err="1">
                  <a:solidFill>
                    <a:schemeClr val="tx1"/>
                  </a:solidFill>
                </a:rPr>
                <a:t>Netherlands</a:t>
              </a:r>
              <a:r>
                <a:rPr lang="de-DE" b="1">
                  <a:solidFill>
                    <a:schemeClr val="tx1"/>
                  </a:solidFill>
                </a:rPr>
                <a:t>: </a:t>
              </a:r>
              <a:r>
                <a:rPr lang="de-DE" i="1">
                  <a:solidFill>
                    <a:schemeClr val="tx1"/>
                  </a:solidFill>
                </a:rPr>
                <a:t>Market </a:t>
              </a:r>
              <a:r>
                <a:rPr lang="de-DE" i="1" err="1">
                  <a:solidFill>
                    <a:schemeClr val="tx1"/>
                  </a:solidFill>
                </a:rPr>
                <a:t>size</a:t>
              </a:r>
              <a:r>
                <a:rPr lang="de-DE" i="1">
                  <a:solidFill>
                    <a:schemeClr val="tx1"/>
                  </a:solidFill>
                </a:rPr>
                <a:t>: </a:t>
              </a:r>
              <a:r>
                <a:rPr lang="en-US" sz="1800">
                  <a:solidFill>
                    <a:schemeClr val="tx1"/>
                  </a:solidFill>
                  <a:ea typeface="+mn-lt"/>
                  <a:cs typeface="+mn-lt"/>
                </a:rPr>
                <a:t>626,75 Million €</a:t>
              </a:r>
              <a:r>
                <a:rPr lang="de-DE" i="1">
                  <a:solidFill>
                    <a:schemeClr val="tx1"/>
                  </a:solidFill>
                </a:rPr>
                <a:t> Competition: …</a:t>
              </a:r>
              <a:endParaRPr lang="de-DE" b="1">
                <a:solidFill>
                  <a:schemeClr val="tx1"/>
                </a:solidFill>
              </a:endParaRPr>
            </a:p>
            <a:p>
              <a:r>
                <a:rPr lang="de-DE" b="1">
                  <a:solidFill>
                    <a:schemeClr val="tx1"/>
                  </a:solidFill>
                </a:rPr>
                <a:t>Austria: </a:t>
              </a:r>
              <a:r>
                <a:rPr lang="de-DE" i="1">
                  <a:solidFill>
                    <a:schemeClr val="tx1"/>
                  </a:solidFill>
                </a:rPr>
                <a:t>Market </a:t>
              </a:r>
              <a:r>
                <a:rPr lang="de-DE" i="1" err="1">
                  <a:solidFill>
                    <a:schemeClr val="tx1"/>
                  </a:solidFill>
                </a:rPr>
                <a:t>size</a:t>
              </a:r>
              <a:r>
                <a:rPr lang="de-DE" i="1">
                  <a:solidFill>
                    <a:schemeClr val="tx1"/>
                  </a:solidFill>
                </a:rPr>
                <a:t>: </a:t>
              </a:r>
              <a:r>
                <a:rPr lang="en-US" sz="1800">
                  <a:solidFill>
                    <a:schemeClr val="tx1"/>
                  </a:solidFill>
                  <a:ea typeface="+mn-lt"/>
                  <a:cs typeface="+mn-lt"/>
                </a:rPr>
                <a:t>310,3 Million €</a:t>
              </a:r>
              <a:r>
                <a:rPr lang="de-DE" i="1">
                  <a:solidFill>
                    <a:schemeClr val="tx1"/>
                  </a:solidFill>
                </a:rPr>
                <a:t> Competition: …</a:t>
              </a:r>
              <a:endParaRPr lang="de-DE" b="1">
                <a:solidFill>
                  <a:schemeClr val="tx1"/>
                </a:solidFill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BB97E25-3BA9-A3FE-BD6D-A5469BCCBD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96781" y="2972592"/>
              <a:ext cx="1557019" cy="1377676"/>
            </a:xfrm>
            <a:prstGeom prst="rect">
              <a:avLst/>
            </a:prstGeom>
          </p:spPr>
        </p:pic>
      </p:grpSp>
      <p:pic>
        <p:nvPicPr>
          <p:cNvPr id="3" name="Picture 2" descr="Taxfix Improves Deliverability, Conversions, and Scalability… | Braze">
            <a:extLst>
              <a:ext uri="{FF2B5EF4-FFF2-40B4-BE49-F238E27FC236}">
                <a16:creationId xmlns:a16="http://schemas.microsoft.com/office/drawing/2014/main" id="{CA4AECA7-1B5D-3E75-3B53-0296E0D64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5553" y="195948"/>
            <a:ext cx="1460499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5440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907</Words>
  <Application>Microsoft Macintosh PowerPoint</Application>
  <PresentationFormat>Widescreen</PresentationFormat>
  <Paragraphs>150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International expansion</vt:lpstr>
      <vt:lpstr>Market size, competition, product portability and inhabitant's online usage determine the attractiveness of the market.</vt:lpstr>
      <vt:lpstr>Multiple reasons make the United Kingdom the most attractive  market.</vt:lpstr>
      <vt:lpstr>Quellen</vt:lpstr>
      <vt:lpstr>PowerPoint Presentation</vt:lpstr>
      <vt:lpstr>Action title…we should go with the UK…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Action title…we should go with the UK…</dc:title>
  <dc:creator>Jonas Westphal</dc:creator>
  <cp:lastModifiedBy>joel herrmann</cp:lastModifiedBy>
  <cp:revision>19</cp:revision>
  <dcterms:created xsi:type="dcterms:W3CDTF">2022-10-05T18:05:15Z</dcterms:created>
  <dcterms:modified xsi:type="dcterms:W3CDTF">2022-10-06T07:16:50Z</dcterms:modified>
</cp:coreProperties>
</file>