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769"/>
    <a:srgbClr val="005AA1"/>
    <a:srgbClr val="9F91EE"/>
    <a:srgbClr val="D24A74"/>
    <a:srgbClr val="22B8BE"/>
    <a:srgbClr val="3EA0FB"/>
    <a:srgbClr val="E3F4F6"/>
    <a:srgbClr val="163B6C"/>
    <a:srgbClr val="0777CB"/>
    <a:srgbClr val="0781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332"/>
    <p:restoredTop sz="88965"/>
  </p:normalViewPr>
  <p:slideViewPr>
    <p:cSldViewPr snapToGrid="0" snapToObjects="1">
      <p:cViewPr varScale="1">
        <p:scale>
          <a:sx n="109" d="100"/>
          <a:sy n="109" d="100"/>
        </p:scale>
        <p:origin x="18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2976A8-4963-AB43-B707-1BE78C464FD2}" type="datetimeFigureOut">
              <a:rPr lang="en-GB" smtClean="0"/>
              <a:t>08/05/2021</a:t>
            </a:fld>
            <a:endParaRPr lang="en-GB"/>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406B7D-CE42-8F43-8584-61FC7B8202D9}" type="slidenum">
              <a:rPr lang="en-GB" smtClean="0"/>
              <a:t>‹Nr.›</a:t>
            </a:fld>
            <a:endParaRPr lang="en-GB"/>
          </a:p>
        </p:txBody>
      </p:sp>
    </p:spTree>
    <p:extLst>
      <p:ext uri="{BB962C8B-B14F-4D97-AF65-F5344CB8AC3E}">
        <p14:creationId xmlns:p14="http://schemas.microsoft.com/office/powerpoint/2010/main" val="679632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GB" dirty="0"/>
              <a:t>Sources: </a:t>
            </a:r>
          </a:p>
          <a:p>
            <a:r>
              <a:rPr lang="en-GB" dirty="0"/>
              <a:t>Management: Annual Report 2020 page 17</a:t>
            </a:r>
          </a:p>
          <a:p>
            <a:r>
              <a:rPr lang="en-GB" dirty="0"/>
              <a:t>Shareholdings: </a:t>
            </a:r>
            <a:r>
              <a:rPr lang="en-GB" dirty="0" err="1"/>
              <a:t>Aareal</a:t>
            </a:r>
            <a:r>
              <a:rPr lang="en-GB" dirty="0"/>
              <a:t> Homepage: https://</a:t>
            </a:r>
            <a:r>
              <a:rPr lang="en-GB" dirty="0" err="1"/>
              <a:t>www.aareon.com</a:t>
            </a:r>
            <a:r>
              <a:rPr lang="en-GB" dirty="0"/>
              <a:t>/</a:t>
            </a:r>
            <a:r>
              <a:rPr lang="en-GB" dirty="0" err="1"/>
              <a:t>sixcms</a:t>
            </a:r>
            <a:r>
              <a:rPr lang="en-GB" dirty="0"/>
              <a:t>/</a:t>
            </a:r>
            <a:r>
              <a:rPr lang="en-GB" dirty="0" err="1"/>
              <a:t>detail.php</a:t>
            </a:r>
            <a:r>
              <a:rPr lang="en-GB" dirty="0"/>
              <a:t>/141023</a:t>
            </a:r>
          </a:p>
          <a:p>
            <a:r>
              <a:rPr lang="en-GB" dirty="0"/>
              <a:t>Key Financials: Annual Report page 4</a:t>
            </a:r>
          </a:p>
          <a:p>
            <a:r>
              <a:rPr lang="en-GB" dirty="0"/>
              <a:t>Company description: Annual Report 2020 page 6</a:t>
            </a:r>
          </a:p>
        </p:txBody>
      </p:sp>
      <p:sp>
        <p:nvSpPr>
          <p:cNvPr id="4" name="Foliennummernplatzhalter 3"/>
          <p:cNvSpPr>
            <a:spLocks noGrp="1"/>
          </p:cNvSpPr>
          <p:nvPr>
            <p:ph type="sldNum" sz="quarter" idx="5"/>
          </p:nvPr>
        </p:nvSpPr>
        <p:spPr/>
        <p:txBody>
          <a:bodyPr/>
          <a:lstStyle/>
          <a:p>
            <a:fld id="{26406B7D-CE42-8F43-8584-61FC7B8202D9}" type="slidenum">
              <a:rPr lang="en-GB" smtClean="0"/>
              <a:t>1</a:t>
            </a:fld>
            <a:endParaRPr lang="en-GB"/>
          </a:p>
        </p:txBody>
      </p:sp>
    </p:spTree>
    <p:extLst>
      <p:ext uri="{BB962C8B-B14F-4D97-AF65-F5344CB8AC3E}">
        <p14:creationId xmlns:p14="http://schemas.microsoft.com/office/powerpoint/2010/main" val="2643133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2CD16D-6C47-C64A-A3BD-77335A1C3706}"/>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GB"/>
          </a:p>
        </p:txBody>
      </p:sp>
      <p:sp>
        <p:nvSpPr>
          <p:cNvPr id="3" name="Untertitel 2">
            <a:extLst>
              <a:ext uri="{FF2B5EF4-FFF2-40B4-BE49-F238E27FC236}">
                <a16:creationId xmlns:a16="http://schemas.microsoft.com/office/drawing/2014/main" id="{D3290A11-6A81-FF4A-AAA0-CAB072BE74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GB"/>
          </a:p>
        </p:txBody>
      </p:sp>
      <p:sp>
        <p:nvSpPr>
          <p:cNvPr id="4" name="Datumsplatzhalter 3">
            <a:extLst>
              <a:ext uri="{FF2B5EF4-FFF2-40B4-BE49-F238E27FC236}">
                <a16:creationId xmlns:a16="http://schemas.microsoft.com/office/drawing/2014/main" id="{8E0498F1-949D-0841-8D05-634154D71150}"/>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154CC24C-0EAF-064E-BC04-6FCE55A97A8C}"/>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BDBF4709-0C1A-4D46-920D-6DE4A09B436F}"/>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1646407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ED3FA4-A50D-8347-8B90-F8A158130982}"/>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BBDB45B8-F088-3A4F-8051-119AAAAB549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C99C7379-B709-614D-9D41-46A952B4FC1C}"/>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13C4EDD7-94CE-284E-B2C2-4F4A36D21615}"/>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1E62B5F8-9DB6-7B48-BBDB-D6FDDA0C0DEC}"/>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431939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292579-5E61-A24C-ACC6-704C16D86343}"/>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GB"/>
          </a:p>
        </p:txBody>
      </p:sp>
      <p:sp>
        <p:nvSpPr>
          <p:cNvPr id="3" name="Textplatzhalter 2">
            <a:extLst>
              <a:ext uri="{FF2B5EF4-FFF2-40B4-BE49-F238E27FC236}">
                <a16:creationId xmlns:a16="http://schemas.microsoft.com/office/drawing/2014/main" id="{CA23583B-B791-2C40-88B8-6BAE241B10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97488AE-C5FE-3D49-B371-34895519A9E2}"/>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A3738313-0B5D-5D47-946A-EC185060FF28}"/>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05969AF6-0BF8-D045-B840-C7A96469F442}"/>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803664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333EF8-8F53-9547-9E44-F8897A5388A7}"/>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914FC7DE-B47C-FE43-99A6-28A7F8380439}"/>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Inhaltsplatzhalter 3">
            <a:extLst>
              <a:ext uri="{FF2B5EF4-FFF2-40B4-BE49-F238E27FC236}">
                <a16:creationId xmlns:a16="http://schemas.microsoft.com/office/drawing/2014/main" id="{FF5A86CE-6F75-AD43-8F9F-24A524CC67B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Datumsplatzhalter 4">
            <a:extLst>
              <a:ext uri="{FF2B5EF4-FFF2-40B4-BE49-F238E27FC236}">
                <a16:creationId xmlns:a16="http://schemas.microsoft.com/office/drawing/2014/main" id="{C49D5A25-9ADF-BE4E-8192-F13218916658}"/>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6" name="Fußzeilenplatzhalter 5">
            <a:extLst>
              <a:ext uri="{FF2B5EF4-FFF2-40B4-BE49-F238E27FC236}">
                <a16:creationId xmlns:a16="http://schemas.microsoft.com/office/drawing/2014/main" id="{985721FA-2096-F74E-B375-42768A2B638F}"/>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CAD9BC8D-924D-3C44-8C1F-4897F98919AF}"/>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2537049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490FD5-A83E-CB46-9347-2E7A4C799594}"/>
              </a:ext>
            </a:extLst>
          </p:cNvPr>
          <p:cNvSpPr>
            <a:spLocks noGrp="1"/>
          </p:cNvSpPr>
          <p:nvPr>
            <p:ph type="title"/>
          </p:nvPr>
        </p:nvSpPr>
        <p:spPr>
          <a:xfrm>
            <a:off x="839788" y="365125"/>
            <a:ext cx="10515600" cy="1325563"/>
          </a:xfrm>
        </p:spPr>
        <p:txBody>
          <a:bodyPr/>
          <a:lstStyle/>
          <a:p>
            <a:r>
              <a:rPr lang="de-DE"/>
              <a:t>Mastertitelformat bearbeiten</a:t>
            </a:r>
            <a:endParaRPr lang="en-GB"/>
          </a:p>
        </p:txBody>
      </p:sp>
      <p:sp>
        <p:nvSpPr>
          <p:cNvPr id="3" name="Textplatzhalter 2">
            <a:extLst>
              <a:ext uri="{FF2B5EF4-FFF2-40B4-BE49-F238E27FC236}">
                <a16:creationId xmlns:a16="http://schemas.microsoft.com/office/drawing/2014/main" id="{EC7FF496-7DCF-684E-B2C9-FB991CF805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EF51E1CC-7E4A-1547-817D-91F46CF3E916}"/>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Textplatzhalter 4">
            <a:extLst>
              <a:ext uri="{FF2B5EF4-FFF2-40B4-BE49-F238E27FC236}">
                <a16:creationId xmlns:a16="http://schemas.microsoft.com/office/drawing/2014/main" id="{EE05D2F2-56C4-3E43-B2D4-A19E3DAD74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A63D81F7-EC70-8943-BD58-A6892FC0779B}"/>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7" name="Datumsplatzhalter 6">
            <a:extLst>
              <a:ext uri="{FF2B5EF4-FFF2-40B4-BE49-F238E27FC236}">
                <a16:creationId xmlns:a16="http://schemas.microsoft.com/office/drawing/2014/main" id="{B37B3C8E-4741-E443-9B60-B51A726FF480}"/>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8" name="Fußzeilenplatzhalter 7">
            <a:extLst>
              <a:ext uri="{FF2B5EF4-FFF2-40B4-BE49-F238E27FC236}">
                <a16:creationId xmlns:a16="http://schemas.microsoft.com/office/drawing/2014/main" id="{08E80F74-9805-6D4D-B240-01AC51F7D057}"/>
              </a:ext>
            </a:extLst>
          </p:cNvPr>
          <p:cNvSpPr>
            <a:spLocks noGrp="1"/>
          </p:cNvSpPr>
          <p:nvPr>
            <p:ph type="ftr" sz="quarter" idx="11"/>
          </p:nvPr>
        </p:nvSpPr>
        <p:spPr/>
        <p:txBody>
          <a:bodyPr/>
          <a:lstStyle/>
          <a:p>
            <a:endParaRPr lang="en-GB"/>
          </a:p>
        </p:txBody>
      </p:sp>
      <p:sp>
        <p:nvSpPr>
          <p:cNvPr id="9" name="Foliennummernplatzhalter 8">
            <a:extLst>
              <a:ext uri="{FF2B5EF4-FFF2-40B4-BE49-F238E27FC236}">
                <a16:creationId xmlns:a16="http://schemas.microsoft.com/office/drawing/2014/main" id="{2F07F10D-F6DB-3349-A735-9CD5828BDF95}"/>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11476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48DED4-785F-5342-A52D-6892FFC6669F}"/>
              </a:ext>
            </a:extLst>
          </p:cNvPr>
          <p:cNvSpPr>
            <a:spLocks noGrp="1"/>
          </p:cNvSpPr>
          <p:nvPr>
            <p:ph type="title"/>
          </p:nvPr>
        </p:nvSpPr>
        <p:spPr/>
        <p:txBody>
          <a:bodyPr/>
          <a:lstStyle/>
          <a:p>
            <a:r>
              <a:rPr lang="de-DE"/>
              <a:t>Mastertitelformat bearbeiten</a:t>
            </a:r>
            <a:endParaRPr lang="en-GB"/>
          </a:p>
        </p:txBody>
      </p:sp>
      <p:sp>
        <p:nvSpPr>
          <p:cNvPr id="3" name="Datumsplatzhalter 2">
            <a:extLst>
              <a:ext uri="{FF2B5EF4-FFF2-40B4-BE49-F238E27FC236}">
                <a16:creationId xmlns:a16="http://schemas.microsoft.com/office/drawing/2014/main" id="{F21A6DCB-8475-894F-B20F-FAC0BB6A6BBB}"/>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4" name="Fußzeilenplatzhalter 3">
            <a:extLst>
              <a:ext uri="{FF2B5EF4-FFF2-40B4-BE49-F238E27FC236}">
                <a16:creationId xmlns:a16="http://schemas.microsoft.com/office/drawing/2014/main" id="{672AD3A1-A092-824A-9BE6-E98F5984C1B5}"/>
              </a:ext>
            </a:extLst>
          </p:cNvPr>
          <p:cNvSpPr>
            <a:spLocks noGrp="1"/>
          </p:cNvSpPr>
          <p:nvPr>
            <p:ph type="ftr" sz="quarter" idx="11"/>
          </p:nvPr>
        </p:nvSpPr>
        <p:spPr/>
        <p:txBody>
          <a:bodyPr/>
          <a:lstStyle/>
          <a:p>
            <a:endParaRPr lang="en-GB"/>
          </a:p>
        </p:txBody>
      </p:sp>
      <p:sp>
        <p:nvSpPr>
          <p:cNvPr id="5" name="Foliennummernplatzhalter 4">
            <a:extLst>
              <a:ext uri="{FF2B5EF4-FFF2-40B4-BE49-F238E27FC236}">
                <a16:creationId xmlns:a16="http://schemas.microsoft.com/office/drawing/2014/main" id="{BE0D7C0B-362B-6B49-BFC6-2F16E7A3C92B}"/>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105057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1C8CCB3-FBA4-4C4A-B3A7-B71962F26671}"/>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3" name="Fußzeilenplatzhalter 2">
            <a:extLst>
              <a:ext uri="{FF2B5EF4-FFF2-40B4-BE49-F238E27FC236}">
                <a16:creationId xmlns:a16="http://schemas.microsoft.com/office/drawing/2014/main" id="{C7F9806F-6742-9144-B144-EE4AD7FB6B19}"/>
              </a:ext>
            </a:extLst>
          </p:cNvPr>
          <p:cNvSpPr>
            <a:spLocks noGrp="1"/>
          </p:cNvSpPr>
          <p:nvPr>
            <p:ph type="ftr" sz="quarter" idx="11"/>
          </p:nvPr>
        </p:nvSpPr>
        <p:spPr/>
        <p:txBody>
          <a:bodyPr/>
          <a:lstStyle/>
          <a:p>
            <a:endParaRPr lang="en-GB"/>
          </a:p>
        </p:txBody>
      </p:sp>
      <p:sp>
        <p:nvSpPr>
          <p:cNvPr id="4" name="Foliennummernplatzhalter 3">
            <a:extLst>
              <a:ext uri="{FF2B5EF4-FFF2-40B4-BE49-F238E27FC236}">
                <a16:creationId xmlns:a16="http://schemas.microsoft.com/office/drawing/2014/main" id="{D888BA39-5791-BB4B-84E4-865A7F0B5213}"/>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1213555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0D1675-F900-0348-94FF-625661B0F1F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Inhaltsplatzhalter 2">
            <a:extLst>
              <a:ext uri="{FF2B5EF4-FFF2-40B4-BE49-F238E27FC236}">
                <a16:creationId xmlns:a16="http://schemas.microsoft.com/office/drawing/2014/main" id="{4CDFBA27-C308-0D41-92F5-B16587EA28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Textplatzhalter 3">
            <a:extLst>
              <a:ext uri="{FF2B5EF4-FFF2-40B4-BE49-F238E27FC236}">
                <a16:creationId xmlns:a16="http://schemas.microsoft.com/office/drawing/2014/main" id="{9E9BF954-3EBF-9244-AF09-3131ECD5B9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C4887DC-B2E8-FC45-A041-647FCAC27CF3}"/>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6" name="Fußzeilenplatzhalter 5">
            <a:extLst>
              <a:ext uri="{FF2B5EF4-FFF2-40B4-BE49-F238E27FC236}">
                <a16:creationId xmlns:a16="http://schemas.microsoft.com/office/drawing/2014/main" id="{25E5F441-A168-FD48-AE86-3C6D86551412}"/>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9D64FFCE-5CF9-B84B-B4CA-C77D6FE1AA32}"/>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693161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C92DB-F4BA-414E-AE9C-C93BFCDEF615}"/>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Bildplatzhalter 2">
            <a:extLst>
              <a:ext uri="{FF2B5EF4-FFF2-40B4-BE49-F238E27FC236}">
                <a16:creationId xmlns:a16="http://schemas.microsoft.com/office/drawing/2014/main" id="{D24FC7E5-5DBD-EF41-BCEE-E3DA20DAE7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platzhalter 3">
            <a:extLst>
              <a:ext uri="{FF2B5EF4-FFF2-40B4-BE49-F238E27FC236}">
                <a16:creationId xmlns:a16="http://schemas.microsoft.com/office/drawing/2014/main" id="{2AE90FA8-E510-9E46-894F-D269A56291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910E4A1-0B1A-274C-92E3-D9C3B87BA0C8}"/>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6" name="Fußzeilenplatzhalter 5">
            <a:extLst>
              <a:ext uri="{FF2B5EF4-FFF2-40B4-BE49-F238E27FC236}">
                <a16:creationId xmlns:a16="http://schemas.microsoft.com/office/drawing/2014/main" id="{8CEC4F6E-E61D-4342-BA38-60773FA93D2F}"/>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FB49BFC6-4219-EB49-8605-55DE48882916}"/>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2471627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EAD737-FF2D-984A-8C7F-9DFF6BB3BBAC}"/>
              </a:ext>
            </a:extLst>
          </p:cNvPr>
          <p:cNvSpPr>
            <a:spLocks noGrp="1"/>
          </p:cNvSpPr>
          <p:nvPr>
            <p:ph type="title"/>
          </p:nvPr>
        </p:nvSpPr>
        <p:spPr/>
        <p:txBody>
          <a:bodyPr/>
          <a:lstStyle/>
          <a:p>
            <a:r>
              <a:rPr lang="de-DE"/>
              <a:t>Mastertitelformat bearbeiten</a:t>
            </a:r>
            <a:endParaRPr lang="en-GB"/>
          </a:p>
        </p:txBody>
      </p:sp>
      <p:sp>
        <p:nvSpPr>
          <p:cNvPr id="3" name="Vertikaler Textplatzhalter 2">
            <a:extLst>
              <a:ext uri="{FF2B5EF4-FFF2-40B4-BE49-F238E27FC236}">
                <a16:creationId xmlns:a16="http://schemas.microsoft.com/office/drawing/2014/main" id="{C714A6B3-A7EF-F640-B832-512C267DC54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56389ACF-C746-5C49-8775-1FB49E264F33}"/>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76F603C3-2FB0-6542-A32D-16C9FDCB6A02}"/>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A00B122D-82EB-D34E-AB3C-16E64F25CD67}"/>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3014942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0BB54727-7FEE-1C44-A4FF-09128F845227}"/>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GB"/>
          </a:p>
        </p:txBody>
      </p:sp>
      <p:sp>
        <p:nvSpPr>
          <p:cNvPr id="3" name="Vertikaler Textplatzhalter 2">
            <a:extLst>
              <a:ext uri="{FF2B5EF4-FFF2-40B4-BE49-F238E27FC236}">
                <a16:creationId xmlns:a16="http://schemas.microsoft.com/office/drawing/2014/main" id="{6115CF9A-7BDE-8645-BA3D-F2CCB0182F13}"/>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0B794F2A-1080-BC4A-99DE-6D06A1369254}"/>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F66EC122-3A70-3149-A1BA-AEE0E1A3C88F}"/>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3ECBB952-CD30-8A4C-9B4A-2A696E636144}"/>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3524642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433FAB1-B3EB-434B-8AE4-6AB217681E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GB"/>
          </a:p>
        </p:txBody>
      </p:sp>
      <p:sp>
        <p:nvSpPr>
          <p:cNvPr id="3" name="Textplatzhalter 2">
            <a:extLst>
              <a:ext uri="{FF2B5EF4-FFF2-40B4-BE49-F238E27FC236}">
                <a16:creationId xmlns:a16="http://schemas.microsoft.com/office/drawing/2014/main" id="{A25387BB-C722-ED4E-90A9-68EDA52080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67896615-961B-2447-BBED-1B615BB321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5B46B654-A97B-9D4D-A79D-B3E57990EB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Foliennummernplatzhalter 5">
            <a:extLst>
              <a:ext uri="{FF2B5EF4-FFF2-40B4-BE49-F238E27FC236}">
                <a16:creationId xmlns:a16="http://schemas.microsoft.com/office/drawing/2014/main" id="{1807CDC4-9DE2-8048-93F9-F33C8BD2A0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8B75CE-81EF-FC48-AF55-BCC6DB0D97C3}" type="slidenum">
              <a:rPr lang="en-GB" smtClean="0"/>
              <a:t>‹Nr.›</a:t>
            </a:fld>
            <a:endParaRPr lang="en-GB"/>
          </a:p>
        </p:txBody>
      </p:sp>
    </p:spTree>
    <p:extLst>
      <p:ext uri="{BB962C8B-B14F-4D97-AF65-F5344CB8AC3E}">
        <p14:creationId xmlns:p14="http://schemas.microsoft.com/office/powerpoint/2010/main" val="1216145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feld 6">
            <a:extLst>
              <a:ext uri="{FF2B5EF4-FFF2-40B4-BE49-F238E27FC236}">
                <a16:creationId xmlns:a16="http://schemas.microsoft.com/office/drawing/2014/main" id="{45CFADC5-B8EE-814B-A8EC-C2E7095DEAC9}"/>
              </a:ext>
            </a:extLst>
          </p:cNvPr>
          <p:cNvSpPr txBox="1"/>
          <p:nvPr/>
        </p:nvSpPr>
        <p:spPr>
          <a:xfrm>
            <a:off x="415881" y="657455"/>
            <a:ext cx="5378230" cy="369332"/>
          </a:xfrm>
          <a:prstGeom prst="rect">
            <a:avLst/>
          </a:prstGeom>
          <a:solidFill>
            <a:srgbClr val="005AA1"/>
          </a:solidFill>
        </p:spPr>
        <p:txBody>
          <a:bodyPr wrap="square" rtlCol="0">
            <a:spAutoFit/>
          </a:bodyPr>
          <a:lstStyle/>
          <a:p>
            <a:pPr algn="ctr"/>
            <a:r>
              <a:rPr lang="en-AU" b="1" dirty="0">
                <a:solidFill>
                  <a:schemeClr val="bg1"/>
                </a:solidFill>
              </a:rPr>
              <a:t>Company</a:t>
            </a:r>
            <a:r>
              <a:rPr lang="de-DE" b="1" dirty="0">
                <a:solidFill>
                  <a:schemeClr val="bg1"/>
                </a:solidFill>
              </a:rPr>
              <a:t> </a:t>
            </a:r>
            <a:r>
              <a:rPr lang="en-AU" b="1" dirty="0">
                <a:solidFill>
                  <a:schemeClr val="bg1"/>
                </a:solidFill>
              </a:rPr>
              <a:t>Description</a:t>
            </a:r>
          </a:p>
        </p:txBody>
      </p:sp>
      <p:sp>
        <p:nvSpPr>
          <p:cNvPr id="11" name="Textfeld 10">
            <a:extLst>
              <a:ext uri="{FF2B5EF4-FFF2-40B4-BE49-F238E27FC236}">
                <a16:creationId xmlns:a16="http://schemas.microsoft.com/office/drawing/2014/main" id="{36CC9BE5-5D6E-714A-AC0B-D49441A50C01}"/>
              </a:ext>
            </a:extLst>
          </p:cNvPr>
          <p:cNvSpPr txBox="1"/>
          <p:nvPr/>
        </p:nvSpPr>
        <p:spPr>
          <a:xfrm>
            <a:off x="415881" y="3698531"/>
            <a:ext cx="5378231" cy="369332"/>
          </a:xfrm>
          <a:prstGeom prst="rect">
            <a:avLst/>
          </a:prstGeom>
          <a:solidFill>
            <a:srgbClr val="005AA1"/>
          </a:solidFill>
        </p:spPr>
        <p:txBody>
          <a:bodyPr wrap="square" rtlCol="0">
            <a:spAutoFit/>
          </a:bodyPr>
          <a:lstStyle/>
          <a:p>
            <a:pPr algn="ctr"/>
            <a:r>
              <a:rPr lang="de-DE" b="1" dirty="0">
                <a:solidFill>
                  <a:schemeClr val="bg1"/>
                </a:solidFill>
              </a:rPr>
              <a:t>Management</a:t>
            </a:r>
          </a:p>
        </p:txBody>
      </p:sp>
      <p:sp>
        <p:nvSpPr>
          <p:cNvPr id="12" name="Textfeld 11">
            <a:extLst>
              <a:ext uri="{FF2B5EF4-FFF2-40B4-BE49-F238E27FC236}">
                <a16:creationId xmlns:a16="http://schemas.microsoft.com/office/drawing/2014/main" id="{B5AC8A8D-4E43-E643-8C9A-85F6467818F0}"/>
              </a:ext>
            </a:extLst>
          </p:cNvPr>
          <p:cNvSpPr txBox="1"/>
          <p:nvPr/>
        </p:nvSpPr>
        <p:spPr>
          <a:xfrm>
            <a:off x="6397886" y="657455"/>
            <a:ext cx="5513167" cy="369332"/>
          </a:xfrm>
          <a:prstGeom prst="rect">
            <a:avLst/>
          </a:prstGeom>
          <a:solidFill>
            <a:srgbClr val="005AA1"/>
          </a:solidFill>
        </p:spPr>
        <p:txBody>
          <a:bodyPr wrap="square" rtlCol="0">
            <a:spAutoFit/>
          </a:bodyPr>
          <a:lstStyle/>
          <a:p>
            <a:pPr algn="ctr"/>
            <a:r>
              <a:rPr lang="de-DE" b="1" dirty="0">
                <a:solidFill>
                  <a:schemeClr val="bg1"/>
                </a:solidFill>
              </a:rPr>
              <a:t>Key </a:t>
            </a:r>
            <a:r>
              <a:rPr lang="de-DE" b="1" dirty="0" err="1">
                <a:solidFill>
                  <a:schemeClr val="bg1"/>
                </a:solidFill>
              </a:rPr>
              <a:t>Financials</a:t>
            </a:r>
            <a:endParaRPr lang="de-DE" b="1" dirty="0">
              <a:solidFill>
                <a:schemeClr val="bg1"/>
              </a:solidFill>
            </a:endParaRPr>
          </a:p>
        </p:txBody>
      </p:sp>
      <p:sp>
        <p:nvSpPr>
          <p:cNvPr id="13" name="Textfeld 12">
            <a:extLst>
              <a:ext uri="{FF2B5EF4-FFF2-40B4-BE49-F238E27FC236}">
                <a16:creationId xmlns:a16="http://schemas.microsoft.com/office/drawing/2014/main" id="{18A961A7-529B-DD4F-976D-D9A9B05C3596}"/>
              </a:ext>
            </a:extLst>
          </p:cNvPr>
          <p:cNvSpPr txBox="1"/>
          <p:nvPr/>
        </p:nvSpPr>
        <p:spPr>
          <a:xfrm>
            <a:off x="6397889" y="3698531"/>
            <a:ext cx="5513164" cy="369332"/>
          </a:xfrm>
          <a:prstGeom prst="rect">
            <a:avLst/>
          </a:prstGeom>
          <a:solidFill>
            <a:srgbClr val="005AA1"/>
          </a:solidFill>
        </p:spPr>
        <p:txBody>
          <a:bodyPr wrap="square" rtlCol="0">
            <a:spAutoFit/>
          </a:bodyPr>
          <a:lstStyle/>
          <a:p>
            <a:pPr algn="ctr"/>
            <a:r>
              <a:rPr lang="de-DE" b="1" dirty="0">
                <a:solidFill>
                  <a:schemeClr val="bg1"/>
                </a:solidFill>
              </a:rPr>
              <a:t>Shareholdings</a:t>
            </a:r>
          </a:p>
        </p:txBody>
      </p:sp>
      <p:sp>
        <p:nvSpPr>
          <p:cNvPr id="23" name="Textfeld 22">
            <a:extLst>
              <a:ext uri="{FF2B5EF4-FFF2-40B4-BE49-F238E27FC236}">
                <a16:creationId xmlns:a16="http://schemas.microsoft.com/office/drawing/2014/main" id="{B599DC85-957B-8648-AC4B-EAD39F0F2FF1}"/>
              </a:ext>
            </a:extLst>
          </p:cNvPr>
          <p:cNvSpPr txBox="1"/>
          <p:nvPr/>
        </p:nvSpPr>
        <p:spPr>
          <a:xfrm>
            <a:off x="1498255" y="4485570"/>
            <a:ext cx="1796004" cy="523220"/>
          </a:xfrm>
          <a:prstGeom prst="rect">
            <a:avLst/>
          </a:prstGeom>
          <a:noFill/>
        </p:spPr>
        <p:txBody>
          <a:bodyPr wrap="square" rtlCol="0">
            <a:spAutoFit/>
          </a:bodyPr>
          <a:lstStyle/>
          <a:p>
            <a:r>
              <a:rPr lang="en-AU" sz="1400" dirty="0"/>
              <a:t>Dr. Manfred </a:t>
            </a:r>
            <a:r>
              <a:rPr lang="en-AU" sz="1400" dirty="0" err="1"/>
              <a:t>Alflen</a:t>
            </a:r>
            <a:r>
              <a:rPr lang="en-AU" sz="1400" dirty="0"/>
              <a:t>, CEO</a:t>
            </a:r>
          </a:p>
        </p:txBody>
      </p:sp>
      <p:sp>
        <p:nvSpPr>
          <p:cNvPr id="32" name="Textfeld 31">
            <a:extLst>
              <a:ext uri="{FF2B5EF4-FFF2-40B4-BE49-F238E27FC236}">
                <a16:creationId xmlns:a16="http://schemas.microsoft.com/office/drawing/2014/main" id="{2AEA24CE-E056-2440-AB53-84CE902A8BD2}"/>
              </a:ext>
            </a:extLst>
          </p:cNvPr>
          <p:cNvSpPr txBox="1"/>
          <p:nvPr/>
        </p:nvSpPr>
        <p:spPr>
          <a:xfrm>
            <a:off x="1018828" y="5424587"/>
            <a:ext cx="1191091" cy="523220"/>
          </a:xfrm>
          <a:prstGeom prst="rect">
            <a:avLst/>
          </a:prstGeom>
          <a:noFill/>
        </p:spPr>
        <p:txBody>
          <a:bodyPr wrap="square" rtlCol="0">
            <a:spAutoFit/>
          </a:bodyPr>
          <a:lstStyle/>
          <a:p>
            <a:r>
              <a:rPr lang="en-AU" sz="1400" dirty="0"/>
              <a:t>Sabine Fischer, CMO</a:t>
            </a:r>
          </a:p>
        </p:txBody>
      </p:sp>
      <p:sp>
        <p:nvSpPr>
          <p:cNvPr id="50" name="Textfeld 49">
            <a:extLst>
              <a:ext uri="{FF2B5EF4-FFF2-40B4-BE49-F238E27FC236}">
                <a16:creationId xmlns:a16="http://schemas.microsoft.com/office/drawing/2014/main" id="{3E91951F-78B7-8846-8760-9C3374C894CD}"/>
              </a:ext>
            </a:extLst>
          </p:cNvPr>
          <p:cNvSpPr txBox="1"/>
          <p:nvPr/>
        </p:nvSpPr>
        <p:spPr>
          <a:xfrm>
            <a:off x="415880" y="1106237"/>
            <a:ext cx="5378231" cy="2492990"/>
          </a:xfrm>
          <a:prstGeom prst="rect">
            <a:avLst/>
          </a:prstGeom>
          <a:noFill/>
        </p:spPr>
        <p:txBody>
          <a:bodyPr wrap="square" rtlCol="0">
            <a:spAutoFit/>
          </a:bodyPr>
          <a:lstStyle/>
          <a:p>
            <a:pPr marL="285750" indent="-285750">
              <a:buFont typeface="Arial" panose="020B0604020202020204" pitchFamily="34" charset="0"/>
              <a:buChar char="•"/>
            </a:pPr>
            <a:r>
              <a:rPr lang="en-AU" sz="1300" dirty="0"/>
              <a:t>Aareon, founded in 1957 and headquartered in Mainz, Germany, is the leading provider of enterprise resource planning systems for the European real estate sector.. </a:t>
            </a:r>
          </a:p>
          <a:p>
            <a:pPr marL="285750" indent="-285750">
              <a:buFont typeface="Arial" panose="020B0604020202020204" pitchFamily="34" charset="0"/>
              <a:buChar char="•"/>
            </a:pPr>
            <a:r>
              <a:rPr lang="en-AU" sz="1300" dirty="0"/>
              <a:t>In 2020 3.000 customers have bin served, which manage more than 3 Million entities with Aaron products</a:t>
            </a:r>
          </a:p>
          <a:p>
            <a:pPr marL="285750" indent="-285750">
              <a:buFont typeface="Arial" panose="020B0604020202020204" pitchFamily="34" charset="0"/>
              <a:buChar char="•"/>
            </a:pPr>
            <a:r>
              <a:rPr lang="en-AU" sz="1300" dirty="0"/>
              <a:t>Aareon serves customers in the DACH region as well as Finland, France, Great-Britain, the Netherlands and Sweden.</a:t>
            </a:r>
          </a:p>
          <a:p>
            <a:pPr marL="285750" indent="-285750">
              <a:buFont typeface="Arial" panose="020B0604020202020204" pitchFamily="34" charset="0"/>
              <a:buChar char="•"/>
            </a:pPr>
            <a:r>
              <a:rPr lang="en-AU" sz="1300" dirty="0"/>
              <a:t>Aareon currently occupies around 1795 employees of different nationalities and cultures.</a:t>
            </a:r>
          </a:p>
          <a:p>
            <a:pPr marL="285750" indent="-285750">
              <a:buFont typeface="Arial" panose="020B0604020202020204" pitchFamily="34" charset="0"/>
              <a:buChar char="•"/>
            </a:pPr>
            <a:r>
              <a:rPr lang="en-AU" sz="1300" dirty="0"/>
              <a:t>Recent M&amp;A: Aareal Bank AG sold a minority stake (30%) of Aareon to the PE-Fund Advent International in August 2020. The Partnership with Advent hopes to boost growth trough a Value Creation Program.</a:t>
            </a:r>
          </a:p>
        </p:txBody>
      </p:sp>
      <p:sp>
        <p:nvSpPr>
          <p:cNvPr id="2" name="Textfeld 1">
            <a:extLst>
              <a:ext uri="{FF2B5EF4-FFF2-40B4-BE49-F238E27FC236}">
                <a16:creationId xmlns:a16="http://schemas.microsoft.com/office/drawing/2014/main" id="{3D14CC5A-9451-0243-8F18-AD303D85CBF3}"/>
              </a:ext>
            </a:extLst>
          </p:cNvPr>
          <p:cNvSpPr txBox="1"/>
          <p:nvPr/>
        </p:nvSpPr>
        <p:spPr>
          <a:xfrm>
            <a:off x="360458" y="29766"/>
            <a:ext cx="4343990" cy="523220"/>
          </a:xfrm>
          <a:prstGeom prst="rect">
            <a:avLst/>
          </a:prstGeom>
          <a:noFill/>
        </p:spPr>
        <p:txBody>
          <a:bodyPr wrap="square" rtlCol="0">
            <a:spAutoFit/>
          </a:bodyPr>
          <a:lstStyle/>
          <a:p>
            <a:r>
              <a:rPr lang="en-GB" sz="2800" b="1" dirty="0">
                <a:solidFill>
                  <a:srgbClr val="005AA1"/>
                </a:solidFill>
              </a:rPr>
              <a:t>Company Profile Aareon</a:t>
            </a:r>
          </a:p>
        </p:txBody>
      </p:sp>
      <p:sp>
        <p:nvSpPr>
          <p:cNvPr id="10" name="Textfeld 9">
            <a:extLst>
              <a:ext uri="{FF2B5EF4-FFF2-40B4-BE49-F238E27FC236}">
                <a16:creationId xmlns:a16="http://schemas.microsoft.com/office/drawing/2014/main" id="{8DA5695B-1856-6641-BB15-F162D8058A53}"/>
              </a:ext>
            </a:extLst>
          </p:cNvPr>
          <p:cNvSpPr txBox="1"/>
          <p:nvPr/>
        </p:nvSpPr>
        <p:spPr>
          <a:xfrm>
            <a:off x="42197" y="6197891"/>
            <a:ext cx="6125596" cy="646331"/>
          </a:xfrm>
          <a:prstGeom prst="rect">
            <a:avLst/>
          </a:prstGeom>
          <a:noFill/>
        </p:spPr>
        <p:txBody>
          <a:bodyPr wrap="square" rtlCol="0">
            <a:spAutoFit/>
          </a:bodyPr>
          <a:lstStyle/>
          <a:p>
            <a:r>
              <a:rPr lang="en-GB" sz="1200" dirty="0"/>
              <a:t>Sources: </a:t>
            </a:r>
          </a:p>
          <a:p>
            <a:r>
              <a:rPr lang="en-GB" sz="1200" dirty="0"/>
              <a:t>Management: Annual Report 2020 page 17</a:t>
            </a:r>
          </a:p>
          <a:p>
            <a:r>
              <a:rPr lang="en-GB" sz="1200" dirty="0"/>
              <a:t>Company description: Annual Report 2020 page 6</a:t>
            </a:r>
          </a:p>
        </p:txBody>
      </p:sp>
      <p:pic>
        <p:nvPicPr>
          <p:cNvPr id="17" name="Grafik 16" descr="Ein Bild, das Person, Mann, Anzug, stehend enthält.&#10;&#10;Automatisch generierte Beschreibung">
            <a:extLst>
              <a:ext uri="{FF2B5EF4-FFF2-40B4-BE49-F238E27FC236}">
                <a16:creationId xmlns:a16="http://schemas.microsoft.com/office/drawing/2014/main" id="{CD21BCC0-EFD1-484E-B90E-95459863B5CA}"/>
              </a:ext>
            </a:extLst>
          </p:cNvPr>
          <p:cNvPicPr>
            <a:picLocks noChangeAspect="1"/>
          </p:cNvPicPr>
          <p:nvPr/>
        </p:nvPicPr>
        <p:blipFill rotWithShape="1">
          <a:blip r:embed="rId3"/>
          <a:srcRect l="9194" t="3142" r="23916" b="20835"/>
          <a:stretch/>
        </p:blipFill>
        <p:spPr>
          <a:xfrm>
            <a:off x="524012" y="4291915"/>
            <a:ext cx="833690" cy="835896"/>
          </a:xfrm>
          <a:prstGeom prst="ellipse">
            <a:avLst/>
          </a:prstGeom>
        </p:spPr>
      </p:pic>
      <p:pic>
        <p:nvPicPr>
          <p:cNvPr id="19" name="Grafik 18" descr="Ein Bild, das Person, Wand, drinnen enthält.&#10;&#10;Automatisch generierte Beschreibung">
            <a:extLst>
              <a:ext uri="{FF2B5EF4-FFF2-40B4-BE49-F238E27FC236}">
                <a16:creationId xmlns:a16="http://schemas.microsoft.com/office/drawing/2014/main" id="{C733E37A-5941-6D40-AF01-6AD436ADE736}"/>
              </a:ext>
            </a:extLst>
          </p:cNvPr>
          <p:cNvPicPr>
            <a:picLocks noChangeAspect="1"/>
          </p:cNvPicPr>
          <p:nvPr/>
        </p:nvPicPr>
        <p:blipFill rotWithShape="1">
          <a:blip r:embed="rId4"/>
          <a:srcRect l="15298" t="4037" r="18027" b="19940"/>
          <a:stretch/>
        </p:blipFill>
        <p:spPr>
          <a:xfrm>
            <a:off x="172086" y="5266639"/>
            <a:ext cx="837268" cy="838972"/>
          </a:xfrm>
          <a:prstGeom prst="ellipse">
            <a:avLst/>
          </a:prstGeom>
        </p:spPr>
      </p:pic>
      <p:pic>
        <p:nvPicPr>
          <p:cNvPr id="24" name="Grafik 23" descr="Ein Bild, das Person, Mann, Anzug, Kleidung enthält.&#10;&#10;Automatisch generierte Beschreibung">
            <a:extLst>
              <a:ext uri="{FF2B5EF4-FFF2-40B4-BE49-F238E27FC236}">
                <a16:creationId xmlns:a16="http://schemas.microsoft.com/office/drawing/2014/main" id="{13EDEE67-A909-C741-BA70-E4DB5BB966E3}"/>
              </a:ext>
            </a:extLst>
          </p:cNvPr>
          <p:cNvPicPr>
            <a:picLocks noChangeAspect="1"/>
          </p:cNvPicPr>
          <p:nvPr/>
        </p:nvPicPr>
        <p:blipFill rotWithShape="1">
          <a:blip r:embed="rId5"/>
          <a:srcRect l="10248" t="4957" r="13823" b="15186"/>
          <a:stretch/>
        </p:blipFill>
        <p:spPr>
          <a:xfrm>
            <a:off x="4105618" y="5231207"/>
            <a:ext cx="833689" cy="834824"/>
          </a:xfrm>
          <a:prstGeom prst="ellipse">
            <a:avLst/>
          </a:prstGeom>
        </p:spPr>
      </p:pic>
      <p:sp>
        <p:nvSpPr>
          <p:cNvPr id="46" name="Textfeld 45">
            <a:extLst>
              <a:ext uri="{FF2B5EF4-FFF2-40B4-BE49-F238E27FC236}">
                <a16:creationId xmlns:a16="http://schemas.microsoft.com/office/drawing/2014/main" id="{5F3728A8-1A0E-EB48-9063-5C53396F5817}"/>
              </a:ext>
            </a:extLst>
          </p:cNvPr>
          <p:cNvSpPr txBox="1"/>
          <p:nvPr/>
        </p:nvSpPr>
        <p:spPr>
          <a:xfrm>
            <a:off x="4891599" y="5407969"/>
            <a:ext cx="1348332" cy="523220"/>
          </a:xfrm>
          <a:prstGeom prst="rect">
            <a:avLst/>
          </a:prstGeom>
          <a:noFill/>
        </p:spPr>
        <p:txBody>
          <a:bodyPr wrap="square" rtlCol="0">
            <a:spAutoFit/>
          </a:bodyPr>
          <a:lstStyle/>
          <a:p>
            <a:r>
              <a:rPr lang="en-AU" sz="1400" dirty="0"/>
              <a:t>Dr. André </a:t>
            </a:r>
            <a:r>
              <a:rPr lang="en-AU" sz="1400" dirty="0" err="1"/>
              <a:t>Rasquin</a:t>
            </a:r>
            <a:r>
              <a:rPr lang="en-AU" sz="1400" dirty="0"/>
              <a:t>, COO</a:t>
            </a:r>
          </a:p>
        </p:txBody>
      </p:sp>
      <p:pic>
        <p:nvPicPr>
          <p:cNvPr id="33" name="Grafik 32" descr="Ein Bild, das Person, Anzug, Mann, stehend enthält.&#10;&#10;Automatisch generierte Beschreibung">
            <a:extLst>
              <a:ext uri="{FF2B5EF4-FFF2-40B4-BE49-F238E27FC236}">
                <a16:creationId xmlns:a16="http://schemas.microsoft.com/office/drawing/2014/main" id="{59B44256-2595-7442-B0F6-047350720EBC}"/>
              </a:ext>
            </a:extLst>
          </p:cNvPr>
          <p:cNvPicPr>
            <a:picLocks noChangeAspect="1"/>
          </p:cNvPicPr>
          <p:nvPr/>
        </p:nvPicPr>
        <p:blipFill rotWithShape="1">
          <a:blip r:embed="rId6"/>
          <a:srcRect l="16542" t="8234" r="22205" b="23175"/>
          <a:stretch/>
        </p:blipFill>
        <p:spPr>
          <a:xfrm>
            <a:off x="2137897" y="5287585"/>
            <a:ext cx="834813" cy="831366"/>
          </a:xfrm>
          <a:prstGeom prst="ellipse">
            <a:avLst/>
          </a:prstGeom>
        </p:spPr>
      </p:pic>
      <p:sp>
        <p:nvSpPr>
          <p:cNvPr id="47" name="Textfeld 46">
            <a:extLst>
              <a:ext uri="{FF2B5EF4-FFF2-40B4-BE49-F238E27FC236}">
                <a16:creationId xmlns:a16="http://schemas.microsoft.com/office/drawing/2014/main" id="{19221FEB-701D-804C-936A-242DDCEC257E}"/>
              </a:ext>
            </a:extLst>
          </p:cNvPr>
          <p:cNvSpPr txBox="1"/>
          <p:nvPr/>
        </p:nvSpPr>
        <p:spPr>
          <a:xfrm>
            <a:off x="3040208" y="5424515"/>
            <a:ext cx="1644235" cy="523220"/>
          </a:xfrm>
          <a:prstGeom prst="rect">
            <a:avLst/>
          </a:prstGeom>
          <a:noFill/>
        </p:spPr>
        <p:txBody>
          <a:bodyPr wrap="square" rtlCol="0">
            <a:spAutoFit/>
          </a:bodyPr>
          <a:lstStyle/>
          <a:p>
            <a:r>
              <a:rPr lang="en-AU" sz="1400" dirty="0"/>
              <a:t>Christian M. </a:t>
            </a:r>
            <a:r>
              <a:rPr lang="en-AU" sz="1400" dirty="0" err="1"/>
              <a:t>Schmahl</a:t>
            </a:r>
            <a:r>
              <a:rPr lang="en-AU" sz="1400" dirty="0"/>
              <a:t>, CFO</a:t>
            </a:r>
          </a:p>
        </p:txBody>
      </p:sp>
      <p:pic>
        <p:nvPicPr>
          <p:cNvPr id="36" name="Grafik 35" descr="Ein Bild, das Person, Mann, Anzug, alt enthält.&#10;&#10;Automatisch generierte Beschreibung">
            <a:extLst>
              <a:ext uri="{FF2B5EF4-FFF2-40B4-BE49-F238E27FC236}">
                <a16:creationId xmlns:a16="http://schemas.microsoft.com/office/drawing/2014/main" id="{8BF35884-67A3-EC47-8C70-A542DB60373D}"/>
              </a:ext>
            </a:extLst>
          </p:cNvPr>
          <p:cNvPicPr>
            <a:picLocks noChangeAspect="1"/>
          </p:cNvPicPr>
          <p:nvPr/>
        </p:nvPicPr>
        <p:blipFill rotWithShape="1">
          <a:blip r:embed="rId7"/>
          <a:srcRect l="18805" t="6411" r="21473" b="26059"/>
          <a:stretch/>
        </p:blipFill>
        <p:spPr>
          <a:xfrm>
            <a:off x="3148975" y="4206775"/>
            <a:ext cx="833131" cy="831366"/>
          </a:xfrm>
          <a:prstGeom prst="ellipse">
            <a:avLst/>
          </a:prstGeom>
        </p:spPr>
      </p:pic>
      <p:sp>
        <p:nvSpPr>
          <p:cNvPr id="49" name="Textfeld 48">
            <a:extLst>
              <a:ext uri="{FF2B5EF4-FFF2-40B4-BE49-F238E27FC236}">
                <a16:creationId xmlns:a16="http://schemas.microsoft.com/office/drawing/2014/main" id="{657B8507-58C6-294D-B0B1-DEC0BD45A1F7}"/>
              </a:ext>
            </a:extLst>
          </p:cNvPr>
          <p:cNvSpPr txBox="1"/>
          <p:nvPr/>
        </p:nvSpPr>
        <p:spPr>
          <a:xfrm>
            <a:off x="4075600" y="4332832"/>
            <a:ext cx="1796004" cy="738664"/>
          </a:xfrm>
          <a:prstGeom prst="rect">
            <a:avLst/>
          </a:prstGeom>
          <a:noFill/>
        </p:spPr>
        <p:txBody>
          <a:bodyPr wrap="square" rtlCol="0">
            <a:spAutoFit/>
          </a:bodyPr>
          <a:lstStyle/>
          <a:p>
            <a:r>
              <a:rPr lang="en-AU" sz="1400" dirty="0"/>
              <a:t>Dr. Imad Abdallah, Chief Digital and Venture Officer</a:t>
            </a:r>
          </a:p>
        </p:txBody>
      </p:sp>
      <p:pic>
        <p:nvPicPr>
          <p:cNvPr id="55" name="Grafik 54" descr="Ein Bild, das Text enthält.&#10;&#10;Automatisch generierte Beschreibung">
            <a:extLst>
              <a:ext uri="{FF2B5EF4-FFF2-40B4-BE49-F238E27FC236}">
                <a16:creationId xmlns:a16="http://schemas.microsoft.com/office/drawing/2014/main" id="{DD1F91B6-B82A-8249-B493-A85B9B1C5907}"/>
              </a:ext>
            </a:extLst>
          </p:cNvPr>
          <p:cNvPicPr>
            <a:picLocks noChangeAspect="1"/>
          </p:cNvPicPr>
          <p:nvPr/>
        </p:nvPicPr>
        <p:blipFill>
          <a:blip r:embed="rId8"/>
          <a:stretch>
            <a:fillRect/>
          </a:stretch>
        </p:blipFill>
        <p:spPr>
          <a:xfrm>
            <a:off x="9618957" y="0"/>
            <a:ext cx="2292096" cy="610629"/>
          </a:xfrm>
          <a:prstGeom prst="rect">
            <a:avLst/>
          </a:prstGeom>
        </p:spPr>
      </p:pic>
      <p:pic>
        <p:nvPicPr>
          <p:cNvPr id="57" name="Grafik 56">
            <a:extLst>
              <a:ext uri="{FF2B5EF4-FFF2-40B4-BE49-F238E27FC236}">
                <a16:creationId xmlns:a16="http://schemas.microsoft.com/office/drawing/2014/main" id="{911793AD-D2D6-584B-9614-135A99E1B0A0}"/>
              </a:ext>
            </a:extLst>
          </p:cNvPr>
          <p:cNvPicPr>
            <a:picLocks noChangeAspect="1"/>
          </p:cNvPicPr>
          <p:nvPr/>
        </p:nvPicPr>
        <p:blipFill>
          <a:blip r:embed="rId9"/>
          <a:stretch>
            <a:fillRect/>
          </a:stretch>
        </p:blipFill>
        <p:spPr>
          <a:xfrm>
            <a:off x="6865525" y="1061004"/>
            <a:ext cx="4787503" cy="2592294"/>
          </a:xfrm>
          <a:prstGeom prst="rect">
            <a:avLst/>
          </a:prstGeom>
        </p:spPr>
      </p:pic>
      <p:pic>
        <p:nvPicPr>
          <p:cNvPr id="62" name="Grafik 61">
            <a:extLst>
              <a:ext uri="{FF2B5EF4-FFF2-40B4-BE49-F238E27FC236}">
                <a16:creationId xmlns:a16="http://schemas.microsoft.com/office/drawing/2014/main" id="{8AE9D26A-1203-C84D-B9B6-8C74C73E64F2}"/>
              </a:ext>
            </a:extLst>
          </p:cNvPr>
          <p:cNvPicPr>
            <a:picLocks noChangeAspect="1"/>
          </p:cNvPicPr>
          <p:nvPr/>
        </p:nvPicPr>
        <p:blipFill>
          <a:blip r:embed="rId10"/>
          <a:stretch>
            <a:fillRect/>
          </a:stretch>
        </p:blipFill>
        <p:spPr>
          <a:xfrm>
            <a:off x="7494040" y="4094276"/>
            <a:ext cx="3766624" cy="2264148"/>
          </a:xfrm>
          <a:prstGeom prst="rect">
            <a:avLst/>
          </a:prstGeom>
        </p:spPr>
      </p:pic>
      <p:sp>
        <p:nvSpPr>
          <p:cNvPr id="63" name="Textfeld 62">
            <a:extLst>
              <a:ext uri="{FF2B5EF4-FFF2-40B4-BE49-F238E27FC236}">
                <a16:creationId xmlns:a16="http://schemas.microsoft.com/office/drawing/2014/main" id="{30ADF0F3-B468-804A-A15E-F1979822A87B}"/>
              </a:ext>
            </a:extLst>
          </p:cNvPr>
          <p:cNvSpPr txBox="1"/>
          <p:nvPr/>
        </p:nvSpPr>
        <p:spPr>
          <a:xfrm>
            <a:off x="6397886" y="6203992"/>
            <a:ext cx="6125596" cy="646331"/>
          </a:xfrm>
          <a:prstGeom prst="rect">
            <a:avLst/>
          </a:prstGeom>
          <a:noFill/>
        </p:spPr>
        <p:txBody>
          <a:bodyPr wrap="square" rtlCol="0">
            <a:spAutoFit/>
          </a:bodyPr>
          <a:lstStyle/>
          <a:p>
            <a:r>
              <a:rPr lang="en-GB" sz="1200" dirty="0"/>
              <a:t>Sources: </a:t>
            </a:r>
          </a:p>
          <a:p>
            <a:r>
              <a:rPr lang="en-GB" sz="1200" dirty="0"/>
              <a:t>Key Financials: Annual Report page 4</a:t>
            </a:r>
          </a:p>
          <a:p>
            <a:r>
              <a:rPr lang="en-GB" sz="1200" dirty="0"/>
              <a:t>Shareholdings: </a:t>
            </a:r>
            <a:r>
              <a:rPr lang="en-GB" sz="1200" dirty="0" err="1"/>
              <a:t>Aareal</a:t>
            </a:r>
            <a:r>
              <a:rPr lang="en-GB" sz="1200" dirty="0"/>
              <a:t> Homepage: https://</a:t>
            </a:r>
            <a:r>
              <a:rPr lang="en-GB" sz="1200" dirty="0" err="1"/>
              <a:t>www.aareon.com</a:t>
            </a:r>
            <a:r>
              <a:rPr lang="en-GB" sz="1200" dirty="0"/>
              <a:t>/</a:t>
            </a:r>
            <a:r>
              <a:rPr lang="en-GB" sz="1200" dirty="0" err="1"/>
              <a:t>sixcms</a:t>
            </a:r>
            <a:r>
              <a:rPr lang="en-GB" sz="1200" dirty="0"/>
              <a:t>/</a:t>
            </a:r>
            <a:r>
              <a:rPr lang="en-GB" sz="1200" dirty="0" err="1"/>
              <a:t>detail.php</a:t>
            </a:r>
            <a:r>
              <a:rPr lang="en-GB" sz="1200" dirty="0"/>
              <a:t>/141023</a:t>
            </a:r>
          </a:p>
        </p:txBody>
      </p:sp>
    </p:spTree>
    <p:extLst>
      <p:ext uri="{BB962C8B-B14F-4D97-AF65-F5344CB8AC3E}">
        <p14:creationId xmlns:p14="http://schemas.microsoft.com/office/powerpoint/2010/main" val="751919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D4079F5D-8F51-DF49-BA1E-1F0DCD1CACE1}"/>
              </a:ext>
            </a:extLst>
          </p:cNvPr>
          <p:cNvSpPr txBox="1"/>
          <p:nvPr/>
        </p:nvSpPr>
        <p:spPr>
          <a:xfrm>
            <a:off x="386718" y="161424"/>
            <a:ext cx="1529302" cy="523220"/>
          </a:xfrm>
          <a:prstGeom prst="rect">
            <a:avLst/>
          </a:prstGeom>
          <a:noFill/>
        </p:spPr>
        <p:txBody>
          <a:bodyPr wrap="square" rtlCol="0">
            <a:spAutoFit/>
          </a:bodyPr>
          <a:lstStyle/>
          <a:p>
            <a:r>
              <a:rPr lang="en-GB" sz="2800" b="1" dirty="0">
                <a:solidFill>
                  <a:srgbClr val="002769"/>
                </a:solidFill>
              </a:rPr>
              <a:t>Product</a:t>
            </a:r>
          </a:p>
        </p:txBody>
      </p:sp>
      <p:pic>
        <p:nvPicPr>
          <p:cNvPr id="6" name="Grafik 5">
            <a:extLst>
              <a:ext uri="{FF2B5EF4-FFF2-40B4-BE49-F238E27FC236}">
                <a16:creationId xmlns:a16="http://schemas.microsoft.com/office/drawing/2014/main" id="{0C7242BF-E1DF-A448-9984-C1614399B3BB}"/>
              </a:ext>
            </a:extLst>
          </p:cNvPr>
          <p:cNvPicPr>
            <a:picLocks noChangeAspect="1"/>
          </p:cNvPicPr>
          <p:nvPr/>
        </p:nvPicPr>
        <p:blipFill rotWithShape="1">
          <a:blip r:embed="rId2"/>
          <a:srcRect l="3264" r="5999"/>
          <a:stretch/>
        </p:blipFill>
        <p:spPr>
          <a:xfrm>
            <a:off x="386718" y="900662"/>
            <a:ext cx="6325212" cy="5637374"/>
          </a:xfrm>
          <a:prstGeom prst="roundRect">
            <a:avLst/>
          </a:prstGeom>
        </p:spPr>
      </p:pic>
      <p:sp>
        <p:nvSpPr>
          <p:cNvPr id="7" name="Textfeld 6">
            <a:extLst>
              <a:ext uri="{FF2B5EF4-FFF2-40B4-BE49-F238E27FC236}">
                <a16:creationId xmlns:a16="http://schemas.microsoft.com/office/drawing/2014/main" id="{CEEA1764-306E-F446-8B7D-C6EBE86254A1}"/>
              </a:ext>
            </a:extLst>
          </p:cNvPr>
          <p:cNvSpPr txBox="1"/>
          <p:nvPr/>
        </p:nvSpPr>
        <p:spPr>
          <a:xfrm>
            <a:off x="6990823" y="2527193"/>
            <a:ext cx="5201177" cy="2062103"/>
          </a:xfrm>
          <a:prstGeom prst="rect">
            <a:avLst/>
          </a:prstGeom>
          <a:noFill/>
        </p:spPr>
        <p:txBody>
          <a:bodyPr wrap="square" rtlCol="0">
            <a:spAutoFit/>
          </a:bodyPr>
          <a:lstStyle/>
          <a:p>
            <a:r>
              <a:rPr lang="en-GB" sz="1600" dirty="0"/>
              <a:t>Aareon Smart World, a digital ecosystem enables property companies and their employees to link up with customers and business partners. It interconnects technical devices, both individual apartments and entire buildings. It also allows processes to be redesigned and optimised. Aareon Smart World adds value by lowering costs, creating new business models and facilitating the dialogue between customers and property-industry employees.</a:t>
            </a:r>
          </a:p>
        </p:txBody>
      </p:sp>
      <p:sp>
        <p:nvSpPr>
          <p:cNvPr id="8" name="Textfeld 7">
            <a:extLst>
              <a:ext uri="{FF2B5EF4-FFF2-40B4-BE49-F238E27FC236}">
                <a16:creationId xmlns:a16="http://schemas.microsoft.com/office/drawing/2014/main" id="{630B5AAA-024A-1047-8522-6BB895606084}"/>
              </a:ext>
            </a:extLst>
          </p:cNvPr>
          <p:cNvSpPr txBox="1"/>
          <p:nvPr/>
        </p:nvSpPr>
        <p:spPr>
          <a:xfrm>
            <a:off x="6990822" y="2157861"/>
            <a:ext cx="2329023" cy="369332"/>
          </a:xfrm>
          <a:prstGeom prst="rect">
            <a:avLst/>
          </a:prstGeom>
          <a:noFill/>
        </p:spPr>
        <p:txBody>
          <a:bodyPr wrap="square" rtlCol="0">
            <a:spAutoFit/>
          </a:bodyPr>
          <a:lstStyle/>
          <a:p>
            <a:r>
              <a:rPr lang="en-GB" b="1" dirty="0">
                <a:solidFill>
                  <a:srgbClr val="002769"/>
                </a:solidFill>
              </a:rPr>
              <a:t>Aareon Smart World</a:t>
            </a:r>
          </a:p>
        </p:txBody>
      </p:sp>
      <p:sp>
        <p:nvSpPr>
          <p:cNvPr id="9" name="Textfeld 8">
            <a:extLst>
              <a:ext uri="{FF2B5EF4-FFF2-40B4-BE49-F238E27FC236}">
                <a16:creationId xmlns:a16="http://schemas.microsoft.com/office/drawing/2014/main" id="{99EA4FA0-CB1F-2647-8909-0AC805215A5F}"/>
              </a:ext>
            </a:extLst>
          </p:cNvPr>
          <p:cNvSpPr txBox="1"/>
          <p:nvPr/>
        </p:nvSpPr>
        <p:spPr>
          <a:xfrm>
            <a:off x="10097227" y="6307204"/>
            <a:ext cx="3322326" cy="461665"/>
          </a:xfrm>
          <a:prstGeom prst="rect">
            <a:avLst/>
          </a:prstGeom>
          <a:noFill/>
        </p:spPr>
        <p:txBody>
          <a:bodyPr wrap="square" rtlCol="0">
            <a:spAutoFit/>
          </a:bodyPr>
          <a:lstStyle/>
          <a:p>
            <a:r>
              <a:rPr lang="en-GB" sz="1200" dirty="0"/>
              <a:t>Source:</a:t>
            </a:r>
          </a:p>
          <a:p>
            <a:r>
              <a:rPr lang="en-GB" sz="1200" dirty="0"/>
              <a:t>Annual Report 2020, page 7</a:t>
            </a:r>
          </a:p>
        </p:txBody>
      </p:sp>
    </p:spTree>
    <p:extLst>
      <p:ext uri="{BB962C8B-B14F-4D97-AF65-F5344CB8AC3E}">
        <p14:creationId xmlns:p14="http://schemas.microsoft.com/office/powerpoint/2010/main" val="405405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24CF6105-7691-AA45-8A73-3A017FBD8380}"/>
              </a:ext>
            </a:extLst>
          </p:cNvPr>
          <p:cNvSpPr txBox="1"/>
          <p:nvPr/>
        </p:nvSpPr>
        <p:spPr>
          <a:xfrm>
            <a:off x="386718" y="161424"/>
            <a:ext cx="7033990" cy="523220"/>
          </a:xfrm>
          <a:prstGeom prst="rect">
            <a:avLst/>
          </a:prstGeom>
          <a:noFill/>
        </p:spPr>
        <p:txBody>
          <a:bodyPr wrap="square" rtlCol="0">
            <a:spAutoFit/>
          </a:bodyPr>
          <a:lstStyle/>
          <a:p>
            <a:r>
              <a:rPr lang="en-GB" sz="2800" b="1" dirty="0">
                <a:solidFill>
                  <a:srgbClr val="002769"/>
                </a:solidFill>
              </a:rPr>
              <a:t>General economic and industry environment</a:t>
            </a:r>
          </a:p>
        </p:txBody>
      </p:sp>
    </p:spTree>
    <p:extLst>
      <p:ext uri="{BB962C8B-B14F-4D97-AF65-F5344CB8AC3E}">
        <p14:creationId xmlns:p14="http://schemas.microsoft.com/office/powerpoint/2010/main" val="189958096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335</Words>
  <Application>Microsoft Macintosh PowerPoint</Application>
  <PresentationFormat>Breitbild</PresentationFormat>
  <Paragraphs>33</Paragraphs>
  <Slides>3</Slides>
  <Notes>1</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3</vt:i4>
      </vt:variant>
    </vt:vector>
  </HeadingPairs>
  <TitlesOfParts>
    <vt:vector size="7" baseType="lpstr">
      <vt:lpstr>Arial</vt:lpstr>
      <vt:lpstr>Calibri</vt:lpstr>
      <vt:lpstr>Calibri Light</vt:lpstr>
      <vt:lpstr>Office</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Nicola Peter</dc:creator>
  <cp:lastModifiedBy>Nicola Peter</cp:lastModifiedBy>
  <cp:revision>30</cp:revision>
  <dcterms:created xsi:type="dcterms:W3CDTF">2021-05-07T10:52:08Z</dcterms:created>
  <dcterms:modified xsi:type="dcterms:W3CDTF">2021-05-08T06:24:15Z</dcterms:modified>
</cp:coreProperties>
</file>