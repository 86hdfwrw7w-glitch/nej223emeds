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147472366" r:id="rId2"/>
    <p:sldId id="2147475207" r:id="rId3"/>
    <p:sldId id="2147475211" r:id="rId4"/>
    <p:sldId id="2147475209" r:id="rId5"/>
    <p:sldId id="2147475210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nale Versionen" id="{D474E0BE-0E1A-A64A-9FD9-8A9CC400AF59}">
          <p14:sldIdLst>
            <p14:sldId id="2147472366"/>
            <p14:sldId id="2147475207"/>
            <p14:sldId id="2147475211"/>
          </p14:sldIdLst>
        </p14:section>
        <p14:section name="Backup" id="{13E7218F-E2FE-7143-865F-4C820C1628C8}">
          <p14:sldIdLst>
            <p14:sldId id="2147475209"/>
            <p14:sldId id="214747521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00"/>
    <a:srgbClr val="000000"/>
    <a:srgbClr val="98D9D5"/>
    <a:srgbClr val="E67E22"/>
    <a:srgbClr val="28B1A7"/>
    <a:srgbClr val="19447A"/>
    <a:srgbClr val="409FA6"/>
    <a:srgbClr val="FFFFFF"/>
    <a:srgbClr val="176B86"/>
    <a:srgbClr val="195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B245E-9DAD-AD4F-BAFD-A17DAB1755FC}" v="145" dt="2026-05-04T08:17:52.8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 autoAdjust="0"/>
    <p:restoredTop sz="94857" autoAdjust="0"/>
  </p:normalViewPr>
  <p:slideViewPr>
    <p:cSldViewPr>
      <p:cViewPr varScale="1">
        <p:scale>
          <a:sx n="77" d="100"/>
          <a:sy n="77" d="100"/>
        </p:scale>
        <p:origin x="64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876"/>
    </p:cViewPr>
  </p:sorterViewPr>
  <p:notesViewPr>
    <p:cSldViewPr>
      <p:cViewPr varScale="1">
        <p:scale>
          <a:sx n="91" d="100"/>
          <a:sy n="91" d="100"/>
        </p:scale>
        <p:origin x="392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us Kallenbach" userId="f80dfd91-8767-4d37-9c99-dbda4aad14de" providerId="ADAL" clId="{F54F88C3-1DFE-5464-81FE-85530F49163A}"/>
    <pc:docChg chg="modSld">
      <pc:chgData name="Darius Kallenbach" userId="f80dfd91-8767-4d37-9c99-dbda4aad14de" providerId="ADAL" clId="{F54F88C3-1DFE-5464-81FE-85530F49163A}" dt="2026-05-04T08:28:16.050" v="1" actId="113"/>
      <pc:docMkLst>
        <pc:docMk/>
      </pc:docMkLst>
      <pc:sldChg chg="modSp mod">
        <pc:chgData name="Darius Kallenbach" userId="f80dfd91-8767-4d37-9c99-dbda4aad14de" providerId="ADAL" clId="{F54F88C3-1DFE-5464-81FE-85530F49163A}" dt="2026-05-04T08:28:16.050" v="1" actId="113"/>
        <pc:sldMkLst>
          <pc:docMk/>
          <pc:sldMk cId="2177007200" sldId="2147475211"/>
        </pc:sldMkLst>
        <pc:spChg chg="mod">
          <ac:chgData name="Darius Kallenbach" userId="f80dfd91-8767-4d37-9c99-dbda4aad14de" providerId="ADAL" clId="{F54F88C3-1DFE-5464-81FE-85530F49163A}" dt="2026-05-04T08:28:16.050" v="1" actId="113"/>
          <ac:spMkLst>
            <pc:docMk/>
            <pc:sldMk cId="2177007200" sldId="2147475211"/>
            <ac:spMk id="32" creationId="{F8D31A50-7070-D981-7A9D-6EFF738A637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1E75B1D-C83A-47DC-2435-E40710E80A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314296-7612-7AD9-48BB-107C622CBC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0D75E-8A74-B04D-988F-FBD3BD3D17E0}" type="datetimeFigureOut">
              <a:rPr lang="de-DE" smtClean="0"/>
              <a:t>04.05.26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FBB5C3-D0BD-2CB7-DAD2-1EC10BDFAA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E81C00-3604-F03E-1F8E-45A4C7A56A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01B35-CF2F-0E45-B8BE-809733E7E37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980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A9DF2-70EC-4B96-A053-2561A61F337D}" type="datetimeFigureOut">
              <a:rPr lang="en-US" smtClean="0"/>
              <a:t>5/4/26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88163-CFC1-4ACA-9600-FB08ECAA64C8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73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D06DE6-9792-C027-9577-AFD1237BD9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8860" y="3866701"/>
            <a:ext cx="8091397" cy="17154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4600" b="1"/>
            </a:lvl2pPr>
            <a:lvl3pPr marL="914400" indent="0">
              <a:buFontTx/>
              <a:buNone/>
              <a:defRPr sz="4600" b="1"/>
            </a:lvl3pPr>
            <a:lvl4pPr marL="1371600" indent="0">
              <a:buFontTx/>
              <a:buNone/>
              <a:defRPr sz="4600" b="1"/>
            </a:lvl4pPr>
            <a:lvl5pPr marL="1828800" indent="0">
              <a:buFontTx/>
              <a:buNone/>
              <a:defRPr sz="4600" b="1"/>
            </a:lvl5pPr>
          </a:lstStyle>
          <a:p>
            <a:pPr lvl="0"/>
            <a:r>
              <a:rPr lang="en-US" dirty="0"/>
              <a:t>Presentation Title 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618FCF8D-01B5-E382-DA13-DA3C3EE912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8860" y="6057900"/>
            <a:ext cx="8091397" cy="43860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4600" b="1"/>
            </a:lvl2pPr>
            <a:lvl3pPr marL="914400" indent="0">
              <a:buFontTx/>
              <a:buNone/>
              <a:defRPr sz="4600" b="1"/>
            </a:lvl3pPr>
            <a:lvl4pPr marL="1371600" indent="0">
              <a:buFontTx/>
              <a:buNone/>
              <a:defRPr sz="4600" b="1"/>
            </a:lvl4pPr>
            <a:lvl5pPr marL="1828800" indent="0">
              <a:buFontTx/>
              <a:buNone/>
              <a:defRPr sz="4600" b="1"/>
            </a:lvl5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B335A7-6109-B26B-B9B4-4A350117C7B4}"/>
              </a:ext>
            </a:extLst>
          </p:cNvPr>
          <p:cNvGrpSpPr/>
          <p:nvPr userDrawn="1"/>
        </p:nvGrpSpPr>
        <p:grpSpPr>
          <a:xfrm>
            <a:off x="1" y="0"/>
            <a:ext cx="701674" cy="10287000"/>
            <a:chOff x="1" y="0"/>
            <a:chExt cx="974394" cy="10287000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2ED1CD4F-7C54-9762-2DC4-C4F5F3FA91CE}"/>
                </a:ext>
              </a:extLst>
            </p:cNvPr>
            <p:cNvSpPr/>
            <p:nvPr userDrawn="1"/>
          </p:nvSpPr>
          <p:spPr>
            <a:xfrm>
              <a:off x="649597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48D07B7-AD58-DF23-DDAD-324509531AD6}"/>
                </a:ext>
              </a:extLst>
            </p:cNvPr>
            <p:cNvSpPr/>
            <p:nvPr/>
          </p:nvSpPr>
          <p:spPr>
            <a:xfrm>
              <a:off x="1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1A1AEC32-8D76-B228-34DA-4B63537F4B0E}"/>
                </a:ext>
              </a:extLst>
            </p:cNvPr>
            <p:cNvSpPr/>
            <p:nvPr userDrawn="1"/>
          </p:nvSpPr>
          <p:spPr>
            <a:xfrm>
              <a:off x="324799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3291871F-0CB1-875A-9049-68A6FF376A9F}"/>
              </a:ext>
            </a:extLst>
          </p:cNvPr>
          <p:cNvSpPr/>
          <p:nvPr userDrawn="1"/>
        </p:nvSpPr>
        <p:spPr>
          <a:xfrm rot="16200000">
            <a:off x="13724272" y="4965082"/>
            <a:ext cx="8770621" cy="3568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D06DE6-9792-C027-9577-AFD1237BD9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8860" y="3866701"/>
            <a:ext cx="8091397" cy="17154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4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4600" b="1"/>
            </a:lvl2pPr>
            <a:lvl3pPr marL="914400" indent="0">
              <a:buFontTx/>
              <a:buNone/>
              <a:defRPr sz="4600" b="1"/>
            </a:lvl3pPr>
            <a:lvl4pPr marL="1371600" indent="0">
              <a:buFontTx/>
              <a:buNone/>
              <a:defRPr sz="4600" b="1"/>
            </a:lvl4pPr>
            <a:lvl5pPr marL="1828800" indent="0">
              <a:buFontTx/>
              <a:buNone/>
              <a:defRPr sz="4600" b="1"/>
            </a:lvl5pPr>
          </a:lstStyle>
          <a:p>
            <a:pPr lvl="0"/>
            <a:r>
              <a:rPr lang="en-US" dirty="0"/>
              <a:t>Presentation Title 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618FCF8D-01B5-E382-DA13-DA3C3EE912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8860" y="6057900"/>
            <a:ext cx="8091397" cy="43860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4600" b="1"/>
            </a:lvl2pPr>
            <a:lvl3pPr marL="914400" indent="0">
              <a:buFontTx/>
              <a:buNone/>
              <a:defRPr sz="4600" b="1"/>
            </a:lvl3pPr>
            <a:lvl4pPr marL="1371600" indent="0">
              <a:buFontTx/>
              <a:buNone/>
              <a:defRPr sz="4600" b="1"/>
            </a:lvl4pPr>
            <a:lvl5pPr marL="1828800" indent="0">
              <a:buFontTx/>
              <a:buNone/>
              <a:defRPr sz="4600" b="1"/>
            </a:lvl5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B335A7-6109-B26B-B9B4-4A350117C7B4}"/>
              </a:ext>
            </a:extLst>
          </p:cNvPr>
          <p:cNvGrpSpPr/>
          <p:nvPr userDrawn="1"/>
        </p:nvGrpSpPr>
        <p:grpSpPr>
          <a:xfrm>
            <a:off x="1" y="0"/>
            <a:ext cx="701674" cy="10287000"/>
            <a:chOff x="1" y="0"/>
            <a:chExt cx="974394" cy="10287000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2ED1CD4F-7C54-9762-2DC4-C4F5F3FA91CE}"/>
                </a:ext>
              </a:extLst>
            </p:cNvPr>
            <p:cNvSpPr/>
            <p:nvPr userDrawn="1"/>
          </p:nvSpPr>
          <p:spPr>
            <a:xfrm>
              <a:off x="649597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48D07B7-AD58-DF23-DDAD-324509531AD6}"/>
                </a:ext>
              </a:extLst>
            </p:cNvPr>
            <p:cNvSpPr/>
            <p:nvPr/>
          </p:nvSpPr>
          <p:spPr>
            <a:xfrm>
              <a:off x="1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1A1AEC32-8D76-B228-34DA-4B63537F4B0E}"/>
                </a:ext>
              </a:extLst>
            </p:cNvPr>
            <p:cNvSpPr/>
            <p:nvPr userDrawn="1"/>
          </p:nvSpPr>
          <p:spPr>
            <a:xfrm>
              <a:off x="324799" y="0"/>
              <a:ext cx="324798" cy="10287000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B0A42F-E6A3-CB96-9852-85C86F511AD6}"/>
              </a:ext>
            </a:extLst>
          </p:cNvPr>
          <p:cNvGrpSpPr/>
          <p:nvPr userDrawn="1"/>
        </p:nvGrpSpPr>
        <p:grpSpPr>
          <a:xfrm>
            <a:off x="11692218" y="0"/>
            <a:ext cx="6595782" cy="10287000"/>
            <a:chOff x="7794812" y="0"/>
            <a:chExt cx="4397188" cy="6858000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04244303-0891-69A8-2D9D-161F4AE9C4AF}"/>
                </a:ext>
              </a:extLst>
            </p:cNvPr>
            <p:cNvSpPr/>
            <p:nvPr/>
          </p:nvSpPr>
          <p:spPr>
            <a:xfrm flipH="1">
              <a:off x="7794812" y="1371600"/>
              <a:ext cx="4397188" cy="5486400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AA11CFF-61B1-248D-7099-2F8686DECDAB}"/>
                </a:ext>
              </a:extLst>
            </p:cNvPr>
            <p:cNvSpPr/>
            <p:nvPr/>
          </p:nvSpPr>
          <p:spPr>
            <a:xfrm flipH="1">
              <a:off x="11261904" y="1371600"/>
              <a:ext cx="930096" cy="2407024"/>
            </a:xfrm>
            <a:custGeom>
              <a:avLst/>
              <a:gdLst>
                <a:gd name="connsiteX0" fmla="*/ 0 w 930096"/>
                <a:gd name="connsiteY0" fmla="*/ 0 h 2407024"/>
                <a:gd name="connsiteX1" fmla="*/ 0 w 930096"/>
                <a:gd name="connsiteY1" fmla="*/ 2407024 h 2407024"/>
                <a:gd name="connsiteX2" fmla="*/ 930096 w 930096"/>
                <a:gd name="connsiteY2" fmla="*/ 1160488 h 2407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0096" h="2407024">
                  <a:moveTo>
                    <a:pt x="0" y="0"/>
                  </a:moveTo>
                  <a:lnTo>
                    <a:pt x="0" y="2407024"/>
                  </a:lnTo>
                  <a:lnTo>
                    <a:pt x="930096" y="11604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606BB107-8387-8780-6BFC-A3410E9BB552}"/>
                </a:ext>
              </a:extLst>
            </p:cNvPr>
            <p:cNvSpPr/>
            <p:nvPr/>
          </p:nvSpPr>
          <p:spPr>
            <a:xfrm rot="10800000">
              <a:off x="9838765" y="0"/>
              <a:ext cx="2353235" cy="3778624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333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2299-2EDA-F216-AA02-DD369FDBB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5" y="1889656"/>
            <a:ext cx="16859250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2658FC-21D1-1E4B-64AA-3AB2EE629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5" y="9842895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46788BB-1D23-22D9-73EE-2EE07180E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6360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/3 Chart and 1/3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2299-2EDA-F216-AA02-DD369FDBB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7654" y="1889656"/>
            <a:ext cx="5375970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8B54F4-3212-393D-A934-571F2F7EC9D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4375" y="1889656"/>
            <a:ext cx="11026079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EC380D9-CCBA-E946-D30D-51AEF8C04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5" y="9842895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263ED8C-8FB4-693A-E3A1-585A43ED0E7A}"/>
              </a:ext>
            </a:extLst>
          </p:cNvPr>
          <p:cNvSpPr txBox="1">
            <a:spLocks/>
          </p:cNvSpPr>
          <p:nvPr userDrawn="1"/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46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/2 Chart and 1/2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375" y="317500"/>
            <a:ext cx="16859250" cy="1266827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2299-2EDA-F216-AA02-DD369FDBB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00" y="1889656"/>
            <a:ext cx="8201025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8B54F4-3212-393D-A934-571F2F7EC9D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4375" y="1889656"/>
            <a:ext cx="8201025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871AFE7-4C98-7477-E6E2-D3CE996DD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5" y="9842895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377B84C-E266-4A13-3961-85BBC0918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7707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0B587F4-303C-520B-3A7E-87D837253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42CD094-6FCB-156B-7AB5-61CE3BC3F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2768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9D74F7B4-56BE-27DF-FDAA-A1BCDA9A8F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30550" y="2843450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0C3A3381-05D7-EDB1-879C-6EB643DC2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8479" y="2843450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3D2462CD-6AA5-05E5-182A-40899E86BA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226408" y="2843450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BA0F11DD-391D-B2C8-92A6-95898DED8AA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024336" y="2843450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7" name="Picture Placeholder 13">
            <a:extLst>
              <a:ext uri="{FF2B5EF4-FFF2-40B4-BE49-F238E27FC236}">
                <a16:creationId xmlns:a16="http://schemas.microsoft.com/office/drawing/2014/main" id="{A5B87F88-1840-FD6F-7724-6FBDEB1A57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30550" y="6665325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8" name="Picture Placeholder 13">
            <a:extLst>
              <a:ext uri="{FF2B5EF4-FFF2-40B4-BE49-F238E27FC236}">
                <a16:creationId xmlns:a16="http://schemas.microsoft.com/office/drawing/2014/main" id="{A7D84A63-B331-8622-DDC5-4D5301BF64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28479" y="6665325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77DEBFB9-8C26-FDCE-39F7-E63395BC7EB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26408" y="6665325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44BA52C7-035F-7148-BCE9-2371B4EBE33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024336" y="6665325"/>
            <a:ext cx="1544312" cy="1544312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C64177C-50B0-5278-D00A-F7C9FCE82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CFBA95-4BE7-65B5-2023-82D6FE777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1982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5464D427-2C6E-5D04-E3B7-B54B4CFF37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374" y="1889656"/>
            <a:ext cx="3871912" cy="2675550"/>
          </a:xfrm>
          <a:pattFill prst="pct1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1A55B09E-E458-56A4-BEBD-E3518AA50A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43486" y="1889656"/>
            <a:ext cx="3871912" cy="2675550"/>
          </a:xfrm>
          <a:pattFill prst="pct1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D9712A65-1E55-1AAC-1F49-8686E5090E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72598" y="1889656"/>
            <a:ext cx="3871912" cy="2675550"/>
          </a:xfrm>
          <a:pattFill prst="pct1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138BBE78-D23B-C548-90A3-628D17816A8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701711" y="1889656"/>
            <a:ext cx="3871912" cy="2675550"/>
          </a:xfrm>
          <a:pattFill prst="pct1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B8671A-1C60-BEBF-EE0F-934754752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99467A8-9F7D-4F71-B027-9B1EA70E1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443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*3 Gri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BE1B0A-3EFA-CDCD-ACC1-0E1BD80F6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675" y="2562752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077C04-EE84-814F-7B2F-0CC65C0D53C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14375" y="1889656"/>
            <a:ext cx="5436871" cy="521565"/>
          </a:xfrm>
          <a:solidFill>
            <a:schemeClr val="accent1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93B461-3AC5-965C-0E00-0FEB9D48CE4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25564" y="2562752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D520F5-6EC0-AC8D-1668-71F10795B5C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25564" y="1894624"/>
            <a:ext cx="5436871" cy="521565"/>
          </a:xfrm>
          <a:solidFill>
            <a:schemeClr val="accent2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08B1C77-9500-179A-EE6E-18BD895ED01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2136754" y="2562752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8B7790-3428-1A55-8625-94F1FC2419D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2136754" y="1894624"/>
            <a:ext cx="5436871" cy="521565"/>
          </a:xfrm>
          <a:solidFill>
            <a:schemeClr val="accent3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A4714B2-4ED7-3602-5E04-E68455AC597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01675" y="6362700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916D0D2-1072-1B37-B2A3-E84B806E1C9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14375" y="5689604"/>
            <a:ext cx="5436871" cy="521565"/>
          </a:xfrm>
          <a:solidFill>
            <a:schemeClr val="accent1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9F92FDE-4A52-5B65-C311-BCA14C41BB6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425564" y="6362700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A15F03-CC85-9E5B-73B8-2E73B47E40C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425564" y="5689604"/>
            <a:ext cx="5436871" cy="521565"/>
          </a:xfrm>
          <a:solidFill>
            <a:schemeClr val="accent2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9A53EF9-EA9A-60BD-3F5E-3045DE69141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2136754" y="6362700"/>
            <a:ext cx="5436871" cy="2852532"/>
          </a:xfrm>
        </p:spPr>
        <p:txBody>
          <a:bodyPr lIns="91440" tIns="0" rIns="91440" bIns="0">
            <a:norm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300"/>
              </a:spcBef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9413566-88CF-1923-92B0-48B2B74519A2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2136754" y="5689604"/>
            <a:ext cx="5436871" cy="521565"/>
          </a:xfrm>
          <a:solidFill>
            <a:schemeClr val="accent3"/>
          </a:solidFill>
        </p:spPr>
        <p:txBody>
          <a:bodyPr lIns="91440" tIns="0" rIns="91440" bIns="0" anchor="ctr">
            <a:normAutofit/>
          </a:bodyPr>
          <a:lstStyle>
            <a:lvl1pPr marL="0" indent="0">
              <a:lnSpc>
                <a:spcPct val="100000"/>
              </a:lnSpc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85800" indent="0">
              <a:buFontTx/>
              <a:buNone/>
              <a:defRPr sz="2700">
                <a:solidFill>
                  <a:schemeClr val="tx1"/>
                </a:solidFill>
              </a:defRPr>
            </a:lvl2pPr>
            <a:lvl3pPr marL="1371600" indent="0">
              <a:buFontTx/>
              <a:buNone/>
              <a:defRPr sz="2400">
                <a:solidFill>
                  <a:schemeClr val="tx1"/>
                </a:solidFill>
              </a:defRPr>
            </a:lvl3pPr>
            <a:lvl4pPr marL="2057400" indent="0">
              <a:buFontTx/>
              <a:buNone/>
              <a:defRPr sz="2100">
                <a:solidFill>
                  <a:schemeClr val="tx1"/>
                </a:solidFill>
              </a:defRPr>
            </a:lvl4pPr>
            <a:lvl5pPr marL="2743200" indent="0">
              <a:buFontTx/>
              <a:buNone/>
              <a:defRPr sz="2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  <a:endParaRPr lang="en-IN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C630C9-E80A-4D1B-F684-96137903C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F132A7D-329A-C427-3759-C587956ED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6818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4375" y="1889656"/>
            <a:ext cx="16859250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9CB5D3D-57C5-FAB3-47E0-27E2CF1A92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4375" y="5689604"/>
            <a:ext cx="16859250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7E928-772D-9032-8CD5-291DC6131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288A085-FAFB-8524-B9BE-F51E0BBDE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0764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4375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9CB5D3D-57C5-FAB3-47E0-27E2CF1A92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4375" y="5689604"/>
            <a:ext cx="8292465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281160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8C256F-1E8E-317C-6DDA-154F8353D9A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281160" y="5689604"/>
            <a:ext cx="8292465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6DB1E55-9F5D-6E1C-2384-FA7FC0DEE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8CCB4F4-C4A2-301E-B1B7-806C58C0A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39898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4375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9CB5D3D-57C5-FAB3-47E0-27E2CF1A92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281160" y="1889656"/>
            <a:ext cx="8292465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14375" y="5689604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8C256F-1E8E-317C-6DDA-154F8353D9A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281160" y="5689604"/>
            <a:ext cx="8292465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2889F00-97BF-D096-7B25-CC21846D1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2266CF9-D799-D25E-C39C-823DA7B9D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95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14375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14375" y="5689604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0D87B413-325F-DFE4-4CD4-DB642FFB860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9281160" y="1889656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55F0A100-1971-96D3-AD25-96E598F8B47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9281160" y="5689604"/>
            <a:ext cx="829246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6E5A65-772C-D849-F095-00F463E73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234599D-9F83-EBF5-6327-E6F6FDD71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41903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040630" y="1889656"/>
            <a:ext cx="388048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14375" y="1889656"/>
            <a:ext cx="388048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0D87B413-325F-DFE4-4CD4-DB642FFB860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3693140" y="1889656"/>
            <a:ext cx="388048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55F0A100-1971-96D3-AD25-96E598F8B47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9366885" y="1889656"/>
            <a:ext cx="3880485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CDACF48-A25E-CB4F-AA36-5420822C9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BCC4241-C74E-1C39-EDC1-45EA41114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85484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1218918" y="1889655"/>
            <a:ext cx="6354707" cy="73255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9CB5D3D-57C5-FAB3-47E0-27E2CF1A920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4375" y="1889655"/>
            <a:ext cx="10230224" cy="73255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DA740-673A-1188-A97E-58558C898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4E523E1-0BCB-A202-5158-C83A598D2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28218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E3D1-9794-DB83-C978-069C6BB72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A105976E-98CC-1525-77A5-60BC6F8246E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425564" y="1889656"/>
            <a:ext cx="5436871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hart Placeholder 7">
            <a:extLst>
              <a:ext uri="{FF2B5EF4-FFF2-40B4-BE49-F238E27FC236}">
                <a16:creationId xmlns:a16="http://schemas.microsoft.com/office/drawing/2014/main" id="{F18304E0-C823-297F-1C17-7F2A2CD282EF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14375" y="1889656"/>
            <a:ext cx="5436871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55F0A100-1971-96D3-AD25-96E598F8B47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12136754" y="1889656"/>
            <a:ext cx="5436871" cy="35256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A7FA16-0C02-E692-8526-16F583C3F04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4375" y="5689604"/>
            <a:ext cx="5436871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42B77EF-A62E-AAFD-BC1D-629764A00EC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425564" y="5689604"/>
            <a:ext cx="5436871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E870889-49DC-DDA8-AC0C-91F97C82139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2136754" y="5689604"/>
            <a:ext cx="5436871" cy="35256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8DDF5D4-79B9-A0B5-2442-A042F5E4E7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520560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69EC0B-C51E-E2A2-A5C8-94EA113AF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29BED97-B300-576A-5885-BCB253BC6BE8}"/>
              </a:ext>
            </a:extLst>
          </p:cNvPr>
          <p:cNvSpPr txBox="1">
            <a:spLocks/>
          </p:cNvSpPr>
          <p:nvPr userDrawn="1"/>
        </p:nvSpPr>
        <p:spPr>
          <a:xfrm>
            <a:off x="714374" y="9843291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Presentation, April 2026</a:t>
            </a:r>
          </a:p>
        </p:txBody>
      </p:sp>
    </p:spTree>
    <p:extLst>
      <p:ext uri="{BB962C8B-B14F-4D97-AF65-F5344CB8AC3E}">
        <p14:creationId xmlns:p14="http://schemas.microsoft.com/office/powerpoint/2010/main" val="3624545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74A52-9FFC-AC39-C5C6-B5E84AC59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2253" y="317500"/>
            <a:ext cx="9420224" cy="12668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4638F13-1CD3-7690-D13A-99CF303E4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315200" cy="10287000"/>
          </a:xfrm>
          <a:pattFill prst="pct5">
            <a:fgClr>
              <a:schemeClr val="bg1">
                <a:lumMod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68A593-76A7-825E-68A1-61C43FCC5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42377" y="9842895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3111725-6996-F789-349A-677EFF904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22253" y="9520560"/>
            <a:ext cx="7727346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5479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F66BD8F-401F-2DBF-0BEE-85CAEC4F13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635584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47" imgH="348" progId="TCLayout.ActiveDocument.1">
                  <p:embed/>
                </p:oleObj>
              </mc:Choice>
              <mc:Fallback>
                <p:oleObj name="think-cell Slide" r:id="rId20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66BD8F-401F-2DBF-0BEE-85CAEC4F13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C60E1-108D-7890-2148-7CDB8BD5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317500"/>
            <a:ext cx="16859250" cy="126682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27DE4-6E8F-79F4-2C2B-8BC05FCBF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375" y="1889656"/>
            <a:ext cx="16859250" cy="73255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E5665-37C2-54D6-D1C6-35E05DF83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E2D680B1-7F17-42D2-83E2-2C9AC13983BB}" type="slidenum">
              <a:rPr lang="en-US" smtClean="0"/>
              <a:pPr/>
              <a:t>‹Nr.›</a:t>
            </a:fld>
            <a:endParaRPr lang="en-US" sz="100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D220426-4054-0550-CCFE-D2AFE3352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4" y="9842895"/>
            <a:ext cx="15135225" cy="2532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endParaRPr lang="en-US" sz="1000" dirty="0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80250DB2-82A2-DBD3-1B3E-FC0AA1AA5122}"/>
              </a:ext>
            </a:extLst>
          </p:cNvPr>
          <p:cNvCxnSpPr/>
          <p:nvPr userDrawn="1"/>
        </p:nvCxnSpPr>
        <p:spPr>
          <a:xfrm>
            <a:off x="0" y="1584327"/>
            <a:ext cx="1828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62B9B265-AF32-19AE-CB5E-B1673A2AF5B0}"/>
              </a:ext>
            </a:extLst>
          </p:cNvPr>
          <p:cNvCxnSpPr/>
          <p:nvPr userDrawn="1"/>
        </p:nvCxnSpPr>
        <p:spPr>
          <a:xfrm>
            <a:off x="0" y="9842895"/>
            <a:ext cx="18288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27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5" r:id="rId2"/>
    <p:sldLayoutId id="2147483662" r:id="rId3"/>
    <p:sldLayoutId id="2147483695" r:id="rId4"/>
    <p:sldLayoutId id="2147483696" r:id="rId5"/>
    <p:sldLayoutId id="2147483676" r:id="rId6"/>
    <p:sldLayoutId id="2147483697" r:id="rId7"/>
    <p:sldLayoutId id="2147483698" r:id="rId8"/>
    <p:sldLayoutId id="2147483678" r:id="rId9"/>
    <p:sldLayoutId id="2147483679" r:id="rId10"/>
    <p:sldLayoutId id="2147483681" r:id="rId11"/>
    <p:sldLayoutId id="2147483682" r:id="rId12"/>
    <p:sldLayoutId id="2147483683" r:id="rId13"/>
    <p:sldLayoutId id="2147483684" r:id="rId14"/>
    <p:sldLayoutId id="2147483680" r:id="rId15"/>
    <p:sldLayoutId id="2147483688" r:id="rId16"/>
    <p:sldLayoutId id="2147483692" r:id="rId1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3pPr>
      <a:lvl4pPr marL="144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4pPr>
      <a:lvl5pPr marL="1800000" indent="-36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Symbol" panose="05050102010706020507" pitchFamily="18" charset="2"/>
        <a:buChar char="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2" userDrawn="1">
          <p15:clr>
            <a:srgbClr val="F26B43"/>
          </p15:clr>
        </p15:guide>
        <p15:guide id="2" pos="442" userDrawn="1">
          <p15:clr>
            <a:srgbClr val="F26B43"/>
          </p15:clr>
        </p15:guide>
        <p15:guide id="3" pos="11078" userDrawn="1">
          <p15:clr>
            <a:srgbClr val="F26B43"/>
          </p15:clr>
        </p15:guide>
        <p15:guide id="4" orient="horz" pos="1008" userDrawn="1">
          <p15:clr>
            <a:srgbClr val="F26B43"/>
          </p15:clr>
        </p15:guide>
        <p15:guide id="5" orient="horz" pos="1190" userDrawn="1">
          <p15:clr>
            <a:srgbClr val="F26B43"/>
          </p15:clr>
        </p15:guide>
        <p15:guide id="6" orient="horz" pos="6278" userDrawn="1">
          <p15:clr>
            <a:srgbClr val="F26B43"/>
          </p15:clr>
        </p15:guide>
        <p15:guide id="7" orient="horz" pos="581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6D1A4-897D-203A-1ACE-463A3E8C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891B78D2-CE9D-13DC-82BC-1C6760B98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Starkes analytisches Fundament und vielseitige Praxiserfahrungen garantieren eine schnelle Integration in den Beratungsalltag bei LIO Consulting</a:t>
            </a:r>
            <a:endParaRPr lang="de-DE" noProof="1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F028DD-8E5C-B6E9-9818-29E73D5931F2}"/>
              </a:ext>
            </a:extLst>
          </p:cNvPr>
          <p:cNvSpPr/>
          <p:nvPr/>
        </p:nvSpPr>
        <p:spPr>
          <a:xfrm>
            <a:off x="3755571" y="1889125"/>
            <a:ext cx="13817817" cy="12780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Leistungssport im Judo ab ca. 14 Jahren, ~20h/Woche Training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Disziplin, Ehrgeiz &amp; Zielstrebigkeit 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Mentalität: Alles geben, um Ziele zu erreichen</a:t>
            </a:r>
            <a:endParaRPr lang="de-DE" sz="1600" noProof="1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96BD98A3-6E5B-E9D5-744B-EC0B58661C46}"/>
              </a:ext>
            </a:extLst>
          </p:cNvPr>
          <p:cNvSpPr/>
          <p:nvPr/>
        </p:nvSpPr>
        <p:spPr>
          <a:xfrm rot="5400000">
            <a:off x="1303238" y="1300500"/>
            <a:ext cx="1689537" cy="2866787"/>
          </a:xfrm>
          <a:prstGeom prst="homePlate">
            <a:avLst>
              <a:gd name="adj" fmla="val 2473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9C1F7E-E940-2280-9A75-B8DEE0E685FF}"/>
              </a:ext>
            </a:extLst>
          </p:cNvPr>
          <p:cNvSpPr txBox="1"/>
          <p:nvPr/>
        </p:nvSpPr>
        <p:spPr>
          <a:xfrm>
            <a:off x="966906" y="2549228"/>
            <a:ext cx="23622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de-DE" b="1" noProof="1">
                <a:latin typeface="Arial" panose="020B0604020202020204" pitchFamily="34" charset="0"/>
                <a:cs typeface="Arial" panose="020B0604020202020204" pitchFamily="34" charset="0"/>
              </a:rPr>
              <a:t>Leistungssport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A9DB0AF2-779C-3299-CB61-1C761CD65096}"/>
              </a:ext>
            </a:extLst>
          </p:cNvPr>
          <p:cNvSpPr/>
          <p:nvPr/>
        </p:nvSpPr>
        <p:spPr>
          <a:xfrm rot="5400000">
            <a:off x="1303118" y="2709391"/>
            <a:ext cx="1689537" cy="2867025"/>
          </a:xfrm>
          <a:prstGeom prst="chevron">
            <a:avLst>
              <a:gd name="adj" fmla="val 2473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1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1EE66E-C2EA-CCFA-9192-9EC6218A3615}"/>
              </a:ext>
            </a:extLst>
          </p:cNvPr>
          <p:cNvSpPr txBox="1"/>
          <p:nvPr/>
        </p:nvSpPr>
        <p:spPr>
          <a:xfrm>
            <a:off x="966786" y="3958238"/>
            <a:ext cx="23622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noAutofit/>
          </a:bodyPr>
          <a:lstStyle/>
          <a:p>
            <a:pPr algn="ctr"/>
            <a:r>
              <a:rPr lang="de-DE" b="1" noProof="1">
                <a:latin typeface="Arial" panose="020B0604020202020204" pitchFamily="34" charset="0"/>
                <a:cs typeface="Arial" panose="020B0604020202020204" pitchFamily="34" charset="0"/>
              </a:rPr>
              <a:t>Auslandserfahrung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A5A1D23-A710-CDFE-2FEE-199AAF073AF3}"/>
              </a:ext>
            </a:extLst>
          </p:cNvPr>
          <p:cNvSpPr/>
          <p:nvPr/>
        </p:nvSpPr>
        <p:spPr>
          <a:xfrm rot="5400000">
            <a:off x="1303118" y="4118401"/>
            <a:ext cx="1689537" cy="2867025"/>
          </a:xfrm>
          <a:prstGeom prst="chevron">
            <a:avLst>
              <a:gd name="adj" fmla="val 2473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1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4E1DAA-FBFB-5BF1-5E10-17CA34589631}"/>
              </a:ext>
            </a:extLst>
          </p:cNvPr>
          <p:cNvSpPr txBox="1"/>
          <p:nvPr/>
        </p:nvSpPr>
        <p:spPr>
          <a:xfrm>
            <a:off x="966786" y="5367248"/>
            <a:ext cx="23622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de-DE" b="1" noProof="1">
                <a:latin typeface="Arial" panose="020B0604020202020204" pitchFamily="34" charset="0"/>
                <a:cs typeface="Arial" panose="020B0604020202020204" pitchFamily="34" charset="0"/>
              </a:rPr>
              <a:t>Studium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66AF3B9A-3C15-8805-11BB-9EC7D91E80D2}"/>
              </a:ext>
            </a:extLst>
          </p:cNvPr>
          <p:cNvSpPr/>
          <p:nvPr/>
        </p:nvSpPr>
        <p:spPr>
          <a:xfrm rot="5400000">
            <a:off x="1303118" y="5527411"/>
            <a:ext cx="1689537" cy="2867025"/>
          </a:xfrm>
          <a:prstGeom prst="chevron">
            <a:avLst>
              <a:gd name="adj" fmla="val 2473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82E677-349F-46FD-5110-7138BF5CB783}"/>
              </a:ext>
            </a:extLst>
          </p:cNvPr>
          <p:cNvSpPr txBox="1"/>
          <p:nvPr/>
        </p:nvSpPr>
        <p:spPr>
          <a:xfrm>
            <a:off x="966786" y="6776258"/>
            <a:ext cx="23622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de-DE" b="1" noProof="1">
                <a:latin typeface="Arial" panose="020B0604020202020204" pitchFamily="34" charset="0"/>
                <a:cs typeface="Arial" panose="020B0604020202020204" pitchFamily="34" charset="0"/>
              </a:rPr>
              <a:t>Praxiserfahrung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CAA44F4F-9736-9FDE-90D1-A9D8F5C70309}"/>
              </a:ext>
            </a:extLst>
          </p:cNvPr>
          <p:cNvSpPr/>
          <p:nvPr/>
        </p:nvSpPr>
        <p:spPr>
          <a:xfrm rot="5400000">
            <a:off x="1303120" y="6936422"/>
            <a:ext cx="1689537" cy="2867025"/>
          </a:xfrm>
          <a:prstGeom prst="chevron">
            <a:avLst>
              <a:gd name="adj" fmla="val 24737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0259F-2270-AE0A-BEE5-17B6018E31CF}"/>
              </a:ext>
            </a:extLst>
          </p:cNvPr>
          <p:cNvSpPr txBox="1"/>
          <p:nvPr/>
        </p:nvSpPr>
        <p:spPr>
          <a:xfrm>
            <a:off x="966788" y="8185268"/>
            <a:ext cx="2362200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b="1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LIO Consulting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9A8AA0-7397-F19E-B727-653D8877D779}"/>
              </a:ext>
            </a:extLst>
          </p:cNvPr>
          <p:cNvSpPr/>
          <p:nvPr/>
        </p:nvSpPr>
        <p:spPr>
          <a:xfrm>
            <a:off x="3755571" y="3297981"/>
            <a:ext cx="13817817" cy="12780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Praktikum Assistent der Geschäftsführung, West-Vancouver-Foundation, Kanada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Internationale Teamarbeit in multikulturellen Umfeld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Entscheidung für internationale Karriere</a:t>
            </a:r>
            <a:endParaRPr lang="de-DE" sz="1600" noProof="1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01B011-58C5-9DCD-4C29-1FB0280B1F6D}"/>
              </a:ext>
            </a:extLst>
          </p:cNvPr>
          <p:cNvSpPr/>
          <p:nvPr/>
        </p:nvSpPr>
        <p:spPr>
          <a:xfrm>
            <a:off x="3755571" y="4706837"/>
            <a:ext cx="13817817" cy="12780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Wirtschaftswissenschaften, Goethe-Universität Frankfurt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VWL gefällt mir vor allem auf Grund von analytisches Durchdringen von Branchen &amp; Unternehmen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Mitgründer DemokraTeaTime e.V. Frankfurt – inhaltlich-strategische Leitung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C52474-DDA3-6620-022E-365DF2E91619}"/>
              </a:ext>
            </a:extLst>
          </p:cNvPr>
          <p:cNvSpPr/>
          <p:nvPr/>
        </p:nvSpPr>
        <p:spPr>
          <a:xfrm>
            <a:off x="3755571" y="6115693"/>
            <a:ext cx="13817817" cy="1278617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ERP-Consulting: eigene Projekte, wöchentliche Kundenpräsentationen Werkstudent 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REFLECT GmbH Managementconsulting: Technologie &amp; KI-Vertiefung KI-Automatisierungsprojekt, Workflows via n8n &amp; KI-Modellen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Fraport AG Strategie: Transformations- &amp; Cost-Cutting-Projekte, Top-Management-Entscheidungsvorlagen</a:t>
            </a:r>
            <a:endParaRPr lang="de-DE" sz="1600" noProof="1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C21A6A-F221-94CA-C772-781EB3E9E335}"/>
              </a:ext>
            </a:extLst>
          </p:cNvPr>
          <p:cNvSpPr/>
          <p:nvPr/>
        </p:nvSpPr>
        <p:spPr>
          <a:xfrm>
            <a:off x="3755571" y="7525166"/>
            <a:ext cx="13817817" cy="127861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Services in fundamentaler Transformation – KI, Regulatorik, disruptive Geschäftsmodelle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dirty="0">
                <a:solidFill>
                  <a:schemeClr val="tx1"/>
                </a:solidFill>
              </a:rPr>
              <a:t>Junges Unternehmen seit 2019 – Agilität eines Startups, Anspruch einer Top-Strategieberatung, garantiert steile Lernkurve: nah an Entscheidungen, nah an Kunden, nah an echter Strategiearbeit</a:t>
            </a: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Positives Feedback aus erstem Hand – Bekannter absolvierte Praktikum bei LIO Insbesondere: echte Verantwortung von Tag 1</a:t>
            </a:r>
          </a:p>
        </p:txBody>
      </p:sp>
      <p:sp>
        <p:nvSpPr>
          <p:cNvPr id="10" name="Foliennummernplatzhalter 3">
            <a:extLst>
              <a:ext uri="{FF2B5EF4-FFF2-40B4-BE49-F238E27FC236}">
                <a16:creationId xmlns:a16="http://schemas.microsoft.com/office/drawing/2014/main" id="{6C1E2AAF-0180-6CD8-86E8-81216E48C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843291"/>
            <a:ext cx="800100" cy="253209"/>
          </a:xfrm>
        </p:spPr>
        <p:txBody>
          <a:bodyPr/>
          <a:lstStyle/>
          <a:p>
            <a:fld id="{E2D680B1-7F17-42D2-83E2-2C9AC13983BB}" type="slidenum">
              <a:rPr lang="de-DE" sz="1100" noProof="1" smtClean="0"/>
              <a:pPr/>
              <a:t>1</a:t>
            </a:fld>
            <a:endParaRPr lang="de-DE" sz="1100" noProof="1"/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E5D62733-B1B2-BCC9-915F-564B16B05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5" y="9843291"/>
            <a:ext cx="15135225" cy="253209"/>
          </a:xfrm>
        </p:spPr>
        <p:txBody>
          <a:bodyPr/>
          <a:lstStyle/>
          <a:p>
            <a:r>
              <a:rPr lang="de-DE" sz="1100" noProof="1"/>
              <a:t>Selbstpräsentation – Darius Kallenbach</a:t>
            </a:r>
          </a:p>
        </p:txBody>
      </p:sp>
    </p:spTree>
    <p:extLst>
      <p:ext uri="{BB962C8B-B14F-4D97-AF65-F5344CB8AC3E}">
        <p14:creationId xmlns:p14="http://schemas.microsoft.com/office/powerpoint/2010/main" val="80808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D105-1DE5-9469-84FF-7E6AB2B2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FD30178-329D-8C08-3A60-E3FB1205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1100" dirty="0"/>
              <a:t>Selbstpräsentation – Darius Kallenbach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00ECE0-F7F4-05ED-128C-1B1FB4994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D680B1-7F17-42D2-83E2-2C9AC13983BB}" type="slidenum">
              <a:rPr lang="en-US" sz="1100" smtClean="0"/>
              <a:pPr/>
              <a:t>2</a:t>
            </a:fld>
            <a:endParaRPr lang="en-US" sz="1100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126B942-E303-B2D0-4B8D-720484E97316}"/>
              </a:ext>
            </a:extLst>
          </p:cNvPr>
          <p:cNvGrpSpPr/>
          <p:nvPr/>
        </p:nvGrpSpPr>
        <p:grpSpPr>
          <a:xfrm>
            <a:off x="696232" y="2580246"/>
            <a:ext cx="16859250" cy="5992254"/>
            <a:chOff x="697442" y="2962446"/>
            <a:chExt cx="16859250" cy="5992254"/>
          </a:xfrm>
        </p:grpSpPr>
        <p:sp>
          <p:nvSpPr>
            <p:cNvPr id="6" name="Pfeil nach rechts 5">
              <a:extLst>
                <a:ext uri="{FF2B5EF4-FFF2-40B4-BE49-F238E27FC236}">
                  <a16:creationId xmlns:a16="http://schemas.microsoft.com/office/drawing/2014/main" id="{0F3A93CA-88B5-22E1-374B-4E0127A798AA}"/>
                </a:ext>
              </a:extLst>
            </p:cNvPr>
            <p:cNvSpPr/>
            <p:nvPr/>
          </p:nvSpPr>
          <p:spPr>
            <a:xfrm>
              <a:off x="697442" y="3162300"/>
              <a:ext cx="16859250" cy="484632"/>
            </a:xfrm>
            <a:prstGeom prst="rightArrow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C0A2319-89D6-C41F-8AB2-CACDDE7A1DA4}"/>
                </a:ext>
              </a:extLst>
            </p:cNvPr>
            <p:cNvSpPr/>
            <p:nvPr/>
          </p:nvSpPr>
          <p:spPr>
            <a:xfrm>
              <a:off x="4221547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D4DDBFF-63E7-24E2-15B2-5DEBDDA95215}"/>
                </a:ext>
              </a:extLst>
            </p:cNvPr>
            <p:cNvSpPr/>
            <p:nvPr/>
          </p:nvSpPr>
          <p:spPr>
            <a:xfrm>
              <a:off x="7449776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DB60EE-4908-6D8C-E2EE-804B5D9A6418}"/>
                </a:ext>
              </a:extLst>
            </p:cNvPr>
            <p:cNvSpPr/>
            <p:nvPr/>
          </p:nvSpPr>
          <p:spPr>
            <a:xfrm>
              <a:off x="10678005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5532928-D9CC-68D6-F197-57F74C634FEE}"/>
                </a:ext>
              </a:extLst>
            </p:cNvPr>
            <p:cNvSpPr/>
            <p:nvPr/>
          </p:nvSpPr>
          <p:spPr>
            <a:xfrm>
              <a:off x="13906236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2C466C9-02A6-8913-8017-7D413C337FF4}"/>
                </a:ext>
              </a:extLst>
            </p:cNvPr>
            <p:cNvSpPr/>
            <p:nvPr/>
          </p:nvSpPr>
          <p:spPr>
            <a:xfrm>
              <a:off x="993318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9" name="Gerade Verbindung 28">
              <a:extLst>
                <a:ext uri="{FF2B5EF4-FFF2-40B4-BE49-F238E27FC236}">
                  <a16:creationId xmlns:a16="http://schemas.microsoft.com/office/drawing/2014/main" id="{57F77C1D-9918-DED2-189B-E8728D603374}"/>
                </a:ext>
              </a:extLst>
            </p:cNvPr>
            <p:cNvCxnSpPr>
              <a:cxnSpLocks/>
            </p:cNvCxnSpPr>
            <p:nvPr/>
          </p:nvCxnSpPr>
          <p:spPr>
            <a:xfrm>
              <a:off x="1452869" y="3800646"/>
              <a:ext cx="0" cy="5076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17">
              <a:extLst>
                <a:ext uri="{FF2B5EF4-FFF2-40B4-BE49-F238E27FC236}">
                  <a16:creationId xmlns:a16="http://schemas.microsoft.com/office/drawing/2014/main" id="{6FD522E2-F252-0739-1BC0-2AEAF197A64A}"/>
                </a:ext>
              </a:extLst>
            </p:cNvPr>
            <p:cNvSpPr/>
            <p:nvPr/>
          </p:nvSpPr>
          <p:spPr>
            <a:xfrm>
              <a:off x="1604068" y="4076700"/>
              <a:ext cx="2923473" cy="487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bIns="108000" rtlCol="0" anchor="t"/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</a:pPr>
              <a:r>
                <a:rPr lang="de-DE" sz="2000" b="1" noProof="1">
                  <a:solidFill>
                    <a:schemeClr val="tx1"/>
                  </a:solidFill>
                </a:rPr>
                <a:t>Leistungssport</a:t>
              </a:r>
              <a:endParaRPr lang="de-DE" b="1" noProof="1">
                <a:solidFill>
                  <a:schemeClr val="tx1"/>
                </a:solidFill>
              </a:endParaRP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noProof="1">
                  <a:solidFill>
                    <a:schemeClr val="tx1"/>
                  </a:solidFill>
                </a:rPr>
                <a:t>Leistungssport im </a:t>
              </a:r>
              <a:r>
                <a:rPr lang="de-DE" b="1" noProof="1">
                  <a:solidFill>
                    <a:schemeClr val="tx1"/>
                  </a:solidFill>
                </a:rPr>
                <a:t>Judo</a:t>
              </a:r>
              <a:r>
                <a:rPr lang="de-DE" noProof="1">
                  <a:solidFill>
                    <a:schemeClr val="tx1"/>
                  </a:solidFill>
                </a:rPr>
                <a:t>, ~20h/Woche Training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noProof="1">
                  <a:solidFill>
                    <a:schemeClr val="tx1"/>
                  </a:solidFill>
                </a:rPr>
                <a:t>Disziplin, Ehrgeiz &amp; Zielstrebigkeit 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</a:rPr>
                <a:t>Mentalität</a:t>
              </a:r>
              <a:r>
                <a:rPr lang="de-DE" noProof="1">
                  <a:solidFill>
                    <a:schemeClr val="tx1"/>
                  </a:solidFill>
                </a:rPr>
                <a:t> erlangt, alles zu geben, um seine </a:t>
              </a:r>
              <a:r>
                <a:rPr lang="de-DE" b="1" noProof="1">
                  <a:solidFill>
                    <a:schemeClr val="tx1"/>
                  </a:solidFill>
                </a:rPr>
                <a:t>Ziele</a:t>
              </a:r>
              <a:r>
                <a:rPr lang="de-DE" noProof="1">
                  <a:solidFill>
                    <a:schemeClr val="tx1"/>
                  </a:solidFill>
                </a:rPr>
                <a:t> zu </a:t>
              </a:r>
              <a:r>
                <a:rPr lang="de-DE" b="1" noProof="1">
                  <a:solidFill>
                    <a:schemeClr val="tx1"/>
                  </a:solidFill>
                </a:rPr>
                <a:t>erreichen</a:t>
              </a:r>
            </a:p>
          </p:txBody>
        </p:sp>
        <p:sp>
          <p:nvSpPr>
            <p:cNvPr id="42" name="Rectangle 17">
              <a:extLst>
                <a:ext uri="{FF2B5EF4-FFF2-40B4-BE49-F238E27FC236}">
                  <a16:creationId xmlns:a16="http://schemas.microsoft.com/office/drawing/2014/main" id="{ACA312EF-68B7-7C09-AB3A-9071BF6AAEEC}"/>
                </a:ext>
              </a:extLst>
            </p:cNvPr>
            <p:cNvSpPr/>
            <p:nvPr/>
          </p:nvSpPr>
          <p:spPr>
            <a:xfrm>
              <a:off x="4828035" y="4076700"/>
              <a:ext cx="2926800" cy="487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bIns="108000" rtlCol="0" anchor="t"/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</a:pPr>
              <a:r>
                <a:rPr lang="de-DE" sz="2000" b="1" noProof="1">
                  <a:solidFill>
                    <a:schemeClr val="tx1"/>
                  </a:solidFill>
                </a:rPr>
                <a:t>Auslandserfahrung</a:t>
              </a:r>
              <a:endParaRPr lang="de-DE" b="1" noProof="1">
                <a:solidFill>
                  <a:schemeClr val="tx1"/>
                </a:solidFill>
              </a:endParaRP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</a:rPr>
                <a:t>Assistent</a:t>
              </a:r>
              <a:r>
                <a:rPr lang="de-DE" noProof="1">
                  <a:solidFill>
                    <a:schemeClr val="tx1"/>
                  </a:solidFill>
                </a:rPr>
                <a:t> der Geschäftsführung, West-Vancouver-Foundation (Kanada)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</a:rPr>
                <a:t>Teamarbeit</a:t>
              </a:r>
              <a:r>
                <a:rPr lang="de-DE" noProof="1">
                  <a:solidFill>
                    <a:schemeClr val="tx1"/>
                  </a:solidFill>
                </a:rPr>
                <a:t> in </a:t>
              </a:r>
              <a:r>
                <a:rPr lang="de-DE" b="1" noProof="1">
                  <a:solidFill>
                    <a:schemeClr val="tx1"/>
                  </a:solidFill>
                </a:rPr>
                <a:t>internationalem</a:t>
              </a:r>
              <a:r>
                <a:rPr lang="de-DE" noProof="1">
                  <a:solidFill>
                    <a:schemeClr val="tx1"/>
                  </a:solidFill>
                </a:rPr>
                <a:t> Umfeld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</a:rPr>
                <a:t>Entscheidung</a:t>
              </a:r>
              <a:r>
                <a:rPr lang="de-DE" noProof="1">
                  <a:solidFill>
                    <a:schemeClr val="tx1"/>
                  </a:solidFill>
                </a:rPr>
                <a:t> für beruflich und akademischen </a:t>
              </a:r>
              <a:r>
                <a:rPr lang="de-DE" b="1" noProof="1">
                  <a:solidFill>
                    <a:schemeClr val="tx1"/>
                  </a:solidFill>
                </a:rPr>
                <a:t>Weg</a:t>
              </a:r>
              <a:r>
                <a:rPr lang="de-DE" noProof="1">
                  <a:solidFill>
                    <a:schemeClr val="tx1"/>
                  </a:solidFill>
                </a:rPr>
                <a:t> in einem </a:t>
              </a:r>
              <a:r>
                <a:rPr lang="de-DE" b="1" noProof="1">
                  <a:solidFill>
                    <a:schemeClr val="tx1"/>
                  </a:solidFill>
                </a:rPr>
                <a:t>internationalen</a:t>
              </a:r>
              <a:r>
                <a:rPr lang="de-DE" noProof="1">
                  <a:solidFill>
                    <a:schemeClr val="tx1"/>
                  </a:solidFill>
                </a:rPr>
                <a:t> </a:t>
              </a:r>
              <a:r>
                <a:rPr lang="de-DE" b="1" noProof="1">
                  <a:solidFill>
                    <a:schemeClr val="tx1"/>
                  </a:solidFill>
                </a:rPr>
                <a:t>Kontext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</a:rPr>
                <a:t>Auslandssemester</a:t>
              </a:r>
              <a:r>
                <a:rPr lang="de-DE" noProof="1">
                  <a:solidFill>
                    <a:schemeClr val="tx1"/>
                  </a:solidFill>
                </a:rPr>
                <a:t> in Madrid </a:t>
              </a:r>
            </a:p>
          </p:txBody>
        </p:sp>
        <p:cxnSp>
          <p:nvCxnSpPr>
            <p:cNvPr id="44" name="Gerade Verbindung 43">
              <a:extLst>
                <a:ext uri="{FF2B5EF4-FFF2-40B4-BE49-F238E27FC236}">
                  <a16:creationId xmlns:a16="http://schemas.microsoft.com/office/drawing/2014/main" id="{5E31224C-2964-74BE-6F9B-675E83127422}"/>
                </a:ext>
              </a:extLst>
            </p:cNvPr>
            <p:cNvCxnSpPr>
              <a:cxnSpLocks/>
            </p:cNvCxnSpPr>
            <p:nvPr/>
          </p:nvCxnSpPr>
          <p:spPr>
            <a:xfrm>
              <a:off x="4681097" y="3876846"/>
              <a:ext cx="0" cy="5076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46">
              <a:extLst>
                <a:ext uri="{FF2B5EF4-FFF2-40B4-BE49-F238E27FC236}">
                  <a16:creationId xmlns:a16="http://schemas.microsoft.com/office/drawing/2014/main" id="{B93A61FC-0619-7190-F53D-2C28CE6EFBEC}"/>
                </a:ext>
              </a:extLst>
            </p:cNvPr>
            <p:cNvCxnSpPr>
              <a:cxnSpLocks/>
            </p:cNvCxnSpPr>
            <p:nvPr/>
          </p:nvCxnSpPr>
          <p:spPr>
            <a:xfrm>
              <a:off x="7906971" y="3876846"/>
              <a:ext cx="0" cy="5076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9">
              <a:extLst>
                <a:ext uri="{FF2B5EF4-FFF2-40B4-BE49-F238E27FC236}">
                  <a16:creationId xmlns:a16="http://schemas.microsoft.com/office/drawing/2014/main" id="{EBE70C15-3518-63F4-EC59-4F714940D51D}"/>
                </a:ext>
              </a:extLst>
            </p:cNvPr>
            <p:cNvCxnSpPr>
              <a:cxnSpLocks/>
            </p:cNvCxnSpPr>
            <p:nvPr/>
          </p:nvCxnSpPr>
          <p:spPr>
            <a:xfrm>
              <a:off x="11132845" y="3876846"/>
              <a:ext cx="0" cy="507600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FA3AB0F0-0D22-6C50-CAAF-024AAA323D27}"/>
                </a:ext>
              </a:extLst>
            </p:cNvPr>
            <p:cNvCxnSpPr>
              <a:cxnSpLocks/>
            </p:cNvCxnSpPr>
            <p:nvPr/>
          </p:nvCxnSpPr>
          <p:spPr>
            <a:xfrm>
              <a:off x="14358719" y="3876846"/>
              <a:ext cx="0" cy="5076654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17">
              <a:extLst>
                <a:ext uri="{FF2B5EF4-FFF2-40B4-BE49-F238E27FC236}">
                  <a16:creationId xmlns:a16="http://schemas.microsoft.com/office/drawing/2014/main" id="{98D8E209-1281-1FB8-363A-D0BE648C81D5}"/>
                </a:ext>
              </a:extLst>
            </p:cNvPr>
            <p:cNvSpPr/>
            <p:nvPr/>
          </p:nvSpPr>
          <p:spPr>
            <a:xfrm>
              <a:off x="8055329" y="4076700"/>
              <a:ext cx="2926800" cy="487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bIns="108000" rtlCol="0" anchor="t"/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</a:pPr>
              <a:r>
                <a:rPr lang="de-DE" sz="2000" b="1" noProof="1">
                  <a:solidFill>
                    <a:schemeClr val="tx1"/>
                  </a:solidFill>
                </a:rPr>
                <a:t>Studium</a:t>
              </a:r>
              <a:endParaRPr lang="de-DE" b="1" noProof="1">
                <a:solidFill>
                  <a:schemeClr val="tx1"/>
                </a:solidFill>
              </a:endParaRP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Wirtschaftswissen-schaften</a:t>
              </a:r>
              <a:r>
                <a:rPr lang="de-DE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, Goethe-Universität in Frankfurt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Lieblingsbereich </a:t>
              </a:r>
              <a:r>
                <a:rPr lang="de-DE" b="1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VWL</a:t>
              </a:r>
              <a:r>
                <a:rPr lang="de-DE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, Spaß am </a:t>
              </a:r>
              <a:r>
                <a:rPr lang="de-DE" b="1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analytischen</a:t>
              </a:r>
              <a:r>
                <a:rPr lang="de-DE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</a:t>
              </a:r>
              <a:r>
                <a:rPr lang="de-DE" b="1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Durchdringen</a:t>
              </a:r>
              <a:r>
                <a:rPr lang="de-DE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von Branchen &amp; Unternehmen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Mitgründer</a:t>
              </a:r>
              <a:r>
                <a:rPr lang="de-DE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DemokraTeaTime e.V. Frankfurt, Aneignung von </a:t>
              </a:r>
              <a:r>
                <a:rPr lang="de-DE" b="1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Führungs- und Koordinationsfähig-keiten</a:t>
              </a:r>
            </a:p>
          </p:txBody>
        </p:sp>
        <p:sp>
          <p:nvSpPr>
            <p:cNvPr id="56" name="Rectangle 17">
              <a:extLst>
                <a:ext uri="{FF2B5EF4-FFF2-40B4-BE49-F238E27FC236}">
                  <a16:creationId xmlns:a16="http://schemas.microsoft.com/office/drawing/2014/main" id="{D7277413-71EB-A14E-FFFC-B13CA3864DA3}"/>
                </a:ext>
              </a:extLst>
            </p:cNvPr>
            <p:cNvSpPr/>
            <p:nvPr/>
          </p:nvSpPr>
          <p:spPr>
            <a:xfrm>
              <a:off x="11282623" y="4076700"/>
              <a:ext cx="2926800" cy="487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bIns="108000" rtlCol="0" anchor="t"/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</a:pPr>
              <a:r>
                <a:rPr lang="de-DE" sz="2000" b="1" noProof="1">
                  <a:solidFill>
                    <a:schemeClr val="tx1"/>
                  </a:solidFill>
                </a:rPr>
                <a:t>Praxiserfahrung</a:t>
              </a:r>
              <a:endParaRPr lang="de-DE" b="1" noProof="1">
                <a:solidFill>
                  <a:schemeClr val="tx1"/>
                </a:solidFill>
              </a:endParaRP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</a:rPr>
                <a:t>ERP-Consulting: </a:t>
              </a:r>
              <a:r>
                <a:rPr lang="de-DE" noProof="1">
                  <a:solidFill>
                    <a:schemeClr val="tx1"/>
                  </a:solidFill>
                </a:rPr>
                <a:t>Präsentations- und Kommunikationsfähig-keiten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</a:rPr>
                <a:t>Werkstudent: </a:t>
              </a:r>
              <a:br>
                <a:rPr lang="de-DE" noProof="1">
                  <a:solidFill>
                    <a:schemeClr val="tx1"/>
                  </a:solidFill>
                </a:rPr>
              </a:br>
              <a:r>
                <a:rPr lang="de-DE" noProof="1">
                  <a:solidFill>
                    <a:schemeClr val="tx1"/>
                  </a:solidFill>
                </a:rPr>
                <a:t>KI-Automatisierungs-projekt, technologische Fähigkeiten ausgebaut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</a:rPr>
                <a:t>Fraport AG Strategie: </a:t>
              </a:r>
              <a:r>
                <a:rPr lang="de-DE" noProof="1">
                  <a:solidFill>
                    <a:schemeClr val="tx1"/>
                  </a:solidFill>
                </a:rPr>
                <a:t>Zusammenarbeit mit dem Top-Management, präzise Analyse komplexer Problemstellungen</a:t>
              </a:r>
              <a:endPara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17">
              <a:extLst>
                <a:ext uri="{FF2B5EF4-FFF2-40B4-BE49-F238E27FC236}">
                  <a16:creationId xmlns:a16="http://schemas.microsoft.com/office/drawing/2014/main" id="{3675A268-D5DA-A409-1151-F7C697277585}"/>
                </a:ext>
              </a:extLst>
            </p:cNvPr>
            <p:cNvSpPr/>
            <p:nvPr/>
          </p:nvSpPr>
          <p:spPr>
            <a:xfrm>
              <a:off x="14509919" y="4076700"/>
              <a:ext cx="2926800" cy="4876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0" bIns="108000" rtlCol="0" anchor="t"/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</a:pPr>
              <a:r>
                <a:rPr lang="de-DE" sz="2000" b="1" noProof="1">
                  <a:solidFill>
                    <a:schemeClr val="tx1"/>
                  </a:solidFill>
                </a:rPr>
                <a:t>LIO Consulting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Financial Services</a:t>
              </a:r>
              <a:r>
                <a:rPr lang="de-DE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in fundamentaler </a:t>
              </a:r>
              <a:r>
                <a:rPr lang="de-DE" b="1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Transformation</a:t>
              </a:r>
              <a:r>
                <a:rPr lang="de-DE" noProof="1">
                  <a:solidFill>
                    <a:schemeClr val="tx1"/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– KI, Regulatorik, disruptive Geschäftsmodelle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dirty="0">
                  <a:solidFill>
                    <a:schemeClr val="tx1"/>
                  </a:solidFill>
                </a:rPr>
                <a:t>Übereinstimmung</a:t>
              </a:r>
              <a:r>
                <a:rPr lang="de-DE" dirty="0">
                  <a:solidFill>
                    <a:schemeClr val="tx1"/>
                  </a:solidFill>
                </a:rPr>
                <a:t> mit </a:t>
              </a:r>
              <a:r>
                <a:rPr lang="de-DE" b="1" dirty="0">
                  <a:solidFill>
                    <a:schemeClr val="tx1"/>
                  </a:solidFill>
                </a:rPr>
                <a:t>Philosophie</a:t>
              </a:r>
              <a:r>
                <a:rPr lang="de-DE" dirty="0">
                  <a:solidFill>
                    <a:schemeClr val="tx1"/>
                  </a:solidFill>
                </a:rPr>
                <a:t>: Top-Qualität, Agilität und Menschenzentriertheit</a:t>
              </a:r>
            </a:p>
            <a:p>
              <a:pPr marL="285750" indent="-285750"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SzPct val="130000"/>
                <a:buFont typeface="Arial" panose="020B0604020202020204" pitchFamily="34" charset="0"/>
                <a:buChar char="•"/>
              </a:pPr>
              <a:r>
                <a:rPr lang="de-DE" b="1" dirty="0">
                  <a:solidFill>
                    <a:schemeClr val="tx1"/>
                  </a:solidFill>
                </a:rPr>
                <a:t>Empfohlen</a:t>
              </a:r>
              <a:r>
                <a:rPr lang="de-DE" dirty="0">
                  <a:solidFill>
                    <a:schemeClr val="tx1"/>
                  </a:solidFill>
                </a:rPr>
                <a:t> von einem Bekannten, </a:t>
              </a:r>
              <a:r>
                <a:rPr lang="de-DE" b="1" dirty="0">
                  <a:solidFill>
                    <a:schemeClr val="tx1"/>
                  </a:solidFill>
                </a:rPr>
                <a:t>junges</a:t>
              </a:r>
              <a:r>
                <a:rPr lang="de-DE" dirty="0">
                  <a:solidFill>
                    <a:schemeClr val="tx1"/>
                  </a:solidFill>
                </a:rPr>
                <a:t> Unternehmen und </a:t>
              </a:r>
              <a:r>
                <a:rPr lang="de-DE" b="1" dirty="0">
                  <a:solidFill>
                    <a:schemeClr val="tx1"/>
                  </a:solidFill>
                </a:rPr>
                <a:t>tolles</a:t>
              </a:r>
              <a:r>
                <a:rPr lang="de-DE" dirty="0">
                  <a:solidFill>
                    <a:schemeClr val="tx1"/>
                  </a:solidFill>
                </a:rPr>
                <a:t> Team ermöglichen eine </a:t>
              </a:r>
              <a:r>
                <a:rPr lang="de-DE" b="1" dirty="0">
                  <a:solidFill>
                    <a:schemeClr val="tx1"/>
                  </a:solidFill>
                </a:rPr>
                <a:t>steile Lernkurve</a:t>
              </a:r>
            </a:p>
          </p:txBody>
        </p:sp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9F8BC184-EF6A-C7D5-F98F-AE9EE1F40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2259" y="3131387"/>
              <a:ext cx="576519" cy="576519"/>
            </a:xfrm>
            <a:prstGeom prst="rect">
              <a:avLst/>
            </a:prstGeom>
          </p:spPr>
        </p:pic>
        <p:pic>
          <p:nvPicPr>
            <p:cNvPr id="69" name="Grafik 68" descr="Schulgebäude mit einfarbiger Füllung">
              <a:extLst>
                <a:ext uri="{FF2B5EF4-FFF2-40B4-BE49-F238E27FC236}">
                  <a16:creationId xmlns:a16="http://schemas.microsoft.com/office/drawing/2014/main" id="{29FEBDB8-F885-F4A5-0FF3-F5ADF5D3B6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16620" y="3112773"/>
              <a:ext cx="576000" cy="576000"/>
            </a:xfrm>
            <a:prstGeom prst="rect">
              <a:avLst/>
            </a:prstGeom>
          </p:spPr>
        </p:pic>
        <p:pic>
          <p:nvPicPr>
            <p:cNvPr id="71" name="Grafik 70" descr="Laptop mit einfarbiger Füllung">
              <a:extLst>
                <a:ext uri="{FF2B5EF4-FFF2-40B4-BE49-F238E27FC236}">
                  <a16:creationId xmlns:a16="http://schemas.microsoft.com/office/drawing/2014/main" id="{E45668D3-4D08-6CE2-B3A2-C8C577B373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47205" y="3131646"/>
              <a:ext cx="576000" cy="576000"/>
            </a:xfrm>
            <a:prstGeom prst="rect">
              <a:avLst/>
            </a:prstGeom>
          </p:spPr>
        </p:pic>
        <p:pic>
          <p:nvPicPr>
            <p:cNvPr id="73" name="Grafik 72" descr="Volltreffer mit einfarbiger Füllung">
              <a:extLst>
                <a:ext uri="{FF2B5EF4-FFF2-40B4-BE49-F238E27FC236}">
                  <a16:creationId xmlns:a16="http://schemas.microsoft.com/office/drawing/2014/main" id="{867A6367-C110-6B03-6EE2-D865DC590D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75436" y="3130387"/>
              <a:ext cx="576000" cy="576000"/>
            </a:xfrm>
            <a:prstGeom prst="rect">
              <a:avLst/>
            </a:prstGeom>
          </p:spPr>
        </p:pic>
        <p:pic>
          <p:nvPicPr>
            <p:cNvPr id="75" name="Grafik 74" descr="Globus mit einfarbiger Füllung">
              <a:extLst>
                <a:ext uri="{FF2B5EF4-FFF2-40B4-BE49-F238E27FC236}">
                  <a16:creationId xmlns:a16="http://schemas.microsoft.com/office/drawing/2014/main" id="{719995D2-BDB0-48B1-C41A-57E988581B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90746" y="3130387"/>
              <a:ext cx="576000" cy="576000"/>
            </a:xfrm>
            <a:prstGeom prst="rect">
              <a:avLst/>
            </a:prstGeom>
          </p:spPr>
        </p:pic>
      </p:grpSp>
      <p:sp>
        <p:nvSpPr>
          <p:cNvPr id="79" name="Titel 78">
            <a:extLst>
              <a:ext uri="{FF2B5EF4-FFF2-40B4-BE49-F238E27FC236}">
                <a16:creationId xmlns:a16="http://schemas.microsoft.com/office/drawing/2014/main" id="{EE9119D3-48E5-0F16-AE1C-4B08798A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solidFill>
                  <a:schemeClr val="tx1"/>
                </a:solidFill>
              </a:rPr>
              <a:t>Starkes analytisches Fundament und vielseitige Praxiserfahrungen garantieren eine schnelle Integration in den Beratungsalltag bei LIO Consulting</a:t>
            </a:r>
          </a:p>
        </p:txBody>
      </p:sp>
    </p:spTree>
    <p:extLst>
      <p:ext uri="{BB962C8B-B14F-4D97-AF65-F5344CB8AC3E}">
        <p14:creationId xmlns:p14="http://schemas.microsoft.com/office/powerpoint/2010/main" val="213984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793BB-E715-B1A4-1935-72D766D3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D37785-66E1-297D-3483-FA161E1B8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5" y="9969500"/>
            <a:ext cx="15135225" cy="253209"/>
          </a:xfrm>
        </p:spPr>
        <p:txBody>
          <a:bodyPr/>
          <a:lstStyle/>
          <a:p>
            <a:r>
              <a:rPr lang="en-US" sz="1100" dirty="0"/>
              <a:t>Selbstpräsentation – Darius Kallenbach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A680DB-A344-4A4B-5C61-25AE136A2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969896"/>
            <a:ext cx="800100" cy="253209"/>
          </a:xfrm>
        </p:spPr>
        <p:txBody>
          <a:bodyPr/>
          <a:lstStyle/>
          <a:p>
            <a:fld id="{E2D680B1-7F17-42D2-83E2-2C9AC13983BB}" type="slidenum">
              <a:rPr lang="en-US" sz="1100" smtClean="0"/>
              <a:pPr/>
              <a:t>3</a:t>
            </a:fld>
            <a:endParaRPr lang="en-US" sz="1100" dirty="0"/>
          </a:p>
        </p:txBody>
      </p:sp>
      <p:sp>
        <p:nvSpPr>
          <p:cNvPr id="79" name="Titel 78">
            <a:extLst>
              <a:ext uri="{FF2B5EF4-FFF2-40B4-BE49-F238E27FC236}">
                <a16:creationId xmlns:a16="http://schemas.microsoft.com/office/drawing/2014/main" id="{7EF40EC4-80F0-035B-FA40-6E3E8849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solidFill>
                  <a:schemeClr val="tx1"/>
                </a:solidFill>
              </a:rPr>
              <a:t>Starkes analytisches Fundament und vielseitige Praxiserfahrungen garantieren eine schnelle Integration in den Beratungsalltag bei LIO Consulting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95E175A3-02A1-22FE-E7EE-843393F9E067}"/>
              </a:ext>
            </a:extLst>
          </p:cNvPr>
          <p:cNvSpPr/>
          <p:nvPr/>
        </p:nvSpPr>
        <p:spPr>
          <a:xfrm>
            <a:off x="727075" y="3400197"/>
            <a:ext cx="16859250" cy="484632"/>
          </a:xfrm>
          <a:prstGeom prst="rightArrow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tangle 17">
            <a:extLst>
              <a:ext uri="{FF2B5EF4-FFF2-40B4-BE49-F238E27FC236}">
                <a16:creationId xmlns:a16="http://schemas.microsoft.com/office/drawing/2014/main" id="{9DDCB8FE-3E30-B44A-AE16-92E1EB739CA0}"/>
              </a:ext>
            </a:extLst>
          </p:cNvPr>
          <p:cNvSpPr/>
          <p:nvPr/>
        </p:nvSpPr>
        <p:spPr>
          <a:xfrm>
            <a:off x="744007" y="4619395"/>
            <a:ext cx="2926800" cy="461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</a:pPr>
            <a:r>
              <a:rPr lang="de-DE" sz="2000" b="1" noProof="1">
                <a:solidFill>
                  <a:schemeClr val="tx1"/>
                </a:solidFill>
              </a:rPr>
              <a:t>Leistungssport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Leistungssport im </a:t>
            </a:r>
            <a:r>
              <a:rPr lang="de-DE" sz="1600" b="1" noProof="1">
                <a:solidFill>
                  <a:schemeClr val="tx1"/>
                </a:solidFill>
              </a:rPr>
              <a:t>Judo</a:t>
            </a:r>
            <a:r>
              <a:rPr lang="de-DE" sz="1600" noProof="1">
                <a:solidFill>
                  <a:schemeClr val="tx1"/>
                </a:solidFill>
              </a:rPr>
              <a:t>, ~20h/Woche Training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</a:rPr>
              <a:t>Disziplin, Ehrgeiz &amp; Zielstrebigkeit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</a:rPr>
              <a:t>Mentalität</a:t>
            </a:r>
            <a:r>
              <a:rPr lang="de-DE" sz="1600" noProof="1">
                <a:solidFill>
                  <a:schemeClr val="tx1"/>
                </a:solidFill>
              </a:rPr>
              <a:t> erlangt, alles zu geben, um seine </a:t>
            </a:r>
            <a:r>
              <a:rPr lang="de-DE" sz="1600" b="1" noProof="1">
                <a:solidFill>
                  <a:schemeClr val="tx1"/>
                </a:solidFill>
              </a:rPr>
              <a:t>Ziele</a:t>
            </a:r>
            <a:r>
              <a:rPr lang="de-DE" sz="1600" noProof="1">
                <a:solidFill>
                  <a:schemeClr val="tx1"/>
                </a:solidFill>
              </a:rPr>
              <a:t> zu </a:t>
            </a:r>
            <a:r>
              <a:rPr lang="de-DE" sz="1600" b="1" noProof="1">
                <a:solidFill>
                  <a:schemeClr val="tx1"/>
                </a:solidFill>
              </a:rPr>
              <a:t>erreichen</a:t>
            </a:r>
          </a:p>
        </p:txBody>
      </p:sp>
      <p:sp>
        <p:nvSpPr>
          <p:cNvPr id="42" name="Rectangle 17">
            <a:extLst>
              <a:ext uri="{FF2B5EF4-FFF2-40B4-BE49-F238E27FC236}">
                <a16:creationId xmlns:a16="http://schemas.microsoft.com/office/drawing/2014/main" id="{F845B2F0-778C-1D73-04D6-B3737ED01CF4}"/>
              </a:ext>
            </a:extLst>
          </p:cNvPr>
          <p:cNvSpPr/>
          <p:nvPr/>
        </p:nvSpPr>
        <p:spPr>
          <a:xfrm>
            <a:off x="4156418" y="4613498"/>
            <a:ext cx="2926800" cy="46096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Auslandserfahrung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</a:rPr>
              <a:t>Assistent</a:t>
            </a:r>
            <a:r>
              <a:rPr lang="de-DE" sz="1600" noProof="1">
                <a:solidFill>
                  <a:schemeClr val="tx1"/>
                </a:solidFill>
              </a:rPr>
              <a:t> der Geschäftsführung, West-Vancouver-Foundation (Kanada)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</a:rPr>
              <a:t>Teamarbeit</a:t>
            </a:r>
            <a:r>
              <a:rPr lang="de-DE" sz="1600" noProof="1">
                <a:solidFill>
                  <a:schemeClr val="tx1"/>
                </a:solidFill>
              </a:rPr>
              <a:t> in </a:t>
            </a:r>
            <a:r>
              <a:rPr lang="de-DE" sz="1600" b="1" noProof="1">
                <a:solidFill>
                  <a:schemeClr val="tx1"/>
                </a:solidFill>
              </a:rPr>
              <a:t>internationalem</a:t>
            </a:r>
            <a:r>
              <a:rPr lang="de-DE" sz="1600" noProof="1">
                <a:solidFill>
                  <a:schemeClr val="tx1"/>
                </a:solidFill>
              </a:rPr>
              <a:t> Umfeld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</a:rPr>
              <a:t>Entscheidung</a:t>
            </a:r>
            <a:r>
              <a:rPr lang="de-DE" sz="1600" noProof="1">
                <a:solidFill>
                  <a:schemeClr val="tx1"/>
                </a:solidFill>
              </a:rPr>
              <a:t> für beruflich und akademischen </a:t>
            </a:r>
            <a:r>
              <a:rPr lang="de-DE" sz="1600" b="1" noProof="1">
                <a:solidFill>
                  <a:schemeClr val="tx1"/>
                </a:solidFill>
              </a:rPr>
              <a:t>Weg</a:t>
            </a:r>
            <a:r>
              <a:rPr lang="de-DE" sz="1600" noProof="1">
                <a:solidFill>
                  <a:schemeClr val="tx1"/>
                </a:solidFill>
              </a:rPr>
              <a:t> in einem </a:t>
            </a:r>
            <a:r>
              <a:rPr lang="de-DE" sz="1600" b="1" noProof="1">
                <a:solidFill>
                  <a:schemeClr val="tx1"/>
                </a:solidFill>
              </a:rPr>
              <a:t>internationalen</a:t>
            </a:r>
            <a:r>
              <a:rPr lang="de-DE" sz="1600" noProof="1">
                <a:solidFill>
                  <a:schemeClr val="tx1"/>
                </a:solidFill>
              </a:rPr>
              <a:t> </a:t>
            </a:r>
            <a:r>
              <a:rPr lang="de-DE" sz="1600" b="1" noProof="1">
                <a:solidFill>
                  <a:schemeClr val="tx1"/>
                </a:solidFill>
              </a:rPr>
              <a:t>Kontext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</a:rPr>
              <a:t>Auslandssemester</a:t>
            </a:r>
            <a:r>
              <a:rPr lang="de-DE" sz="1600" noProof="1">
                <a:solidFill>
                  <a:schemeClr val="tx1"/>
                </a:solidFill>
              </a:rPr>
              <a:t> in Madrid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endParaRPr lang="de-DE" noProof="1">
              <a:solidFill>
                <a:schemeClr val="tx1"/>
              </a:solidFill>
            </a:endParaRPr>
          </a:p>
        </p:txBody>
      </p:sp>
      <p:sp>
        <p:nvSpPr>
          <p:cNvPr id="55" name="Rectangle 17">
            <a:extLst>
              <a:ext uri="{FF2B5EF4-FFF2-40B4-BE49-F238E27FC236}">
                <a16:creationId xmlns:a16="http://schemas.microsoft.com/office/drawing/2014/main" id="{302DCD52-A87A-223A-B875-7F833575A7C9}"/>
              </a:ext>
            </a:extLst>
          </p:cNvPr>
          <p:cNvSpPr/>
          <p:nvPr/>
        </p:nvSpPr>
        <p:spPr>
          <a:xfrm>
            <a:off x="7572155" y="4613498"/>
            <a:ext cx="2926800" cy="46096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Studium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Wirtschaftswissen-schaften</a:t>
            </a: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Goethe-Universität in Frankfurt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Lieblingsbereich </a:t>
            </a:r>
            <a:r>
              <a:rPr lang="de-DE" sz="1600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VWL</a:t>
            </a: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Spaß am </a:t>
            </a:r>
            <a:r>
              <a:rPr lang="de-DE" sz="1600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analytischen</a:t>
            </a: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600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Durchdringen</a:t>
            </a: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von Branchen &amp; Unternehmen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Mitgründer</a:t>
            </a: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DemokraTeaTime e.V. Frankfurt, Aneignung von </a:t>
            </a:r>
            <a:r>
              <a:rPr lang="de-DE" sz="1600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Führungs- und Koordinationsfähig-keiten</a:t>
            </a:r>
          </a:p>
        </p:txBody>
      </p:sp>
      <p:sp>
        <p:nvSpPr>
          <p:cNvPr id="56" name="Rectangle 17">
            <a:extLst>
              <a:ext uri="{FF2B5EF4-FFF2-40B4-BE49-F238E27FC236}">
                <a16:creationId xmlns:a16="http://schemas.microsoft.com/office/drawing/2014/main" id="{E9EB29DE-05B0-3EA2-247A-BEF09B740695}"/>
              </a:ext>
            </a:extLst>
          </p:cNvPr>
          <p:cNvSpPr/>
          <p:nvPr/>
        </p:nvSpPr>
        <p:spPr>
          <a:xfrm>
            <a:off x="10987892" y="4607600"/>
            <a:ext cx="2926800" cy="4609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Praxiserfahrung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</a:rPr>
              <a:t>ERP-Consulting: </a:t>
            </a:r>
            <a:r>
              <a:rPr lang="de-DE" sz="1600" noProof="1">
                <a:solidFill>
                  <a:schemeClr val="tx1"/>
                </a:solidFill>
              </a:rPr>
              <a:t>Präsentations- und Kommunikationsfähig-keiten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</a:rPr>
              <a:t>Werkstudent: </a:t>
            </a:r>
            <a:br>
              <a:rPr lang="de-DE" sz="1600" noProof="1">
                <a:solidFill>
                  <a:schemeClr val="tx1"/>
                </a:solidFill>
              </a:rPr>
            </a:br>
            <a:r>
              <a:rPr lang="de-DE" sz="1600" noProof="1">
                <a:solidFill>
                  <a:schemeClr val="tx1"/>
                </a:solidFill>
              </a:rPr>
              <a:t>KI-Automatisierungs-projekt, technologische Fähigkeiten ausgebaut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</a:rPr>
              <a:t>Fraport AG Strategie: </a:t>
            </a:r>
            <a:r>
              <a:rPr lang="de-DE" sz="1600" noProof="1">
                <a:solidFill>
                  <a:schemeClr val="tx1"/>
                </a:solidFill>
              </a:rPr>
              <a:t>Zusammenarbeit mit dem Top-Management, präzise Analyse komplexer Problemstellungen</a:t>
            </a:r>
            <a:endParaRPr lang="de-DE" sz="1600" noProof="1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CE5DA363-CDAD-D785-BD39-DD1E8837637B}"/>
              </a:ext>
            </a:extLst>
          </p:cNvPr>
          <p:cNvSpPr/>
          <p:nvPr/>
        </p:nvSpPr>
        <p:spPr>
          <a:xfrm>
            <a:off x="14403628" y="4613497"/>
            <a:ext cx="2926800" cy="461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LIO Consulting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Services</a:t>
            </a: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fundamentaler </a:t>
            </a:r>
            <a:r>
              <a:rPr lang="de-DE" sz="1600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Transformation</a:t>
            </a:r>
            <a:r>
              <a:rPr lang="de-DE" sz="1600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KI, Regulatorik, disruptive Geschäftsmodelle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dirty="0">
                <a:solidFill>
                  <a:schemeClr val="tx1"/>
                </a:solidFill>
              </a:rPr>
              <a:t>Übereinstimmung</a:t>
            </a:r>
            <a:r>
              <a:rPr lang="de-DE" sz="1600" dirty="0">
                <a:solidFill>
                  <a:schemeClr val="tx1"/>
                </a:solidFill>
              </a:rPr>
              <a:t> mit </a:t>
            </a:r>
            <a:r>
              <a:rPr lang="de-DE" sz="1600" b="1" dirty="0">
                <a:solidFill>
                  <a:schemeClr val="tx1"/>
                </a:solidFill>
              </a:rPr>
              <a:t>Philosophie</a:t>
            </a:r>
            <a:r>
              <a:rPr lang="de-DE" sz="1600" dirty="0">
                <a:solidFill>
                  <a:schemeClr val="tx1"/>
                </a:solidFill>
              </a:rPr>
              <a:t>: Top-Qualität, Agilität und Menschenzentriertheit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sz="1600" b="1" dirty="0">
                <a:solidFill>
                  <a:schemeClr val="tx1"/>
                </a:solidFill>
              </a:rPr>
              <a:t>Empfohlen</a:t>
            </a:r>
            <a:r>
              <a:rPr lang="de-DE" sz="1600" dirty="0">
                <a:solidFill>
                  <a:schemeClr val="tx1"/>
                </a:solidFill>
              </a:rPr>
              <a:t> von einem Bekannten, </a:t>
            </a:r>
            <a:r>
              <a:rPr lang="de-DE" sz="1600" b="1" dirty="0">
                <a:solidFill>
                  <a:schemeClr val="tx1"/>
                </a:solidFill>
              </a:rPr>
              <a:t>junges</a:t>
            </a:r>
            <a:r>
              <a:rPr lang="de-DE" sz="1600" dirty="0">
                <a:solidFill>
                  <a:schemeClr val="tx1"/>
                </a:solidFill>
              </a:rPr>
              <a:t> Unternehmen und </a:t>
            </a:r>
            <a:r>
              <a:rPr lang="de-DE" sz="1600" b="1" dirty="0">
                <a:solidFill>
                  <a:schemeClr val="tx1"/>
                </a:solidFill>
              </a:rPr>
              <a:t>tolles</a:t>
            </a:r>
            <a:r>
              <a:rPr lang="de-DE" sz="1600" dirty="0">
                <a:solidFill>
                  <a:schemeClr val="tx1"/>
                </a:solidFill>
              </a:rPr>
              <a:t> Team ermöglichen eine </a:t>
            </a:r>
            <a:r>
              <a:rPr lang="de-DE" sz="1600" b="1" dirty="0">
                <a:solidFill>
                  <a:schemeClr val="tx1"/>
                </a:solidFill>
              </a:rPr>
              <a:t>steile Lernkurve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CBA9B32-F90E-13D6-2DE7-78F4AF9D9B4A}"/>
              </a:ext>
            </a:extLst>
          </p:cNvPr>
          <p:cNvGrpSpPr/>
          <p:nvPr/>
        </p:nvGrpSpPr>
        <p:grpSpPr>
          <a:xfrm>
            <a:off x="1748544" y="3200343"/>
            <a:ext cx="914400" cy="1419054"/>
            <a:chOff x="993318" y="2962446"/>
            <a:chExt cx="914400" cy="141905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57EFBE3-5878-9577-4EAD-26F93D677D52}"/>
                </a:ext>
              </a:extLst>
            </p:cNvPr>
            <p:cNvSpPr/>
            <p:nvPr/>
          </p:nvSpPr>
          <p:spPr>
            <a:xfrm>
              <a:off x="993318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83173DF-5C7D-AF0F-049A-9D2D71F29ECC}"/>
                </a:ext>
              </a:extLst>
            </p:cNvPr>
            <p:cNvGrpSpPr/>
            <p:nvPr/>
          </p:nvGrpSpPr>
          <p:grpSpPr>
            <a:xfrm>
              <a:off x="1162259" y="3131387"/>
              <a:ext cx="576519" cy="1250113"/>
              <a:chOff x="1162259" y="3131387"/>
              <a:chExt cx="576519" cy="1250113"/>
            </a:xfrm>
          </p:grpSpPr>
          <p:cxnSp>
            <p:nvCxnSpPr>
              <p:cNvPr id="29" name="Gerade Verbindung 28">
                <a:extLst>
                  <a:ext uri="{FF2B5EF4-FFF2-40B4-BE49-F238E27FC236}">
                    <a16:creationId xmlns:a16="http://schemas.microsoft.com/office/drawing/2014/main" id="{FC5D286B-5EA7-1B96-1A50-B7D956EF8C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0518" y="3800646"/>
                <a:ext cx="0" cy="58085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1" name="Grafik 60">
                <a:extLst>
                  <a:ext uri="{FF2B5EF4-FFF2-40B4-BE49-F238E27FC236}">
                    <a16:creationId xmlns:a16="http://schemas.microsoft.com/office/drawing/2014/main" id="{C891A4B5-15D2-2526-B520-1221E5C186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62259" y="3131387"/>
                <a:ext cx="576519" cy="576519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8AEC3FB-EE54-5718-2208-B119D818BE12}"/>
              </a:ext>
            </a:extLst>
          </p:cNvPr>
          <p:cNvGrpSpPr/>
          <p:nvPr/>
        </p:nvGrpSpPr>
        <p:grpSpPr>
          <a:xfrm>
            <a:off x="8579186" y="3200343"/>
            <a:ext cx="914400" cy="914400"/>
            <a:chOff x="7449776" y="2962446"/>
            <a:chExt cx="914400" cy="9144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5D5952C-EBB1-2EE8-8B41-F8D3D6A65493}"/>
                </a:ext>
              </a:extLst>
            </p:cNvPr>
            <p:cNvSpPr/>
            <p:nvPr/>
          </p:nvSpPr>
          <p:spPr>
            <a:xfrm>
              <a:off x="7449776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 descr="Schulgebäude mit einfarbiger Füllung">
              <a:extLst>
                <a:ext uri="{FF2B5EF4-FFF2-40B4-BE49-F238E27FC236}">
                  <a16:creationId xmlns:a16="http://schemas.microsoft.com/office/drawing/2014/main" id="{7F19A9DF-8578-08BA-E93D-47EE9E9E60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16620" y="3112773"/>
              <a:ext cx="576000" cy="576000"/>
            </a:xfrm>
            <a:prstGeom prst="rect">
              <a:avLst/>
            </a:prstGeom>
          </p:spPr>
        </p:pic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341F00B-2402-371C-8D21-C525B394DB4D}"/>
              </a:ext>
            </a:extLst>
          </p:cNvPr>
          <p:cNvGrpSpPr/>
          <p:nvPr/>
        </p:nvGrpSpPr>
        <p:grpSpPr>
          <a:xfrm>
            <a:off x="11994507" y="3200343"/>
            <a:ext cx="914400" cy="914400"/>
            <a:chOff x="10678005" y="2962446"/>
            <a:chExt cx="914400" cy="9144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8F67C8-3AA8-43BF-D348-02ADD98D6584}"/>
                </a:ext>
              </a:extLst>
            </p:cNvPr>
            <p:cNvSpPr/>
            <p:nvPr/>
          </p:nvSpPr>
          <p:spPr>
            <a:xfrm>
              <a:off x="10678005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71" name="Grafik 70" descr="Laptop mit einfarbiger Füllung">
              <a:extLst>
                <a:ext uri="{FF2B5EF4-FFF2-40B4-BE49-F238E27FC236}">
                  <a16:creationId xmlns:a16="http://schemas.microsoft.com/office/drawing/2014/main" id="{C63616FD-F5ED-3E91-4888-DAA0EF3AF3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47205" y="3131646"/>
              <a:ext cx="576000" cy="576000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D6CF697B-42D5-799C-8708-8B80F37B5420}"/>
              </a:ext>
            </a:extLst>
          </p:cNvPr>
          <p:cNvGrpSpPr/>
          <p:nvPr/>
        </p:nvGrpSpPr>
        <p:grpSpPr>
          <a:xfrm>
            <a:off x="15409828" y="3200343"/>
            <a:ext cx="914400" cy="914400"/>
            <a:chOff x="13906236" y="2962446"/>
            <a:chExt cx="914400" cy="9144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040A8AD-8380-5E16-38C7-3114487F931E}"/>
                </a:ext>
              </a:extLst>
            </p:cNvPr>
            <p:cNvSpPr/>
            <p:nvPr/>
          </p:nvSpPr>
          <p:spPr>
            <a:xfrm>
              <a:off x="13906236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 descr="Volltreffer mit einfarbiger Füllung">
              <a:extLst>
                <a:ext uri="{FF2B5EF4-FFF2-40B4-BE49-F238E27FC236}">
                  <a16:creationId xmlns:a16="http://schemas.microsoft.com/office/drawing/2014/main" id="{2A0CF34F-9807-EBC3-209E-84681A6086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75436" y="3130387"/>
              <a:ext cx="576000" cy="576000"/>
            </a:xfrm>
            <a:prstGeom prst="rect">
              <a:avLst/>
            </a:prstGeom>
          </p:spPr>
        </p:pic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6BF3ECB-A604-A53D-DFA8-161BF1374345}"/>
              </a:ext>
            </a:extLst>
          </p:cNvPr>
          <p:cNvGrpSpPr/>
          <p:nvPr/>
        </p:nvGrpSpPr>
        <p:grpSpPr>
          <a:xfrm>
            <a:off x="5163865" y="3200343"/>
            <a:ext cx="914400" cy="914400"/>
            <a:chOff x="4221547" y="2962446"/>
            <a:chExt cx="914400" cy="9144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D4810E-6DA0-477C-941F-6FDC0B239966}"/>
                </a:ext>
              </a:extLst>
            </p:cNvPr>
            <p:cNvSpPr/>
            <p:nvPr/>
          </p:nvSpPr>
          <p:spPr>
            <a:xfrm>
              <a:off x="4221547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75" name="Grafik 74" descr="Globus mit einfarbiger Füllung">
              <a:extLst>
                <a:ext uri="{FF2B5EF4-FFF2-40B4-BE49-F238E27FC236}">
                  <a16:creationId xmlns:a16="http://schemas.microsoft.com/office/drawing/2014/main" id="{8CBF319C-DC4E-C90C-EBE1-DEB0863435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90746" y="3130387"/>
              <a:ext cx="576000" cy="576000"/>
            </a:xfrm>
            <a:prstGeom prst="rect">
              <a:avLst/>
            </a:prstGeom>
          </p:spPr>
        </p:pic>
      </p:grp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6B92D94A-40D2-18C7-0A23-7A01BBCAFF83}"/>
              </a:ext>
            </a:extLst>
          </p:cNvPr>
          <p:cNvCxnSpPr>
            <a:cxnSpLocks/>
            <a:stCxn id="11" idx="4"/>
            <a:endCxn id="57" idx="0"/>
          </p:cNvCxnSpPr>
          <p:nvPr/>
        </p:nvCxnSpPr>
        <p:spPr>
          <a:xfrm>
            <a:off x="15867028" y="4114743"/>
            <a:ext cx="0" cy="498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57DEDCC7-7D62-7836-8056-547747B19530}"/>
              </a:ext>
            </a:extLst>
          </p:cNvPr>
          <p:cNvCxnSpPr>
            <a:cxnSpLocks/>
          </p:cNvCxnSpPr>
          <p:nvPr/>
        </p:nvCxnSpPr>
        <p:spPr>
          <a:xfrm>
            <a:off x="12450233" y="4120642"/>
            <a:ext cx="0" cy="498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EA9B6CA0-57D0-1B9D-699F-FD0A6AE5FAB4}"/>
              </a:ext>
            </a:extLst>
          </p:cNvPr>
          <p:cNvCxnSpPr>
            <a:cxnSpLocks/>
          </p:cNvCxnSpPr>
          <p:nvPr/>
        </p:nvCxnSpPr>
        <p:spPr>
          <a:xfrm>
            <a:off x="9033438" y="4126541"/>
            <a:ext cx="0" cy="498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A9FCA244-C10F-AB4F-0DC4-7F618F9F2404}"/>
              </a:ext>
            </a:extLst>
          </p:cNvPr>
          <p:cNvCxnSpPr>
            <a:cxnSpLocks/>
          </p:cNvCxnSpPr>
          <p:nvPr/>
        </p:nvCxnSpPr>
        <p:spPr>
          <a:xfrm>
            <a:off x="5616643" y="4132440"/>
            <a:ext cx="0" cy="498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F8D31A50-7070-D981-7A9D-6EFF738A6371}"/>
              </a:ext>
            </a:extLst>
          </p:cNvPr>
          <p:cNvSpPr txBox="1"/>
          <p:nvPr/>
        </p:nvSpPr>
        <p:spPr>
          <a:xfrm>
            <a:off x="1308703" y="2540625"/>
            <a:ext cx="1794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accent1"/>
                </a:solidFill>
              </a:rPr>
              <a:t>Belastbarkeit</a:t>
            </a:r>
            <a:endParaRPr lang="de-DE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CDD5F01A-A466-382B-F184-65249BF908FF}"/>
              </a:ext>
            </a:extLst>
          </p:cNvPr>
          <p:cNvSpPr txBox="1"/>
          <p:nvPr/>
        </p:nvSpPr>
        <p:spPr>
          <a:xfrm>
            <a:off x="4564111" y="2540625"/>
            <a:ext cx="2105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Internationalität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0B738FA-6FB3-8078-6D47-41656AAA5DF3}"/>
              </a:ext>
            </a:extLst>
          </p:cNvPr>
          <p:cNvSpPr txBox="1"/>
          <p:nvPr/>
        </p:nvSpPr>
        <p:spPr>
          <a:xfrm>
            <a:off x="7922396" y="2540625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Analysefähigkeit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B8DD4E7E-B353-390E-C804-74A1C3B49278}"/>
              </a:ext>
            </a:extLst>
          </p:cNvPr>
          <p:cNvSpPr txBox="1"/>
          <p:nvPr/>
        </p:nvSpPr>
        <p:spPr>
          <a:xfrm>
            <a:off x="10953669" y="2540625"/>
            <a:ext cx="29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Consulting-Kompetenz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6B8C60B-8585-4A09-C6B9-D1218CEC6195}"/>
              </a:ext>
            </a:extLst>
          </p:cNvPr>
          <p:cNvSpPr txBox="1"/>
          <p:nvPr/>
        </p:nvSpPr>
        <p:spPr>
          <a:xfrm>
            <a:off x="15209841" y="2540625"/>
            <a:ext cx="1279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Mein Ziel</a:t>
            </a:r>
          </a:p>
        </p:txBody>
      </p:sp>
    </p:spTree>
    <p:extLst>
      <p:ext uri="{BB962C8B-B14F-4D97-AF65-F5344CB8AC3E}">
        <p14:creationId xmlns:p14="http://schemas.microsoft.com/office/powerpoint/2010/main" val="217700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32D6C-E230-DB76-1526-3FE1612D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56A556-95BC-1220-0E33-FF1D0E8FF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5" y="9969500"/>
            <a:ext cx="15135225" cy="253209"/>
          </a:xfrm>
        </p:spPr>
        <p:txBody>
          <a:bodyPr/>
          <a:lstStyle/>
          <a:p>
            <a:r>
              <a:rPr lang="en-US" sz="1100" dirty="0"/>
              <a:t>Selbstpräsentation – Darius Kallenbach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02B811-1838-072C-B6C3-04A5A8816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969896"/>
            <a:ext cx="800100" cy="253209"/>
          </a:xfrm>
        </p:spPr>
        <p:txBody>
          <a:bodyPr/>
          <a:lstStyle/>
          <a:p>
            <a:fld id="{E2D680B1-7F17-42D2-83E2-2C9AC13983BB}" type="slidenum">
              <a:rPr lang="en-US" sz="1100" smtClean="0"/>
              <a:pPr/>
              <a:t>4</a:t>
            </a:fld>
            <a:endParaRPr lang="en-US" sz="1100" dirty="0"/>
          </a:p>
        </p:txBody>
      </p:sp>
      <p:sp>
        <p:nvSpPr>
          <p:cNvPr id="79" name="Titel 78">
            <a:extLst>
              <a:ext uri="{FF2B5EF4-FFF2-40B4-BE49-F238E27FC236}">
                <a16:creationId xmlns:a16="http://schemas.microsoft.com/office/drawing/2014/main" id="{E492BA9A-11A1-4F14-BBD4-1E91E594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solidFill>
                  <a:schemeClr val="tx1"/>
                </a:solidFill>
              </a:rPr>
              <a:t>Starkes analytisches Fundament und vielseitige Praxiserfahrungen garantieren eine schnelle Integration in den Beratungsalltag bei LIO Consulting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CF1A9E5A-1203-93CD-3632-502AA3E9962B}"/>
              </a:ext>
            </a:extLst>
          </p:cNvPr>
          <p:cNvSpPr/>
          <p:nvPr/>
        </p:nvSpPr>
        <p:spPr>
          <a:xfrm>
            <a:off x="727075" y="3400197"/>
            <a:ext cx="16859250" cy="484632"/>
          </a:xfrm>
          <a:prstGeom prst="rightArrow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tangle 17">
            <a:extLst>
              <a:ext uri="{FF2B5EF4-FFF2-40B4-BE49-F238E27FC236}">
                <a16:creationId xmlns:a16="http://schemas.microsoft.com/office/drawing/2014/main" id="{7F7E010A-2A87-F9B8-C5DC-B0D66DB09EA2}"/>
              </a:ext>
            </a:extLst>
          </p:cNvPr>
          <p:cNvSpPr/>
          <p:nvPr/>
        </p:nvSpPr>
        <p:spPr>
          <a:xfrm>
            <a:off x="744007" y="4619395"/>
            <a:ext cx="2926800" cy="461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</a:pPr>
            <a:r>
              <a:rPr lang="de-DE" sz="2000" b="1" noProof="1">
                <a:solidFill>
                  <a:schemeClr val="tx1"/>
                </a:solidFill>
              </a:rPr>
              <a:t>Leistungssport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Leistungssport im Judo, ~20h/Woche Training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Disziplin, Ehrgeiz &amp; Zielstrebigkeit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Mentalität erlangt, alles zu geben, um seine Ziele zu erreichen</a:t>
            </a:r>
          </a:p>
        </p:txBody>
      </p:sp>
      <p:sp>
        <p:nvSpPr>
          <p:cNvPr id="42" name="Rectangle 17">
            <a:extLst>
              <a:ext uri="{FF2B5EF4-FFF2-40B4-BE49-F238E27FC236}">
                <a16:creationId xmlns:a16="http://schemas.microsoft.com/office/drawing/2014/main" id="{5326F632-0406-A410-B7EE-2962CA1BDCB8}"/>
              </a:ext>
            </a:extLst>
          </p:cNvPr>
          <p:cNvSpPr/>
          <p:nvPr/>
        </p:nvSpPr>
        <p:spPr>
          <a:xfrm>
            <a:off x="4156418" y="4613498"/>
            <a:ext cx="2926800" cy="46096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Auslandserfahrung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Assistent der Geschäftsführung, West-Vancouver-Foundation (Kanada)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Teamarbeit in internationalem Umfeld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Entscheidung für beruflich und akademischen Weg in einem internationalen Kontext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Auslandssemester in Madrid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endParaRPr lang="de-DE" noProof="1">
              <a:solidFill>
                <a:schemeClr val="tx1"/>
              </a:solidFill>
            </a:endParaRPr>
          </a:p>
        </p:txBody>
      </p:sp>
      <p:sp>
        <p:nvSpPr>
          <p:cNvPr id="55" name="Rectangle 17">
            <a:extLst>
              <a:ext uri="{FF2B5EF4-FFF2-40B4-BE49-F238E27FC236}">
                <a16:creationId xmlns:a16="http://schemas.microsoft.com/office/drawing/2014/main" id="{CB30829D-4235-60D4-A6FE-0BAD79AF3B78}"/>
              </a:ext>
            </a:extLst>
          </p:cNvPr>
          <p:cNvSpPr/>
          <p:nvPr/>
        </p:nvSpPr>
        <p:spPr>
          <a:xfrm>
            <a:off x="7572155" y="4613498"/>
            <a:ext cx="2926800" cy="46096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Studium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Wirtschaftswissen-schaften, Goethe-Universität in Frankfurt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Lieblingsbereich VWL, Spaß am analytischen Durchdringen von Branchen &amp; Unternehmen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Mitgründer DemokraTeaTime e.V. Frankfurt, Aneignung von Führungs- und Koordinationsfähig-keiten</a:t>
            </a:r>
          </a:p>
        </p:txBody>
      </p:sp>
      <p:sp>
        <p:nvSpPr>
          <p:cNvPr id="56" name="Rectangle 17">
            <a:extLst>
              <a:ext uri="{FF2B5EF4-FFF2-40B4-BE49-F238E27FC236}">
                <a16:creationId xmlns:a16="http://schemas.microsoft.com/office/drawing/2014/main" id="{64A57C6D-5E08-991B-DE86-36308F7093DA}"/>
              </a:ext>
            </a:extLst>
          </p:cNvPr>
          <p:cNvSpPr/>
          <p:nvPr/>
        </p:nvSpPr>
        <p:spPr>
          <a:xfrm>
            <a:off x="10987892" y="4607600"/>
            <a:ext cx="2926800" cy="4609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Praxiserfahrung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ERP-Consulting: Präsentations- und Kommunikationsfähig-keiten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Werkstudent: </a:t>
            </a:r>
            <a:br>
              <a:rPr lang="de-DE" noProof="1">
                <a:solidFill>
                  <a:schemeClr val="tx1"/>
                </a:solidFill>
              </a:rPr>
            </a:br>
            <a:r>
              <a:rPr lang="de-DE" noProof="1">
                <a:solidFill>
                  <a:schemeClr val="tx1"/>
                </a:solidFill>
              </a:rPr>
              <a:t>KI-Automatisierungs-projekt, technologische Fähigkeiten ausgebaut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Fraport AG Strategie: Zusammenarbeit mit dem Top-Management, präzise Analyse komplexer Problemstellungen</a:t>
            </a:r>
            <a:endParaRPr lang="de-DE" noProof="1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CB729FDF-63A8-336C-E1C6-D800C168F7DC}"/>
              </a:ext>
            </a:extLst>
          </p:cNvPr>
          <p:cNvSpPr/>
          <p:nvPr/>
        </p:nvSpPr>
        <p:spPr>
          <a:xfrm>
            <a:off x="14403628" y="4613497"/>
            <a:ext cx="2926800" cy="461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LIO Consulting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Services in fundamentaler Transformation – KI, Regulatorik, disruptive Geschäftsmodelle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dirty="0">
                <a:solidFill>
                  <a:schemeClr val="tx1"/>
                </a:solidFill>
              </a:rPr>
              <a:t>Übereinstimmung mit Philosophie: Top-Qualität, Agilität und Menschenzentriertheit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dirty="0">
                <a:solidFill>
                  <a:schemeClr val="tx1"/>
                </a:solidFill>
              </a:rPr>
              <a:t>Empfohlen von einem Bekannten, junges Unternehmen und tolles Team ermöglichen eine steile Lernkurve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E98763C-A5A8-6FA8-CE6A-12437C2E14A1}"/>
              </a:ext>
            </a:extLst>
          </p:cNvPr>
          <p:cNvGrpSpPr/>
          <p:nvPr/>
        </p:nvGrpSpPr>
        <p:grpSpPr>
          <a:xfrm>
            <a:off x="1748544" y="3200343"/>
            <a:ext cx="914400" cy="1419054"/>
            <a:chOff x="993318" y="2962446"/>
            <a:chExt cx="914400" cy="141905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21CE458-DDA2-FE36-39B7-28D36D9ECF2F}"/>
                </a:ext>
              </a:extLst>
            </p:cNvPr>
            <p:cNvSpPr/>
            <p:nvPr/>
          </p:nvSpPr>
          <p:spPr>
            <a:xfrm>
              <a:off x="993318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4CED268-7141-C80E-2627-5FEDF7C31B75}"/>
                </a:ext>
              </a:extLst>
            </p:cNvPr>
            <p:cNvGrpSpPr/>
            <p:nvPr/>
          </p:nvGrpSpPr>
          <p:grpSpPr>
            <a:xfrm>
              <a:off x="1162259" y="3131387"/>
              <a:ext cx="576519" cy="1250113"/>
              <a:chOff x="1162259" y="3131387"/>
              <a:chExt cx="576519" cy="1250113"/>
            </a:xfrm>
          </p:grpSpPr>
          <p:cxnSp>
            <p:nvCxnSpPr>
              <p:cNvPr id="29" name="Gerade Verbindung 28">
                <a:extLst>
                  <a:ext uri="{FF2B5EF4-FFF2-40B4-BE49-F238E27FC236}">
                    <a16:creationId xmlns:a16="http://schemas.microsoft.com/office/drawing/2014/main" id="{7F192020-DF7A-5442-1BE1-019B35AFB5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0518" y="3800646"/>
                <a:ext cx="0" cy="58085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1" name="Grafik 60">
                <a:extLst>
                  <a:ext uri="{FF2B5EF4-FFF2-40B4-BE49-F238E27FC236}">
                    <a16:creationId xmlns:a16="http://schemas.microsoft.com/office/drawing/2014/main" id="{B78A0378-4844-7CFF-CECC-412C88D2E7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62259" y="3131387"/>
                <a:ext cx="576519" cy="576519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C1F67CA-9F99-DAEE-4E54-77F78A680322}"/>
              </a:ext>
            </a:extLst>
          </p:cNvPr>
          <p:cNvGrpSpPr/>
          <p:nvPr/>
        </p:nvGrpSpPr>
        <p:grpSpPr>
          <a:xfrm>
            <a:off x="8579186" y="3200343"/>
            <a:ext cx="914400" cy="914400"/>
            <a:chOff x="7449776" y="2962446"/>
            <a:chExt cx="914400" cy="9144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CE605A8-B635-0FDB-EEF9-F47198CA73D8}"/>
                </a:ext>
              </a:extLst>
            </p:cNvPr>
            <p:cNvSpPr/>
            <p:nvPr/>
          </p:nvSpPr>
          <p:spPr>
            <a:xfrm>
              <a:off x="7449776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 descr="Schulgebäude mit einfarbiger Füllung">
              <a:extLst>
                <a:ext uri="{FF2B5EF4-FFF2-40B4-BE49-F238E27FC236}">
                  <a16:creationId xmlns:a16="http://schemas.microsoft.com/office/drawing/2014/main" id="{C2F8DAB8-2DBF-5136-F8B4-FD08B6F683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16620" y="3112773"/>
              <a:ext cx="576000" cy="576000"/>
            </a:xfrm>
            <a:prstGeom prst="rect">
              <a:avLst/>
            </a:prstGeom>
          </p:spPr>
        </p:pic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A7B2DCB-6FA1-75D9-23D4-008DD7F87065}"/>
              </a:ext>
            </a:extLst>
          </p:cNvPr>
          <p:cNvGrpSpPr/>
          <p:nvPr/>
        </p:nvGrpSpPr>
        <p:grpSpPr>
          <a:xfrm>
            <a:off x="11994507" y="3200343"/>
            <a:ext cx="914400" cy="914400"/>
            <a:chOff x="10678005" y="2962446"/>
            <a:chExt cx="914400" cy="9144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4D69919-4002-8883-578C-8178D31450B3}"/>
                </a:ext>
              </a:extLst>
            </p:cNvPr>
            <p:cNvSpPr/>
            <p:nvPr/>
          </p:nvSpPr>
          <p:spPr>
            <a:xfrm>
              <a:off x="10678005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71" name="Grafik 70" descr="Laptop mit einfarbiger Füllung">
              <a:extLst>
                <a:ext uri="{FF2B5EF4-FFF2-40B4-BE49-F238E27FC236}">
                  <a16:creationId xmlns:a16="http://schemas.microsoft.com/office/drawing/2014/main" id="{EAC4BC77-385B-57DC-F872-E57774F925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47205" y="3131646"/>
              <a:ext cx="576000" cy="576000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7402D69-0635-243B-E418-38487EC99C98}"/>
              </a:ext>
            </a:extLst>
          </p:cNvPr>
          <p:cNvGrpSpPr/>
          <p:nvPr/>
        </p:nvGrpSpPr>
        <p:grpSpPr>
          <a:xfrm>
            <a:off x="15409828" y="3200343"/>
            <a:ext cx="914400" cy="914400"/>
            <a:chOff x="13906236" y="2962446"/>
            <a:chExt cx="914400" cy="9144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27028A0-09F5-59AA-D6DA-0416913757E7}"/>
                </a:ext>
              </a:extLst>
            </p:cNvPr>
            <p:cNvSpPr/>
            <p:nvPr/>
          </p:nvSpPr>
          <p:spPr>
            <a:xfrm>
              <a:off x="13906236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 descr="Volltreffer mit einfarbiger Füllung">
              <a:extLst>
                <a:ext uri="{FF2B5EF4-FFF2-40B4-BE49-F238E27FC236}">
                  <a16:creationId xmlns:a16="http://schemas.microsoft.com/office/drawing/2014/main" id="{411674B1-1F96-4285-D9EC-2DCE4475F9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75436" y="3130387"/>
              <a:ext cx="576000" cy="576000"/>
            </a:xfrm>
            <a:prstGeom prst="rect">
              <a:avLst/>
            </a:prstGeom>
          </p:spPr>
        </p:pic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0AA32B35-202A-B9B0-ECF4-9AFA6EC93723}"/>
              </a:ext>
            </a:extLst>
          </p:cNvPr>
          <p:cNvGrpSpPr/>
          <p:nvPr/>
        </p:nvGrpSpPr>
        <p:grpSpPr>
          <a:xfrm>
            <a:off x="5163865" y="3200343"/>
            <a:ext cx="914400" cy="914400"/>
            <a:chOff x="4221547" y="2962446"/>
            <a:chExt cx="914400" cy="9144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0C28BE7-4448-2F47-E6C1-99C1A81446DD}"/>
                </a:ext>
              </a:extLst>
            </p:cNvPr>
            <p:cNvSpPr/>
            <p:nvPr/>
          </p:nvSpPr>
          <p:spPr>
            <a:xfrm>
              <a:off x="4221547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75" name="Grafik 74" descr="Globus mit einfarbiger Füllung">
              <a:extLst>
                <a:ext uri="{FF2B5EF4-FFF2-40B4-BE49-F238E27FC236}">
                  <a16:creationId xmlns:a16="http://schemas.microsoft.com/office/drawing/2014/main" id="{C75D9D0F-98A9-5313-8CB8-43E7A7E7DA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90746" y="3130387"/>
              <a:ext cx="576000" cy="576000"/>
            </a:xfrm>
            <a:prstGeom prst="rect">
              <a:avLst/>
            </a:prstGeom>
          </p:spPr>
        </p:pic>
      </p:grp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D30EB86C-6AFD-0246-3AEF-0485D532BBF4}"/>
              </a:ext>
            </a:extLst>
          </p:cNvPr>
          <p:cNvCxnSpPr>
            <a:cxnSpLocks/>
            <a:stCxn id="11" idx="4"/>
            <a:endCxn id="57" idx="0"/>
          </p:cNvCxnSpPr>
          <p:nvPr/>
        </p:nvCxnSpPr>
        <p:spPr>
          <a:xfrm>
            <a:off x="15867028" y="4114743"/>
            <a:ext cx="0" cy="498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448D4CBB-B290-0631-3982-05AD88D6CD30}"/>
              </a:ext>
            </a:extLst>
          </p:cNvPr>
          <p:cNvCxnSpPr>
            <a:cxnSpLocks/>
          </p:cNvCxnSpPr>
          <p:nvPr/>
        </p:nvCxnSpPr>
        <p:spPr>
          <a:xfrm>
            <a:off x="12450233" y="4120642"/>
            <a:ext cx="0" cy="498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28E81F04-01D4-6F9C-1DAB-EADA0F8007A7}"/>
              </a:ext>
            </a:extLst>
          </p:cNvPr>
          <p:cNvCxnSpPr>
            <a:cxnSpLocks/>
          </p:cNvCxnSpPr>
          <p:nvPr/>
        </p:nvCxnSpPr>
        <p:spPr>
          <a:xfrm>
            <a:off x="9033438" y="4126541"/>
            <a:ext cx="0" cy="498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200E3B45-24FE-7D16-E06E-53D4F04FDBBA}"/>
              </a:ext>
            </a:extLst>
          </p:cNvPr>
          <p:cNvCxnSpPr>
            <a:cxnSpLocks/>
          </p:cNvCxnSpPr>
          <p:nvPr/>
        </p:nvCxnSpPr>
        <p:spPr>
          <a:xfrm>
            <a:off x="5616643" y="4132440"/>
            <a:ext cx="0" cy="498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F845B9C6-4273-7682-6E9F-94B161B45F94}"/>
              </a:ext>
            </a:extLst>
          </p:cNvPr>
          <p:cNvSpPr txBox="1"/>
          <p:nvPr/>
        </p:nvSpPr>
        <p:spPr>
          <a:xfrm>
            <a:off x="1308703" y="2540625"/>
            <a:ext cx="1794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accent1"/>
                </a:solidFill>
              </a:rPr>
              <a:t>Belastbarkeit</a:t>
            </a:r>
            <a:endParaRPr lang="de-DE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CED798-8E7B-4CCE-2636-DF46E729D26F}"/>
              </a:ext>
            </a:extLst>
          </p:cNvPr>
          <p:cNvSpPr txBox="1"/>
          <p:nvPr/>
        </p:nvSpPr>
        <p:spPr>
          <a:xfrm>
            <a:off x="4564111" y="2540625"/>
            <a:ext cx="2105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Internationalität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DAC557D-8FFE-8918-BFAD-667F706DE861}"/>
              </a:ext>
            </a:extLst>
          </p:cNvPr>
          <p:cNvSpPr txBox="1"/>
          <p:nvPr/>
        </p:nvSpPr>
        <p:spPr>
          <a:xfrm>
            <a:off x="7922396" y="2540625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Analysefähigkeit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666F2CF-62AA-6D59-7F1E-A14E4E7A2DFB}"/>
              </a:ext>
            </a:extLst>
          </p:cNvPr>
          <p:cNvSpPr txBox="1"/>
          <p:nvPr/>
        </p:nvSpPr>
        <p:spPr>
          <a:xfrm>
            <a:off x="10953669" y="2540625"/>
            <a:ext cx="29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Consulting-Kompetenz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68FE288-04B7-5F47-7DF0-B929C90E38F0}"/>
              </a:ext>
            </a:extLst>
          </p:cNvPr>
          <p:cNvSpPr txBox="1"/>
          <p:nvPr/>
        </p:nvSpPr>
        <p:spPr>
          <a:xfrm>
            <a:off x="15079132" y="2540625"/>
            <a:ext cx="1540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Warum LIO</a:t>
            </a:r>
          </a:p>
        </p:txBody>
      </p:sp>
    </p:spTree>
    <p:extLst>
      <p:ext uri="{BB962C8B-B14F-4D97-AF65-F5344CB8AC3E}">
        <p14:creationId xmlns:p14="http://schemas.microsoft.com/office/powerpoint/2010/main" val="1839792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AF932-34DE-7D2B-2D5C-B3732FB6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B92E2F-D056-1BED-5CAC-FB199F77E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4375" y="9969500"/>
            <a:ext cx="15135225" cy="253209"/>
          </a:xfrm>
        </p:spPr>
        <p:txBody>
          <a:bodyPr/>
          <a:lstStyle/>
          <a:p>
            <a:r>
              <a:rPr lang="en-US" sz="1100" dirty="0"/>
              <a:t>Selbstpräsentation – Darius Kallenbach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B7999E-42C4-2C1A-49DD-3406B63AE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773525" y="9969896"/>
            <a:ext cx="800100" cy="253209"/>
          </a:xfrm>
        </p:spPr>
        <p:txBody>
          <a:bodyPr/>
          <a:lstStyle/>
          <a:p>
            <a:fld id="{E2D680B1-7F17-42D2-83E2-2C9AC13983BB}" type="slidenum">
              <a:rPr lang="en-US" sz="1100" smtClean="0"/>
              <a:pPr/>
              <a:t>5</a:t>
            </a:fld>
            <a:endParaRPr lang="en-US" sz="1100" dirty="0"/>
          </a:p>
        </p:txBody>
      </p:sp>
      <p:sp>
        <p:nvSpPr>
          <p:cNvPr id="79" name="Titel 78">
            <a:extLst>
              <a:ext uri="{FF2B5EF4-FFF2-40B4-BE49-F238E27FC236}">
                <a16:creationId xmlns:a16="http://schemas.microsoft.com/office/drawing/2014/main" id="{AFA6137F-463B-374E-BF03-5986FD75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>
                <a:solidFill>
                  <a:schemeClr val="tx1"/>
                </a:solidFill>
              </a:rPr>
              <a:t>Starkes analytisches Fundament und vielseitige Praxiserfahrungen garantieren eine schnelle Integration in den Beratungsalltag bei LIO Consulting</a:t>
            </a:r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C5954FA4-6C82-7D67-C876-40CF5407D9E8}"/>
              </a:ext>
            </a:extLst>
          </p:cNvPr>
          <p:cNvSpPr/>
          <p:nvPr/>
        </p:nvSpPr>
        <p:spPr>
          <a:xfrm>
            <a:off x="727075" y="3400197"/>
            <a:ext cx="16859250" cy="484632"/>
          </a:xfrm>
          <a:prstGeom prst="rightArrow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tangle 17">
            <a:extLst>
              <a:ext uri="{FF2B5EF4-FFF2-40B4-BE49-F238E27FC236}">
                <a16:creationId xmlns:a16="http://schemas.microsoft.com/office/drawing/2014/main" id="{E5E399D4-DB7C-6387-84DB-25CB9AD6E23B}"/>
              </a:ext>
            </a:extLst>
          </p:cNvPr>
          <p:cNvSpPr/>
          <p:nvPr/>
        </p:nvSpPr>
        <p:spPr>
          <a:xfrm>
            <a:off x="744007" y="4619395"/>
            <a:ext cx="2926800" cy="461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</a:pPr>
            <a:r>
              <a:rPr lang="de-DE" sz="2000" b="1" noProof="1">
                <a:solidFill>
                  <a:schemeClr val="tx1"/>
                </a:solidFill>
              </a:rPr>
              <a:t>Leistungssport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Leistungssport im </a:t>
            </a:r>
            <a:r>
              <a:rPr lang="de-DE" b="1" noProof="1">
                <a:solidFill>
                  <a:schemeClr val="tx1"/>
                </a:solidFill>
              </a:rPr>
              <a:t>Judo</a:t>
            </a:r>
            <a:r>
              <a:rPr lang="de-DE" noProof="1">
                <a:solidFill>
                  <a:schemeClr val="tx1"/>
                </a:solidFill>
              </a:rPr>
              <a:t>, ~20h/Woche Training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</a:rPr>
              <a:t>Disziplin, Ehrgeiz &amp; Zielstrebigkeit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</a:rPr>
              <a:t>Mentalität</a:t>
            </a:r>
            <a:r>
              <a:rPr lang="de-DE" noProof="1">
                <a:solidFill>
                  <a:schemeClr val="tx1"/>
                </a:solidFill>
              </a:rPr>
              <a:t> erlangt, alles zu geben, um seine </a:t>
            </a:r>
            <a:r>
              <a:rPr lang="de-DE" b="1" noProof="1">
                <a:solidFill>
                  <a:schemeClr val="tx1"/>
                </a:solidFill>
              </a:rPr>
              <a:t>Ziele</a:t>
            </a:r>
            <a:r>
              <a:rPr lang="de-DE" noProof="1">
                <a:solidFill>
                  <a:schemeClr val="tx1"/>
                </a:solidFill>
              </a:rPr>
              <a:t> zu </a:t>
            </a:r>
            <a:r>
              <a:rPr lang="de-DE" b="1" noProof="1">
                <a:solidFill>
                  <a:schemeClr val="tx1"/>
                </a:solidFill>
              </a:rPr>
              <a:t>erreichen</a:t>
            </a:r>
          </a:p>
        </p:txBody>
      </p:sp>
      <p:sp>
        <p:nvSpPr>
          <p:cNvPr id="42" name="Rectangle 17">
            <a:extLst>
              <a:ext uri="{FF2B5EF4-FFF2-40B4-BE49-F238E27FC236}">
                <a16:creationId xmlns:a16="http://schemas.microsoft.com/office/drawing/2014/main" id="{8DE54B97-2AB4-DE67-2829-7059AC73D064}"/>
              </a:ext>
            </a:extLst>
          </p:cNvPr>
          <p:cNvSpPr/>
          <p:nvPr/>
        </p:nvSpPr>
        <p:spPr>
          <a:xfrm>
            <a:off x="4156418" y="4613498"/>
            <a:ext cx="2926800" cy="46096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Auslandserfahrung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</a:rPr>
              <a:t>Assistent</a:t>
            </a:r>
            <a:r>
              <a:rPr lang="de-DE" noProof="1">
                <a:solidFill>
                  <a:schemeClr val="tx1"/>
                </a:solidFill>
              </a:rPr>
              <a:t> der Geschäftsführung, West-Vancouver-Foundation (Kanada)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</a:rPr>
              <a:t>Teamarbeit</a:t>
            </a:r>
            <a:r>
              <a:rPr lang="de-DE" noProof="1">
                <a:solidFill>
                  <a:schemeClr val="tx1"/>
                </a:solidFill>
              </a:rPr>
              <a:t> in </a:t>
            </a:r>
            <a:r>
              <a:rPr lang="de-DE" b="1" noProof="1">
                <a:solidFill>
                  <a:schemeClr val="tx1"/>
                </a:solidFill>
              </a:rPr>
              <a:t>internationalem</a:t>
            </a:r>
            <a:r>
              <a:rPr lang="de-DE" noProof="1">
                <a:solidFill>
                  <a:schemeClr val="tx1"/>
                </a:solidFill>
              </a:rPr>
              <a:t> Umfeld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</a:rPr>
              <a:t>Entscheidung</a:t>
            </a:r>
            <a:r>
              <a:rPr lang="de-DE" noProof="1">
                <a:solidFill>
                  <a:schemeClr val="tx1"/>
                </a:solidFill>
              </a:rPr>
              <a:t> für beruflich und akademischen </a:t>
            </a:r>
            <a:r>
              <a:rPr lang="de-DE" b="1" noProof="1">
                <a:solidFill>
                  <a:schemeClr val="tx1"/>
                </a:solidFill>
              </a:rPr>
              <a:t>Weg</a:t>
            </a:r>
            <a:r>
              <a:rPr lang="de-DE" noProof="1">
                <a:solidFill>
                  <a:schemeClr val="tx1"/>
                </a:solidFill>
              </a:rPr>
              <a:t> in einem </a:t>
            </a:r>
            <a:r>
              <a:rPr lang="de-DE" b="1" noProof="1">
                <a:solidFill>
                  <a:schemeClr val="tx1"/>
                </a:solidFill>
              </a:rPr>
              <a:t>internationalen</a:t>
            </a:r>
            <a:r>
              <a:rPr lang="de-DE" noProof="1">
                <a:solidFill>
                  <a:schemeClr val="tx1"/>
                </a:solidFill>
              </a:rPr>
              <a:t> </a:t>
            </a:r>
            <a:r>
              <a:rPr lang="de-DE" b="1" noProof="1">
                <a:solidFill>
                  <a:schemeClr val="tx1"/>
                </a:solidFill>
              </a:rPr>
              <a:t>Kontext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</a:rPr>
              <a:t>Auslandssemester</a:t>
            </a:r>
            <a:r>
              <a:rPr lang="de-DE" noProof="1">
                <a:solidFill>
                  <a:schemeClr val="tx1"/>
                </a:solidFill>
              </a:rPr>
              <a:t> in Madrid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endParaRPr lang="de-DE" noProof="1">
              <a:solidFill>
                <a:schemeClr val="tx1"/>
              </a:solidFill>
            </a:endParaRPr>
          </a:p>
        </p:txBody>
      </p:sp>
      <p:sp>
        <p:nvSpPr>
          <p:cNvPr id="55" name="Rectangle 17">
            <a:extLst>
              <a:ext uri="{FF2B5EF4-FFF2-40B4-BE49-F238E27FC236}">
                <a16:creationId xmlns:a16="http://schemas.microsoft.com/office/drawing/2014/main" id="{D975732C-D1D2-6502-E3E3-8776DF51FF42}"/>
              </a:ext>
            </a:extLst>
          </p:cNvPr>
          <p:cNvSpPr/>
          <p:nvPr/>
        </p:nvSpPr>
        <p:spPr>
          <a:xfrm>
            <a:off x="7572155" y="4613498"/>
            <a:ext cx="2926800" cy="46096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Studium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Wirtschaftswissen-schaften</a:t>
            </a: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Goethe-Universität in Frankfurt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Lieblingsbereich </a:t>
            </a:r>
            <a:r>
              <a:rPr lang="de-DE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VWL</a:t>
            </a: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Spaß am </a:t>
            </a:r>
            <a:r>
              <a:rPr lang="de-DE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analytischen</a:t>
            </a: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Durchdringen</a:t>
            </a: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von Branchen &amp; Unternehmen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Mitgründer</a:t>
            </a: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DemokraTeaTime e.V. Frankfurt, Aneignung von </a:t>
            </a:r>
            <a:r>
              <a:rPr lang="de-DE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Führungs- und Koordinationsfähig-keiten</a:t>
            </a:r>
          </a:p>
        </p:txBody>
      </p:sp>
      <p:sp>
        <p:nvSpPr>
          <p:cNvPr id="56" name="Rectangle 17">
            <a:extLst>
              <a:ext uri="{FF2B5EF4-FFF2-40B4-BE49-F238E27FC236}">
                <a16:creationId xmlns:a16="http://schemas.microsoft.com/office/drawing/2014/main" id="{5C1EEA84-E876-EFA2-9682-35454E8C49DD}"/>
              </a:ext>
            </a:extLst>
          </p:cNvPr>
          <p:cNvSpPr/>
          <p:nvPr/>
        </p:nvSpPr>
        <p:spPr>
          <a:xfrm>
            <a:off x="10987892" y="4607600"/>
            <a:ext cx="2926800" cy="4609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Praxiserfahrung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</a:rPr>
              <a:t>ERP-Consulting: </a:t>
            </a:r>
            <a:r>
              <a:rPr lang="de-DE" noProof="1">
                <a:solidFill>
                  <a:schemeClr val="tx1"/>
                </a:solidFill>
              </a:rPr>
              <a:t>Präsentations- und Kommunikationsfähig-keiten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</a:rPr>
              <a:t>Werkstudent: </a:t>
            </a:r>
            <a:br>
              <a:rPr lang="de-DE" noProof="1">
                <a:solidFill>
                  <a:schemeClr val="tx1"/>
                </a:solidFill>
              </a:rPr>
            </a:br>
            <a:r>
              <a:rPr lang="de-DE" noProof="1">
                <a:solidFill>
                  <a:schemeClr val="tx1"/>
                </a:solidFill>
              </a:rPr>
              <a:t>KI-Automatisierungs-projekt, technologische Fähigkeiten ausgebaut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</a:rPr>
              <a:t>Fraport AG Strategie: </a:t>
            </a:r>
            <a:r>
              <a:rPr lang="de-DE" noProof="1">
                <a:solidFill>
                  <a:schemeClr val="tx1"/>
                </a:solidFill>
              </a:rPr>
              <a:t>Zusammenarbeit mit dem Top-Management, präzise Analyse komplexer Problemstellungen</a:t>
            </a:r>
            <a:endParaRPr lang="de-DE" noProof="1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6726E5FB-64FC-251C-DA04-AF7614D98124}"/>
              </a:ext>
            </a:extLst>
          </p:cNvPr>
          <p:cNvSpPr/>
          <p:nvPr/>
        </p:nvSpPr>
        <p:spPr>
          <a:xfrm>
            <a:off x="14403628" y="4613497"/>
            <a:ext cx="2926800" cy="461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</a:pPr>
            <a:r>
              <a:rPr lang="de-DE" sz="2000" b="1" noProof="1">
                <a:solidFill>
                  <a:schemeClr val="tx1"/>
                </a:solidFill>
              </a:rPr>
              <a:t>LIO Consulting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Financial Services</a:t>
            </a: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fundamentaler </a:t>
            </a:r>
            <a:r>
              <a:rPr lang="de-DE" b="1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Transformation</a:t>
            </a:r>
            <a:r>
              <a:rPr lang="de-DE" noProof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KI, Regulatorik, disruptive Geschäftsmodelle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dirty="0">
                <a:solidFill>
                  <a:schemeClr val="tx1"/>
                </a:solidFill>
              </a:rPr>
              <a:t>Übereinstimmung</a:t>
            </a:r>
            <a:r>
              <a:rPr lang="de-DE" dirty="0">
                <a:solidFill>
                  <a:schemeClr val="tx1"/>
                </a:solidFill>
              </a:rPr>
              <a:t> mit </a:t>
            </a:r>
            <a:r>
              <a:rPr lang="de-DE" b="1" dirty="0">
                <a:solidFill>
                  <a:schemeClr val="tx1"/>
                </a:solidFill>
              </a:rPr>
              <a:t>Philosophie</a:t>
            </a:r>
            <a:r>
              <a:rPr lang="de-DE" dirty="0">
                <a:solidFill>
                  <a:schemeClr val="tx1"/>
                </a:solidFill>
              </a:rPr>
              <a:t>: Top-Qualität, Agilität und Menschenzentriertheit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30000"/>
              <a:buFont typeface="Wingdings" pitchFamily="2" charset="2"/>
              <a:buChar char="§"/>
            </a:pPr>
            <a:r>
              <a:rPr lang="de-DE" b="1" dirty="0">
                <a:solidFill>
                  <a:schemeClr val="tx1"/>
                </a:solidFill>
              </a:rPr>
              <a:t>Empfohlen</a:t>
            </a:r>
            <a:r>
              <a:rPr lang="de-DE" dirty="0">
                <a:solidFill>
                  <a:schemeClr val="tx1"/>
                </a:solidFill>
              </a:rPr>
              <a:t> von einem Bekannten, junges Unternehmen und tolles Team ermöglichen eine </a:t>
            </a:r>
            <a:r>
              <a:rPr lang="de-DE" b="1" dirty="0">
                <a:solidFill>
                  <a:schemeClr val="tx1"/>
                </a:solidFill>
              </a:rPr>
              <a:t>steile Lernkurve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C52D6057-FE7E-4D6F-7B9C-227FBB531E96}"/>
              </a:ext>
            </a:extLst>
          </p:cNvPr>
          <p:cNvGrpSpPr/>
          <p:nvPr/>
        </p:nvGrpSpPr>
        <p:grpSpPr>
          <a:xfrm>
            <a:off x="1748544" y="3200343"/>
            <a:ext cx="914400" cy="1419054"/>
            <a:chOff x="993318" y="2962446"/>
            <a:chExt cx="914400" cy="141905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02BA0F0-E1AF-8FA1-F528-1E43C5DD1828}"/>
                </a:ext>
              </a:extLst>
            </p:cNvPr>
            <p:cNvSpPr/>
            <p:nvPr/>
          </p:nvSpPr>
          <p:spPr>
            <a:xfrm>
              <a:off x="993318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7BB331B9-B2A4-E69C-5332-2137BBA4943E}"/>
                </a:ext>
              </a:extLst>
            </p:cNvPr>
            <p:cNvGrpSpPr/>
            <p:nvPr/>
          </p:nvGrpSpPr>
          <p:grpSpPr>
            <a:xfrm>
              <a:off x="1162259" y="3131387"/>
              <a:ext cx="576519" cy="1250113"/>
              <a:chOff x="1162259" y="3131387"/>
              <a:chExt cx="576519" cy="1250113"/>
            </a:xfrm>
          </p:grpSpPr>
          <p:cxnSp>
            <p:nvCxnSpPr>
              <p:cNvPr id="29" name="Gerade Verbindung 28">
                <a:extLst>
                  <a:ext uri="{FF2B5EF4-FFF2-40B4-BE49-F238E27FC236}">
                    <a16:creationId xmlns:a16="http://schemas.microsoft.com/office/drawing/2014/main" id="{DA6A3ADF-A1F9-B043-BD16-D7AE18ED8B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0518" y="3800646"/>
                <a:ext cx="0" cy="58085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1" name="Grafik 60">
                <a:extLst>
                  <a:ext uri="{FF2B5EF4-FFF2-40B4-BE49-F238E27FC236}">
                    <a16:creationId xmlns:a16="http://schemas.microsoft.com/office/drawing/2014/main" id="{4CA00AA4-D697-CBE2-0ADA-7DADF1A72C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62259" y="3131387"/>
                <a:ext cx="576519" cy="576519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88E9C12-0B6F-5EB8-3569-EA7931121998}"/>
              </a:ext>
            </a:extLst>
          </p:cNvPr>
          <p:cNvGrpSpPr/>
          <p:nvPr/>
        </p:nvGrpSpPr>
        <p:grpSpPr>
          <a:xfrm>
            <a:off x="8579186" y="3200343"/>
            <a:ext cx="914400" cy="914400"/>
            <a:chOff x="7449776" y="2962446"/>
            <a:chExt cx="914400" cy="9144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4C2F81D-8B33-81F0-ACD3-47CA21582302}"/>
                </a:ext>
              </a:extLst>
            </p:cNvPr>
            <p:cNvSpPr/>
            <p:nvPr/>
          </p:nvSpPr>
          <p:spPr>
            <a:xfrm>
              <a:off x="7449776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9" name="Grafik 68" descr="Schulgebäude mit einfarbiger Füllung">
              <a:extLst>
                <a:ext uri="{FF2B5EF4-FFF2-40B4-BE49-F238E27FC236}">
                  <a16:creationId xmlns:a16="http://schemas.microsoft.com/office/drawing/2014/main" id="{A69AA03D-D619-0DD3-AC15-5118722C66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16620" y="3112773"/>
              <a:ext cx="576000" cy="576000"/>
            </a:xfrm>
            <a:prstGeom prst="rect">
              <a:avLst/>
            </a:prstGeom>
          </p:spPr>
        </p:pic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281EE1F0-0AA5-6E4E-6C68-9370A75D369E}"/>
              </a:ext>
            </a:extLst>
          </p:cNvPr>
          <p:cNvGrpSpPr/>
          <p:nvPr/>
        </p:nvGrpSpPr>
        <p:grpSpPr>
          <a:xfrm>
            <a:off x="11994507" y="3200343"/>
            <a:ext cx="914400" cy="914400"/>
            <a:chOff x="10678005" y="2962446"/>
            <a:chExt cx="914400" cy="9144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A4B1501-EA0F-B876-3209-AA2FE121AD05}"/>
                </a:ext>
              </a:extLst>
            </p:cNvPr>
            <p:cNvSpPr/>
            <p:nvPr/>
          </p:nvSpPr>
          <p:spPr>
            <a:xfrm>
              <a:off x="10678005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71" name="Grafik 70" descr="Laptop mit einfarbiger Füllung">
              <a:extLst>
                <a:ext uri="{FF2B5EF4-FFF2-40B4-BE49-F238E27FC236}">
                  <a16:creationId xmlns:a16="http://schemas.microsoft.com/office/drawing/2014/main" id="{638505F4-CD71-0C3B-990C-6837A2571C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47205" y="3131646"/>
              <a:ext cx="576000" cy="576000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18EDE54D-6F56-8348-EB7C-DC4565F0DB15}"/>
              </a:ext>
            </a:extLst>
          </p:cNvPr>
          <p:cNvGrpSpPr/>
          <p:nvPr/>
        </p:nvGrpSpPr>
        <p:grpSpPr>
          <a:xfrm>
            <a:off x="15409828" y="3200343"/>
            <a:ext cx="914400" cy="914400"/>
            <a:chOff x="13906236" y="2962446"/>
            <a:chExt cx="914400" cy="9144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565571B-C807-0D83-2B12-65071E4F965D}"/>
                </a:ext>
              </a:extLst>
            </p:cNvPr>
            <p:cNvSpPr/>
            <p:nvPr/>
          </p:nvSpPr>
          <p:spPr>
            <a:xfrm>
              <a:off x="13906236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73" name="Grafik 72" descr="Volltreffer mit einfarbiger Füllung">
              <a:extLst>
                <a:ext uri="{FF2B5EF4-FFF2-40B4-BE49-F238E27FC236}">
                  <a16:creationId xmlns:a16="http://schemas.microsoft.com/office/drawing/2014/main" id="{1B9D0698-64A0-2CC6-AABC-7F773C3B1E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075436" y="3130387"/>
              <a:ext cx="576000" cy="576000"/>
            </a:xfrm>
            <a:prstGeom prst="rect">
              <a:avLst/>
            </a:prstGeom>
          </p:spPr>
        </p:pic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3402B051-C62D-837F-97CD-B7490FB7E3E2}"/>
              </a:ext>
            </a:extLst>
          </p:cNvPr>
          <p:cNvGrpSpPr/>
          <p:nvPr/>
        </p:nvGrpSpPr>
        <p:grpSpPr>
          <a:xfrm>
            <a:off x="5163865" y="3200343"/>
            <a:ext cx="914400" cy="914400"/>
            <a:chOff x="4221547" y="2962446"/>
            <a:chExt cx="914400" cy="9144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8F4530-F744-AE9C-FADE-8ED6BC0BBEAC}"/>
                </a:ext>
              </a:extLst>
            </p:cNvPr>
            <p:cNvSpPr/>
            <p:nvPr/>
          </p:nvSpPr>
          <p:spPr>
            <a:xfrm>
              <a:off x="4221547" y="2962446"/>
              <a:ext cx="9144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75" name="Grafik 74" descr="Globus mit einfarbiger Füllung">
              <a:extLst>
                <a:ext uri="{FF2B5EF4-FFF2-40B4-BE49-F238E27FC236}">
                  <a16:creationId xmlns:a16="http://schemas.microsoft.com/office/drawing/2014/main" id="{43BD0DCB-31B6-B3E0-EE1E-EEA5B5769A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90746" y="3130387"/>
              <a:ext cx="576000" cy="576000"/>
            </a:xfrm>
            <a:prstGeom prst="rect">
              <a:avLst/>
            </a:prstGeom>
          </p:spPr>
        </p:pic>
      </p:grp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81601F2E-9EB0-E1BB-1C1A-2D9D8C1725B6}"/>
              </a:ext>
            </a:extLst>
          </p:cNvPr>
          <p:cNvCxnSpPr>
            <a:cxnSpLocks/>
            <a:stCxn id="11" idx="4"/>
            <a:endCxn id="57" idx="0"/>
          </p:cNvCxnSpPr>
          <p:nvPr/>
        </p:nvCxnSpPr>
        <p:spPr>
          <a:xfrm>
            <a:off x="15867028" y="4114743"/>
            <a:ext cx="0" cy="498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631453EE-5A5F-39D2-C6CE-6A43D32D895B}"/>
              </a:ext>
            </a:extLst>
          </p:cNvPr>
          <p:cNvCxnSpPr>
            <a:cxnSpLocks/>
          </p:cNvCxnSpPr>
          <p:nvPr/>
        </p:nvCxnSpPr>
        <p:spPr>
          <a:xfrm>
            <a:off x="12450233" y="4120642"/>
            <a:ext cx="0" cy="498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F3BB4D31-1ADF-C421-BDAB-3378C2F84152}"/>
              </a:ext>
            </a:extLst>
          </p:cNvPr>
          <p:cNvCxnSpPr>
            <a:cxnSpLocks/>
          </p:cNvCxnSpPr>
          <p:nvPr/>
        </p:nvCxnSpPr>
        <p:spPr>
          <a:xfrm>
            <a:off x="9033438" y="4126541"/>
            <a:ext cx="0" cy="498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9DB25A43-99C3-EC22-F9A2-89695DCA46E1}"/>
              </a:ext>
            </a:extLst>
          </p:cNvPr>
          <p:cNvCxnSpPr>
            <a:cxnSpLocks/>
          </p:cNvCxnSpPr>
          <p:nvPr/>
        </p:nvCxnSpPr>
        <p:spPr>
          <a:xfrm>
            <a:off x="5616643" y="4132440"/>
            <a:ext cx="0" cy="498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1A5F7049-F341-4C1A-5B77-B68C41268E0A}"/>
              </a:ext>
            </a:extLst>
          </p:cNvPr>
          <p:cNvSpPr txBox="1"/>
          <p:nvPr/>
        </p:nvSpPr>
        <p:spPr>
          <a:xfrm>
            <a:off x="1308703" y="2540625"/>
            <a:ext cx="1794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accent1"/>
                </a:solidFill>
              </a:rPr>
              <a:t>Belastbarkeit</a:t>
            </a:r>
            <a:endParaRPr lang="de-DE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A627C61-51FC-34BC-D6CC-A7E487DB93FF}"/>
              </a:ext>
            </a:extLst>
          </p:cNvPr>
          <p:cNvSpPr txBox="1"/>
          <p:nvPr/>
        </p:nvSpPr>
        <p:spPr>
          <a:xfrm>
            <a:off x="4564111" y="2540625"/>
            <a:ext cx="2105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Internationalität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1E5EA26-1946-AC6E-F198-FF35A50797A7}"/>
              </a:ext>
            </a:extLst>
          </p:cNvPr>
          <p:cNvSpPr txBox="1"/>
          <p:nvPr/>
        </p:nvSpPr>
        <p:spPr>
          <a:xfrm>
            <a:off x="7922396" y="2540625"/>
            <a:ext cx="22220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Analysefähigkeit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631A780-7599-8F93-0BC4-1BE491787FCF}"/>
              </a:ext>
            </a:extLst>
          </p:cNvPr>
          <p:cNvSpPr txBox="1"/>
          <p:nvPr/>
        </p:nvSpPr>
        <p:spPr>
          <a:xfrm>
            <a:off x="10953669" y="2540625"/>
            <a:ext cx="29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Consulting-Kompetenz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6D90E99-D8B1-9D91-D4EA-3B70B2A8CD35}"/>
              </a:ext>
            </a:extLst>
          </p:cNvPr>
          <p:cNvSpPr txBox="1"/>
          <p:nvPr/>
        </p:nvSpPr>
        <p:spPr>
          <a:xfrm>
            <a:off x="15209841" y="2540625"/>
            <a:ext cx="1279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Mein Ziel</a:t>
            </a:r>
          </a:p>
        </p:txBody>
      </p:sp>
    </p:spTree>
    <p:extLst>
      <p:ext uri="{BB962C8B-B14F-4D97-AF65-F5344CB8AC3E}">
        <p14:creationId xmlns:p14="http://schemas.microsoft.com/office/powerpoint/2010/main" val="8056372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Benutzerdefiniert 1">
      <a:dk1>
        <a:srgbClr val="000000"/>
      </a:dk1>
      <a:lt1>
        <a:srgbClr val="FFFFFF"/>
      </a:lt1>
      <a:dk2>
        <a:srgbClr val="121418"/>
      </a:dk2>
      <a:lt2>
        <a:srgbClr val="FFFFFF"/>
      </a:lt2>
      <a:accent1>
        <a:srgbClr val="FE0000"/>
      </a:accent1>
      <a:accent2>
        <a:srgbClr val="F7F7F7"/>
      </a:accent2>
      <a:accent3>
        <a:srgbClr val="000000"/>
      </a:accent3>
      <a:accent4>
        <a:srgbClr val="2E466D"/>
      </a:accent4>
      <a:accent5>
        <a:srgbClr val="184C16"/>
      </a:accent5>
      <a:accent6>
        <a:srgbClr val="E67E22"/>
      </a:accent6>
      <a:hlink>
        <a:srgbClr val="002060"/>
      </a:hlink>
      <a:folHlink>
        <a:srgbClr val="0070C0"/>
      </a:folHlink>
    </a:clrScheme>
    <a:fontScheme name="Analyst Academ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880</Words>
  <Application>Microsoft Macintosh PowerPoint</Application>
  <PresentationFormat>Benutzerdefiniert</PresentationFormat>
  <Paragraphs>134</Paragraphs>
  <Slides>5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Wingdings</vt:lpstr>
      <vt:lpstr>Arial</vt:lpstr>
      <vt:lpstr>Symbol</vt:lpstr>
      <vt:lpstr>Aptos</vt:lpstr>
      <vt:lpstr>Custom Design</vt:lpstr>
      <vt:lpstr>think-cell Slide</vt:lpstr>
      <vt:lpstr>Starkes analytisches Fundament und vielseitige Praxiserfahrungen garantieren eine schnelle Integration in den Beratungsalltag bei LIO Consulting</vt:lpstr>
      <vt:lpstr>Starkes analytisches Fundament und vielseitige Praxiserfahrungen garantieren eine schnelle Integration in den Beratungsalltag bei LIO Consulting</vt:lpstr>
      <vt:lpstr>Starkes analytisches Fundament und vielseitige Praxiserfahrungen garantieren eine schnelle Integration in den Beratungsalltag bei LIO Consulting</vt:lpstr>
      <vt:lpstr>Starkes analytisches Fundament und vielseitige Praxiserfahrungen garantieren eine schnelle Integration in den Beratungsalltag bei LIO Consulting</vt:lpstr>
      <vt:lpstr>Starkes analytisches Fundament und vielseitige Praxiserfahrungen garantieren eine schnelle Integration in den Beratungsalltag bei LIO Consulting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Business Pitch Deck Presentation</dc:title>
  <dc:creator>Daniel J</dc:creator>
  <cp:lastModifiedBy>Darius Kallenbach</cp:lastModifiedBy>
  <cp:revision>161</cp:revision>
  <dcterms:created xsi:type="dcterms:W3CDTF">2006-08-16T00:00:00Z</dcterms:created>
  <dcterms:modified xsi:type="dcterms:W3CDTF">2026-05-04T08:28:18Z</dcterms:modified>
  <dc:identifier>DAGkDf5R9EM</dc:identifier>
</cp:coreProperties>
</file>