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147473094" r:id="rId2"/>
  </p:sldIdLst>
  <p:sldSz cx="12192000" cy="6858000"/>
  <p:notesSz cx="6858000" cy="9144000"/>
  <p:custDataLst>
    <p:tags r:id="rId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47"/>
    <p:restoredTop sz="94692"/>
  </p:normalViewPr>
  <p:slideViewPr>
    <p:cSldViewPr snapToGrid="0">
      <p:cViewPr varScale="1">
        <p:scale>
          <a:sx n="113" d="100"/>
          <a:sy n="113" d="100"/>
        </p:scale>
        <p:origin x="17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Revenue in €M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50-1D49-B023-F4D831712E30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50-1D49-B023-F4D831712E30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150-1D49-B023-F4D831712E30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150-1D49-B023-F4D831712E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Tabelle1!$A$2:$A$5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56</c:v>
                </c:pt>
                <c:pt idx="1">
                  <c:v>77</c:v>
                </c:pt>
                <c:pt idx="2">
                  <c:v>92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C5-1D44-A332-583909FA5A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1039184"/>
        <c:axId val="189164223"/>
      </c:barChart>
      <c:catAx>
        <c:axId val="59103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89164223"/>
        <c:crosses val="autoZero"/>
        <c:auto val="1"/>
        <c:lblAlgn val="ctr"/>
        <c:lblOffset val="100"/>
        <c:noMultiLvlLbl val="0"/>
      </c:catAx>
      <c:valAx>
        <c:axId val="189164223"/>
        <c:scaling>
          <c:orientation val="minMax"/>
          <c:max val="12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9103918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Revenue per Region</c:v>
                </c:pt>
              </c:strCache>
            </c:strRef>
          </c:tx>
          <c:dPt>
            <c:idx val="0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0F-F748-BE4A-19FDA42AB023}"/>
              </c:ext>
            </c:extLst>
          </c:dPt>
          <c:dPt>
            <c:idx val="1"/>
            <c:bubble3D val="0"/>
            <c:spPr>
              <a:solidFill>
                <a:schemeClr val="bg2">
                  <a:lumMod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0F-F748-BE4A-19FDA42AB023}"/>
              </c:ext>
            </c:extLst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50F-F748-BE4A-19FDA42AB0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Tabelle1!$A$2:$A$4</c:f>
              <c:strCache>
                <c:ptCount val="3"/>
                <c:pt idx="0">
                  <c:v>GER</c:v>
                </c:pt>
                <c:pt idx="1">
                  <c:v>EU</c:v>
                </c:pt>
                <c:pt idx="2">
                  <c:v>Others</c:v>
                </c:pt>
              </c:strCache>
            </c:strRef>
          </c:cat>
          <c:val>
            <c:numRef>
              <c:f>Tabelle1!$B$2:$B$4</c:f>
              <c:numCache>
                <c:formatCode>0%</c:formatCode>
                <c:ptCount val="3"/>
                <c:pt idx="0">
                  <c:v>0.78</c:v>
                </c:pt>
                <c:pt idx="1">
                  <c:v>0.14000000000000001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0F-F748-BE4A-19FDA42AB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E80CF-0AA4-5F46-80A4-F154BC48A8BE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764B6-FAF2-D549-AB22-E469F53B30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55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FEB8-74C5-4860-A7D0-EFA13CF9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BE0EE0-F1C6-F316-02BF-17C69371D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BAAB9CF-042D-82AA-7AE3-0ED2A1FD7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A5BA17-5B97-867D-27DC-E7F01D78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1B0EF-6E57-BC4E-AE7A-B2A9D497030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82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06F92-9613-C184-D37C-2678A2905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ECDBAD2-CBFD-F463-F6F7-8DF2F3B27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A5E242-1C7C-33D7-D865-B91467FC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B128DD-6F0F-5769-2823-93800A30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566B30-DA87-D56A-4839-69387DD3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76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4CD4C1-C305-D86B-A236-107AFB61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EDA0AC-B135-C475-8381-0164EAA14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E7064C-5F0C-EE98-240A-8FC13871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E0ED5-76BC-93ED-F3AB-A816B61A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BDB5C4-FFFB-35FD-9B34-D743F806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9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264FF-2505-EC29-852A-3AAD8F5F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D3887D-84B5-C402-8965-C3CA2B08A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4EF908-E2EC-CEA3-06EB-633A347A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17506F-6397-F758-6308-45897491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F9AAC4-5301-E030-8AE5-909E1AA8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4006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7ADAF-9B69-3A7E-BE08-35C0344B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70B232-6CD8-BE67-7E11-49A8B73BB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4C8B05-B08A-9351-671F-D6BE718DA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DA0848-7A35-3042-6EC8-2922CC54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D8BDAB-E8F4-C41B-0BCD-43C8AB4B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768918-2A08-ADFF-8167-5C7C4D68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95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30357-DA9D-8B11-1A61-9709C556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AF6053-48DC-E4F5-C670-5CB57328F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701FB1-B145-1DCC-C635-C32B8258C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3150102-53C3-11D9-0213-DB315643A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C9B6FDC-076E-5EB5-8812-9FCCB4499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97E3FA0-9B89-E793-9BA2-29D96440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34111DB-A7C7-9CE5-2460-E4EE7159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65A226-9088-878B-AF32-5D94250F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020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CCEBC4-CDC5-8C95-5BF8-72ABC5DF1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8FD3F9-0206-8347-D3D2-1C37092C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1736CDD-2B6C-7043-AA2C-461C4976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E9A580-89FD-1533-8DE7-19B61376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75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3193D0-CB67-94F5-05F6-CC0A718B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D53AC0-D91F-53E2-BCB5-F03BA54E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6F4D29-BB56-9FFB-A1C4-E89B195A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23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1A33A4-6D48-18A8-8BE4-0A4D6FBA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1FEB2B-F9F3-A9FA-583E-9AC042113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038586-5A8F-95CA-AB6C-703EA6DCF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35A741-0BCE-BC39-DB3B-6A9B29EC1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AE2010-126F-0AFE-69CD-9B7116C8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57014-98B5-1657-D214-BC8AC121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91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69798F-AA89-7052-2DF4-F74616C8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CF0D6F1-7669-5B80-ADDA-4597A1300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FA152B-563E-1DDE-653A-90756EB9B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D2D373-C9A0-7ECD-C18B-7141C184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9A5939-6C96-66BC-9DDD-A22ABD7B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4A4100-F810-1E54-6EAA-413E888F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15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5BA06-8B6A-1F54-05BF-F9D7F6C1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73B5EC-1F3C-D34C-F55B-C55E6BEDF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58E525-78F7-7853-D734-8458148F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ABEFD5-AC0C-7750-9603-31AA8230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8FB1F3-CD2A-B57C-C908-13C6887E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57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DC65F43-41CF-426C-75B5-8CB410CFC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86332EC-BA29-3482-1259-69DB1A618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899821-AAC7-6F91-AE09-9DE21F755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7C50EA-EB0B-2650-0F51-82A7C8EE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6A3EA-B396-2E93-151F-5923163BB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C4979E-275F-7A68-4788-84E0104C12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8029184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7772400" imgH="10058400" progId="TCLayout.ActiveDocument.1">
                  <p:embed/>
                </p:oleObj>
              </mc:Choice>
              <mc:Fallback>
                <p:oleObj name="think-cell Foli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C7621F-8636-AE8D-E3FA-3F36DB77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246B75-3A5A-467D-BDB9-65961D8B8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609113-976B-76E7-842B-21637567A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6CF9E-E749-BC44-BD9B-2FF9DEF787E2}" type="datetimeFigureOut">
              <a:rPr lang="de-DE" smtClean="0"/>
              <a:t>21.06.25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E84C9E-E302-68BC-6503-580241001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BA694-5A78-2C19-DF74-1B062C456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4EB6C-F992-4A4B-96DE-41844F702E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460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18" Type="http://schemas.openxmlformats.org/officeDocument/2006/relationships/image" Target="../media/image14.svg"/><Relationship Id="rId26" Type="http://schemas.openxmlformats.org/officeDocument/2006/relationships/image" Target="../media/image22.sv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17" Type="http://schemas.openxmlformats.org/officeDocument/2006/relationships/image" Target="../media/image13.png"/><Relationship Id="rId25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svg"/><Relationship Id="rId20" Type="http://schemas.openxmlformats.org/officeDocument/2006/relationships/image" Target="../media/image16.svg"/><Relationship Id="rId29" Type="http://schemas.openxmlformats.org/officeDocument/2006/relationships/image" Target="../media/image25.png"/><Relationship Id="rId1" Type="http://schemas.openxmlformats.org/officeDocument/2006/relationships/tags" Target="../tags/tag3.xml"/><Relationship Id="rId6" Type="http://schemas.openxmlformats.org/officeDocument/2006/relationships/chart" Target="../charts/chart1.xml"/><Relationship Id="rId11" Type="http://schemas.openxmlformats.org/officeDocument/2006/relationships/image" Target="../media/image7.png"/><Relationship Id="rId24" Type="http://schemas.openxmlformats.org/officeDocument/2006/relationships/image" Target="../media/image20.svg"/><Relationship Id="rId32" Type="http://schemas.openxmlformats.org/officeDocument/2006/relationships/chart" Target="../charts/chart2.xml"/><Relationship Id="rId5" Type="http://schemas.openxmlformats.org/officeDocument/2006/relationships/image" Target="../media/image2.emf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4.svg"/><Relationship Id="rId10" Type="http://schemas.openxmlformats.org/officeDocument/2006/relationships/image" Target="../media/image6.svg"/><Relationship Id="rId19" Type="http://schemas.openxmlformats.org/officeDocument/2006/relationships/image" Target="../media/image15.png"/><Relationship Id="rId31" Type="http://schemas.openxmlformats.org/officeDocument/2006/relationships/image" Target="../media/image27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png"/><Relationship Id="rId14" Type="http://schemas.openxmlformats.org/officeDocument/2006/relationships/image" Target="../media/image10.svg"/><Relationship Id="rId22" Type="http://schemas.openxmlformats.org/officeDocument/2006/relationships/image" Target="../media/image18.svg"/><Relationship Id="rId27" Type="http://schemas.openxmlformats.org/officeDocument/2006/relationships/image" Target="../media/image23.png"/><Relationship Id="rId30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5B71-CA77-019A-36C3-DF885213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hink-cell data - do not delete" hidden="1">
            <a:extLst>
              <a:ext uri="{FF2B5EF4-FFF2-40B4-BE49-F238E27FC236}">
                <a16:creationId xmlns:a16="http://schemas.microsoft.com/office/drawing/2014/main" id="{F0CC79DD-B941-8FFB-07D5-997F3821FA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29820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7772400" imgH="10058400" progId="TCLayout.ActiveDocument.1">
                  <p:embed/>
                </p:oleObj>
              </mc:Choice>
              <mc:Fallback>
                <p:oleObj name="think-cell Folie" r:id="rId4" imgW="7772400" imgH="10058400" progId="TCLayout.ActiveDocument.1">
                  <p:embed/>
                  <p:pic>
                    <p:nvPicPr>
                      <p:cNvPr id="4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535D8A-A1AE-F1C3-B5D4-72B80933E5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D5C23C11-7C99-E4F6-0380-139F1AE4EABB}"/>
              </a:ext>
            </a:extLst>
          </p:cNvPr>
          <p:cNvSpPr txBox="1"/>
          <p:nvPr/>
        </p:nvSpPr>
        <p:spPr>
          <a:xfrm>
            <a:off x="10599206" y="6535974"/>
            <a:ext cx="1075268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r">
              <a:spcBef>
                <a:spcPts val="125"/>
              </a:spcBef>
            </a:pPr>
            <a:r>
              <a:rPr lang="en-US" sz="80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23/06/2025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C16F54-9FB5-9E04-F301-8E88D6226709}"/>
              </a:ext>
            </a:extLst>
          </p:cNvPr>
          <p:cNvSpPr/>
          <p:nvPr/>
        </p:nvSpPr>
        <p:spPr>
          <a:xfrm>
            <a:off x="514349" y="6486525"/>
            <a:ext cx="11160125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endParaRPr lang="en-US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BC6F55E-8942-EE13-41CA-625B309FBE14}"/>
              </a:ext>
            </a:extLst>
          </p:cNvPr>
          <p:cNvSpPr txBox="1"/>
          <p:nvPr/>
        </p:nvSpPr>
        <p:spPr>
          <a:xfrm>
            <a:off x="514349" y="1207092"/>
            <a:ext cx="5507990" cy="1457698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/>
          <a:p>
            <a:pPr algn="just"/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leading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European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transportation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specializes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tailored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 strong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jumbo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portfolio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includes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broad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value-added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such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fleet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warehouse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chain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support.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Known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operational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expertise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serves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diversified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various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industries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multiple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quality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certifications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underlining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commitment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excellence and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compliance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standards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. With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decades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combines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customer-centric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delivery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positioning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itself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trusted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partner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environments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F9BF7E21-616C-38E0-6315-B7B924654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49" y="446324"/>
            <a:ext cx="11160000" cy="349702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lang="en-US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Teaser</a:t>
            </a:r>
            <a:endParaRPr lang="en-US" sz="1800" b="1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Diagramm 20">
            <a:extLst>
              <a:ext uri="{FF2B5EF4-FFF2-40B4-BE49-F238E27FC236}">
                <a16:creationId xmlns:a16="http://schemas.microsoft.com/office/drawing/2014/main" id="{7B3320A0-0D92-80E5-D0FA-463D2DAF41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720028"/>
              </p:ext>
            </p:extLst>
          </p:nvPr>
        </p:nvGraphicFramePr>
        <p:xfrm>
          <a:off x="6185247" y="1207092"/>
          <a:ext cx="3508126" cy="262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4" name="object 28">
            <a:extLst>
              <a:ext uri="{FF2B5EF4-FFF2-40B4-BE49-F238E27FC236}">
                <a16:creationId xmlns:a16="http://schemas.microsoft.com/office/drawing/2014/main" id="{E2D9BAA1-C79B-AF7B-ED29-6125D64F18A9}"/>
              </a:ext>
            </a:extLst>
          </p:cNvPr>
          <p:cNvSpPr txBox="1"/>
          <p:nvPr/>
        </p:nvSpPr>
        <p:spPr>
          <a:xfrm>
            <a:off x="6166474" y="3864829"/>
            <a:ext cx="5508000" cy="216000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Highlight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49">
            <a:extLst>
              <a:ext uri="{FF2B5EF4-FFF2-40B4-BE49-F238E27FC236}">
                <a16:creationId xmlns:a16="http://schemas.microsoft.com/office/drawing/2014/main" id="{8030D18B-ACD8-5A14-4BDB-74934F3634A4}"/>
              </a:ext>
            </a:extLst>
          </p:cNvPr>
          <p:cNvSpPr txBox="1"/>
          <p:nvPr/>
        </p:nvSpPr>
        <p:spPr>
          <a:xfrm>
            <a:off x="6166474" y="4129842"/>
            <a:ext cx="5508000" cy="1765474"/>
          </a:xfrm>
          <a:prstGeom prst="rect">
            <a:avLst/>
          </a:prstGeom>
        </p:spPr>
        <p:txBody>
          <a:bodyPr vert="horz" wrap="square" lIns="36000" tIns="36000" rIns="36000" bIns="36000" rtlCol="0">
            <a:spAutoFit/>
          </a:bodyPr>
          <a:lstStyle/>
          <a:p>
            <a:pPr marL="171450" indent="-171450" algn="just">
              <a:spcAft>
                <a:spcPts val="1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demonstrated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consistent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top-line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growth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CAGR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20%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2020 and 2023,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expanding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footprint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contract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specialized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spcAft>
                <a:spcPts val="1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﻿The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company's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Green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enhances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eco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-efficiency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across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all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targeting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CO</a:t>
            </a:r>
            <a:r>
              <a:rPr lang="de-DE" sz="1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reduction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, and environmental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awareness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. This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sustainabilitv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meets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rising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expectations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strengthens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long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-term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positioning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in a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-sensitive market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spcAft>
                <a:spcPts val="12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﻿With a solid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equity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€13.2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million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and a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conservative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capital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(Equity Multiplier 3.43),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companv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combines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financial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operational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object 4">
            <a:extLst>
              <a:ext uri="{FF2B5EF4-FFF2-40B4-BE49-F238E27FC236}">
                <a16:creationId xmlns:a16="http://schemas.microsoft.com/office/drawing/2014/main" id="{7F3BE871-968A-D95B-D939-4A2C197B0CBA}"/>
              </a:ext>
            </a:extLst>
          </p:cNvPr>
          <p:cNvSpPr/>
          <p:nvPr/>
        </p:nvSpPr>
        <p:spPr>
          <a:xfrm>
            <a:off x="514349" y="765175"/>
            <a:ext cx="11160125" cy="0"/>
          </a:xfrm>
          <a:custGeom>
            <a:avLst/>
            <a:gdLst/>
            <a:ahLst/>
            <a:cxnLst/>
            <a:rect l="l" t="t" r="r" b="b"/>
            <a:pathLst>
              <a:path w="11160125">
                <a:moveTo>
                  <a:pt x="0" y="0"/>
                </a:moveTo>
                <a:lnTo>
                  <a:pt x="11159998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object 9">
            <a:extLst>
              <a:ext uri="{FF2B5EF4-FFF2-40B4-BE49-F238E27FC236}">
                <a16:creationId xmlns:a16="http://schemas.microsoft.com/office/drawing/2014/main" id="{4C2ADD43-4630-9C0F-0208-D4231B952140}"/>
              </a:ext>
            </a:extLst>
          </p:cNvPr>
          <p:cNvSpPr/>
          <p:nvPr/>
        </p:nvSpPr>
        <p:spPr>
          <a:xfrm>
            <a:off x="514350" y="1155921"/>
            <a:ext cx="5507990" cy="0"/>
          </a:xfrm>
          <a:custGeom>
            <a:avLst/>
            <a:gdLst/>
            <a:ahLst/>
            <a:cxnLst/>
            <a:rect l="l" t="t" r="r" b="b"/>
            <a:pathLst>
              <a:path w="5507990">
                <a:moveTo>
                  <a:pt x="0" y="0"/>
                </a:moveTo>
                <a:lnTo>
                  <a:pt x="5507990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noProof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465E728F-B587-319C-381F-633631043A9B}"/>
              </a:ext>
            </a:extLst>
          </p:cNvPr>
          <p:cNvSpPr txBox="1"/>
          <p:nvPr/>
        </p:nvSpPr>
        <p:spPr>
          <a:xfrm>
            <a:off x="514349" y="939921"/>
            <a:ext cx="5507990" cy="216000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&amp; Business Model Description</a:t>
            </a: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6635B14-9DFC-D630-39CE-8A59095CF651}"/>
              </a:ext>
            </a:extLst>
          </p:cNvPr>
          <p:cNvSpPr/>
          <p:nvPr/>
        </p:nvSpPr>
        <p:spPr>
          <a:xfrm>
            <a:off x="1073809" y="2646099"/>
            <a:ext cx="576000" cy="5760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A4FD3E0-9DA6-85A8-DF32-0BBE3A1F9B31}"/>
              </a:ext>
            </a:extLst>
          </p:cNvPr>
          <p:cNvSpPr/>
          <p:nvPr/>
        </p:nvSpPr>
        <p:spPr>
          <a:xfrm>
            <a:off x="2344958" y="2646099"/>
            <a:ext cx="576000" cy="5760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6670713-CAD5-A045-BD8A-A71DE0174036}"/>
              </a:ext>
            </a:extLst>
          </p:cNvPr>
          <p:cNvSpPr/>
          <p:nvPr/>
        </p:nvSpPr>
        <p:spPr>
          <a:xfrm>
            <a:off x="4886879" y="2646099"/>
            <a:ext cx="576000" cy="5760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4206A16-9F4D-50C0-8934-C9DD5A0DC4AD}"/>
              </a:ext>
            </a:extLst>
          </p:cNvPr>
          <p:cNvSpPr/>
          <p:nvPr/>
        </p:nvSpPr>
        <p:spPr>
          <a:xfrm>
            <a:off x="3616107" y="2646099"/>
            <a:ext cx="576000" cy="57600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object 8">
            <a:extLst>
              <a:ext uri="{FF2B5EF4-FFF2-40B4-BE49-F238E27FC236}">
                <a16:creationId xmlns:a16="http://schemas.microsoft.com/office/drawing/2014/main" id="{6C79F8C9-B3D8-C5B5-9F00-98A4D81488EF}"/>
              </a:ext>
            </a:extLst>
          </p:cNvPr>
          <p:cNvSpPr/>
          <p:nvPr/>
        </p:nvSpPr>
        <p:spPr>
          <a:xfrm>
            <a:off x="514350" y="4080829"/>
            <a:ext cx="3528000" cy="0"/>
          </a:xfrm>
          <a:custGeom>
            <a:avLst/>
            <a:gdLst/>
            <a:ahLst/>
            <a:cxnLst/>
            <a:rect l="l" t="t" r="r" b="b"/>
            <a:pathLst>
              <a:path w="5507990">
                <a:moveTo>
                  <a:pt x="0" y="0"/>
                </a:moveTo>
                <a:lnTo>
                  <a:pt x="5507990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noProof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object 8">
            <a:extLst>
              <a:ext uri="{FF2B5EF4-FFF2-40B4-BE49-F238E27FC236}">
                <a16:creationId xmlns:a16="http://schemas.microsoft.com/office/drawing/2014/main" id="{E12BA314-C89D-0D20-970E-A236B28E995A}"/>
              </a:ext>
            </a:extLst>
          </p:cNvPr>
          <p:cNvSpPr/>
          <p:nvPr/>
        </p:nvSpPr>
        <p:spPr>
          <a:xfrm>
            <a:off x="6147722" y="4080829"/>
            <a:ext cx="5526752" cy="0"/>
          </a:xfrm>
          <a:custGeom>
            <a:avLst/>
            <a:gdLst/>
            <a:ahLst/>
            <a:cxnLst/>
            <a:rect l="l" t="t" r="r" b="b"/>
            <a:pathLst>
              <a:path w="5507990">
                <a:moveTo>
                  <a:pt x="0" y="0"/>
                </a:moveTo>
                <a:lnTo>
                  <a:pt x="5507990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noProof="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object 26">
            <a:extLst>
              <a:ext uri="{FF2B5EF4-FFF2-40B4-BE49-F238E27FC236}">
                <a16:creationId xmlns:a16="http://schemas.microsoft.com/office/drawing/2014/main" id="{E1AE99A1-46D5-BF8C-7A53-125EEF536723}"/>
              </a:ext>
            </a:extLst>
          </p:cNvPr>
          <p:cNvSpPr txBox="1"/>
          <p:nvPr/>
        </p:nvSpPr>
        <p:spPr>
          <a:xfrm>
            <a:off x="514350" y="3864829"/>
            <a:ext cx="3528000" cy="216000"/>
          </a:xfrm>
          <a:prstGeom prst="rect">
            <a:avLst/>
          </a:prstGeom>
          <a:ln>
            <a:noFill/>
          </a:ln>
        </p:spPr>
        <p:txBody>
          <a:bodyPr vert="horz" wrap="square" lIns="0" tIns="12700" rIns="0" bIns="0" rtlCol="0" anchor="ctr">
            <a:noAutofit/>
          </a:bodyPr>
          <a:lstStyle/>
          <a:p>
            <a:pPr marL="12700">
              <a:spcBef>
                <a:spcPts val="100"/>
              </a:spcBef>
            </a:pPr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&amp; Service Offering</a:t>
            </a: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61F048DB-8A98-2FCC-0894-E8B88B41FCA1}"/>
              </a:ext>
            </a:extLst>
          </p:cNvPr>
          <p:cNvSpPr txBox="1"/>
          <p:nvPr/>
        </p:nvSpPr>
        <p:spPr>
          <a:xfrm>
            <a:off x="514349" y="4368852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Volume Transports</a:t>
            </a:r>
            <a:endParaRPr lang="en-US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DD875B3E-0390-189F-83C7-2930C51AF3CD}"/>
              </a:ext>
            </a:extLst>
          </p:cNvPr>
          <p:cNvSpPr txBox="1"/>
          <p:nvPr/>
        </p:nvSpPr>
        <p:spPr>
          <a:xfrm>
            <a:off x="514349" y="4607859"/>
            <a:ext cx="1728000" cy="360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Transports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truck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mounted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forklift</a:t>
            </a:r>
            <a:endParaRPr lang="en-US" sz="1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B22FF2AD-A7DD-7C94-88CD-FB52BE31D43A}"/>
              </a:ext>
            </a:extLst>
          </p:cNvPr>
          <p:cNvSpPr txBox="1"/>
          <p:nvPr/>
        </p:nvSpPr>
        <p:spPr>
          <a:xfrm>
            <a:off x="514349" y="4990866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System Transports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ED64AB6F-9D1F-0E7F-16E2-9BFD46F24818}"/>
              </a:ext>
            </a:extLst>
          </p:cNvPr>
          <p:cNvSpPr txBox="1"/>
          <p:nvPr/>
        </p:nvSpPr>
        <p:spPr>
          <a:xfrm>
            <a:off x="514349" y="5229873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Innovations</a:t>
            </a:r>
            <a:endParaRPr lang="en-US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F1EDF6E-8513-B482-0073-B407ABE70185}"/>
              </a:ext>
            </a:extLst>
          </p:cNvPr>
          <p:cNvSpPr txBox="1"/>
          <p:nvPr/>
        </p:nvSpPr>
        <p:spPr>
          <a:xfrm>
            <a:off x="514349" y="5707887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Driver Campaigns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3F7C78C2-7E84-44D7-ACF8-7D8FC9A90D8D}"/>
              </a:ext>
            </a:extLst>
          </p:cNvPr>
          <p:cNvSpPr txBox="1"/>
          <p:nvPr/>
        </p:nvSpPr>
        <p:spPr>
          <a:xfrm>
            <a:off x="514349" y="5468880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Special Transports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533384B3-7F76-4524-6DD0-D041ABE00923}"/>
              </a:ext>
            </a:extLst>
          </p:cNvPr>
          <p:cNvSpPr txBox="1"/>
          <p:nvPr/>
        </p:nvSpPr>
        <p:spPr>
          <a:xfrm>
            <a:off x="514349" y="4129845"/>
            <a:ext cx="1728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24000" tIns="36000" rIns="36000" bIns="36000" rtlCol="0" anchor="ctr">
            <a:no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 Logistics </a:t>
            </a:r>
            <a:endParaRPr lang="en-US" sz="9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feld 115">
            <a:extLst>
              <a:ext uri="{FF2B5EF4-FFF2-40B4-BE49-F238E27FC236}">
                <a16:creationId xmlns:a16="http://schemas.microsoft.com/office/drawing/2014/main" id="{393737DC-7126-1273-CF5B-9D2F5953DEB3}"/>
              </a:ext>
            </a:extLst>
          </p:cNvPr>
          <p:cNvSpPr txBox="1"/>
          <p:nvPr/>
        </p:nvSpPr>
        <p:spPr>
          <a:xfrm>
            <a:off x="2314350" y="4129845"/>
            <a:ext cx="1728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24000" tIns="36000" rIns="36000" bIns="36000" rtlCol="0" anchor="ctr">
            <a:no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Contract Logistics</a:t>
            </a:r>
            <a:endParaRPr lang="en-US" sz="9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object 14">
            <a:extLst>
              <a:ext uri="{FF2B5EF4-FFF2-40B4-BE49-F238E27FC236}">
                <a16:creationId xmlns:a16="http://schemas.microsoft.com/office/drawing/2014/main" id="{E07B473B-366B-DEAD-0E95-2235671721DA}"/>
              </a:ext>
            </a:extLst>
          </p:cNvPr>
          <p:cNvSpPr txBox="1"/>
          <p:nvPr/>
        </p:nvSpPr>
        <p:spPr>
          <a:xfrm>
            <a:off x="749809" y="3247061"/>
            <a:ext cx="1224000" cy="57600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45720" algn="ctr">
              <a:spcBef>
                <a:spcPts val="125"/>
              </a:spcBef>
            </a:pPr>
            <a:r>
              <a:rPr lang="en-US" sz="1000" b="1" noProof="0" dirty="0">
                <a:latin typeface="Arial" panose="020B0604020202020204" pitchFamily="34" charset="0"/>
                <a:cs typeface="Arial" panose="020B0604020202020204" pitchFamily="34" charset="0"/>
              </a:rPr>
              <a:t>Headquarters</a:t>
            </a:r>
            <a:endParaRPr lang="en-US" sz="1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20"/>
              </a:spcBef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Germany</a:t>
            </a:r>
            <a:endParaRPr lang="en-US" sz="1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object 13">
            <a:extLst>
              <a:ext uri="{FF2B5EF4-FFF2-40B4-BE49-F238E27FC236}">
                <a16:creationId xmlns:a16="http://schemas.microsoft.com/office/drawing/2014/main" id="{D8E80F04-DEDA-6B5F-FAF0-ED6E91F8C8B1}"/>
              </a:ext>
            </a:extLst>
          </p:cNvPr>
          <p:cNvSpPr txBox="1"/>
          <p:nvPr/>
        </p:nvSpPr>
        <p:spPr>
          <a:xfrm>
            <a:off x="2020832" y="3247061"/>
            <a:ext cx="1224000" cy="57600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algn="ctr">
              <a:spcBef>
                <a:spcPts val="125"/>
              </a:spcBef>
            </a:pP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Entity Type </a:t>
            </a:r>
          </a:p>
          <a:p>
            <a:pPr algn="ctr">
              <a:spcBef>
                <a:spcPts val="125"/>
              </a:spcBef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Private Limited Liability Company</a:t>
            </a:r>
          </a:p>
        </p:txBody>
      </p:sp>
      <p:sp>
        <p:nvSpPr>
          <p:cNvPr id="65" name="object 15">
            <a:extLst>
              <a:ext uri="{FF2B5EF4-FFF2-40B4-BE49-F238E27FC236}">
                <a16:creationId xmlns:a16="http://schemas.microsoft.com/office/drawing/2014/main" id="{C2249BAE-0CE6-18DE-0954-0E530B7DBCF0}"/>
              </a:ext>
            </a:extLst>
          </p:cNvPr>
          <p:cNvSpPr txBox="1"/>
          <p:nvPr/>
        </p:nvSpPr>
        <p:spPr>
          <a:xfrm>
            <a:off x="4562879" y="3247061"/>
            <a:ext cx="1224000" cy="576000"/>
          </a:xfrm>
          <a:prstGeom prst="rect">
            <a:avLst/>
          </a:prstGeom>
        </p:spPr>
        <p:txBody>
          <a:bodyPr vert="horz" wrap="square" lIns="0" tIns="27305" rIns="0" bIns="0" rtlCol="0">
            <a:noAutofit/>
          </a:bodyPr>
          <a:lstStyle/>
          <a:p>
            <a:pPr marR="5080" algn="ctr">
              <a:spcBef>
                <a:spcPts val="215"/>
              </a:spcBef>
            </a:pPr>
            <a:r>
              <a:rPr lang="en-US" sz="1000" b="1" noProof="0" dirty="0"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  <a:endParaRPr lang="en-US" sz="1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22860" algn="ctr">
              <a:spcBef>
                <a:spcPts val="125"/>
              </a:spcBef>
            </a:pPr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600</a:t>
            </a:r>
          </a:p>
        </p:txBody>
      </p:sp>
      <p:sp>
        <p:nvSpPr>
          <p:cNvPr id="66" name="object 12">
            <a:extLst>
              <a:ext uri="{FF2B5EF4-FFF2-40B4-BE49-F238E27FC236}">
                <a16:creationId xmlns:a16="http://schemas.microsoft.com/office/drawing/2014/main" id="{E8BA446F-005A-C780-3FB5-27820E0770DF}"/>
              </a:ext>
            </a:extLst>
          </p:cNvPr>
          <p:cNvSpPr txBox="1"/>
          <p:nvPr/>
        </p:nvSpPr>
        <p:spPr>
          <a:xfrm>
            <a:off x="3291855" y="3247061"/>
            <a:ext cx="1224000" cy="57600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algn="ctr">
              <a:spcBef>
                <a:spcPts val="125"/>
              </a:spcBef>
            </a:pPr>
            <a:r>
              <a:rPr lang="en-US" sz="10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Primary Industry</a:t>
            </a:r>
            <a:endParaRPr lang="en-US" sz="1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769" algn="ctr">
              <a:spcBef>
                <a:spcPts val="40"/>
              </a:spcBef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431D8AF-F1BF-055A-296A-F5B3FFECE9D7}"/>
              </a:ext>
            </a:extLst>
          </p:cNvPr>
          <p:cNvSpPr/>
          <p:nvPr/>
        </p:nvSpPr>
        <p:spPr>
          <a:xfrm>
            <a:off x="10133002" y="2263076"/>
            <a:ext cx="1541472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Equity</a:t>
            </a:r>
            <a:r>
              <a:rPr lang="en-US" sz="10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€13.17 million</a:t>
            </a:r>
            <a:endParaRPr lang="en-US" sz="1000" b="1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8F74CE2A-1A3B-C81E-BFB5-4C0368AF28F2}"/>
              </a:ext>
            </a:extLst>
          </p:cNvPr>
          <p:cNvSpPr/>
          <p:nvPr/>
        </p:nvSpPr>
        <p:spPr>
          <a:xfrm>
            <a:off x="10133002" y="1663084"/>
            <a:ext cx="1541472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noProof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</a:p>
          <a:p>
            <a:pPr algn="ctr"/>
            <a:r>
              <a:rPr lang="en-US" sz="10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€2.86 million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3BFCA57-C271-C459-09A3-3F14FB6123DA}"/>
              </a:ext>
            </a:extLst>
          </p:cNvPr>
          <p:cNvSpPr txBox="1"/>
          <p:nvPr/>
        </p:nvSpPr>
        <p:spPr>
          <a:xfrm>
            <a:off x="2314350" y="4386852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Automotive Logistics</a:t>
            </a:r>
            <a:endParaRPr lang="en-US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B3F0EE2-BC31-8F6A-7E24-DEE6F5CBB8AD}"/>
              </a:ext>
            </a:extLst>
          </p:cNvPr>
          <p:cNvSpPr txBox="1"/>
          <p:nvPr/>
        </p:nvSpPr>
        <p:spPr>
          <a:xfrm>
            <a:off x="2314350" y="4643859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Battery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000" dirty="0" err="1">
                <a:latin typeface="Arial" panose="020B0604020202020204" pitchFamily="34" charset="0"/>
                <a:cs typeface="Arial" panose="020B0604020202020204" pitchFamily="34" charset="0"/>
              </a:rPr>
              <a:t>Logistics</a:t>
            </a:r>
            <a:endParaRPr lang="en-US" sz="1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741D199-6B49-3143-0920-781718767D11}"/>
              </a:ext>
            </a:extLst>
          </p:cNvPr>
          <p:cNvSpPr txBox="1"/>
          <p:nvPr/>
        </p:nvSpPr>
        <p:spPr>
          <a:xfrm>
            <a:off x="2314350" y="4900866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Industrial Logistics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08974CC-074D-5175-B9CD-E8A36B21BC33}"/>
              </a:ext>
            </a:extLst>
          </p:cNvPr>
          <p:cNvSpPr txBox="1"/>
          <p:nvPr/>
        </p:nvSpPr>
        <p:spPr>
          <a:xfrm>
            <a:off x="2314350" y="5157873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E-Commerce Logistics</a:t>
            </a:r>
            <a:endParaRPr lang="en-US" sz="9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1C2BC27-1115-AF9B-3528-6FF6BB81F499}"/>
              </a:ext>
            </a:extLst>
          </p:cNvPr>
          <p:cNvSpPr txBox="1"/>
          <p:nvPr/>
        </p:nvSpPr>
        <p:spPr>
          <a:xfrm>
            <a:off x="2314350" y="5671887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Off-Campus Logistics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1769E55-DB9D-C8C9-39BC-3E4FD4BB7D37}"/>
              </a:ext>
            </a:extLst>
          </p:cNvPr>
          <p:cNvSpPr txBox="1"/>
          <p:nvPr/>
        </p:nvSpPr>
        <p:spPr>
          <a:xfrm>
            <a:off x="2314350" y="5414880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Machinery Logistics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1C32E73-EAFC-4A7C-E956-309461043274}"/>
              </a:ext>
            </a:extLst>
          </p:cNvPr>
          <p:cNvSpPr txBox="1"/>
          <p:nvPr/>
        </p:nvSpPr>
        <p:spPr>
          <a:xfrm>
            <a:off x="2314350" y="5928894"/>
            <a:ext cx="1728000" cy="216000"/>
          </a:xfrm>
          <a:prstGeom prst="rect">
            <a:avLst/>
          </a:prstGeom>
          <a:noFill/>
        </p:spPr>
        <p:txBody>
          <a:bodyPr wrap="square" lIns="36000" tIns="36000" rIns="36000" bIns="36000" rtlCol="0" anchor="ctr">
            <a:noAutofit/>
          </a:bodyPr>
          <a:lstStyle/>
          <a:p>
            <a:r>
              <a:rPr lang="en-US" sz="1000" noProof="0" dirty="0">
                <a:latin typeface="Arial" panose="020B0604020202020204" pitchFamily="34" charset="0"/>
                <a:cs typeface="Arial" panose="020B0604020202020204" pitchFamily="34" charset="0"/>
              </a:rPr>
              <a:t>On-Campus Logistics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19F9593-6F0F-1C14-CB16-C81C7A2A7CE2}"/>
              </a:ext>
            </a:extLst>
          </p:cNvPr>
          <p:cNvSpPr txBox="1"/>
          <p:nvPr/>
        </p:nvSpPr>
        <p:spPr>
          <a:xfrm>
            <a:off x="2314350" y="6185903"/>
            <a:ext cx="1728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24000" tIns="36000" rIns="36000" bIns="36000" rtlCol="0" anchor="ctr">
            <a:no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 Services</a:t>
            </a:r>
            <a:endParaRPr lang="en-US" sz="9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B5AB6F2-CE83-0EB8-859C-25436EC5B7D4}"/>
              </a:ext>
            </a:extLst>
          </p:cNvPr>
          <p:cNvSpPr txBox="1"/>
          <p:nvPr/>
        </p:nvSpPr>
        <p:spPr>
          <a:xfrm>
            <a:off x="514349" y="5946894"/>
            <a:ext cx="1728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24000" tIns="36000" rIns="36000" bIns="36000" rtlCol="0" anchor="ctr">
            <a:no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Temporary Staffing</a:t>
            </a:r>
            <a:endParaRPr lang="en-US" sz="9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C9EA452-5C9D-32E6-6FDF-A0D49EAFB2F8}"/>
              </a:ext>
            </a:extLst>
          </p:cNvPr>
          <p:cNvSpPr txBox="1"/>
          <p:nvPr/>
        </p:nvSpPr>
        <p:spPr>
          <a:xfrm>
            <a:off x="514349" y="6185903"/>
            <a:ext cx="1728000" cy="216000"/>
          </a:xfrm>
          <a:prstGeom prst="rect">
            <a:avLst/>
          </a:prstGeom>
          <a:solidFill>
            <a:schemeClr val="tx2"/>
          </a:solidFill>
        </p:spPr>
        <p:txBody>
          <a:bodyPr wrap="square" lIns="324000" tIns="36000" rIns="36000" bIns="36000" rtlCol="0" anchor="ctr">
            <a:no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Services</a:t>
            </a:r>
            <a:endParaRPr lang="en-US" sz="900" b="1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91CAABA-3939-6750-4470-F636FDE71EFD}"/>
              </a:ext>
            </a:extLst>
          </p:cNvPr>
          <p:cNvSpPr/>
          <p:nvPr/>
        </p:nvSpPr>
        <p:spPr>
          <a:xfrm>
            <a:off x="10133002" y="2863068"/>
            <a:ext cx="1541472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on Equity</a:t>
            </a:r>
          </a:p>
          <a:p>
            <a:pPr algn="ctr"/>
            <a:r>
              <a:rPr lang="en-US" sz="10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20.4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0 %</a:t>
            </a:r>
            <a:endParaRPr lang="en-US" sz="1000" b="1" noProof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Grafik 23" descr="Aufwärtstrend Silhouette">
            <a:extLst>
              <a:ext uri="{FF2B5EF4-FFF2-40B4-BE49-F238E27FC236}">
                <a16:creationId xmlns:a16="http://schemas.microsoft.com/office/drawing/2014/main" id="{3310C9E1-D68D-8A63-96E8-32EB4DB6FA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65237" y="1663084"/>
            <a:ext cx="360000" cy="360000"/>
          </a:xfrm>
          <a:prstGeom prst="rect">
            <a:avLst/>
          </a:prstGeom>
        </p:spPr>
      </p:pic>
      <p:pic>
        <p:nvPicPr>
          <p:cNvPr id="26" name="Grafik 25" descr="Euro Silhouette">
            <a:extLst>
              <a:ext uri="{FF2B5EF4-FFF2-40B4-BE49-F238E27FC236}">
                <a16:creationId xmlns:a16="http://schemas.microsoft.com/office/drawing/2014/main" id="{3FA9B51F-5EE3-C5CE-373A-8BE68022A0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65237" y="2263076"/>
            <a:ext cx="360000" cy="360000"/>
          </a:xfrm>
          <a:prstGeom prst="rect">
            <a:avLst/>
          </a:prstGeom>
        </p:spPr>
      </p:pic>
      <p:pic>
        <p:nvPicPr>
          <p:cNvPr id="36" name="Grafik 35" descr="Diagramm mit Hockeyschlägerkurve Silhouette">
            <a:extLst>
              <a:ext uri="{FF2B5EF4-FFF2-40B4-BE49-F238E27FC236}">
                <a16:creationId xmlns:a16="http://schemas.microsoft.com/office/drawing/2014/main" id="{3CB30A9F-802E-BED1-0ACF-C475EC864D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65237" y="3463061"/>
            <a:ext cx="360000" cy="360000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A8F24165-B626-9533-CA4C-D304FA0CDA70}"/>
              </a:ext>
            </a:extLst>
          </p:cNvPr>
          <p:cNvSpPr txBox="1"/>
          <p:nvPr/>
        </p:nvSpPr>
        <p:spPr>
          <a:xfrm>
            <a:off x="9946474" y="1207092"/>
            <a:ext cx="1728000" cy="216000"/>
          </a:xfrm>
          <a:prstGeom prst="rect">
            <a:avLst/>
          </a:prstGeom>
          <a:solidFill>
            <a:schemeClr val="tx2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endParaRPr lang="en-US" sz="900" noProof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7B6F062-BC32-519D-4684-BFE7DC3A1D7F}"/>
              </a:ext>
            </a:extLst>
          </p:cNvPr>
          <p:cNvSpPr/>
          <p:nvPr/>
        </p:nvSpPr>
        <p:spPr>
          <a:xfrm>
            <a:off x="10133002" y="3463061"/>
            <a:ext cx="1541472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Equity Multiplier</a:t>
            </a:r>
          </a:p>
          <a:p>
            <a:pPr algn="ctr"/>
            <a:r>
              <a:rPr lang="en-US" sz="1000" b="1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3.43</a:t>
            </a:r>
          </a:p>
        </p:txBody>
      </p:sp>
      <p:sp>
        <p:nvSpPr>
          <p:cNvPr id="44" name="object 9">
            <a:extLst>
              <a:ext uri="{FF2B5EF4-FFF2-40B4-BE49-F238E27FC236}">
                <a16:creationId xmlns:a16="http://schemas.microsoft.com/office/drawing/2014/main" id="{7A53EBEE-73C9-BE5B-47EF-8342B39A10A9}"/>
              </a:ext>
            </a:extLst>
          </p:cNvPr>
          <p:cNvSpPr/>
          <p:nvPr/>
        </p:nvSpPr>
        <p:spPr>
          <a:xfrm>
            <a:off x="6166484" y="1155921"/>
            <a:ext cx="5507990" cy="0"/>
          </a:xfrm>
          <a:custGeom>
            <a:avLst/>
            <a:gdLst/>
            <a:ahLst/>
            <a:cxnLst/>
            <a:rect l="l" t="t" r="r" b="b"/>
            <a:pathLst>
              <a:path w="5507990">
                <a:moveTo>
                  <a:pt x="0" y="0"/>
                </a:moveTo>
                <a:lnTo>
                  <a:pt x="5507990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noProof="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bject 31">
            <a:extLst>
              <a:ext uri="{FF2B5EF4-FFF2-40B4-BE49-F238E27FC236}">
                <a16:creationId xmlns:a16="http://schemas.microsoft.com/office/drawing/2014/main" id="{8F6731F7-4E69-FB9A-9F7E-3F034ABAE582}"/>
              </a:ext>
            </a:extLst>
          </p:cNvPr>
          <p:cNvSpPr txBox="1"/>
          <p:nvPr/>
        </p:nvSpPr>
        <p:spPr>
          <a:xfrm>
            <a:off x="6166474" y="939921"/>
            <a:ext cx="5508000" cy="216000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Financials</a:t>
            </a: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Grafik 49" descr="Gruppe von Männern Silhouette">
            <a:extLst>
              <a:ext uri="{FF2B5EF4-FFF2-40B4-BE49-F238E27FC236}">
                <a16:creationId xmlns:a16="http://schemas.microsoft.com/office/drawing/2014/main" id="{9F683CB8-1F66-59FB-CB66-327C4A7A8E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5150" y="5946894"/>
            <a:ext cx="216000" cy="216000"/>
          </a:xfrm>
          <a:prstGeom prst="rect">
            <a:avLst/>
          </a:prstGeom>
        </p:spPr>
      </p:pic>
      <p:pic>
        <p:nvPicPr>
          <p:cNvPr id="52" name="Grafik 51" descr="Klassenzimmer Silhouette">
            <a:extLst>
              <a:ext uri="{FF2B5EF4-FFF2-40B4-BE49-F238E27FC236}">
                <a16:creationId xmlns:a16="http://schemas.microsoft.com/office/drawing/2014/main" id="{E5581C42-2AA3-7A21-F188-5C0A910CF2A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5150" y="6185903"/>
            <a:ext cx="216000" cy="216000"/>
          </a:xfrm>
          <a:prstGeom prst="rect">
            <a:avLst/>
          </a:prstGeom>
        </p:spPr>
      </p:pic>
      <p:pic>
        <p:nvPicPr>
          <p:cNvPr id="54" name="Grafik 53" descr="Lager Silhouette">
            <a:extLst>
              <a:ext uri="{FF2B5EF4-FFF2-40B4-BE49-F238E27FC236}">
                <a16:creationId xmlns:a16="http://schemas.microsoft.com/office/drawing/2014/main" id="{C99FB292-8BD8-9154-FADC-A49BF1354F2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83569" y="4129845"/>
            <a:ext cx="216000" cy="216000"/>
          </a:xfrm>
          <a:prstGeom prst="rect">
            <a:avLst/>
          </a:prstGeom>
        </p:spPr>
      </p:pic>
      <p:pic>
        <p:nvPicPr>
          <p:cNvPr id="56" name="Grafik 55" descr="Route zwei Stecknadeln mit Weg Silhouette">
            <a:extLst>
              <a:ext uri="{FF2B5EF4-FFF2-40B4-BE49-F238E27FC236}">
                <a16:creationId xmlns:a16="http://schemas.microsoft.com/office/drawing/2014/main" id="{055C15BE-2F16-4840-ED76-531842B026C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5150" y="4129845"/>
            <a:ext cx="216000" cy="216000"/>
          </a:xfrm>
          <a:prstGeom prst="rect">
            <a:avLst/>
          </a:prstGeom>
        </p:spPr>
      </p:pic>
      <p:pic>
        <p:nvPicPr>
          <p:cNvPr id="58" name="Grafik 57" descr="Schraubenschlüssel Silhouette">
            <a:extLst>
              <a:ext uri="{FF2B5EF4-FFF2-40B4-BE49-F238E27FC236}">
                <a16:creationId xmlns:a16="http://schemas.microsoft.com/office/drawing/2014/main" id="{9E6367C5-5217-EF4D-FD3E-2753407DED6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83569" y="6185903"/>
            <a:ext cx="216000" cy="216000"/>
          </a:xfrm>
          <a:prstGeom prst="rect">
            <a:avLst/>
          </a:prstGeom>
        </p:spPr>
      </p:pic>
      <p:pic>
        <p:nvPicPr>
          <p:cNvPr id="80" name="Grafik 79" descr="LKW Silhouette">
            <a:extLst>
              <a:ext uri="{FF2B5EF4-FFF2-40B4-BE49-F238E27FC236}">
                <a16:creationId xmlns:a16="http://schemas.microsoft.com/office/drawing/2014/main" id="{1A7B6FBE-16B4-29FB-FEA1-D09A0A425D1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724107" y="2754099"/>
            <a:ext cx="360000" cy="360000"/>
          </a:xfrm>
          <a:prstGeom prst="rect">
            <a:avLst/>
          </a:prstGeom>
        </p:spPr>
      </p:pic>
      <p:pic>
        <p:nvPicPr>
          <p:cNvPr id="83" name="Grafik 82" descr="Start Silhouette">
            <a:extLst>
              <a:ext uri="{FF2B5EF4-FFF2-40B4-BE49-F238E27FC236}">
                <a16:creationId xmlns:a16="http://schemas.microsoft.com/office/drawing/2014/main" id="{1477B8FD-C8D4-B2D7-48AE-F1A0875B360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52958" y="2754099"/>
            <a:ext cx="360000" cy="360000"/>
          </a:xfrm>
          <a:prstGeom prst="rect">
            <a:avLst/>
          </a:prstGeom>
        </p:spPr>
      </p:pic>
      <p:pic>
        <p:nvPicPr>
          <p:cNvPr id="85" name="Grafik 84" descr="Gebäude Silhouette">
            <a:extLst>
              <a:ext uri="{FF2B5EF4-FFF2-40B4-BE49-F238E27FC236}">
                <a16:creationId xmlns:a16="http://schemas.microsoft.com/office/drawing/2014/main" id="{1C32747D-A9C8-EA87-500B-D1F42E938AF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81809" y="2754099"/>
            <a:ext cx="360000" cy="360000"/>
          </a:xfrm>
          <a:prstGeom prst="rect">
            <a:avLst/>
          </a:prstGeom>
        </p:spPr>
      </p:pic>
      <p:pic>
        <p:nvPicPr>
          <p:cNvPr id="89" name="Grafik 88" descr="Büromitarbeiter Silhouette">
            <a:extLst>
              <a:ext uri="{FF2B5EF4-FFF2-40B4-BE49-F238E27FC236}">
                <a16:creationId xmlns:a16="http://schemas.microsoft.com/office/drawing/2014/main" id="{4E5C3B61-8E88-3D34-1724-0A7BB247CDA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94879" y="2754099"/>
            <a:ext cx="360000" cy="360000"/>
          </a:xfrm>
          <a:prstGeom prst="rect">
            <a:avLst/>
          </a:prstGeom>
        </p:spPr>
      </p:pic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0D305135-AEFB-55A9-68D8-F0B6F0A5C8D5}"/>
              </a:ext>
            </a:extLst>
          </p:cNvPr>
          <p:cNvCxnSpPr>
            <a:cxnSpLocks/>
          </p:cNvCxnSpPr>
          <p:nvPr/>
        </p:nvCxnSpPr>
        <p:spPr>
          <a:xfrm flipV="1">
            <a:off x="6920120" y="1613199"/>
            <a:ext cx="2266121" cy="62706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F07052B1-DA2A-8949-1742-CDB1DA7FF3FB}"/>
              </a:ext>
            </a:extLst>
          </p:cNvPr>
          <p:cNvSpPr/>
          <p:nvPr/>
        </p:nvSpPr>
        <p:spPr>
          <a:xfrm>
            <a:off x="7819180" y="1743075"/>
            <a:ext cx="468000" cy="32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800" b="1" dirty="0">
                <a:latin typeface="Arial" panose="020B0604020202020204" pitchFamily="34" charset="0"/>
                <a:cs typeface="Arial" panose="020B0604020202020204" pitchFamily="34" charset="0"/>
              </a:rPr>
              <a:t>+20,10 %</a:t>
            </a:r>
          </a:p>
        </p:txBody>
      </p:sp>
      <p:pic>
        <p:nvPicPr>
          <p:cNvPr id="107" name="Grafik 106">
            <a:extLst>
              <a:ext uri="{FF2B5EF4-FFF2-40B4-BE49-F238E27FC236}">
                <a16:creationId xmlns:a16="http://schemas.microsoft.com/office/drawing/2014/main" id="{9EDB85C4-FD17-BC55-6D56-1FEFB8B5B1C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965237" y="2863068"/>
            <a:ext cx="360000" cy="360000"/>
          </a:xfrm>
          <a:prstGeom prst="rect">
            <a:avLst/>
          </a:prstGeom>
        </p:spPr>
      </p:pic>
      <p:graphicFrame>
        <p:nvGraphicFramePr>
          <p:cNvPr id="108" name="Diagramm 107">
            <a:extLst>
              <a:ext uri="{FF2B5EF4-FFF2-40B4-BE49-F238E27FC236}">
                <a16:creationId xmlns:a16="http://schemas.microsoft.com/office/drawing/2014/main" id="{75BC5591-7946-100B-5507-3D7AEF2372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4786406"/>
              </p:ext>
            </p:extLst>
          </p:nvPr>
        </p:nvGraphicFramePr>
        <p:xfrm>
          <a:off x="4186657" y="4164691"/>
          <a:ext cx="1836000" cy="2237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109" name="object 8">
            <a:extLst>
              <a:ext uri="{FF2B5EF4-FFF2-40B4-BE49-F238E27FC236}">
                <a16:creationId xmlns:a16="http://schemas.microsoft.com/office/drawing/2014/main" id="{AB4FA8D0-26F5-6AE9-6AC0-61C11B8A3BAD}"/>
              </a:ext>
            </a:extLst>
          </p:cNvPr>
          <p:cNvSpPr/>
          <p:nvPr/>
        </p:nvSpPr>
        <p:spPr>
          <a:xfrm>
            <a:off x="4186340" y="4080829"/>
            <a:ext cx="1836000" cy="0"/>
          </a:xfrm>
          <a:custGeom>
            <a:avLst/>
            <a:gdLst/>
            <a:ahLst/>
            <a:cxnLst/>
            <a:rect l="l" t="t" r="r" b="b"/>
            <a:pathLst>
              <a:path w="5507990">
                <a:moveTo>
                  <a:pt x="0" y="0"/>
                </a:moveTo>
                <a:lnTo>
                  <a:pt x="5507990" y="0"/>
                </a:lnTo>
              </a:path>
            </a:pathLst>
          </a:custGeom>
          <a:ln w="952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 lang="en-US" noProof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object 26">
            <a:extLst>
              <a:ext uri="{FF2B5EF4-FFF2-40B4-BE49-F238E27FC236}">
                <a16:creationId xmlns:a16="http://schemas.microsoft.com/office/drawing/2014/main" id="{A1467234-F537-8EBE-1CF1-11786D763F2C}"/>
              </a:ext>
            </a:extLst>
          </p:cNvPr>
          <p:cNvSpPr txBox="1"/>
          <p:nvPr/>
        </p:nvSpPr>
        <p:spPr>
          <a:xfrm>
            <a:off x="4186657" y="3864829"/>
            <a:ext cx="1836000" cy="216000"/>
          </a:xfrm>
          <a:prstGeom prst="rect">
            <a:avLst/>
          </a:prstGeom>
          <a:ln>
            <a:noFill/>
          </a:ln>
        </p:spPr>
        <p:txBody>
          <a:bodyPr vert="horz" wrap="square" lIns="36000" tIns="36000" rIns="36000" bIns="36000" rtlCol="0" anchor="ctr">
            <a:noAutofit/>
          </a:bodyPr>
          <a:lstStyle/>
          <a:p>
            <a:pPr marL="12700">
              <a:spcBef>
                <a:spcPts val="100"/>
              </a:spcBef>
            </a:pPr>
            <a:r>
              <a:rPr lang="en-US" sz="12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per Region</a:t>
            </a:r>
            <a:endParaRPr lang="en-US" sz="1200" noProof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341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Microsoft Macintosh PowerPoint</Application>
  <PresentationFormat>Breitbild</PresentationFormat>
  <Paragraphs>49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</vt:lpstr>
      <vt:lpstr>think-cell Folie</vt:lpstr>
      <vt:lpstr>Teaser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Seidenberg</dc:creator>
  <cp:lastModifiedBy>Mia Schramek</cp:lastModifiedBy>
  <cp:revision>16</cp:revision>
  <dcterms:created xsi:type="dcterms:W3CDTF">2025-05-25T13:51:45Z</dcterms:created>
  <dcterms:modified xsi:type="dcterms:W3CDTF">2025-06-21T16:18:25Z</dcterms:modified>
</cp:coreProperties>
</file>