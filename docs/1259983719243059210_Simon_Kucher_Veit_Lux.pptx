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7" r:id="rId2"/>
    <p:sldId id="260" r:id="rId3"/>
    <p:sldId id="265" r:id="rId4"/>
    <p:sldId id="270" r:id="rId5"/>
    <p:sldId id="264" r:id="rId6"/>
    <p:sldId id="266" r:id="rId7"/>
    <p:sldId id="269" r:id="rId8"/>
    <p:sldId id="262" r:id="rId9"/>
  </p:sldIdLst>
  <p:sldSz cx="12192000" cy="6858000"/>
  <p:notesSz cx="6858000" cy="9144000"/>
  <p:defaultTextStyle>
    <a:defPPr>
      <a:defRPr lang="de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9A6528CA-2D05-4349-9961-8AA0EDE139D5}">
          <p14:sldIdLst>
            <p14:sldId id="267"/>
            <p14:sldId id="260"/>
            <p14:sldId id="265"/>
            <p14:sldId id="270"/>
          </p14:sldIdLst>
        </p14:section>
        <p14:section name="Graveyard" id="{1DB46F69-F84B-8E4A-ABCC-0E76528CBD33}">
          <p14:sldIdLst>
            <p14:sldId id="264"/>
            <p14:sldId id="266"/>
            <p14:sldId id="269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2349"/>
    <a:srgbClr val="7F7F7F"/>
    <a:srgbClr val="273C47"/>
    <a:srgbClr val="EB0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0"/>
    <p:restoredTop sz="94668"/>
  </p:normalViewPr>
  <p:slideViewPr>
    <p:cSldViewPr snapToGrid="0">
      <p:cViewPr>
        <p:scale>
          <a:sx n="82" d="100"/>
          <a:sy n="82" d="100"/>
        </p:scale>
        <p:origin x="920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AFA4D5-DF24-224F-AB2C-FCF0C78C9B0B}" type="doc">
      <dgm:prSet loTypeId="urn:microsoft.com/office/officeart/2005/8/layout/cycle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F278F53F-2966-864C-BFFF-A0F2F49EB54C}">
      <dgm:prSet phldrT="[Text]"/>
      <dgm:spPr>
        <a:solidFill>
          <a:schemeClr val="tx2">
            <a:lumMod val="90000"/>
            <a:lumOff val="10000"/>
          </a:schemeClr>
        </a:solidFill>
      </dgm:spPr>
      <dgm:t>
        <a:bodyPr/>
        <a:lstStyle/>
        <a:p>
          <a:r>
            <a:rPr lang="de-DE" dirty="0"/>
            <a:t> </a:t>
          </a:r>
        </a:p>
      </dgm:t>
    </dgm:pt>
    <dgm:pt modelId="{DCB22188-612A-2C41-B21F-741F92765905}" type="sibTrans" cxnId="{A4D0CC43-8C37-0B4A-A3FB-CC3DADF13429}">
      <dgm:prSet/>
      <dgm:spPr/>
      <dgm:t>
        <a:bodyPr/>
        <a:lstStyle/>
        <a:p>
          <a:endParaRPr lang="de-DE"/>
        </a:p>
      </dgm:t>
    </dgm:pt>
    <dgm:pt modelId="{2F2F82A9-5E48-424B-B4A9-ED3AD940077D}" type="parTrans" cxnId="{A4D0CC43-8C37-0B4A-A3FB-CC3DADF13429}">
      <dgm:prSet/>
      <dgm:spPr/>
      <dgm:t>
        <a:bodyPr/>
        <a:lstStyle/>
        <a:p>
          <a:endParaRPr lang="de-DE"/>
        </a:p>
      </dgm:t>
    </dgm:pt>
    <dgm:pt modelId="{52C6B66B-D93E-F04B-99F2-E4F4DD625BFD}">
      <dgm:prSet phldrT="[Text]"/>
      <dgm:spPr>
        <a:solidFill>
          <a:schemeClr val="tx2">
            <a:lumMod val="25000"/>
            <a:lumOff val="75000"/>
          </a:schemeClr>
        </a:solidFill>
      </dgm:spPr>
      <dgm:t>
        <a:bodyPr/>
        <a:lstStyle/>
        <a:p>
          <a:r>
            <a:rPr lang="de-DE" dirty="0"/>
            <a:t> </a:t>
          </a:r>
        </a:p>
      </dgm:t>
    </dgm:pt>
    <dgm:pt modelId="{CB5E76EF-4483-7E46-93D7-59D57CC39B1C}" type="sibTrans" cxnId="{99C7A98B-8A5D-4040-8DE8-94B257BFEFC7}">
      <dgm:prSet/>
      <dgm:spPr/>
      <dgm:t>
        <a:bodyPr/>
        <a:lstStyle/>
        <a:p>
          <a:endParaRPr lang="de-DE"/>
        </a:p>
      </dgm:t>
    </dgm:pt>
    <dgm:pt modelId="{DD099F1C-43A3-4A49-BF23-232CA76345A0}" type="parTrans" cxnId="{99C7A98B-8A5D-4040-8DE8-94B257BFEFC7}">
      <dgm:prSet/>
      <dgm:spPr/>
      <dgm:t>
        <a:bodyPr/>
        <a:lstStyle/>
        <a:p>
          <a:endParaRPr lang="de-DE"/>
        </a:p>
      </dgm:t>
    </dgm:pt>
    <dgm:pt modelId="{65837043-48FE-E34E-8BA5-D1FB183E0FB9}">
      <dgm:prSet phldrT="[Text]"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de-DE" dirty="0"/>
            <a:t> </a:t>
          </a:r>
        </a:p>
      </dgm:t>
    </dgm:pt>
    <dgm:pt modelId="{F6ADC7A5-E767-1D4B-805E-275B4B44E755}" type="sibTrans" cxnId="{164D290D-EDB5-2C44-BC7C-108BA9BC9252}">
      <dgm:prSet/>
      <dgm:spPr/>
      <dgm:t>
        <a:bodyPr/>
        <a:lstStyle/>
        <a:p>
          <a:endParaRPr lang="de-DE"/>
        </a:p>
      </dgm:t>
    </dgm:pt>
    <dgm:pt modelId="{9787F820-14DD-D345-9020-0FA461CE0E98}" type="parTrans" cxnId="{164D290D-EDB5-2C44-BC7C-108BA9BC9252}">
      <dgm:prSet/>
      <dgm:spPr/>
      <dgm:t>
        <a:bodyPr/>
        <a:lstStyle/>
        <a:p>
          <a:endParaRPr lang="de-DE"/>
        </a:p>
      </dgm:t>
    </dgm:pt>
    <dgm:pt modelId="{9358765A-5713-C349-85B4-9D8ED443FC3E}">
      <dgm:prSet phldrT="[Text]"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r>
            <a:rPr lang="de-DE" dirty="0"/>
            <a:t> </a:t>
          </a:r>
        </a:p>
      </dgm:t>
    </dgm:pt>
    <dgm:pt modelId="{552F1A5C-94FC-B34C-8B87-DE823ADCF917}" type="sibTrans" cxnId="{D17401C9-EF47-CA48-BE70-C38A65AA895C}">
      <dgm:prSet/>
      <dgm:spPr/>
      <dgm:t>
        <a:bodyPr/>
        <a:lstStyle/>
        <a:p>
          <a:endParaRPr lang="de-DE"/>
        </a:p>
      </dgm:t>
    </dgm:pt>
    <dgm:pt modelId="{C993CEC1-2723-1A41-8A86-E278E1E18AE1}" type="parTrans" cxnId="{D17401C9-EF47-CA48-BE70-C38A65AA895C}">
      <dgm:prSet/>
      <dgm:spPr/>
      <dgm:t>
        <a:bodyPr/>
        <a:lstStyle/>
        <a:p>
          <a:endParaRPr lang="de-DE"/>
        </a:p>
      </dgm:t>
    </dgm:pt>
    <dgm:pt modelId="{1449CE29-29AB-384A-95EB-BE8D245F523D}" type="pres">
      <dgm:prSet presAssocID="{E5AFA4D5-DF24-224F-AB2C-FCF0C78C9B0B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A12FCD7B-295B-274E-86DD-1600359EC13F}" type="pres">
      <dgm:prSet presAssocID="{E5AFA4D5-DF24-224F-AB2C-FCF0C78C9B0B}" presName="children" presStyleCnt="0"/>
      <dgm:spPr/>
    </dgm:pt>
    <dgm:pt modelId="{BC25F80C-6708-BF47-958F-720CA1091B19}" type="pres">
      <dgm:prSet presAssocID="{E5AFA4D5-DF24-224F-AB2C-FCF0C78C9B0B}" presName="childPlaceholder" presStyleCnt="0"/>
      <dgm:spPr/>
    </dgm:pt>
    <dgm:pt modelId="{26B26A1A-386D-E94A-AA7E-340EA6913BD6}" type="pres">
      <dgm:prSet presAssocID="{E5AFA4D5-DF24-224F-AB2C-FCF0C78C9B0B}" presName="circle" presStyleCnt="0"/>
      <dgm:spPr/>
    </dgm:pt>
    <dgm:pt modelId="{D3D7F5B3-2012-E84A-824B-3D54230EF2B0}" type="pres">
      <dgm:prSet presAssocID="{E5AFA4D5-DF24-224F-AB2C-FCF0C78C9B0B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6CAF61EF-2847-AC4B-AA7F-B05BB503D840}" type="pres">
      <dgm:prSet presAssocID="{E5AFA4D5-DF24-224F-AB2C-FCF0C78C9B0B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80175D2E-5C47-1942-9750-DF8FE7562627}" type="pres">
      <dgm:prSet presAssocID="{E5AFA4D5-DF24-224F-AB2C-FCF0C78C9B0B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AF180AC1-209D-C246-81D3-1DF3EA3B6B61}" type="pres">
      <dgm:prSet presAssocID="{E5AFA4D5-DF24-224F-AB2C-FCF0C78C9B0B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67304506-1B53-FB4C-98E4-C47CD24F6442}" type="pres">
      <dgm:prSet presAssocID="{E5AFA4D5-DF24-224F-AB2C-FCF0C78C9B0B}" presName="quadrantPlaceholder" presStyleCnt="0"/>
      <dgm:spPr/>
    </dgm:pt>
    <dgm:pt modelId="{5BCDF1AA-1270-9B4D-A698-216C91947DA6}" type="pres">
      <dgm:prSet presAssocID="{E5AFA4D5-DF24-224F-AB2C-FCF0C78C9B0B}" presName="center1" presStyleLbl="fgShp" presStyleIdx="0" presStyleCnt="2" custScaleX="100164" custScaleY="117212"/>
      <dgm:spPr>
        <a:solidFill>
          <a:schemeClr val="bg1"/>
        </a:solidFill>
      </dgm:spPr>
    </dgm:pt>
    <dgm:pt modelId="{EAA0EDA3-40C7-9640-A879-930A684B7056}" type="pres">
      <dgm:prSet presAssocID="{E5AFA4D5-DF24-224F-AB2C-FCF0C78C9B0B}" presName="center2" presStyleLbl="fgShp" presStyleIdx="1" presStyleCnt="2" custScaleY="111939"/>
      <dgm:spPr>
        <a:solidFill>
          <a:schemeClr val="bg1"/>
        </a:solidFill>
      </dgm:spPr>
    </dgm:pt>
  </dgm:ptLst>
  <dgm:cxnLst>
    <dgm:cxn modelId="{164D290D-EDB5-2C44-BC7C-108BA9BC9252}" srcId="{E5AFA4D5-DF24-224F-AB2C-FCF0C78C9B0B}" destId="{65837043-48FE-E34E-8BA5-D1FB183E0FB9}" srcOrd="2" destOrd="0" parTransId="{9787F820-14DD-D345-9020-0FA461CE0E98}" sibTransId="{F6ADC7A5-E767-1D4B-805E-275B4B44E755}"/>
    <dgm:cxn modelId="{119F4226-8DE4-194A-9F47-30B1383845DF}" type="presOf" srcId="{F278F53F-2966-864C-BFFF-A0F2F49EB54C}" destId="{D3D7F5B3-2012-E84A-824B-3D54230EF2B0}" srcOrd="0" destOrd="0" presId="urn:microsoft.com/office/officeart/2005/8/layout/cycle4"/>
    <dgm:cxn modelId="{A4D0CC43-8C37-0B4A-A3FB-CC3DADF13429}" srcId="{E5AFA4D5-DF24-224F-AB2C-FCF0C78C9B0B}" destId="{F278F53F-2966-864C-BFFF-A0F2F49EB54C}" srcOrd="0" destOrd="0" parTransId="{2F2F82A9-5E48-424B-B4A9-ED3AD940077D}" sibTransId="{DCB22188-612A-2C41-B21F-741F92765905}"/>
    <dgm:cxn modelId="{4984CE5B-7FB3-2549-9850-8150981A9DC2}" type="presOf" srcId="{E5AFA4D5-DF24-224F-AB2C-FCF0C78C9B0B}" destId="{1449CE29-29AB-384A-95EB-BE8D245F523D}" srcOrd="0" destOrd="0" presId="urn:microsoft.com/office/officeart/2005/8/layout/cycle4"/>
    <dgm:cxn modelId="{99C7A98B-8A5D-4040-8DE8-94B257BFEFC7}" srcId="{E5AFA4D5-DF24-224F-AB2C-FCF0C78C9B0B}" destId="{52C6B66B-D93E-F04B-99F2-E4F4DD625BFD}" srcOrd="3" destOrd="0" parTransId="{DD099F1C-43A3-4A49-BF23-232CA76345A0}" sibTransId="{CB5E76EF-4483-7E46-93D7-59D57CC39B1C}"/>
    <dgm:cxn modelId="{2F49EB95-A88C-C74E-BCBF-5FFDEA0081AA}" type="presOf" srcId="{65837043-48FE-E34E-8BA5-D1FB183E0FB9}" destId="{80175D2E-5C47-1942-9750-DF8FE7562627}" srcOrd="0" destOrd="0" presId="urn:microsoft.com/office/officeart/2005/8/layout/cycle4"/>
    <dgm:cxn modelId="{09CAF5AC-11AC-8F45-9175-F90D840C6BFE}" type="presOf" srcId="{52C6B66B-D93E-F04B-99F2-E4F4DD625BFD}" destId="{AF180AC1-209D-C246-81D3-1DF3EA3B6B61}" srcOrd="0" destOrd="0" presId="urn:microsoft.com/office/officeart/2005/8/layout/cycle4"/>
    <dgm:cxn modelId="{D17401C9-EF47-CA48-BE70-C38A65AA895C}" srcId="{E5AFA4D5-DF24-224F-AB2C-FCF0C78C9B0B}" destId="{9358765A-5713-C349-85B4-9D8ED443FC3E}" srcOrd="1" destOrd="0" parTransId="{C993CEC1-2723-1A41-8A86-E278E1E18AE1}" sibTransId="{552F1A5C-94FC-B34C-8B87-DE823ADCF917}"/>
    <dgm:cxn modelId="{12CA3CDA-BC2F-6A4F-97F8-F13295D796AD}" type="presOf" srcId="{9358765A-5713-C349-85B4-9D8ED443FC3E}" destId="{6CAF61EF-2847-AC4B-AA7F-B05BB503D840}" srcOrd="0" destOrd="0" presId="urn:microsoft.com/office/officeart/2005/8/layout/cycle4"/>
    <dgm:cxn modelId="{AFFA8333-4086-9849-91E5-209852DCB5E8}" type="presParOf" srcId="{1449CE29-29AB-384A-95EB-BE8D245F523D}" destId="{A12FCD7B-295B-274E-86DD-1600359EC13F}" srcOrd="0" destOrd="0" presId="urn:microsoft.com/office/officeart/2005/8/layout/cycle4"/>
    <dgm:cxn modelId="{E814A741-8D55-B247-9258-3B6549C6592A}" type="presParOf" srcId="{A12FCD7B-295B-274E-86DD-1600359EC13F}" destId="{BC25F80C-6708-BF47-958F-720CA1091B19}" srcOrd="0" destOrd="0" presId="urn:microsoft.com/office/officeart/2005/8/layout/cycle4"/>
    <dgm:cxn modelId="{8467DB75-98CA-484A-BCDF-B8DB6E88E46C}" type="presParOf" srcId="{1449CE29-29AB-384A-95EB-BE8D245F523D}" destId="{26B26A1A-386D-E94A-AA7E-340EA6913BD6}" srcOrd="1" destOrd="0" presId="urn:microsoft.com/office/officeart/2005/8/layout/cycle4"/>
    <dgm:cxn modelId="{10D30572-5F06-8D4B-A682-729C320B1492}" type="presParOf" srcId="{26B26A1A-386D-E94A-AA7E-340EA6913BD6}" destId="{D3D7F5B3-2012-E84A-824B-3D54230EF2B0}" srcOrd="0" destOrd="0" presId="urn:microsoft.com/office/officeart/2005/8/layout/cycle4"/>
    <dgm:cxn modelId="{A2B6FB1A-0716-C946-89E2-34666BA9E15A}" type="presParOf" srcId="{26B26A1A-386D-E94A-AA7E-340EA6913BD6}" destId="{6CAF61EF-2847-AC4B-AA7F-B05BB503D840}" srcOrd="1" destOrd="0" presId="urn:microsoft.com/office/officeart/2005/8/layout/cycle4"/>
    <dgm:cxn modelId="{35C7AA0E-B60E-C543-81DE-B54C09DD7004}" type="presParOf" srcId="{26B26A1A-386D-E94A-AA7E-340EA6913BD6}" destId="{80175D2E-5C47-1942-9750-DF8FE7562627}" srcOrd="2" destOrd="0" presId="urn:microsoft.com/office/officeart/2005/8/layout/cycle4"/>
    <dgm:cxn modelId="{610D89A6-9877-F541-B1C1-AB97C92E6DC0}" type="presParOf" srcId="{26B26A1A-386D-E94A-AA7E-340EA6913BD6}" destId="{AF180AC1-209D-C246-81D3-1DF3EA3B6B61}" srcOrd="3" destOrd="0" presId="urn:microsoft.com/office/officeart/2005/8/layout/cycle4"/>
    <dgm:cxn modelId="{2C434E64-6A28-AE4B-9D60-1D24B4F3BB62}" type="presParOf" srcId="{26B26A1A-386D-E94A-AA7E-340EA6913BD6}" destId="{67304506-1B53-FB4C-98E4-C47CD24F6442}" srcOrd="4" destOrd="0" presId="urn:microsoft.com/office/officeart/2005/8/layout/cycle4"/>
    <dgm:cxn modelId="{55852581-8366-AA40-8D68-E094E6EEE4B3}" type="presParOf" srcId="{1449CE29-29AB-384A-95EB-BE8D245F523D}" destId="{5BCDF1AA-1270-9B4D-A698-216C91947DA6}" srcOrd="2" destOrd="0" presId="urn:microsoft.com/office/officeart/2005/8/layout/cycle4"/>
    <dgm:cxn modelId="{3AAEE149-7BDD-7D45-9ECD-0386277AE097}" type="presParOf" srcId="{1449CE29-29AB-384A-95EB-BE8D245F523D}" destId="{EAA0EDA3-40C7-9640-A879-930A684B7056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AFA4D5-DF24-224F-AB2C-FCF0C78C9B0B}" type="doc">
      <dgm:prSet loTypeId="urn:microsoft.com/office/officeart/2005/8/layout/cycle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F278F53F-2966-864C-BFFF-A0F2F49EB54C}">
      <dgm:prSet phldrT="[Text]"/>
      <dgm:spPr>
        <a:solidFill>
          <a:srgbClr val="D92349"/>
        </a:solidFill>
      </dgm:spPr>
      <dgm:t>
        <a:bodyPr/>
        <a:lstStyle/>
        <a:p>
          <a:r>
            <a:rPr lang="de-DE" dirty="0"/>
            <a:t> </a:t>
          </a:r>
        </a:p>
      </dgm:t>
    </dgm:pt>
    <dgm:pt modelId="{DCB22188-612A-2C41-B21F-741F92765905}" type="sibTrans" cxnId="{A4D0CC43-8C37-0B4A-A3FB-CC3DADF13429}">
      <dgm:prSet/>
      <dgm:spPr/>
      <dgm:t>
        <a:bodyPr/>
        <a:lstStyle/>
        <a:p>
          <a:endParaRPr lang="de-DE"/>
        </a:p>
      </dgm:t>
    </dgm:pt>
    <dgm:pt modelId="{2F2F82A9-5E48-424B-B4A9-ED3AD940077D}" type="parTrans" cxnId="{A4D0CC43-8C37-0B4A-A3FB-CC3DADF13429}">
      <dgm:prSet/>
      <dgm:spPr/>
      <dgm:t>
        <a:bodyPr/>
        <a:lstStyle/>
        <a:p>
          <a:endParaRPr lang="de-DE"/>
        </a:p>
      </dgm:t>
    </dgm:pt>
    <dgm:pt modelId="{52C6B66B-D93E-F04B-99F2-E4F4DD625BFD}">
      <dgm:prSet phldrT="[Text]"/>
      <dgm:spPr>
        <a:solidFill>
          <a:schemeClr val="tx1"/>
        </a:solidFill>
      </dgm:spPr>
      <dgm:t>
        <a:bodyPr/>
        <a:lstStyle/>
        <a:p>
          <a:r>
            <a:rPr lang="de-DE" dirty="0"/>
            <a:t> </a:t>
          </a:r>
        </a:p>
      </dgm:t>
    </dgm:pt>
    <dgm:pt modelId="{CB5E76EF-4483-7E46-93D7-59D57CC39B1C}" type="sibTrans" cxnId="{99C7A98B-8A5D-4040-8DE8-94B257BFEFC7}">
      <dgm:prSet/>
      <dgm:spPr/>
      <dgm:t>
        <a:bodyPr/>
        <a:lstStyle/>
        <a:p>
          <a:endParaRPr lang="de-DE"/>
        </a:p>
      </dgm:t>
    </dgm:pt>
    <dgm:pt modelId="{DD099F1C-43A3-4A49-BF23-232CA76345A0}" type="parTrans" cxnId="{99C7A98B-8A5D-4040-8DE8-94B257BFEFC7}">
      <dgm:prSet/>
      <dgm:spPr/>
      <dgm:t>
        <a:bodyPr/>
        <a:lstStyle/>
        <a:p>
          <a:endParaRPr lang="de-DE"/>
        </a:p>
      </dgm:t>
    </dgm:pt>
    <dgm:pt modelId="{65837043-48FE-E34E-8BA5-D1FB183E0FB9}">
      <dgm:prSet phldrT="[Text]"/>
      <dgm:spPr>
        <a:solidFill>
          <a:srgbClr val="D92349"/>
        </a:solidFill>
      </dgm:spPr>
      <dgm:t>
        <a:bodyPr/>
        <a:lstStyle/>
        <a:p>
          <a:r>
            <a:rPr lang="de-DE" dirty="0"/>
            <a:t> </a:t>
          </a:r>
        </a:p>
      </dgm:t>
    </dgm:pt>
    <dgm:pt modelId="{F6ADC7A5-E767-1D4B-805E-275B4B44E755}" type="sibTrans" cxnId="{164D290D-EDB5-2C44-BC7C-108BA9BC9252}">
      <dgm:prSet/>
      <dgm:spPr/>
      <dgm:t>
        <a:bodyPr/>
        <a:lstStyle/>
        <a:p>
          <a:endParaRPr lang="de-DE"/>
        </a:p>
      </dgm:t>
    </dgm:pt>
    <dgm:pt modelId="{9787F820-14DD-D345-9020-0FA461CE0E98}" type="parTrans" cxnId="{164D290D-EDB5-2C44-BC7C-108BA9BC9252}">
      <dgm:prSet/>
      <dgm:spPr/>
      <dgm:t>
        <a:bodyPr/>
        <a:lstStyle/>
        <a:p>
          <a:endParaRPr lang="de-DE"/>
        </a:p>
      </dgm:t>
    </dgm:pt>
    <dgm:pt modelId="{9358765A-5713-C349-85B4-9D8ED443FC3E}">
      <dgm:prSet phldrT="[Text]"/>
      <dgm:spPr>
        <a:solidFill>
          <a:schemeClr val="tx1"/>
        </a:solidFill>
      </dgm:spPr>
      <dgm:t>
        <a:bodyPr/>
        <a:lstStyle/>
        <a:p>
          <a:r>
            <a:rPr lang="de-DE" dirty="0"/>
            <a:t> </a:t>
          </a:r>
        </a:p>
      </dgm:t>
    </dgm:pt>
    <dgm:pt modelId="{552F1A5C-94FC-B34C-8B87-DE823ADCF917}" type="sibTrans" cxnId="{D17401C9-EF47-CA48-BE70-C38A65AA895C}">
      <dgm:prSet/>
      <dgm:spPr/>
      <dgm:t>
        <a:bodyPr/>
        <a:lstStyle/>
        <a:p>
          <a:endParaRPr lang="de-DE"/>
        </a:p>
      </dgm:t>
    </dgm:pt>
    <dgm:pt modelId="{C993CEC1-2723-1A41-8A86-E278E1E18AE1}" type="parTrans" cxnId="{D17401C9-EF47-CA48-BE70-C38A65AA895C}">
      <dgm:prSet/>
      <dgm:spPr/>
      <dgm:t>
        <a:bodyPr/>
        <a:lstStyle/>
        <a:p>
          <a:endParaRPr lang="de-DE"/>
        </a:p>
      </dgm:t>
    </dgm:pt>
    <dgm:pt modelId="{1449CE29-29AB-384A-95EB-BE8D245F523D}" type="pres">
      <dgm:prSet presAssocID="{E5AFA4D5-DF24-224F-AB2C-FCF0C78C9B0B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A12FCD7B-295B-274E-86DD-1600359EC13F}" type="pres">
      <dgm:prSet presAssocID="{E5AFA4D5-DF24-224F-AB2C-FCF0C78C9B0B}" presName="children" presStyleCnt="0"/>
      <dgm:spPr/>
    </dgm:pt>
    <dgm:pt modelId="{BC25F80C-6708-BF47-958F-720CA1091B19}" type="pres">
      <dgm:prSet presAssocID="{E5AFA4D5-DF24-224F-AB2C-FCF0C78C9B0B}" presName="childPlaceholder" presStyleCnt="0"/>
      <dgm:spPr/>
    </dgm:pt>
    <dgm:pt modelId="{26B26A1A-386D-E94A-AA7E-340EA6913BD6}" type="pres">
      <dgm:prSet presAssocID="{E5AFA4D5-DF24-224F-AB2C-FCF0C78C9B0B}" presName="circle" presStyleCnt="0"/>
      <dgm:spPr/>
    </dgm:pt>
    <dgm:pt modelId="{D3D7F5B3-2012-E84A-824B-3D54230EF2B0}" type="pres">
      <dgm:prSet presAssocID="{E5AFA4D5-DF24-224F-AB2C-FCF0C78C9B0B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6CAF61EF-2847-AC4B-AA7F-B05BB503D840}" type="pres">
      <dgm:prSet presAssocID="{E5AFA4D5-DF24-224F-AB2C-FCF0C78C9B0B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80175D2E-5C47-1942-9750-DF8FE7562627}" type="pres">
      <dgm:prSet presAssocID="{E5AFA4D5-DF24-224F-AB2C-FCF0C78C9B0B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AF180AC1-209D-C246-81D3-1DF3EA3B6B61}" type="pres">
      <dgm:prSet presAssocID="{E5AFA4D5-DF24-224F-AB2C-FCF0C78C9B0B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67304506-1B53-FB4C-98E4-C47CD24F6442}" type="pres">
      <dgm:prSet presAssocID="{E5AFA4D5-DF24-224F-AB2C-FCF0C78C9B0B}" presName="quadrantPlaceholder" presStyleCnt="0"/>
      <dgm:spPr/>
    </dgm:pt>
    <dgm:pt modelId="{5BCDF1AA-1270-9B4D-A698-216C91947DA6}" type="pres">
      <dgm:prSet presAssocID="{E5AFA4D5-DF24-224F-AB2C-FCF0C78C9B0B}" presName="center1" presStyleLbl="fgShp" presStyleIdx="0" presStyleCnt="2" custScaleX="100164" custScaleY="117212"/>
      <dgm:spPr>
        <a:solidFill>
          <a:schemeClr val="bg1"/>
        </a:solidFill>
      </dgm:spPr>
    </dgm:pt>
    <dgm:pt modelId="{EAA0EDA3-40C7-9640-A879-930A684B7056}" type="pres">
      <dgm:prSet presAssocID="{E5AFA4D5-DF24-224F-AB2C-FCF0C78C9B0B}" presName="center2" presStyleLbl="fgShp" presStyleIdx="1" presStyleCnt="2" custScaleY="111939"/>
      <dgm:spPr>
        <a:solidFill>
          <a:schemeClr val="bg1"/>
        </a:solidFill>
      </dgm:spPr>
    </dgm:pt>
  </dgm:ptLst>
  <dgm:cxnLst>
    <dgm:cxn modelId="{164D290D-EDB5-2C44-BC7C-108BA9BC9252}" srcId="{E5AFA4D5-DF24-224F-AB2C-FCF0C78C9B0B}" destId="{65837043-48FE-E34E-8BA5-D1FB183E0FB9}" srcOrd="2" destOrd="0" parTransId="{9787F820-14DD-D345-9020-0FA461CE0E98}" sibTransId="{F6ADC7A5-E767-1D4B-805E-275B4B44E755}"/>
    <dgm:cxn modelId="{119F4226-8DE4-194A-9F47-30B1383845DF}" type="presOf" srcId="{F278F53F-2966-864C-BFFF-A0F2F49EB54C}" destId="{D3D7F5B3-2012-E84A-824B-3D54230EF2B0}" srcOrd="0" destOrd="0" presId="urn:microsoft.com/office/officeart/2005/8/layout/cycle4"/>
    <dgm:cxn modelId="{A4D0CC43-8C37-0B4A-A3FB-CC3DADF13429}" srcId="{E5AFA4D5-DF24-224F-AB2C-FCF0C78C9B0B}" destId="{F278F53F-2966-864C-BFFF-A0F2F49EB54C}" srcOrd="0" destOrd="0" parTransId="{2F2F82A9-5E48-424B-B4A9-ED3AD940077D}" sibTransId="{DCB22188-612A-2C41-B21F-741F92765905}"/>
    <dgm:cxn modelId="{4984CE5B-7FB3-2549-9850-8150981A9DC2}" type="presOf" srcId="{E5AFA4D5-DF24-224F-AB2C-FCF0C78C9B0B}" destId="{1449CE29-29AB-384A-95EB-BE8D245F523D}" srcOrd="0" destOrd="0" presId="urn:microsoft.com/office/officeart/2005/8/layout/cycle4"/>
    <dgm:cxn modelId="{99C7A98B-8A5D-4040-8DE8-94B257BFEFC7}" srcId="{E5AFA4D5-DF24-224F-AB2C-FCF0C78C9B0B}" destId="{52C6B66B-D93E-F04B-99F2-E4F4DD625BFD}" srcOrd="3" destOrd="0" parTransId="{DD099F1C-43A3-4A49-BF23-232CA76345A0}" sibTransId="{CB5E76EF-4483-7E46-93D7-59D57CC39B1C}"/>
    <dgm:cxn modelId="{2F49EB95-A88C-C74E-BCBF-5FFDEA0081AA}" type="presOf" srcId="{65837043-48FE-E34E-8BA5-D1FB183E0FB9}" destId="{80175D2E-5C47-1942-9750-DF8FE7562627}" srcOrd="0" destOrd="0" presId="urn:microsoft.com/office/officeart/2005/8/layout/cycle4"/>
    <dgm:cxn modelId="{09CAF5AC-11AC-8F45-9175-F90D840C6BFE}" type="presOf" srcId="{52C6B66B-D93E-F04B-99F2-E4F4DD625BFD}" destId="{AF180AC1-209D-C246-81D3-1DF3EA3B6B61}" srcOrd="0" destOrd="0" presId="urn:microsoft.com/office/officeart/2005/8/layout/cycle4"/>
    <dgm:cxn modelId="{D17401C9-EF47-CA48-BE70-C38A65AA895C}" srcId="{E5AFA4D5-DF24-224F-AB2C-FCF0C78C9B0B}" destId="{9358765A-5713-C349-85B4-9D8ED443FC3E}" srcOrd="1" destOrd="0" parTransId="{C993CEC1-2723-1A41-8A86-E278E1E18AE1}" sibTransId="{552F1A5C-94FC-B34C-8B87-DE823ADCF917}"/>
    <dgm:cxn modelId="{12CA3CDA-BC2F-6A4F-97F8-F13295D796AD}" type="presOf" srcId="{9358765A-5713-C349-85B4-9D8ED443FC3E}" destId="{6CAF61EF-2847-AC4B-AA7F-B05BB503D840}" srcOrd="0" destOrd="0" presId="urn:microsoft.com/office/officeart/2005/8/layout/cycle4"/>
    <dgm:cxn modelId="{AFFA8333-4086-9849-91E5-209852DCB5E8}" type="presParOf" srcId="{1449CE29-29AB-384A-95EB-BE8D245F523D}" destId="{A12FCD7B-295B-274E-86DD-1600359EC13F}" srcOrd="0" destOrd="0" presId="urn:microsoft.com/office/officeart/2005/8/layout/cycle4"/>
    <dgm:cxn modelId="{E814A741-8D55-B247-9258-3B6549C6592A}" type="presParOf" srcId="{A12FCD7B-295B-274E-86DD-1600359EC13F}" destId="{BC25F80C-6708-BF47-958F-720CA1091B19}" srcOrd="0" destOrd="0" presId="urn:microsoft.com/office/officeart/2005/8/layout/cycle4"/>
    <dgm:cxn modelId="{8467DB75-98CA-484A-BCDF-B8DB6E88E46C}" type="presParOf" srcId="{1449CE29-29AB-384A-95EB-BE8D245F523D}" destId="{26B26A1A-386D-E94A-AA7E-340EA6913BD6}" srcOrd="1" destOrd="0" presId="urn:microsoft.com/office/officeart/2005/8/layout/cycle4"/>
    <dgm:cxn modelId="{10D30572-5F06-8D4B-A682-729C320B1492}" type="presParOf" srcId="{26B26A1A-386D-E94A-AA7E-340EA6913BD6}" destId="{D3D7F5B3-2012-E84A-824B-3D54230EF2B0}" srcOrd="0" destOrd="0" presId="urn:microsoft.com/office/officeart/2005/8/layout/cycle4"/>
    <dgm:cxn modelId="{A2B6FB1A-0716-C946-89E2-34666BA9E15A}" type="presParOf" srcId="{26B26A1A-386D-E94A-AA7E-340EA6913BD6}" destId="{6CAF61EF-2847-AC4B-AA7F-B05BB503D840}" srcOrd="1" destOrd="0" presId="urn:microsoft.com/office/officeart/2005/8/layout/cycle4"/>
    <dgm:cxn modelId="{35C7AA0E-B60E-C543-81DE-B54C09DD7004}" type="presParOf" srcId="{26B26A1A-386D-E94A-AA7E-340EA6913BD6}" destId="{80175D2E-5C47-1942-9750-DF8FE7562627}" srcOrd="2" destOrd="0" presId="urn:microsoft.com/office/officeart/2005/8/layout/cycle4"/>
    <dgm:cxn modelId="{610D89A6-9877-F541-B1C1-AB97C92E6DC0}" type="presParOf" srcId="{26B26A1A-386D-E94A-AA7E-340EA6913BD6}" destId="{AF180AC1-209D-C246-81D3-1DF3EA3B6B61}" srcOrd="3" destOrd="0" presId="urn:microsoft.com/office/officeart/2005/8/layout/cycle4"/>
    <dgm:cxn modelId="{2C434E64-6A28-AE4B-9D60-1D24B4F3BB62}" type="presParOf" srcId="{26B26A1A-386D-E94A-AA7E-340EA6913BD6}" destId="{67304506-1B53-FB4C-98E4-C47CD24F6442}" srcOrd="4" destOrd="0" presId="urn:microsoft.com/office/officeart/2005/8/layout/cycle4"/>
    <dgm:cxn modelId="{55852581-8366-AA40-8D68-E094E6EEE4B3}" type="presParOf" srcId="{1449CE29-29AB-384A-95EB-BE8D245F523D}" destId="{5BCDF1AA-1270-9B4D-A698-216C91947DA6}" srcOrd="2" destOrd="0" presId="urn:microsoft.com/office/officeart/2005/8/layout/cycle4"/>
    <dgm:cxn modelId="{3AAEE149-7BDD-7D45-9ECD-0386277AE097}" type="presParOf" srcId="{1449CE29-29AB-384A-95EB-BE8D245F523D}" destId="{EAA0EDA3-40C7-9640-A879-930A684B7056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D7F5B3-2012-E84A-824B-3D54230EF2B0}">
      <dsp:nvSpPr>
        <dsp:cNvPr id="0" name=""/>
        <dsp:cNvSpPr/>
      </dsp:nvSpPr>
      <dsp:spPr>
        <a:xfrm>
          <a:off x="1131031" y="224271"/>
          <a:ext cx="1703679" cy="1703679"/>
        </a:xfrm>
        <a:prstGeom prst="pieWedge">
          <a:avLst/>
        </a:prstGeom>
        <a:solidFill>
          <a:schemeClr val="tx2">
            <a:lumMod val="90000"/>
            <a:lumOff val="1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04" tIns="298704" rIns="298704" bIns="298704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200" kern="1200" dirty="0"/>
            <a:t> </a:t>
          </a:r>
        </a:p>
      </dsp:txBody>
      <dsp:txXfrm>
        <a:off x="1630027" y="723267"/>
        <a:ext cx="1204683" cy="1204683"/>
      </dsp:txXfrm>
    </dsp:sp>
    <dsp:sp modelId="{6CAF61EF-2847-AC4B-AA7F-B05BB503D840}">
      <dsp:nvSpPr>
        <dsp:cNvPr id="0" name=""/>
        <dsp:cNvSpPr/>
      </dsp:nvSpPr>
      <dsp:spPr>
        <a:xfrm rot="5400000">
          <a:off x="2913403" y="224271"/>
          <a:ext cx="1703679" cy="1703679"/>
        </a:xfrm>
        <a:prstGeom prst="pieWedge">
          <a:avLst/>
        </a:prstGeom>
        <a:solidFill>
          <a:schemeClr val="tx2">
            <a:lumMod val="75000"/>
            <a:lumOff val="2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04" tIns="298704" rIns="298704" bIns="298704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200" kern="1200" dirty="0"/>
            <a:t> </a:t>
          </a:r>
        </a:p>
      </dsp:txBody>
      <dsp:txXfrm rot="-5400000">
        <a:off x="2913403" y="723267"/>
        <a:ext cx="1204683" cy="1204683"/>
      </dsp:txXfrm>
    </dsp:sp>
    <dsp:sp modelId="{80175D2E-5C47-1942-9750-DF8FE7562627}">
      <dsp:nvSpPr>
        <dsp:cNvPr id="0" name=""/>
        <dsp:cNvSpPr/>
      </dsp:nvSpPr>
      <dsp:spPr>
        <a:xfrm rot="10800000">
          <a:off x="2913403" y="2006643"/>
          <a:ext cx="1703679" cy="1703679"/>
        </a:xfrm>
        <a:prstGeom prst="pieWedge">
          <a:avLst/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04" tIns="298704" rIns="298704" bIns="298704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200" kern="1200" dirty="0"/>
            <a:t> </a:t>
          </a:r>
        </a:p>
      </dsp:txBody>
      <dsp:txXfrm rot="10800000">
        <a:off x="2913403" y="2006643"/>
        <a:ext cx="1204683" cy="1204683"/>
      </dsp:txXfrm>
    </dsp:sp>
    <dsp:sp modelId="{AF180AC1-209D-C246-81D3-1DF3EA3B6B61}">
      <dsp:nvSpPr>
        <dsp:cNvPr id="0" name=""/>
        <dsp:cNvSpPr/>
      </dsp:nvSpPr>
      <dsp:spPr>
        <a:xfrm rot="16200000">
          <a:off x="1131031" y="2006643"/>
          <a:ext cx="1703679" cy="1703679"/>
        </a:xfrm>
        <a:prstGeom prst="pieWedge">
          <a:avLst/>
        </a:prstGeom>
        <a:solidFill>
          <a:schemeClr val="tx2">
            <a:lumMod val="25000"/>
            <a:lumOff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04" tIns="298704" rIns="298704" bIns="298704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200" kern="1200" dirty="0"/>
            <a:t> </a:t>
          </a:r>
        </a:p>
      </dsp:txBody>
      <dsp:txXfrm rot="5400000">
        <a:off x="1630027" y="2006643"/>
        <a:ext cx="1204683" cy="1204683"/>
      </dsp:txXfrm>
    </dsp:sp>
    <dsp:sp modelId="{5BCDF1AA-1270-9B4D-A698-216C91947DA6}">
      <dsp:nvSpPr>
        <dsp:cNvPr id="0" name=""/>
        <dsp:cNvSpPr/>
      </dsp:nvSpPr>
      <dsp:spPr>
        <a:xfrm>
          <a:off x="2579464" y="1569164"/>
          <a:ext cx="589186" cy="599536"/>
        </a:xfrm>
        <a:prstGeom prst="circularArrow">
          <a:avLst/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A0EDA3-40C7-9640-A879-930A684B7056}">
      <dsp:nvSpPr>
        <dsp:cNvPr id="0" name=""/>
        <dsp:cNvSpPr/>
      </dsp:nvSpPr>
      <dsp:spPr>
        <a:xfrm rot="10800000">
          <a:off x="2579946" y="1779379"/>
          <a:ext cx="588221" cy="572565"/>
        </a:xfrm>
        <a:prstGeom prst="circularArrow">
          <a:avLst/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D7F5B3-2012-E84A-824B-3D54230EF2B0}">
      <dsp:nvSpPr>
        <dsp:cNvPr id="0" name=""/>
        <dsp:cNvSpPr/>
      </dsp:nvSpPr>
      <dsp:spPr>
        <a:xfrm>
          <a:off x="1131031" y="224271"/>
          <a:ext cx="1703679" cy="1703679"/>
        </a:xfrm>
        <a:prstGeom prst="pieWedge">
          <a:avLst/>
        </a:prstGeom>
        <a:solidFill>
          <a:srgbClr val="D92349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04" tIns="298704" rIns="298704" bIns="298704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200" kern="1200" dirty="0"/>
            <a:t> </a:t>
          </a:r>
        </a:p>
      </dsp:txBody>
      <dsp:txXfrm>
        <a:off x="1630027" y="723267"/>
        <a:ext cx="1204683" cy="1204683"/>
      </dsp:txXfrm>
    </dsp:sp>
    <dsp:sp modelId="{6CAF61EF-2847-AC4B-AA7F-B05BB503D840}">
      <dsp:nvSpPr>
        <dsp:cNvPr id="0" name=""/>
        <dsp:cNvSpPr/>
      </dsp:nvSpPr>
      <dsp:spPr>
        <a:xfrm rot="5400000">
          <a:off x="2913403" y="224271"/>
          <a:ext cx="1703679" cy="1703679"/>
        </a:xfrm>
        <a:prstGeom prst="pieWedge">
          <a:avLst/>
        </a:prstGeom>
        <a:solidFill>
          <a:schemeClr val="tx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04" tIns="298704" rIns="298704" bIns="298704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200" kern="1200" dirty="0"/>
            <a:t> </a:t>
          </a:r>
        </a:p>
      </dsp:txBody>
      <dsp:txXfrm rot="-5400000">
        <a:off x="2913403" y="723267"/>
        <a:ext cx="1204683" cy="1204683"/>
      </dsp:txXfrm>
    </dsp:sp>
    <dsp:sp modelId="{80175D2E-5C47-1942-9750-DF8FE7562627}">
      <dsp:nvSpPr>
        <dsp:cNvPr id="0" name=""/>
        <dsp:cNvSpPr/>
      </dsp:nvSpPr>
      <dsp:spPr>
        <a:xfrm rot="10800000">
          <a:off x="2913403" y="2006643"/>
          <a:ext cx="1703679" cy="1703679"/>
        </a:xfrm>
        <a:prstGeom prst="pieWedge">
          <a:avLst/>
        </a:prstGeom>
        <a:solidFill>
          <a:srgbClr val="D92349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04" tIns="298704" rIns="298704" bIns="298704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200" kern="1200" dirty="0"/>
            <a:t> </a:t>
          </a:r>
        </a:p>
      </dsp:txBody>
      <dsp:txXfrm rot="10800000">
        <a:off x="2913403" y="2006643"/>
        <a:ext cx="1204683" cy="1204683"/>
      </dsp:txXfrm>
    </dsp:sp>
    <dsp:sp modelId="{AF180AC1-209D-C246-81D3-1DF3EA3B6B61}">
      <dsp:nvSpPr>
        <dsp:cNvPr id="0" name=""/>
        <dsp:cNvSpPr/>
      </dsp:nvSpPr>
      <dsp:spPr>
        <a:xfrm rot="16200000">
          <a:off x="1131031" y="2006643"/>
          <a:ext cx="1703679" cy="1703679"/>
        </a:xfrm>
        <a:prstGeom prst="pieWedge">
          <a:avLst/>
        </a:prstGeom>
        <a:solidFill>
          <a:schemeClr val="tx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04" tIns="298704" rIns="298704" bIns="298704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200" kern="1200" dirty="0"/>
            <a:t> </a:t>
          </a:r>
        </a:p>
      </dsp:txBody>
      <dsp:txXfrm rot="5400000">
        <a:off x="1630027" y="2006643"/>
        <a:ext cx="1204683" cy="1204683"/>
      </dsp:txXfrm>
    </dsp:sp>
    <dsp:sp modelId="{5BCDF1AA-1270-9B4D-A698-216C91947DA6}">
      <dsp:nvSpPr>
        <dsp:cNvPr id="0" name=""/>
        <dsp:cNvSpPr/>
      </dsp:nvSpPr>
      <dsp:spPr>
        <a:xfrm>
          <a:off x="2579464" y="1569164"/>
          <a:ext cx="589186" cy="599536"/>
        </a:xfrm>
        <a:prstGeom prst="circularArrow">
          <a:avLst/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A0EDA3-40C7-9640-A879-930A684B7056}">
      <dsp:nvSpPr>
        <dsp:cNvPr id="0" name=""/>
        <dsp:cNvSpPr/>
      </dsp:nvSpPr>
      <dsp:spPr>
        <a:xfrm rot="10800000">
          <a:off x="2579946" y="1779379"/>
          <a:ext cx="588221" cy="572565"/>
        </a:xfrm>
        <a:prstGeom prst="circularArrow">
          <a:avLst/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P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5859D1-CF45-344B-AC10-193A3078D212}" type="datetimeFigureOut">
              <a:rPr lang="de-PT" smtClean="0"/>
              <a:t>08/07/24</a:t>
            </a:fld>
            <a:endParaRPr lang="de-P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P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P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P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48EAF4-68FF-E04B-86AD-8FFE80D463B5}" type="slidenum">
              <a:rPr lang="de-PT" smtClean="0"/>
              <a:t>‹Nr.›</a:t>
            </a:fld>
            <a:endParaRPr lang="de-PT"/>
          </a:p>
        </p:txBody>
      </p:sp>
    </p:spTree>
    <p:extLst>
      <p:ext uri="{BB962C8B-B14F-4D97-AF65-F5344CB8AC3E}">
        <p14:creationId xmlns:p14="http://schemas.microsoft.com/office/powerpoint/2010/main" val="2602744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P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8EAF4-68FF-E04B-86AD-8FFE80D463B5}" type="slidenum">
              <a:rPr lang="de-PT" smtClean="0"/>
              <a:t>3</a:t>
            </a:fld>
            <a:endParaRPr lang="de-PT"/>
          </a:p>
        </p:txBody>
      </p:sp>
    </p:spTree>
    <p:extLst>
      <p:ext uri="{BB962C8B-B14F-4D97-AF65-F5344CB8AC3E}">
        <p14:creationId xmlns:p14="http://schemas.microsoft.com/office/powerpoint/2010/main" val="3696871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P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8EAF4-68FF-E04B-86AD-8FFE80D463B5}" type="slidenum">
              <a:rPr lang="de-PT" smtClean="0"/>
              <a:t>4</a:t>
            </a:fld>
            <a:endParaRPr lang="de-PT"/>
          </a:p>
        </p:txBody>
      </p:sp>
    </p:spTree>
    <p:extLst>
      <p:ext uri="{BB962C8B-B14F-4D97-AF65-F5344CB8AC3E}">
        <p14:creationId xmlns:p14="http://schemas.microsoft.com/office/powerpoint/2010/main" val="2947437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P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8EAF4-68FF-E04B-86AD-8FFE80D463B5}" type="slidenum">
              <a:rPr lang="de-PT" smtClean="0"/>
              <a:t>5</a:t>
            </a:fld>
            <a:endParaRPr lang="de-PT"/>
          </a:p>
        </p:txBody>
      </p:sp>
    </p:spTree>
    <p:extLst>
      <p:ext uri="{BB962C8B-B14F-4D97-AF65-F5344CB8AC3E}">
        <p14:creationId xmlns:p14="http://schemas.microsoft.com/office/powerpoint/2010/main" val="28176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P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8EAF4-68FF-E04B-86AD-8FFE80D463B5}" type="slidenum">
              <a:rPr lang="de-PT" smtClean="0"/>
              <a:t>6</a:t>
            </a:fld>
            <a:endParaRPr lang="de-PT"/>
          </a:p>
        </p:txBody>
      </p:sp>
    </p:spTree>
    <p:extLst>
      <p:ext uri="{BB962C8B-B14F-4D97-AF65-F5344CB8AC3E}">
        <p14:creationId xmlns:p14="http://schemas.microsoft.com/office/powerpoint/2010/main" val="11094728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P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8EAF4-68FF-E04B-86AD-8FFE80D463B5}" type="slidenum">
              <a:rPr lang="de-PT" smtClean="0"/>
              <a:t>7</a:t>
            </a:fld>
            <a:endParaRPr lang="de-PT"/>
          </a:p>
        </p:txBody>
      </p:sp>
    </p:spTree>
    <p:extLst>
      <p:ext uri="{BB962C8B-B14F-4D97-AF65-F5344CB8AC3E}">
        <p14:creationId xmlns:p14="http://schemas.microsoft.com/office/powerpoint/2010/main" val="2063420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CFE2BA-3DF1-4FF0-0EB2-B5105A5B7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P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3501CF3-99E2-A09A-A06B-365C590EFE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P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572E00-CA8B-73D8-0D85-32C43226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67976F-D972-224A-9EB3-F76F912ABCAB}" type="datetimeFigureOut">
              <a:rPr lang="de-PT" smtClean="0"/>
              <a:t>08/07/24</a:t>
            </a:fld>
            <a:endParaRPr lang="de-P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657CC5-F57B-7FDA-F884-71EF14EF7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P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916308-C042-2F59-3A45-5AF5FED6C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BCE3E9-6BE8-A941-9B58-31C75B2755C4}" type="slidenum">
              <a:rPr lang="de-PT" smtClean="0"/>
              <a:t>‹Nr.›</a:t>
            </a:fld>
            <a:endParaRPr lang="de-PT"/>
          </a:p>
        </p:txBody>
      </p:sp>
    </p:spTree>
    <p:extLst>
      <p:ext uri="{BB962C8B-B14F-4D97-AF65-F5344CB8AC3E}">
        <p14:creationId xmlns:p14="http://schemas.microsoft.com/office/powerpoint/2010/main" val="902716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ACBAE4-6517-9DFE-55A5-8B3EFF6EE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P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CEF07E-F65E-1C14-BB1B-4861A4D9E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P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C6FAED-1CDE-D894-414C-C965EDDDB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67976F-D972-224A-9EB3-F76F912ABCAB}" type="datetimeFigureOut">
              <a:rPr lang="de-PT" smtClean="0"/>
              <a:t>08/07/24</a:t>
            </a:fld>
            <a:endParaRPr lang="de-P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B2EDED-1353-BC22-0EDF-C9B006711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P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F02ECAB-3C42-76AB-EFF9-74B812E71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BCE3E9-6BE8-A941-9B58-31C75B2755C4}" type="slidenum">
              <a:rPr lang="de-PT" smtClean="0"/>
              <a:t>‹Nr.›</a:t>
            </a:fld>
            <a:endParaRPr lang="de-PT"/>
          </a:p>
        </p:txBody>
      </p:sp>
    </p:spTree>
    <p:extLst>
      <p:ext uri="{BB962C8B-B14F-4D97-AF65-F5344CB8AC3E}">
        <p14:creationId xmlns:p14="http://schemas.microsoft.com/office/powerpoint/2010/main" val="1971039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ACBAE4-6517-9DFE-55A5-8B3EFF6EE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1" y="270885"/>
            <a:ext cx="11741727" cy="623637"/>
          </a:xfrm>
        </p:spPr>
        <p:txBody>
          <a:bodyPr/>
          <a:lstStyle/>
          <a:p>
            <a:r>
              <a:rPr lang="de-DE" dirty="0"/>
              <a:t>Mastertitelformat bearbeiten</a:t>
            </a:r>
            <a:endParaRPr lang="de-P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CEF07E-F65E-1C14-BB1B-4861A4D9E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381" y="1520687"/>
            <a:ext cx="11741727" cy="47138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P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C6FAED-1CDE-D894-414C-C965EDDDB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67976F-D972-224A-9EB3-F76F912ABCAB}" type="datetimeFigureOut">
              <a:rPr lang="de-PT" smtClean="0"/>
              <a:t>08/07/24</a:t>
            </a:fld>
            <a:endParaRPr lang="de-P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B2EDED-1353-BC22-0EDF-C9B006711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P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F02ECAB-3C42-76AB-EFF9-74B812E71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BCE3E9-6BE8-A941-9B58-31C75B2755C4}" type="slidenum">
              <a:rPr lang="de-PT" smtClean="0"/>
              <a:t>‹Nr.›</a:t>
            </a:fld>
            <a:endParaRPr lang="de-PT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2830E01-837E-E2D5-3394-C5914ABC78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238" y="908946"/>
            <a:ext cx="11741150" cy="4079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PT"/>
          </a:p>
        </p:txBody>
      </p:sp>
    </p:spTree>
    <p:extLst>
      <p:ext uri="{BB962C8B-B14F-4D97-AF65-F5344CB8AC3E}">
        <p14:creationId xmlns:p14="http://schemas.microsoft.com/office/powerpoint/2010/main" val="641868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521811-2105-6F76-70A9-06227870B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P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4BA8BE-AAA7-2254-40E9-474D25B62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28E78E-3202-DB6B-77E8-F3F2FE4C67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67976F-D972-224A-9EB3-F76F912ABCAB}" type="datetimeFigureOut">
              <a:rPr lang="de-PT" smtClean="0"/>
              <a:t>08/07/24</a:t>
            </a:fld>
            <a:endParaRPr lang="de-P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6F2B4D-098A-5916-F406-670FE08F0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P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F9B990-CDB0-D3C9-47B8-6F195A22D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BCE3E9-6BE8-A941-9B58-31C75B2755C4}" type="slidenum">
              <a:rPr lang="de-PT" smtClean="0"/>
              <a:t>‹Nr.›</a:t>
            </a:fld>
            <a:endParaRPr lang="de-PT"/>
          </a:p>
        </p:txBody>
      </p:sp>
    </p:spTree>
    <p:extLst>
      <p:ext uri="{BB962C8B-B14F-4D97-AF65-F5344CB8AC3E}">
        <p14:creationId xmlns:p14="http://schemas.microsoft.com/office/powerpoint/2010/main" val="3770699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922898-FAEF-7286-A03B-E8D41916A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P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4FBA2C-C3A1-8047-E3F8-268894FB1D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P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ABCD118-F0EB-275A-5E81-EB36FC83D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P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2F6B24-617C-AECF-2BA5-ABCFF2FB92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67976F-D972-224A-9EB3-F76F912ABCAB}" type="datetimeFigureOut">
              <a:rPr lang="de-PT" smtClean="0"/>
              <a:t>08/07/24</a:t>
            </a:fld>
            <a:endParaRPr lang="de-P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3F12933-76E6-A648-BDC4-2C3448B83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P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97E1DE9-A21C-9757-6309-D6AC9555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BCE3E9-6BE8-A941-9B58-31C75B2755C4}" type="slidenum">
              <a:rPr lang="de-PT" smtClean="0"/>
              <a:t>‹Nr.›</a:t>
            </a:fld>
            <a:endParaRPr lang="de-PT"/>
          </a:p>
        </p:txBody>
      </p:sp>
    </p:spTree>
    <p:extLst>
      <p:ext uri="{BB962C8B-B14F-4D97-AF65-F5344CB8AC3E}">
        <p14:creationId xmlns:p14="http://schemas.microsoft.com/office/powerpoint/2010/main" val="2512165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BA24F5-8CB6-3B3D-A0C6-19FD0816A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P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F60519B-C7AE-DFD3-BE81-0A526738B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EE837DD-5E7D-7906-B29D-D437BC57C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P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2AF5209-D472-26A8-879D-ADD313C3B9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3C470B5-29B9-AB18-85E4-3E0AF14140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P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ADB06A7-EDFD-917D-59F3-A089EEFCD0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67976F-D972-224A-9EB3-F76F912ABCAB}" type="datetimeFigureOut">
              <a:rPr lang="de-PT" smtClean="0"/>
              <a:t>08/07/24</a:t>
            </a:fld>
            <a:endParaRPr lang="de-P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2AE8425-B56D-8CF3-18ED-02358D317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P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49BAEF8-B368-4359-1537-CA72D2ECE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BCE3E9-6BE8-A941-9B58-31C75B2755C4}" type="slidenum">
              <a:rPr lang="de-PT" smtClean="0"/>
              <a:t>‹Nr.›</a:t>
            </a:fld>
            <a:endParaRPr lang="de-PT"/>
          </a:p>
        </p:txBody>
      </p:sp>
    </p:spTree>
    <p:extLst>
      <p:ext uri="{BB962C8B-B14F-4D97-AF65-F5344CB8AC3E}">
        <p14:creationId xmlns:p14="http://schemas.microsoft.com/office/powerpoint/2010/main" val="3122886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F3D4D9-94B1-CF00-0AC1-B70315F0C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P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58EECA0-90A2-5D10-E0F1-994A3C6413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67976F-D972-224A-9EB3-F76F912ABCAB}" type="datetimeFigureOut">
              <a:rPr lang="de-PT" smtClean="0"/>
              <a:t>08/07/24</a:t>
            </a:fld>
            <a:endParaRPr lang="de-P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09881C-3DBC-0244-361A-F66C3BC8D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P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2DA9510-F6D8-8B14-0AB0-E2444BC6B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BCE3E9-6BE8-A941-9B58-31C75B2755C4}" type="slidenum">
              <a:rPr lang="de-PT" smtClean="0"/>
              <a:t>‹Nr.›</a:t>
            </a:fld>
            <a:endParaRPr lang="de-PT"/>
          </a:p>
        </p:txBody>
      </p:sp>
    </p:spTree>
    <p:extLst>
      <p:ext uri="{BB962C8B-B14F-4D97-AF65-F5344CB8AC3E}">
        <p14:creationId xmlns:p14="http://schemas.microsoft.com/office/powerpoint/2010/main" val="2783497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B780295-224A-9C1E-011E-4862CE0E48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67976F-D972-224A-9EB3-F76F912ABCAB}" type="datetimeFigureOut">
              <a:rPr lang="de-PT" smtClean="0"/>
              <a:t>08/07/24</a:t>
            </a:fld>
            <a:endParaRPr lang="de-P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0EC54F1-F8CC-ABBD-07A2-9ABF7499D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P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982B829-23B4-CF14-591A-9C1B2F108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BCE3E9-6BE8-A941-9B58-31C75B2755C4}" type="slidenum">
              <a:rPr lang="de-PT" smtClean="0"/>
              <a:t>‹Nr.›</a:t>
            </a:fld>
            <a:endParaRPr lang="de-PT"/>
          </a:p>
        </p:txBody>
      </p:sp>
    </p:spTree>
    <p:extLst>
      <p:ext uri="{BB962C8B-B14F-4D97-AF65-F5344CB8AC3E}">
        <p14:creationId xmlns:p14="http://schemas.microsoft.com/office/powerpoint/2010/main" val="988938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3698E1-534C-409D-1BB2-4AEFAC94A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P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DB3C62-551B-CDFC-0520-1D120E535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P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33AD1E0-F6EB-6906-065F-F21CDEBFED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0E860D5-C0BD-737F-4F38-D5A5AE7475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67976F-D972-224A-9EB3-F76F912ABCAB}" type="datetimeFigureOut">
              <a:rPr lang="de-PT" smtClean="0"/>
              <a:t>08/07/24</a:t>
            </a:fld>
            <a:endParaRPr lang="de-P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62135DF-A219-FF02-F89A-34581AC86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P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15897C-AC72-002E-A67D-DA4C1C2E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BCE3E9-6BE8-A941-9B58-31C75B2755C4}" type="slidenum">
              <a:rPr lang="de-PT" smtClean="0"/>
              <a:t>‹Nr.›</a:t>
            </a:fld>
            <a:endParaRPr lang="de-PT"/>
          </a:p>
        </p:txBody>
      </p:sp>
    </p:spTree>
    <p:extLst>
      <p:ext uri="{BB962C8B-B14F-4D97-AF65-F5344CB8AC3E}">
        <p14:creationId xmlns:p14="http://schemas.microsoft.com/office/powerpoint/2010/main" val="1257798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F466C5-8A0F-0255-79DF-48158457A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P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2443AF6-74D6-DC8F-E975-92C448E57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P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19ADA01-3F3A-34F7-4F07-8FFF92603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2764DAB-34C0-AA80-0681-F86475459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67976F-D972-224A-9EB3-F76F912ABCAB}" type="datetimeFigureOut">
              <a:rPr lang="de-PT" smtClean="0"/>
              <a:t>08/07/24</a:t>
            </a:fld>
            <a:endParaRPr lang="de-P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240FBBB-CE68-A5CA-2AA6-B2BC0476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P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FC67DA6-4511-08A6-7C54-EB3205ED7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BCE3E9-6BE8-A941-9B58-31C75B2755C4}" type="slidenum">
              <a:rPr lang="de-PT" smtClean="0"/>
              <a:t>‹Nr.›</a:t>
            </a:fld>
            <a:endParaRPr lang="de-PT"/>
          </a:p>
        </p:txBody>
      </p:sp>
    </p:spTree>
    <p:extLst>
      <p:ext uri="{BB962C8B-B14F-4D97-AF65-F5344CB8AC3E}">
        <p14:creationId xmlns:p14="http://schemas.microsoft.com/office/powerpoint/2010/main" val="3918115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AF588D-93E1-F9CA-0FB2-295CEC863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P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FF2A8C9-F7C3-C9C6-C477-A7A5F9232F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P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673BFE-5EE0-A683-7DA3-959DB1C7A2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67976F-D972-224A-9EB3-F76F912ABCAB}" type="datetimeFigureOut">
              <a:rPr lang="de-PT" smtClean="0"/>
              <a:t>08/07/24</a:t>
            </a:fld>
            <a:endParaRPr lang="de-P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E5484A-9D31-2D8B-664D-5681771EA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P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0591E4-05DF-4FE8-121C-D794B1FCB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BCE3E9-6BE8-A941-9B58-31C75B2755C4}" type="slidenum">
              <a:rPr lang="de-PT" smtClean="0"/>
              <a:t>‹Nr.›</a:t>
            </a:fld>
            <a:endParaRPr lang="de-PT"/>
          </a:p>
        </p:txBody>
      </p:sp>
    </p:spTree>
    <p:extLst>
      <p:ext uri="{BB962C8B-B14F-4D97-AF65-F5344CB8AC3E}">
        <p14:creationId xmlns:p14="http://schemas.microsoft.com/office/powerpoint/2010/main" val="931485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463F29C-4AE0-97E2-F865-A85761CBC5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P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4EA296C-312F-032E-B31E-437A5D5E85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P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727A01-DDD0-C5F6-17DD-633ED8BDC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67976F-D972-224A-9EB3-F76F912ABCAB}" type="datetimeFigureOut">
              <a:rPr lang="de-PT" smtClean="0"/>
              <a:t>08/07/24</a:t>
            </a:fld>
            <a:endParaRPr lang="de-P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DD21EC-7E5F-3CC8-223C-7B7F13637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P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BA9983-D51B-6C7B-1494-B69E141B3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BCE3E9-6BE8-A941-9B58-31C75B2755C4}" type="slidenum">
              <a:rPr lang="de-PT" smtClean="0"/>
              <a:t>‹Nr.›</a:t>
            </a:fld>
            <a:endParaRPr lang="de-PT"/>
          </a:p>
        </p:txBody>
      </p:sp>
    </p:spTree>
    <p:extLst>
      <p:ext uri="{BB962C8B-B14F-4D97-AF65-F5344CB8AC3E}">
        <p14:creationId xmlns:p14="http://schemas.microsoft.com/office/powerpoint/2010/main" val="221539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3894798-A988-1FC5-6FA4-B5EBCD59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P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18A9BAC-5B8A-D2AF-58E0-B49EC5267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PT"/>
          </a:p>
        </p:txBody>
      </p:sp>
    </p:spTree>
    <p:extLst>
      <p:ext uri="{BB962C8B-B14F-4D97-AF65-F5344CB8AC3E}">
        <p14:creationId xmlns:p14="http://schemas.microsoft.com/office/powerpoint/2010/main" val="3509240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13" Type="http://schemas.openxmlformats.org/officeDocument/2006/relationships/image" Target="../media/image7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12" Type="http://schemas.openxmlformats.org/officeDocument/2006/relationships/image" Target="../media/image6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11" Type="http://schemas.openxmlformats.org/officeDocument/2006/relationships/image" Target="../media/image5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4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Relationship Id="rId14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13" Type="http://schemas.openxmlformats.org/officeDocument/2006/relationships/image" Target="../media/image7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12" Type="http://schemas.openxmlformats.org/officeDocument/2006/relationships/image" Target="../media/image6.sv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11" Type="http://schemas.openxmlformats.org/officeDocument/2006/relationships/image" Target="../media/image5.png"/><Relationship Id="rId5" Type="http://schemas.openxmlformats.org/officeDocument/2006/relationships/diagramColors" Target="../diagrams/colors2.xml"/><Relationship Id="rId10" Type="http://schemas.openxmlformats.org/officeDocument/2006/relationships/image" Target="../media/image4.sv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3.png"/><Relationship Id="rId1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8137CD-0115-ABA6-4FF3-6D369A860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1" y="270885"/>
            <a:ext cx="11741727" cy="776964"/>
          </a:xfrm>
        </p:spPr>
        <p:txBody>
          <a:bodyPr lIns="0" tIns="0" rIns="0" bIns="0" anchor="t">
            <a:noAutofit/>
          </a:bodyPr>
          <a:lstStyle/>
          <a:p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decided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apply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Simon-Kucher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because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unique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specialized</a:t>
            </a:r>
            <a:r>
              <a:rPr lang="de-DE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expertise</a:t>
            </a:r>
            <a:r>
              <a:rPr lang="de-DE" sz="2600" dirty="0">
                <a:latin typeface="Calibri" panose="020F0502020204030204" pitchFamily="34" charset="0"/>
                <a:cs typeface="Calibri" panose="020F0502020204030204" pitchFamily="34" charset="0"/>
              </a:rPr>
              <a:t>, global </a:t>
            </a:r>
            <a:r>
              <a:rPr lang="de-DE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reach</a:t>
            </a:r>
            <a:r>
              <a:rPr lang="de-DE" sz="26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collaborative</a:t>
            </a:r>
            <a:r>
              <a:rPr lang="de-DE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culture</a:t>
            </a:r>
            <a:r>
              <a:rPr lang="de-DE" sz="2600" dirty="0"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de-DE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proven</a:t>
            </a:r>
            <a:r>
              <a:rPr lang="de-DE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success</a:t>
            </a:r>
            <a:endParaRPr lang="de-PT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4" name="Rechteck 1053">
            <a:extLst>
              <a:ext uri="{FF2B5EF4-FFF2-40B4-BE49-F238E27FC236}">
                <a16:creationId xmlns:a16="http://schemas.microsoft.com/office/drawing/2014/main" id="{DB1BB379-153A-1F20-5CFB-154D23E34035}"/>
              </a:ext>
            </a:extLst>
          </p:cNvPr>
          <p:cNvSpPr/>
          <p:nvPr/>
        </p:nvSpPr>
        <p:spPr>
          <a:xfrm>
            <a:off x="8329236" y="1863076"/>
            <a:ext cx="1939636" cy="396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Global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reach</a:t>
            </a:r>
            <a:endParaRPr lang="de-PT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5" name="Rechteck 1054">
            <a:extLst>
              <a:ext uri="{FF2B5EF4-FFF2-40B4-BE49-F238E27FC236}">
                <a16:creationId xmlns:a16="http://schemas.microsoft.com/office/drawing/2014/main" id="{40890145-D884-AE46-8A01-A3F85C22CFF5}"/>
              </a:ext>
            </a:extLst>
          </p:cNvPr>
          <p:cNvSpPr/>
          <p:nvPr/>
        </p:nvSpPr>
        <p:spPr>
          <a:xfrm>
            <a:off x="8329236" y="4424409"/>
            <a:ext cx="1939636" cy="3960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PT" dirty="0">
                <a:latin typeface="Calibri" panose="020F0502020204030204" pitchFamily="34" charset="0"/>
                <a:cs typeface="Calibri" panose="020F0502020204030204" pitchFamily="34" charset="0"/>
              </a:rPr>
              <a:t>Success</a:t>
            </a:r>
          </a:p>
        </p:txBody>
      </p:sp>
      <p:sp>
        <p:nvSpPr>
          <p:cNvPr id="1056" name="Rechteck 1055">
            <a:extLst>
              <a:ext uri="{FF2B5EF4-FFF2-40B4-BE49-F238E27FC236}">
                <a16:creationId xmlns:a16="http://schemas.microsoft.com/office/drawing/2014/main" id="{5DFAED32-DB73-D9C3-0739-B454CA0F6DBE}"/>
              </a:ext>
            </a:extLst>
          </p:cNvPr>
          <p:cNvSpPr/>
          <p:nvPr/>
        </p:nvSpPr>
        <p:spPr>
          <a:xfrm>
            <a:off x="1923129" y="4424409"/>
            <a:ext cx="1939636" cy="396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Culture</a:t>
            </a:r>
            <a:endParaRPr lang="de-PT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7" name="Rechteck 1056">
            <a:extLst>
              <a:ext uri="{FF2B5EF4-FFF2-40B4-BE49-F238E27FC236}">
                <a16:creationId xmlns:a16="http://schemas.microsoft.com/office/drawing/2014/main" id="{5FCF848E-CA7C-B953-0676-B10520158F51}"/>
              </a:ext>
            </a:extLst>
          </p:cNvPr>
          <p:cNvSpPr/>
          <p:nvPr/>
        </p:nvSpPr>
        <p:spPr>
          <a:xfrm>
            <a:off x="1923129" y="1863076"/>
            <a:ext cx="1939636" cy="396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PT" dirty="0">
                <a:latin typeface="Calibri" panose="020F0502020204030204" pitchFamily="34" charset="0"/>
                <a:cs typeface="Calibri" panose="020F0502020204030204" pitchFamily="34" charset="0"/>
              </a:rPr>
              <a:t>Specialization</a:t>
            </a:r>
          </a:p>
        </p:txBody>
      </p:sp>
      <p:grpSp>
        <p:nvGrpSpPr>
          <p:cNvPr id="1060" name="Gruppieren 1059">
            <a:extLst>
              <a:ext uri="{FF2B5EF4-FFF2-40B4-BE49-F238E27FC236}">
                <a16:creationId xmlns:a16="http://schemas.microsoft.com/office/drawing/2014/main" id="{090231A7-3272-3E92-12EB-94C70BD801FF}"/>
              </a:ext>
            </a:extLst>
          </p:cNvPr>
          <p:cNvGrpSpPr/>
          <p:nvPr/>
        </p:nvGrpSpPr>
        <p:grpSpPr>
          <a:xfrm>
            <a:off x="3221943" y="1900882"/>
            <a:ext cx="5748115" cy="3934595"/>
            <a:chOff x="2949558" y="1539105"/>
            <a:chExt cx="6292884" cy="4307490"/>
          </a:xfrm>
        </p:grpSpPr>
        <p:graphicFrame>
          <p:nvGraphicFramePr>
            <p:cNvPr id="1050" name="Diagramm 1049">
              <a:extLst>
                <a:ext uri="{FF2B5EF4-FFF2-40B4-BE49-F238E27FC236}">
                  <a16:creationId xmlns:a16="http://schemas.microsoft.com/office/drawing/2014/main" id="{9A4B294A-365D-D75B-5FD3-AE60A71D919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334944427"/>
                </p:ext>
              </p:extLst>
            </p:nvPr>
          </p:nvGraphicFramePr>
          <p:xfrm>
            <a:off x="2949558" y="1539105"/>
            <a:ext cx="6292884" cy="430749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pic>
          <p:nvPicPr>
            <p:cNvPr id="1030" name="Grafik 1029" descr="Benutzer mit einfarbiger Füllung">
              <a:extLst>
                <a:ext uri="{FF2B5EF4-FFF2-40B4-BE49-F238E27FC236}">
                  <a16:creationId xmlns:a16="http://schemas.microsoft.com/office/drawing/2014/main" id="{2AC907FF-2730-C3B3-B713-4DAD5D50CE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790976" y="4188181"/>
              <a:ext cx="792000" cy="792000"/>
            </a:xfrm>
            <a:prstGeom prst="rect">
              <a:avLst/>
            </a:prstGeom>
          </p:spPr>
        </p:pic>
        <p:pic>
          <p:nvPicPr>
            <p:cNvPr id="1041" name="Grafik 1040" descr="Balkendiagramm mit Aufwärtstrend mit einfarbiger Füllung">
              <a:extLst>
                <a:ext uri="{FF2B5EF4-FFF2-40B4-BE49-F238E27FC236}">
                  <a16:creationId xmlns:a16="http://schemas.microsoft.com/office/drawing/2014/main" id="{CF76C9D0-D437-07AF-1DCB-DFC24B3F0DB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804830" y="2420431"/>
              <a:ext cx="792000" cy="792000"/>
            </a:xfrm>
            <a:prstGeom prst="rect">
              <a:avLst/>
            </a:prstGeom>
          </p:spPr>
        </p:pic>
        <p:pic>
          <p:nvPicPr>
            <p:cNvPr id="1045" name="Grafik 1044" descr="Welt mit einfarbiger Füllung">
              <a:extLst>
                <a:ext uri="{FF2B5EF4-FFF2-40B4-BE49-F238E27FC236}">
                  <a16:creationId xmlns:a16="http://schemas.microsoft.com/office/drawing/2014/main" id="{00088937-F782-8ADE-C670-FE9210EAD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595797" y="2420431"/>
              <a:ext cx="792000" cy="792000"/>
            </a:xfrm>
            <a:prstGeom prst="rect">
              <a:avLst/>
            </a:prstGeom>
          </p:spPr>
        </p:pic>
        <p:pic>
          <p:nvPicPr>
            <p:cNvPr id="1059" name="Grafik 1058" descr="Trophäe mit einfarbiger Füllung">
              <a:extLst>
                <a:ext uri="{FF2B5EF4-FFF2-40B4-BE49-F238E27FC236}">
                  <a16:creationId xmlns:a16="http://schemas.microsoft.com/office/drawing/2014/main" id="{E0C0FAB0-5FAF-C310-3B1E-69D309B4EB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609650" y="4188181"/>
              <a:ext cx="792000" cy="792000"/>
            </a:xfrm>
            <a:prstGeom prst="rect">
              <a:avLst/>
            </a:prstGeom>
          </p:spPr>
        </p:pic>
      </p:grpSp>
      <p:sp>
        <p:nvSpPr>
          <p:cNvPr id="1061" name="Textfeld 1060">
            <a:extLst>
              <a:ext uri="{FF2B5EF4-FFF2-40B4-BE49-F238E27FC236}">
                <a16:creationId xmlns:a16="http://schemas.microsoft.com/office/drawing/2014/main" id="{F19D7AA1-0F5B-1E55-9101-8B0D5A9151E8}"/>
              </a:ext>
            </a:extLst>
          </p:cNvPr>
          <p:cNvSpPr txBox="1"/>
          <p:nvPr/>
        </p:nvSpPr>
        <p:spPr>
          <a:xfrm>
            <a:off x="249381" y="2359603"/>
            <a:ext cx="3613385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Focuses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specifically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pricing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strategy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marketing</a:t>
            </a:r>
            <a:r>
              <a:rPr lang="de-DE" sz="16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sales</a:t>
            </a:r>
            <a:r>
              <a:rPr lang="de-DE" sz="16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recognized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World’s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leading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pricing and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growth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specialist</a:t>
            </a:r>
            <a:endParaRPr lang="de-PT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2" name="Textfeld 1061">
            <a:extLst>
              <a:ext uri="{FF2B5EF4-FFF2-40B4-BE49-F238E27FC236}">
                <a16:creationId xmlns:a16="http://schemas.microsoft.com/office/drawing/2014/main" id="{B2FFDD12-0ABE-CBD3-21FB-31CCC3A09108}"/>
              </a:ext>
            </a:extLst>
          </p:cNvPr>
          <p:cNvSpPr txBox="1"/>
          <p:nvPr/>
        </p:nvSpPr>
        <p:spPr>
          <a:xfrm>
            <a:off x="249381" y="4925806"/>
            <a:ext cx="3613385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welcoming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and supportive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team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atmosphere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along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collaborative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environment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within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organization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fosters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entrepreneurial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spirit</a:t>
            </a:r>
            <a:endParaRPr lang="de-PT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3" name="Textfeld 1062">
            <a:extLst>
              <a:ext uri="{FF2B5EF4-FFF2-40B4-BE49-F238E27FC236}">
                <a16:creationId xmlns:a16="http://schemas.microsoft.com/office/drawing/2014/main" id="{4910F492-A10F-96A9-9F7E-314CC85CAF9C}"/>
              </a:ext>
            </a:extLst>
          </p:cNvPr>
          <p:cNvSpPr txBox="1"/>
          <p:nvPr/>
        </p:nvSpPr>
        <p:spPr>
          <a:xfrm>
            <a:off x="8329236" y="2359603"/>
            <a:ext cx="3613385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Over 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41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offices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worldwide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than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2,000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employees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ensuring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global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perspective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while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localized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strategies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consider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regional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market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nuances</a:t>
            </a:r>
            <a:endParaRPr lang="de-PT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de-PT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4" name="Textfeld 1063">
            <a:extLst>
              <a:ext uri="{FF2B5EF4-FFF2-40B4-BE49-F238E27FC236}">
                <a16:creationId xmlns:a16="http://schemas.microsoft.com/office/drawing/2014/main" id="{62965A84-7AE9-3845-A047-439C5C9F1305}"/>
              </a:ext>
            </a:extLst>
          </p:cNvPr>
          <p:cNvSpPr txBox="1"/>
          <p:nvPr/>
        </p:nvSpPr>
        <p:spPr>
          <a:xfrm>
            <a:off x="8329236" y="4925806"/>
            <a:ext cx="3613385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 a strong track 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record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completing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30,000 </a:t>
            </a:r>
            <a:r>
              <a:rPr lang="de-DE" sz="16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projects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specialists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handle 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assignments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across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several</a:t>
            </a:r>
            <a:r>
              <a:rPr lang="de-DE" sz="16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industries</a:t>
            </a:r>
            <a:r>
              <a:rPr lang="de-DE" sz="16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product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launches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pricing 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strategies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de-DE" sz="16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334A3F62-7E93-0A1A-BF71-26A652B966D7}"/>
              </a:ext>
            </a:extLst>
          </p:cNvPr>
          <p:cNvCxnSpPr>
            <a:cxnSpLocks/>
          </p:cNvCxnSpPr>
          <p:nvPr/>
        </p:nvCxnSpPr>
        <p:spPr>
          <a:xfrm>
            <a:off x="249381" y="1176795"/>
            <a:ext cx="1174172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D0C25FB3-19AE-FA33-F1C7-F66AB0862827}"/>
              </a:ext>
            </a:extLst>
          </p:cNvPr>
          <p:cNvSpPr txBox="1"/>
          <p:nvPr/>
        </p:nvSpPr>
        <p:spPr>
          <a:xfrm>
            <a:off x="249381" y="6530677"/>
            <a:ext cx="11741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PT" sz="1200" dirty="0">
                <a:solidFill>
                  <a:schemeClr val="tx1"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Sources: Simon-Kucher Company website</a:t>
            </a:r>
          </a:p>
        </p:txBody>
      </p:sp>
    </p:spTree>
    <p:extLst>
      <p:ext uri="{BB962C8B-B14F-4D97-AF65-F5344CB8AC3E}">
        <p14:creationId xmlns:p14="http://schemas.microsoft.com/office/powerpoint/2010/main" val="3100201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8137CD-0115-ABA6-4FF3-6D369A860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1" y="270885"/>
            <a:ext cx="11741727" cy="776964"/>
          </a:xfrm>
        </p:spPr>
        <p:txBody>
          <a:bodyPr lIns="0" tIns="0" rIns="0" bIns="0" anchor="t">
            <a:noAutofit/>
          </a:bodyPr>
          <a:lstStyle/>
          <a:p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decided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apply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Simon-Kucher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because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unique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specialized</a:t>
            </a:r>
            <a:r>
              <a:rPr lang="de-DE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expertise</a:t>
            </a:r>
            <a:r>
              <a:rPr lang="de-DE" sz="2600" dirty="0">
                <a:latin typeface="Calibri" panose="020F0502020204030204" pitchFamily="34" charset="0"/>
                <a:cs typeface="Calibri" panose="020F0502020204030204" pitchFamily="34" charset="0"/>
              </a:rPr>
              <a:t>, global </a:t>
            </a:r>
            <a:r>
              <a:rPr lang="de-DE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reach</a:t>
            </a:r>
            <a:r>
              <a:rPr lang="de-DE" sz="26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collaborative</a:t>
            </a:r>
            <a:r>
              <a:rPr lang="de-DE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culture</a:t>
            </a:r>
            <a:r>
              <a:rPr lang="de-DE" sz="2600" dirty="0"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de-DE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proven</a:t>
            </a:r>
            <a:r>
              <a:rPr lang="de-DE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success</a:t>
            </a:r>
            <a:endParaRPr lang="de-PT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4" name="Rechteck 1053">
            <a:extLst>
              <a:ext uri="{FF2B5EF4-FFF2-40B4-BE49-F238E27FC236}">
                <a16:creationId xmlns:a16="http://schemas.microsoft.com/office/drawing/2014/main" id="{DB1BB379-153A-1F20-5CFB-154D23E34035}"/>
              </a:ext>
            </a:extLst>
          </p:cNvPr>
          <p:cNvSpPr/>
          <p:nvPr/>
        </p:nvSpPr>
        <p:spPr>
          <a:xfrm>
            <a:off x="8329236" y="1863076"/>
            <a:ext cx="1939636" cy="396000"/>
          </a:xfrm>
          <a:prstGeom prst="rect">
            <a:avLst/>
          </a:prstGeom>
          <a:solidFill>
            <a:srgbClr val="D923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Global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reach</a:t>
            </a:r>
            <a:endParaRPr lang="de-PT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5" name="Rechteck 1054">
            <a:extLst>
              <a:ext uri="{FF2B5EF4-FFF2-40B4-BE49-F238E27FC236}">
                <a16:creationId xmlns:a16="http://schemas.microsoft.com/office/drawing/2014/main" id="{40890145-D884-AE46-8A01-A3F85C22CFF5}"/>
              </a:ext>
            </a:extLst>
          </p:cNvPr>
          <p:cNvSpPr/>
          <p:nvPr/>
        </p:nvSpPr>
        <p:spPr>
          <a:xfrm>
            <a:off x="8329236" y="4424409"/>
            <a:ext cx="1939636" cy="396000"/>
          </a:xfrm>
          <a:prstGeom prst="rect">
            <a:avLst/>
          </a:prstGeom>
          <a:solidFill>
            <a:srgbClr val="D923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PT" dirty="0">
                <a:latin typeface="Calibri" panose="020F0502020204030204" pitchFamily="34" charset="0"/>
                <a:cs typeface="Calibri" panose="020F0502020204030204" pitchFamily="34" charset="0"/>
              </a:rPr>
              <a:t>Success</a:t>
            </a:r>
          </a:p>
        </p:txBody>
      </p:sp>
      <p:sp>
        <p:nvSpPr>
          <p:cNvPr id="1056" name="Rechteck 1055">
            <a:extLst>
              <a:ext uri="{FF2B5EF4-FFF2-40B4-BE49-F238E27FC236}">
                <a16:creationId xmlns:a16="http://schemas.microsoft.com/office/drawing/2014/main" id="{5DFAED32-DB73-D9C3-0739-B454CA0F6DBE}"/>
              </a:ext>
            </a:extLst>
          </p:cNvPr>
          <p:cNvSpPr/>
          <p:nvPr/>
        </p:nvSpPr>
        <p:spPr>
          <a:xfrm>
            <a:off x="1923129" y="4424409"/>
            <a:ext cx="1939636" cy="396000"/>
          </a:xfrm>
          <a:prstGeom prst="rect">
            <a:avLst/>
          </a:prstGeom>
          <a:solidFill>
            <a:srgbClr val="D923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Culture</a:t>
            </a:r>
            <a:endParaRPr lang="de-PT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7" name="Rechteck 1056">
            <a:extLst>
              <a:ext uri="{FF2B5EF4-FFF2-40B4-BE49-F238E27FC236}">
                <a16:creationId xmlns:a16="http://schemas.microsoft.com/office/drawing/2014/main" id="{5FCF848E-CA7C-B953-0676-B10520158F51}"/>
              </a:ext>
            </a:extLst>
          </p:cNvPr>
          <p:cNvSpPr/>
          <p:nvPr/>
        </p:nvSpPr>
        <p:spPr>
          <a:xfrm>
            <a:off x="1923129" y="1863076"/>
            <a:ext cx="1939636" cy="396000"/>
          </a:xfrm>
          <a:prstGeom prst="rect">
            <a:avLst/>
          </a:prstGeom>
          <a:solidFill>
            <a:srgbClr val="D923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PT" dirty="0">
                <a:latin typeface="Calibri" panose="020F0502020204030204" pitchFamily="34" charset="0"/>
                <a:cs typeface="Calibri" panose="020F0502020204030204" pitchFamily="34" charset="0"/>
              </a:rPr>
              <a:t>Specialization</a:t>
            </a:r>
          </a:p>
        </p:txBody>
      </p:sp>
      <p:grpSp>
        <p:nvGrpSpPr>
          <p:cNvPr id="1060" name="Gruppieren 1059">
            <a:extLst>
              <a:ext uri="{FF2B5EF4-FFF2-40B4-BE49-F238E27FC236}">
                <a16:creationId xmlns:a16="http://schemas.microsoft.com/office/drawing/2014/main" id="{090231A7-3272-3E92-12EB-94C70BD801FF}"/>
              </a:ext>
            </a:extLst>
          </p:cNvPr>
          <p:cNvGrpSpPr/>
          <p:nvPr/>
        </p:nvGrpSpPr>
        <p:grpSpPr>
          <a:xfrm>
            <a:off x="3221943" y="1900882"/>
            <a:ext cx="5748115" cy="3934595"/>
            <a:chOff x="2949558" y="1539105"/>
            <a:chExt cx="6292884" cy="4307490"/>
          </a:xfrm>
        </p:grpSpPr>
        <p:graphicFrame>
          <p:nvGraphicFramePr>
            <p:cNvPr id="1050" name="Diagramm 1049">
              <a:extLst>
                <a:ext uri="{FF2B5EF4-FFF2-40B4-BE49-F238E27FC236}">
                  <a16:creationId xmlns:a16="http://schemas.microsoft.com/office/drawing/2014/main" id="{9A4B294A-365D-D75B-5FD3-AE60A71D919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676747312"/>
                </p:ext>
              </p:extLst>
            </p:nvPr>
          </p:nvGraphicFramePr>
          <p:xfrm>
            <a:off x="2949558" y="1539105"/>
            <a:ext cx="6292884" cy="430749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pic>
          <p:nvPicPr>
            <p:cNvPr id="1030" name="Grafik 1029" descr="Benutzer mit einfarbiger Füllung">
              <a:extLst>
                <a:ext uri="{FF2B5EF4-FFF2-40B4-BE49-F238E27FC236}">
                  <a16:creationId xmlns:a16="http://schemas.microsoft.com/office/drawing/2014/main" id="{2AC907FF-2730-C3B3-B713-4DAD5D50CE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790976" y="4188181"/>
              <a:ext cx="792000" cy="792000"/>
            </a:xfrm>
            <a:prstGeom prst="rect">
              <a:avLst/>
            </a:prstGeom>
          </p:spPr>
        </p:pic>
        <p:pic>
          <p:nvPicPr>
            <p:cNvPr id="1041" name="Grafik 1040" descr="Balkendiagramm mit Aufwärtstrend mit einfarbiger Füllung">
              <a:extLst>
                <a:ext uri="{FF2B5EF4-FFF2-40B4-BE49-F238E27FC236}">
                  <a16:creationId xmlns:a16="http://schemas.microsoft.com/office/drawing/2014/main" id="{CF76C9D0-D437-07AF-1DCB-DFC24B3F0DB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804830" y="2420431"/>
              <a:ext cx="792000" cy="792000"/>
            </a:xfrm>
            <a:prstGeom prst="rect">
              <a:avLst/>
            </a:prstGeom>
          </p:spPr>
        </p:pic>
        <p:pic>
          <p:nvPicPr>
            <p:cNvPr id="1045" name="Grafik 1044" descr="Welt mit einfarbiger Füllung">
              <a:extLst>
                <a:ext uri="{FF2B5EF4-FFF2-40B4-BE49-F238E27FC236}">
                  <a16:creationId xmlns:a16="http://schemas.microsoft.com/office/drawing/2014/main" id="{00088937-F782-8ADE-C670-FE9210EAD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595797" y="2420431"/>
              <a:ext cx="792000" cy="792000"/>
            </a:xfrm>
            <a:prstGeom prst="rect">
              <a:avLst/>
            </a:prstGeom>
          </p:spPr>
        </p:pic>
        <p:pic>
          <p:nvPicPr>
            <p:cNvPr id="1059" name="Grafik 1058" descr="Trophäe mit einfarbiger Füllung">
              <a:extLst>
                <a:ext uri="{FF2B5EF4-FFF2-40B4-BE49-F238E27FC236}">
                  <a16:creationId xmlns:a16="http://schemas.microsoft.com/office/drawing/2014/main" id="{E0C0FAB0-5FAF-C310-3B1E-69D309B4EB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609650" y="4188181"/>
              <a:ext cx="792000" cy="792000"/>
            </a:xfrm>
            <a:prstGeom prst="rect">
              <a:avLst/>
            </a:prstGeom>
          </p:spPr>
        </p:pic>
      </p:grpSp>
      <p:sp>
        <p:nvSpPr>
          <p:cNvPr id="1061" name="Textfeld 1060">
            <a:extLst>
              <a:ext uri="{FF2B5EF4-FFF2-40B4-BE49-F238E27FC236}">
                <a16:creationId xmlns:a16="http://schemas.microsoft.com/office/drawing/2014/main" id="{F19D7AA1-0F5B-1E55-9101-8B0D5A9151E8}"/>
              </a:ext>
            </a:extLst>
          </p:cNvPr>
          <p:cNvSpPr txBox="1"/>
          <p:nvPr/>
        </p:nvSpPr>
        <p:spPr>
          <a:xfrm>
            <a:off x="249381" y="2359603"/>
            <a:ext cx="3613385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Focuses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specifically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pricing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strategy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marketing</a:t>
            </a:r>
            <a:r>
              <a:rPr lang="de-DE" sz="16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sales</a:t>
            </a:r>
            <a:r>
              <a:rPr lang="de-DE" sz="16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recognized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World’s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leading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pricing and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growth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specialist</a:t>
            </a:r>
            <a:endParaRPr lang="de-PT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2" name="Textfeld 1061">
            <a:extLst>
              <a:ext uri="{FF2B5EF4-FFF2-40B4-BE49-F238E27FC236}">
                <a16:creationId xmlns:a16="http://schemas.microsoft.com/office/drawing/2014/main" id="{B2FFDD12-0ABE-CBD3-21FB-31CCC3A09108}"/>
              </a:ext>
            </a:extLst>
          </p:cNvPr>
          <p:cNvSpPr txBox="1"/>
          <p:nvPr/>
        </p:nvSpPr>
        <p:spPr>
          <a:xfrm>
            <a:off x="249381" y="4925806"/>
            <a:ext cx="3613385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welcoming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and supportive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team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atmosphere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along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collaborative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environment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within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organization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fosters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entrepreneurial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spirit</a:t>
            </a:r>
            <a:endParaRPr lang="de-PT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3" name="Textfeld 1062">
            <a:extLst>
              <a:ext uri="{FF2B5EF4-FFF2-40B4-BE49-F238E27FC236}">
                <a16:creationId xmlns:a16="http://schemas.microsoft.com/office/drawing/2014/main" id="{4910F492-A10F-96A9-9F7E-314CC85CAF9C}"/>
              </a:ext>
            </a:extLst>
          </p:cNvPr>
          <p:cNvSpPr txBox="1"/>
          <p:nvPr/>
        </p:nvSpPr>
        <p:spPr>
          <a:xfrm>
            <a:off x="8329236" y="2359603"/>
            <a:ext cx="3613385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Over 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41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offices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worldwide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than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2,000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employees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ensuring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global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perspective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while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localized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strategies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consider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regional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market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nuances</a:t>
            </a:r>
            <a:endParaRPr lang="de-PT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de-PT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4" name="Textfeld 1063">
            <a:extLst>
              <a:ext uri="{FF2B5EF4-FFF2-40B4-BE49-F238E27FC236}">
                <a16:creationId xmlns:a16="http://schemas.microsoft.com/office/drawing/2014/main" id="{62965A84-7AE9-3845-A047-439C5C9F1305}"/>
              </a:ext>
            </a:extLst>
          </p:cNvPr>
          <p:cNvSpPr txBox="1"/>
          <p:nvPr/>
        </p:nvSpPr>
        <p:spPr>
          <a:xfrm>
            <a:off x="8329236" y="4925806"/>
            <a:ext cx="3613385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 a strong track 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record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completing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30,000 </a:t>
            </a:r>
            <a:r>
              <a:rPr lang="de-DE" sz="16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projects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specialists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handle 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assignments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across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several</a:t>
            </a:r>
            <a:r>
              <a:rPr lang="de-DE" sz="16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industries</a:t>
            </a:r>
            <a:r>
              <a:rPr lang="de-DE" sz="16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product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launches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pricing </a:t>
            </a:r>
            <a:r>
              <a:rPr lang="de-DE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strategies</a:t>
            </a:r>
            <a:r>
              <a:rPr lang="de-DE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de-DE" sz="16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334A3F62-7E93-0A1A-BF71-26A652B966D7}"/>
              </a:ext>
            </a:extLst>
          </p:cNvPr>
          <p:cNvCxnSpPr>
            <a:cxnSpLocks/>
          </p:cNvCxnSpPr>
          <p:nvPr/>
        </p:nvCxnSpPr>
        <p:spPr>
          <a:xfrm>
            <a:off x="249381" y="1176795"/>
            <a:ext cx="1174172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D0C25FB3-19AE-FA33-F1C7-F66AB0862827}"/>
              </a:ext>
            </a:extLst>
          </p:cNvPr>
          <p:cNvSpPr txBox="1"/>
          <p:nvPr/>
        </p:nvSpPr>
        <p:spPr>
          <a:xfrm>
            <a:off x="249381" y="6530677"/>
            <a:ext cx="11741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PT" sz="1200" dirty="0">
                <a:solidFill>
                  <a:schemeClr val="tx1"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Sources: Simon-Kucher Company website</a:t>
            </a:r>
          </a:p>
        </p:txBody>
      </p:sp>
    </p:spTree>
    <p:extLst>
      <p:ext uri="{BB962C8B-B14F-4D97-AF65-F5344CB8AC3E}">
        <p14:creationId xmlns:p14="http://schemas.microsoft.com/office/powerpoint/2010/main" val="1373124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hteck 38">
            <a:extLst>
              <a:ext uri="{FF2B5EF4-FFF2-40B4-BE49-F238E27FC236}">
                <a16:creationId xmlns:a16="http://schemas.microsoft.com/office/drawing/2014/main" id="{9D04F9EF-4E07-1F54-D794-37D37904FEAB}"/>
              </a:ext>
            </a:extLst>
          </p:cNvPr>
          <p:cNvSpPr/>
          <p:nvPr/>
        </p:nvSpPr>
        <p:spPr>
          <a:xfrm>
            <a:off x="6644364" y="1313924"/>
            <a:ext cx="5362509" cy="5087806"/>
          </a:xfrm>
          <a:prstGeom prst="rect">
            <a:avLst/>
          </a:prstGeom>
          <a:solidFill>
            <a:schemeClr val="bg2">
              <a:alpha val="40000"/>
            </a:schemeClr>
          </a:solidFill>
          <a:ln w="6350">
            <a:solidFill>
              <a:schemeClr val="bg1">
                <a:lumMod val="50000"/>
                <a:alpha val="9975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PT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3F1C4751-5A74-0CE0-7F0F-620585EC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0" y="270885"/>
            <a:ext cx="11741727" cy="776964"/>
          </a:xfrm>
        </p:spPr>
        <p:txBody>
          <a:bodyPr lIns="0" tIns="0" rIns="0" bIns="0" anchor="t">
            <a:noAutofit/>
          </a:bodyPr>
          <a:lstStyle/>
          <a:p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Driving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strategic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growth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Utilising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marketing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success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CHECK24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jersey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enhanced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user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acquisition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brand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visibility</a:t>
            </a:r>
            <a:endParaRPr lang="de-PT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Gerade Verbindung 11">
            <a:extLst>
              <a:ext uri="{FF2B5EF4-FFF2-40B4-BE49-F238E27FC236}">
                <a16:creationId xmlns:a16="http://schemas.microsoft.com/office/drawing/2014/main" id="{59DDC23A-4D7E-7DB0-4A78-B6CB38F7F9DF}"/>
              </a:ext>
            </a:extLst>
          </p:cNvPr>
          <p:cNvCxnSpPr>
            <a:cxnSpLocks/>
          </p:cNvCxnSpPr>
          <p:nvPr/>
        </p:nvCxnSpPr>
        <p:spPr>
          <a:xfrm>
            <a:off x="249380" y="1176795"/>
            <a:ext cx="1174172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255654F2-DC7E-BA7C-81D7-87B62556A050}"/>
              </a:ext>
            </a:extLst>
          </p:cNvPr>
          <p:cNvSpPr txBox="1"/>
          <p:nvPr/>
        </p:nvSpPr>
        <p:spPr>
          <a:xfrm>
            <a:off x="6757988" y="1616348"/>
            <a:ext cx="278019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Outcomes</a:t>
            </a:r>
          </a:p>
        </p:txBody>
      </p: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08AEC6B2-B44F-F9A0-065E-FBF24F53D957}"/>
              </a:ext>
            </a:extLst>
          </p:cNvPr>
          <p:cNvCxnSpPr>
            <a:cxnSpLocks/>
          </p:cNvCxnSpPr>
          <p:nvPr/>
        </p:nvCxnSpPr>
        <p:spPr>
          <a:xfrm>
            <a:off x="6757988" y="1918898"/>
            <a:ext cx="51395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7E74B4DD-DF26-7903-CE28-E55EBC085971}"/>
              </a:ext>
            </a:extLst>
          </p:cNvPr>
          <p:cNvSpPr txBox="1"/>
          <p:nvPr/>
        </p:nvSpPr>
        <p:spPr>
          <a:xfrm>
            <a:off x="249380" y="1616348"/>
            <a:ext cx="241668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Initial Situation</a:t>
            </a:r>
            <a:endParaRPr lang="de-P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1" name="Gerade Verbindung 20">
            <a:extLst>
              <a:ext uri="{FF2B5EF4-FFF2-40B4-BE49-F238E27FC236}">
                <a16:creationId xmlns:a16="http://schemas.microsoft.com/office/drawing/2014/main" id="{A4E65B95-3CF5-A724-4B0E-9E91362F705E}"/>
              </a:ext>
            </a:extLst>
          </p:cNvPr>
          <p:cNvCxnSpPr>
            <a:cxnSpLocks/>
          </p:cNvCxnSpPr>
          <p:nvPr/>
        </p:nvCxnSpPr>
        <p:spPr>
          <a:xfrm>
            <a:off x="249380" y="1918898"/>
            <a:ext cx="288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6C295A02-3946-2FEA-8517-83FD6C85E8B8}"/>
              </a:ext>
            </a:extLst>
          </p:cNvPr>
          <p:cNvSpPr txBox="1"/>
          <p:nvPr/>
        </p:nvSpPr>
        <p:spPr>
          <a:xfrm>
            <a:off x="249381" y="2117930"/>
            <a:ext cx="28800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SzPct val="80000"/>
              <a:buFont typeface="Courier New" panose="02070309020205020404" pitchFamily="49" charset="0"/>
              <a:buChar char="o"/>
            </a:pP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CHECK 24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leading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online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comparison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portal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in Germany</a:t>
            </a:r>
          </a:p>
          <a:p>
            <a:pPr marL="285750" indent="-285750">
              <a:spcAft>
                <a:spcPts val="1200"/>
              </a:spcAft>
              <a:buSzPct val="80000"/>
              <a:buFont typeface="Courier New" panose="02070309020205020404" pitchFamily="49" charset="0"/>
              <a:buChar char="o"/>
            </a:pP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goal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marketing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campaign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was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expand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user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base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enhance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brand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visibility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target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younger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demographics</a:t>
            </a:r>
            <a:endParaRPr lang="de-DE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SzPct val="80000"/>
              <a:buFont typeface="Courier New" panose="02070309020205020404" pitchFamily="49" charset="0"/>
              <a:buChar char="o"/>
            </a:pP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CHECK 24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saw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opportunity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everage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excitement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Euro 2024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connect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millions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football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fans</a:t>
            </a:r>
            <a:endParaRPr lang="de-PT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82D36A2-805D-BE1C-5F80-DDA32926C866}"/>
              </a:ext>
            </a:extLst>
          </p:cNvPr>
          <p:cNvSpPr txBox="1"/>
          <p:nvPr/>
        </p:nvSpPr>
        <p:spPr>
          <a:xfrm>
            <a:off x="3436560" y="2117930"/>
            <a:ext cx="28800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SzPct val="80000"/>
              <a:buFont typeface="Courier New" panose="02070309020205020404" pitchFamily="49" charset="0"/>
              <a:buChar char="o"/>
            </a:pP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Invested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heavily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in „CHECK 24 Puma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jerseys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“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estimated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costs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€100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million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production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logistics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marketing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85750" indent="-285750">
              <a:spcAft>
                <a:spcPts val="1200"/>
              </a:spcAft>
              <a:buSzPct val="80000"/>
              <a:buFont typeface="Courier New" panose="02070309020205020404" pitchFamily="49" charset="0"/>
              <a:buChar char="o"/>
            </a:pP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Distributed 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5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million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free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jerseys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users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who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downloaded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app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and registered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Euro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betting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game</a:t>
            </a:r>
          </a:p>
          <a:p>
            <a:pPr marL="285750" indent="-285750">
              <a:spcAft>
                <a:spcPts val="1200"/>
              </a:spcAft>
              <a:buSzPct val="80000"/>
              <a:buFont typeface="Courier New" panose="02070309020205020404" pitchFamily="49" charset="0"/>
              <a:buChar char="o"/>
            </a:pP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Launched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betting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game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Euro 2024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participants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could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win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travel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credits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vouchers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up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€240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thousand</a:t>
            </a:r>
            <a:endParaRPr lang="de-DE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954AA5B-5026-57A4-98A3-990E8ECD1715}"/>
              </a:ext>
            </a:extLst>
          </p:cNvPr>
          <p:cNvSpPr txBox="1"/>
          <p:nvPr/>
        </p:nvSpPr>
        <p:spPr>
          <a:xfrm>
            <a:off x="3446872" y="1616348"/>
            <a:ext cx="241668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Marketing </a:t>
            </a:r>
            <a:r>
              <a:rPr lang="de-DE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campaign</a:t>
            </a:r>
            <a:endParaRPr lang="de-P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54145E9C-C15E-9E19-BB97-8F484145A378}"/>
              </a:ext>
            </a:extLst>
          </p:cNvPr>
          <p:cNvCxnSpPr>
            <a:cxnSpLocks/>
          </p:cNvCxnSpPr>
          <p:nvPr/>
        </p:nvCxnSpPr>
        <p:spPr>
          <a:xfrm>
            <a:off x="3446872" y="1918898"/>
            <a:ext cx="288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Inhaltsplatzhalter 2">
            <a:extLst>
              <a:ext uri="{FF2B5EF4-FFF2-40B4-BE49-F238E27FC236}">
                <a16:creationId xmlns:a16="http://schemas.microsoft.com/office/drawing/2014/main" id="{800C6042-C3DD-4F14-76C0-C16D47B391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333" t="24099" r="8351" b="2571"/>
          <a:stretch/>
        </p:blipFill>
        <p:spPr>
          <a:xfrm>
            <a:off x="6757988" y="4154793"/>
            <a:ext cx="5139531" cy="2109810"/>
          </a:xfrm>
          <a:prstGeom prst="rect">
            <a:avLst/>
          </a:prstGeom>
          <a:ln w="9525" cap="sq">
            <a:solidFill>
              <a:schemeClr val="bg1">
                <a:alpha val="48000"/>
              </a:schemeClr>
            </a:solidFill>
            <a:prstDash val="solid"/>
            <a:miter lim="800000"/>
          </a:ln>
          <a:effectLst/>
        </p:spPr>
      </p:pic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FEA3C5DC-EB37-56BA-C7BE-115C64399872}"/>
              </a:ext>
            </a:extLst>
          </p:cNvPr>
          <p:cNvGrpSpPr/>
          <p:nvPr/>
        </p:nvGrpSpPr>
        <p:grpSpPr>
          <a:xfrm>
            <a:off x="6757988" y="2117930"/>
            <a:ext cx="5139531" cy="1927759"/>
            <a:chOff x="7915528" y="2217683"/>
            <a:chExt cx="4151779" cy="1927759"/>
          </a:xfrm>
        </p:grpSpPr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42045F2A-F227-CC77-086B-C9BF84AE981C}"/>
                </a:ext>
              </a:extLst>
            </p:cNvPr>
            <p:cNvSpPr txBox="1"/>
            <p:nvPr/>
          </p:nvSpPr>
          <p:spPr>
            <a:xfrm>
              <a:off x="8703732" y="2217683"/>
              <a:ext cx="33635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200"/>
                </a:spcAft>
                <a:buSzPct val="80000"/>
              </a:pP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Significantly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increased</a:t>
              </a:r>
              <a:r>
                <a:rPr lang="de-DE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app</a:t>
              </a:r>
              <a:r>
                <a:rPr lang="de-DE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downloads</a:t>
              </a:r>
              <a:r>
                <a:rPr lang="de-DE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and </a:t>
              </a: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active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users</a:t>
              </a:r>
              <a:endParaRPr lang="de-DE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1" name="Grafik 10" descr="Smartphone Silhouette">
              <a:extLst>
                <a:ext uri="{FF2B5EF4-FFF2-40B4-BE49-F238E27FC236}">
                  <a16:creationId xmlns:a16="http://schemas.microsoft.com/office/drawing/2014/main" id="{EB37AB96-F0DC-1D81-B655-D6680AF520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15528" y="2240070"/>
              <a:ext cx="540000" cy="540000"/>
            </a:xfrm>
            <a:prstGeom prst="rect">
              <a:avLst/>
            </a:prstGeom>
          </p:spPr>
        </p:pic>
        <p:pic>
          <p:nvPicPr>
            <p:cNvPr id="13" name="Grafik 12" descr="Ordnersuche Silhouette">
              <a:extLst>
                <a:ext uri="{FF2B5EF4-FFF2-40B4-BE49-F238E27FC236}">
                  <a16:creationId xmlns:a16="http://schemas.microsoft.com/office/drawing/2014/main" id="{113FE304-BD19-8BDF-B366-8CF4E271A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15528" y="2933950"/>
              <a:ext cx="540000" cy="540000"/>
            </a:xfrm>
            <a:prstGeom prst="rect">
              <a:avLst/>
            </a:prstGeom>
          </p:spPr>
        </p:pic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6BC929C3-66DF-30EA-B90A-054923DC5D54}"/>
                </a:ext>
              </a:extLst>
            </p:cNvPr>
            <p:cNvSpPr txBox="1"/>
            <p:nvPr/>
          </p:nvSpPr>
          <p:spPr>
            <a:xfrm>
              <a:off x="8703732" y="2911563"/>
              <a:ext cx="33635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2600"/>
                </a:spcAft>
                <a:buSzPct val="80000"/>
              </a:pP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Gathered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extensive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customer</a:t>
              </a:r>
              <a:r>
                <a:rPr lang="de-DE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data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for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personalized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marketing</a:t>
              </a:r>
              <a:endParaRPr lang="de-DE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4" name="Grafik 13" descr="Sternschnuppe Silhouette">
              <a:extLst>
                <a:ext uri="{FF2B5EF4-FFF2-40B4-BE49-F238E27FC236}">
                  <a16:creationId xmlns:a16="http://schemas.microsoft.com/office/drawing/2014/main" id="{D4FAACD5-8D86-031F-2E91-C39A52929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915528" y="3605442"/>
              <a:ext cx="540000" cy="540000"/>
            </a:xfrm>
            <a:prstGeom prst="rect">
              <a:avLst/>
            </a:prstGeom>
          </p:spPr>
        </p:pic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5817B6A3-0F8B-97BB-2F4B-EE98CD02203A}"/>
                </a:ext>
              </a:extLst>
            </p:cNvPr>
            <p:cNvSpPr txBox="1"/>
            <p:nvPr/>
          </p:nvSpPr>
          <p:spPr>
            <a:xfrm>
              <a:off x="8703732" y="3706165"/>
              <a:ext cx="33635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2600"/>
                </a:spcAft>
                <a:buSzPct val="80000"/>
              </a:pP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Boosted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brand</a:t>
              </a:r>
              <a:r>
                <a:rPr lang="de-DE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recognition</a:t>
              </a:r>
              <a:endParaRPr lang="de-DE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8" name="Textfeld 37">
            <a:extLst>
              <a:ext uri="{FF2B5EF4-FFF2-40B4-BE49-F238E27FC236}">
                <a16:creationId xmlns:a16="http://schemas.microsoft.com/office/drawing/2014/main" id="{03526391-2062-3F53-14DD-ED47E3572A51}"/>
              </a:ext>
            </a:extLst>
          </p:cNvPr>
          <p:cNvSpPr txBox="1"/>
          <p:nvPr/>
        </p:nvSpPr>
        <p:spPr>
          <a:xfrm>
            <a:off x="249381" y="6530677"/>
            <a:ext cx="11741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PT" sz="1200" dirty="0">
                <a:solidFill>
                  <a:schemeClr val="tx1"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Sources: Handelsblatt, OMR, D</a:t>
            </a:r>
            <a:r>
              <a:rPr lang="de-DE" sz="1200" dirty="0">
                <a:solidFill>
                  <a:schemeClr val="tx1"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de-PT" sz="1200" dirty="0">
                <a:solidFill>
                  <a:schemeClr val="tx1"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 Zeit</a:t>
            </a:r>
          </a:p>
        </p:txBody>
      </p:sp>
    </p:spTree>
    <p:extLst>
      <p:ext uri="{BB962C8B-B14F-4D97-AF65-F5344CB8AC3E}">
        <p14:creationId xmlns:p14="http://schemas.microsoft.com/office/powerpoint/2010/main" val="2507761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>
            <a:extLst>
              <a:ext uri="{FF2B5EF4-FFF2-40B4-BE49-F238E27FC236}">
                <a16:creationId xmlns:a16="http://schemas.microsoft.com/office/drawing/2014/main" id="{3F1C4751-5A74-0CE0-7F0F-620585EC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0" y="270885"/>
            <a:ext cx="11741727" cy="776964"/>
          </a:xfrm>
        </p:spPr>
        <p:txBody>
          <a:bodyPr lIns="0" tIns="0" rIns="0" bIns="0" anchor="t">
            <a:noAutofit/>
          </a:bodyPr>
          <a:lstStyle/>
          <a:p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Driving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strategic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growth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Utilising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marketing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success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CHECK24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jersey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enhanced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user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acquisition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brand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visibility</a:t>
            </a:r>
            <a:endParaRPr lang="de-PT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Gerade Verbindung 11">
            <a:extLst>
              <a:ext uri="{FF2B5EF4-FFF2-40B4-BE49-F238E27FC236}">
                <a16:creationId xmlns:a16="http://schemas.microsoft.com/office/drawing/2014/main" id="{59DDC23A-4D7E-7DB0-4A78-B6CB38F7F9DF}"/>
              </a:ext>
            </a:extLst>
          </p:cNvPr>
          <p:cNvCxnSpPr>
            <a:cxnSpLocks/>
          </p:cNvCxnSpPr>
          <p:nvPr/>
        </p:nvCxnSpPr>
        <p:spPr>
          <a:xfrm>
            <a:off x="249381" y="1176795"/>
            <a:ext cx="1174172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feld 37">
            <a:extLst>
              <a:ext uri="{FF2B5EF4-FFF2-40B4-BE49-F238E27FC236}">
                <a16:creationId xmlns:a16="http://schemas.microsoft.com/office/drawing/2014/main" id="{03526391-2062-3F53-14DD-ED47E3572A51}"/>
              </a:ext>
            </a:extLst>
          </p:cNvPr>
          <p:cNvSpPr txBox="1"/>
          <p:nvPr/>
        </p:nvSpPr>
        <p:spPr>
          <a:xfrm>
            <a:off x="249381" y="6530677"/>
            <a:ext cx="11741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PT" sz="1200" dirty="0">
                <a:solidFill>
                  <a:schemeClr val="tx1"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Sources: Handelsblatt, OMR, D</a:t>
            </a:r>
            <a:r>
              <a:rPr lang="de-DE" sz="1200" dirty="0">
                <a:solidFill>
                  <a:schemeClr val="tx1"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de-PT" sz="1200" dirty="0">
                <a:solidFill>
                  <a:schemeClr val="tx1"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 Zeit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1417073-AFFC-F25D-1ADC-FA662A0FB78D}"/>
              </a:ext>
            </a:extLst>
          </p:cNvPr>
          <p:cNvSpPr txBox="1"/>
          <p:nvPr/>
        </p:nvSpPr>
        <p:spPr>
          <a:xfrm>
            <a:off x="4406477" y="2117930"/>
            <a:ext cx="32400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SzPct val="80000"/>
              <a:buFont typeface="Courier New" panose="02070309020205020404" pitchFamily="49" charset="0"/>
              <a:buChar char="o"/>
            </a:pP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Invested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heavily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in „CHECK 24 Puma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jerseys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“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estimated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costs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€100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million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production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logistics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marketing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85750" indent="-285750">
              <a:spcAft>
                <a:spcPts val="1200"/>
              </a:spcAft>
              <a:buSzPct val="80000"/>
              <a:buFont typeface="Courier New" panose="02070309020205020404" pitchFamily="49" charset="0"/>
              <a:buChar char="o"/>
            </a:pP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Distributed 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5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million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free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jerseys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users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who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downloaded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app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and registered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Euro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betting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game</a:t>
            </a:r>
          </a:p>
          <a:p>
            <a:pPr marL="285750" indent="-285750">
              <a:spcAft>
                <a:spcPts val="1200"/>
              </a:spcAft>
              <a:buSzPct val="80000"/>
              <a:buFont typeface="Courier New" panose="02070309020205020404" pitchFamily="49" charset="0"/>
              <a:buChar char="o"/>
            </a:pP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Launched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betting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game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Euro 2024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participants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could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win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travel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credits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vouchers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up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€240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thousand</a:t>
            </a:r>
            <a:endParaRPr lang="de-DE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D98AB70-D775-0691-6D9F-2EA597C7D43E}"/>
              </a:ext>
            </a:extLst>
          </p:cNvPr>
          <p:cNvSpPr txBox="1"/>
          <p:nvPr/>
        </p:nvSpPr>
        <p:spPr>
          <a:xfrm>
            <a:off x="4406477" y="1616348"/>
            <a:ext cx="241668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Marketing </a:t>
            </a:r>
            <a:r>
              <a:rPr lang="de-DE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campaign</a:t>
            </a:r>
            <a:endParaRPr lang="de-P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EB82012D-DE93-4D3C-7E1F-C87F4BD1BC18}"/>
              </a:ext>
            </a:extLst>
          </p:cNvPr>
          <p:cNvCxnSpPr>
            <a:cxnSpLocks/>
          </p:cNvCxnSpPr>
          <p:nvPr/>
        </p:nvCxnSpPr>
        <p:spPr>
          <a:xfrm>
            <a:off x="4406477" y="1918898"/>
            <a:ext cx="360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hteck 19">
            <a:extLst>
              <a:ext uri="{FF2B5EF4-FFF2-40B4-BE49-F238E27FC236}">
                <a16:creationId xmlns:a16="http://schemas.microsoft.com/office/drawing/2014/main" id="{A6E0339C-097E-5474-5CE1-70D08007DD57}"/>
              </a:ext>
            </a:extLst>
          </p:cNvPr>
          <p:cNvSpPr/>
          <p:nvPr/>
        </p:nvSpPr>
        <p:spPr>
          <a:xfrm>
            <a:off x="249380" y="1313924"/>
            <a:ext cx="3944933" cy="5087806"/>
          </a:xfrm>
          <a:prstGeom prst="rect">
            <a:avLst/>
          </a:prstGeom>
          <a:solidFill>
            <a:schemeClr val="bg1">
              <a:lumMod val="50000"/>
              <a:alpha val="10000"/>
            </a:schemeClr>
          </a:solidFill>
          <a:ln w="6350">
            <a:solidFill>
              <a:schemeClr val="bg1">
                <a:lumMod val="50000"/>
                <a:alpha val="9975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PT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F6EEC8E9-173F-40AC-A845-75DD64F9CB0B}"/>
              </a:ext>
            </a:extLst>
          </p:cNvPr>
          <p:cNvSpPr txBox="1"/>
          <p:nvPr/>
        </p:nvSpPr>
        <p:spPr>
          <a:xfrm>
            <a:off x="421846" y="1616348"/>
            <a:ext cx="278019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Outcomes</a:t>
            </a:r>
          </a:p>
        </p:txBody>
      </p:sp>
      <p:cxnSp>
        <p:nvCxnSpPr>
          <p:cNvPr id="24" name="Gerade Verbindung 23">
            <a:extLst>
              <a:ext uri="{FF2B5EF4-FFF2-40B4-BE49-F238E27FC236}">
                <a16:creationId xmlns:a16="http://schemas.microsoft.com/office/drawing/2014/main" id="{F65FAC61-34E4-BA5B-66FC-5D0E78E61423}"/>
              </a:ext>
            </a:extLst>
          </p:cNvPr>
          <p:cNvCxnSpPr>
            <a:cxnSpLocks/>
          </p:cNvCxnSpPr>
          <p:nvPr/>
        </p:nvCxnSpPr>
        <p:spPr>
          <a:xfrm>
            <a:off x="421846" y="1918898"/>
            <a:ext cx="360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Inhaltsplatzhalter 2">
            <a:extLst>
              <a:ext uri="{FF2B5EF4-FFF2-40B4-BE49-F238E27FC236}">
                <a16:creationId xmlns:a16="http://schemas.microsoft.com/office/drawing/2014/main" id="{6AEF0BD4-5F0B-0ECA-217E-C2ADD27EA1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4004" t="4863" r="17059" b="2350"/>
          <a:stretch/>
        </p:blipFill>
        <p:spPr>
          <a:xfrm>
            <a:off x="421846" y="4153801"/>
            <a:ext cx="3600000" cy="2115785"/>
          </a:xfrm>
          <a:prstGeom prst="rect">
            <a:avLst/>
          </a:prstGeom>
          <a:ln w="9525" cap="sq">
            <a:solidFill>
              <a:schemeClr val="bg1">
                <a:alpha val="48000"/>
              </a:schemeClr>
            </a:solidFill>
            <a:prstDash val="solid"/>
            <a:miter lim="800000"/>
          </a:ln>
          <a:effectLst/>
        </p:spPr>
      </p:pic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6E82F745-15CC-4078-ACBA-C7524B823D89}"/>
              </a:ext>
            </a:extLst>
          </p:cNvPr>
          <p:cNvGrpSpPr/>
          <p:nvPr/>
        </p:nvGrpSpPr>
        <p:grpSpPr>
          <a:xfrm>
            <a:off x="367214" y="2117930"/>
            <a:ext cx="3591520" cy="1927759"/>
            <a:chOff x="7915528" y="2217683"/>
            <a:chExt cx="4151779" cy="1927759"/>
          </a:xfrm>
        </p:grpSpPr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4CA24B5E-6392-4FCA-8A11-30CA9AABDBAB}"/>
                </a:ext>
              </a:extLst>
            </p:cNvPr>
            <p:cNvSpPr txBox="1"/>
            <p:nvPr/>
          </p:nvSpPr>
          <p:spPr>
            <a:xfrm>
              <a:off x="8703732" y="2217683"/>
              <a:ext cx="33635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200"/>
                </a:spcAft>
                <a:buSzPct val="80000"/>
              </a:pP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Significantly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increased</a:t>
              </a:r>
              <a:r>
                <a:rPr lang="de-DE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app</a:t>
              </a:r>
              <a:r>
                <a:rPr lang="de-DE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downloads</a:t>
              </a:r>
              <a:r>
                <a:rPr lang="de-DE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and </a:t>
              </a: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active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users</a:t>
              </a:r>
              <a:endParaRPr lang="de-DE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28" name="Grafik 27" descr="Smartphone Silhouette">
              <a:extLst>
                <a:ext uri="{FF2B5EF4-FFF2-40B4-BE49-F238E27FC236}">
                  <a16:creationId xmlns:a16="http://schemas.microsoft.com/office/drawing/2014/main" id="{10AB91AB-148C-ABAC-0C5C-425C340E5F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15528" y="2240070"/>
              <a:ext cx="540000" cy="540000"/>
            </a:xfrm>
            <a:prstGeom prst="rect">
              <a:avLst/>
            </a:prstGeom>
          </p:spPr>
        </p:pic>
        <p:pic>
          <p:nvPicPr>
            <p:cNvPr id="29" name="Grafik 28" descr="Ordnersuche Silhouette">
              <a:extLst>
                <a:ext uri="{FF2B5EF4-FFF2-40B4-BE49-F238E27FC236}">
                  <a16:creationId xmlns:a16="http://schemas.microsoft.com/office/drawing/2014/main" id="{D94CB793-5DB9-5043-DC3B-00C02E015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15528" y="2933950"/>
              <a:ext cx="540000" cy="540000"/>
            </a:xfrm>
            <a:prstGeom prst="rect">
              <a:avLst/>
            </a:prstGeom>
          </p:spPr>
        </p:pic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938EEC09-BD3F-E753-0E45-1947241337F1}"/>
                </a:ext>
              </a:extLst>
            </p:cNvPr>
            <p:cNvSpPr txBox="1"/>
            <p:nvPr/>
          </p:nvSpPr>
          <p:spPr>
            <a:xfrm>
              <a:off x="8703732" y="2911563"/>
              <a:ext cx="33635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2600"/>
                </a:spcAft>
                <a:buSzPct val="80000"/>
              </a:pP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Gathered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extensive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customer</a:t>
              </a:r>
              <a:r>
                <a:rPr lang="de-DE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data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for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personalized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marketing</a:t>
              </a:r>
              <a:endParaRPr lang="de-DE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33" name="Grafik 32" descr="Sternschnuppe Silhouette">
              <a:extLst>
                <a:ext uri="{FF2B5EF4-FFF2-40B4-BE49-F238E27FC236}">
                  <a16:creationId xmlns:a16="http://schemas.microsoft.com/office/drawing/2014/main" id="{138711E9-9DFF-A9CD-0ADB-3DEA5CFBA9C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915528" y="3605442"/>
              <a:ext cx="540000" cy="540000"/>
            </a:xfrm>
            <a:prstGeom prst="rect">
              <a:avLst/>
            </a:prstGeom>
          </p:spPr>
        </p:pic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B3BF5008-3777-7351-2D39-AF4C14496791}"/>
                </a:ext>
              </a:extLst>
            </p:cNvPr>
            <p:cNvSpPr txBox="1"/>
            <p:nvPr/>
          </p:nvSpPr>
          <p:spPr>
            <a:xfrm>
              <a:off x="8703732" y="3706165"/>
              <a:ext cx="33635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2600"/>
                </a:spcAft>
                <a:buSzPct val="80000"/>
              </a:pP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Boosted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brand</a:t>
              </a:r>
              <a:r>
                <a:rPr lang="de-DE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recognition</a:t>
              </a:r>
              <a:endParaRPr lang="de-DE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6" name="Textfeld 35">
            <a:extLst>
              <a:ext uri="{FF2B5EF4-FFF2-40B4-BE49-F238E27FC236}">
                <a16:creationId xmlns:a16="http://schemas.microsoft.com/office/drawing/2014/main" id="{BF400CB8-C2D2-B227-CC8F-21B859FEB4DE}"/>
              </a:ext>
            </a:extLst>
          </p:cNvPr>
          <p:cNvSpPr txBox="1"/>
          <p:nvPr/>
        </p:nvSpPr>
        <p:spPr>
          <a:xfrm>
            <a:off x="8391108" y="1616348"/>
            <a:ext cx="241668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Initial Situation</a:t>
            </a:r>
            <a:endParaRPr lang="de-P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7" name="Gerade Verbindung 36">
            <a:extLst>
              <a:ext uri="{FF2B5EF4-FFF2-40B4-BE49-F238E27FC236}">
                <a16:creationId xmlns:a16="http://schemas.microsoft.com/office/drawing/2014/main" id="{E8C4F60C-282A-84EB-72C5-9E6D1659399D}"/>
              </a:ext>
            </a:extLst>
          </p:cNvPr>
          <p:cNvCxnSpPr>
            <a:cxnSpLocks/>
          </p:cNvCxnSpPr>
          <p:nvPr/>
        </p:nvCxnSpPr>
        <p:spPr>
          <a:xfrm>
            <a:off x="8391108" y="1918898"/>
            <a:ext cx="360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2BAE4E23-60FC-0659-FFA8-A05EF5CB9D15}"/>
              </a:ext>
            </a:extLst>
          </p:cNvPr>
          <p:cNvSpPr txBox="1"/>
          <p:nvPr/>
        </p:nvSpPr>
        <p:spPr>
          <a:xfrm>
            <a:off x="8391108" y="2117930"/>
            <a:ext cx="335421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SzPct val="80000"/>
              <a:buFont typeface="Courier New" panose="02070309020205020404" pitchFamily="49" charset="0"/>
              <a:buChar char="o"/>
            </a:pP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CHECK 24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leading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online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comparison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portal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in Germany</a:t>
            </a:r>
          </a:p>
          <a:p>
            <a:pPr marL="285750" indent="-285750">
              <a:spcAft>
                <a:spcPts val="1200"/>
              </a:spcAft>
              <a:buSzPct val="80000"/>
              <a:buFont typeface="Courier New" panose="02070309020205020404" pitchFamily="49" charset="0"/>
              <a:buChar char="o"/>
            </a:pP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goal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marketing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campaign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was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expand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user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base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enhance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brand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visibility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target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younger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demographics</a:t>
            </a:r>
            <a:endParaRPr lang="de-DE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SzPct val="80000"/>
              <a:buFont typeface="Courier New" panose="02070309020205020404" pitchFamily="49" charset="0"/>
              <a:buChar char="o"/>
            </a:pP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CHECK 24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saw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opportunity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everage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excitement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Euro 2024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connect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millions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football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fans</a:t>
            </a:r>
            <a:endParaRPr lang="de-PT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927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>
            <a:extLst>
              <a:ext uri="{FF2B5EF4-FFF2-40B4-BE49-F238E27FC236}">
                <a16:creationId xmlns:a16="http://schemas.microsoft.com/office/drawing/2014/main" id="{3F1C4751-5A74-0CE0-7F0F-620585EC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0" y="270885"/>
            <a:ext cx="11741727" cy="776964"/>
          </a:xfrm>
        </p:spPr>
        <p:txBody>
          <a:bodyPr lIns="0" tIns="0" rIns="0" bIns="0" anchor="t">
            <a:noAutofit/>
          </a:bodyPr>
          <a:lstStyle/>
          <a:p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Driving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strategic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growth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Utilising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marketing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success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CHECK24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jersey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enhanced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user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acquisition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brand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visibility</a:t>
            </a:r>
            <a:endParaRPr lang="de-PT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Gerade Verbindung 11">
            <a:extLst>
              <a:ext uri="{FF2B5EF4-FFF2-40B4-BE49-F238E27FC236}">
                <a16:creationId xmlns:a16="http://schemas.microsoft.com/office/drawing/2014/main" id="{59DDC23A-4D7E-7DB0-4A78-B6CB38F7F9DF}"/>
              </a:ext>
            </a:extLst>
          </p:cNvPr>
          <p:cNvCxnSpPr>
            <a:cxnSpLocks/>
          </p:cNvCxnSpPr>
          <p:nvPr/>
        </p:nvCxnSpPr>
        <p:spPr>
          <a:xfrm>
            <a:off x="249381" y="1176795"/>
            <a:ext cx="1174172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Inhaltsplatzhalter 2">
            <a:extLst>
              <a:ext uri="{FF2B5EF4-FFF2-40B4-BE49-F238E27FC236}">
                <a16:creationId xmlns:a16="http://schemas.microsoft.com/office/drawing/2014/main" id="{68186527-5834-C0A7-1DDA-617A9490CF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383" t="10828" r="8301" b="2350"/>
          <a:stretch/>
        </p:blipFill>
        <p:spPr>
          <a:xfrm>
            <a:off x="7670799" y="4304524"/>
            <a:ext cx="4271819" cy="2076260"/>
          </a:xfrm>
          <a:prstGeom prst="rect">
            <a:avLst/>
          </a:prstGeom>
          <a:ln w="9525" cap="sq">
            <a:solidFill>
              <a:schemeClr val="bg1">
                <a:alpha val="48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255654F2-DC7E-BA7C-81D7-87B62556A050}"/>
              </a:ext>
            </a:extLst>
          </p:cNvPr>
          <p:cNvSpPr txBox="1"/>
          <p:nvPr/>
        </p:nvSpPr>
        <p:spPr>
          <a:xfrm>
            <a:off x="8440856" y="1565973"/>
            <a:ext cx="278019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Outcomes</a:t>
            </a:r>
          </a:p>
        </p:txBody>
      </p: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08AEC6B2-B44F-F9A0-065E-FBF24F53D957}"/>
              </a:ext>
            </a:extLst>
          </p:cNvPr>
          <p:cNvCxnSpPr>
            <a:cxnSpLocks/>
          </p:cNvCxnSpPr>
          <p:nvPr/>
        </p:nvCxnSpPr>
        <p:spPr>
          <a:xfrm>
            <a:off x="7670800" y="1868523"/>
            <a:ext cx="432030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7E74B4DD-DF26-7903-CE28-E55EBC085971}"/>
              </a:ext>
            </a:extLst>
          </p:cNvPr>
          <p:cNvSpPr txBox="1"/>
          <p:nvPr/>
        </p:nvSpPr>
        <p:spPr>
          <a:xfrm>
            <a:off x="2229354" y="1565973"/>
            <a:ext cx="278019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Initial Situation</a:t>
            </a:r>
            <a:endParaRPr lang="de-PT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1" name="Gerade Verbindung 20">
            <a:extLst>
              <a:ext uri="{FF2B5EF4-FFF2-40B4-BE49-F238E27FC236}">
                <a16:creationId xmlns:a16="http://schemas.microsoft.com/office/drawing/2014/main" id="{A4E65B95-3CF5-A724-4B0E-9E91362F705E}"/>
              </a:ext>
            </a:extLst>
          </p:cNvPr>
          <p:cNvCxnSpPr>
            <a:cxnSpLocks/>
          </p:cNvCxnSpPr>
          <p:nvPr/>
        </p:nvCxnSpPr>
        <p:spPr>
          <a:xfrm>
            <a:off x="249381" y="1868523"/>
            <a:ext cx="674014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6C295A02-3946-2FEA-8517-83FD6C85E8B8}"/>
              </a:ext>
            </a:extLst>
          </p:cNvPr>
          <p:cNvSpPr txBox="1"/>
          <p:nvPr/>
        </p:nvSpPr>
        <p:spPr>
          <a:xfrm>
            <a:off x="249381" y="2067555"/>
            <a:ext cx="674014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SzPct val="80000"/>
              <a:buFont typeface="Wingdings" pitchFamily="2" charset="2"/>
              <a:buChar char="v"/>
            </a:pP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CHECK 24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leading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online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comparison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portal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in Germany</a:t>
            </a:r>
          </a:p>
          <a:p>
            <a:pPr marL="285750" indent="-285750">
              <a:spcAft>
                <a:spcPts val="1200"/>
              </a:spcAft>
              <a:buSzPct val="80000"/>
              <a:buFont typeface="Wingdings" pitchFamily="2" charset="2"/>
              <a:buChar char="v"/>
            </a:pP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goal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marketing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campaign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was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expand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user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base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enhance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brand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visibility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target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younger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demographics</a:t>
            </a:r>
            <a:endParaRPr lang="de-DE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SzPct val="80000"/>
              <a:buFont typeface="Wingdings" pitchFamily="2" charset="2"/>
              <a:buChar char="v"/>
            </a:pP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CHECK 24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saw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opportunity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everage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excitement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Euro 2024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connect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millions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football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fans</a:t>
            </a:r>
            <a:endParaRPr lang="de-PT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82D36A2-805D-BE1C-5F80-DDA32926C866}"/>
              </a:ext>
            </a:extLst>
          </p:cNvPr>
          <p:cNvSpPr txBox="1"/>
          <p:nvPr/>
        </p:nvSpPr>
        <p:spPr>
          <a:xfrm>
            <a:off x="249381" y="4503346"/>
            <a:ext cx="674014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SzPct val="80000"/>
              <a:buFont typeface="Wingdings" pitchFamily="2" charset="2"/>
              <a:buChar char="v"/>
            </a:pP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Invested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heavily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in „CHECK 24 Puma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jerseys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“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estimated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costs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€100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million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production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logistics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marketing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85750" indent="-285750">
              <a:spcAft>
                <a:spcPts val="1200"/>
              </a:spcAft>
              <a:buSzPct val="80000"/>
              <a:buFont typeface="Wingdings" pitchFamily="2" charset="2"/>
              <a:buChar char="v"/>
            </a:pP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Distributed 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5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million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free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jerseys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users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who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downloaded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app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and registered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Euro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betting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game</a:t>
            </a:r>
          </a:p>
          <a:p>
            <a:pPr marL="285750" indent="-285750">
              <a:spcAft>
                <a:spcPts val="1200"/>
              </a:spcAft>
              <a:buSzPct val="80000"/>
              <a:buFont typeface="Wingdings" pitchFamily="2" charset="2"/>
              <a:buChar char="v"/>
            </a:pP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Launched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betting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game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Euro 2024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participants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could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win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travel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credits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vouchers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up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€240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thousand</a:t>
            </a:r>
            <a:endParaRPr lang="de-DE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E51AA1C-AE3A-00FE-98A0-2482D9FFF589}"/>
              </a:ext>
            </a:extLst>
          </p:cNvPr>
          <p:cNvSpPr txBox="1"/>
          <p:nvPr/>
        </p:nvSpPr>
        <p:spPr>
          <a:xfrm>
            <a:off x="2229354" y="4001973"/>
            <a:ext cx="278019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Marketing Campaign</a:t>
            </a:r>
            <a:endParaRPr lang="de-PT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43C0DE8D-9FAE-7529-CBC3-50A974553D81}"/>
              </a:ext>
            </a:extLst>
          </p:cNvPr>
          <p:cNvCxnSpPr>
            <a:cxnSpLocks/>
          </p:cNvCxnSpPr>
          <p:nvPr/>
        </p:nvCxnSpPr>
        <p:spPr>
          <a:xfrm>
            <a:off x="249381" y="4304523"/>
            <a:ext cx="674014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433CD081-A2B1-FAFB-8322-C19283019449}"/>
              </a:ext>
            </a:extLst>
          </p:cNvPr>
          <p:cNvGrpSpPr/>
          <p:nvPr/>
        </p:nvGrpSpPr>
        <p:grpSpPr>
          <a:xfrm>
            <a:off x="7670799" y="2067555"/>
            <a:ext cx="4151779" cy="1927759"/>
            <a:chOff x="7670799" y="2067555"/>
            <a:chExt cx="4151779" cy="1927759"/>
          </a:xfrm>
        </p:grpSpPr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89609C7A-A1DB-67CC-E9FD-5F2CA635775E}"/>
                </a:ext>
              </a:extLst>
            </p:cNvPr>
            <p:cNvSpPr txBox="1"/>
            <p:nvPr/>
          </p:nvSpPr>
          <p:spPr>
            <a:xfrm>
              <a:off x="8459003" y="2067555"/>
              <a:ext cx="33635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200"/>
                </a:spcAft>
                <a:buSzPct val="80000"/>
              </a:pP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Significantly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increased</a:t>
              </a:r>
              <a:r>
                <a:rPr lang="de-DE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app</a:t>
              </a:r>
              <a:r>
                <a:rPr lang="de-DE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downloads</a:t>
              </a:r>
              <a:r>
                <a:rPr lang="de-DE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and </a:t>
              </a: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active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users</a:t>
              </a:r>
              <a:endParaRPr lang="de-DE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39" name="Grafik 38" descr="Smartphone Silhouette">
              <a:extLst>
                <a:ext uri="{FF2B5EF4-FFF2-40B4-BE49-F238E27FC236}">
                  <a16:creationId xmlns:a16="http://schemas.microsoft.com/office/drawing/2014/main" id="{76E04C2D-BC84-4837-FC98-C2D2641211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670799" y="2089217"/>
              <a:ext cx="540000" cy="540000"/>
            </a:xfrm>
            <a:prstGeom prst="rect">
              <a:avLst/>
            </a:prstGeom>
          </p:spPr>
        </p:pic>
        <p:pic>
          <p:nvPicPr>
            <p:cNvPr id="40" name="Grafik 39" descr="Ordnersuche Silhouette">
              <a:extLst>
                <a:ext uri="{FF2B5EF4-FFF2-40B4-BE49-F238E27FC236}">
                  <a16:creationId xmlns:a16="http://schemas.microsoft.com/office/drawing/2014/main" id="{0B4A7810-A427-FC7C-F6DE-B837B20B7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670799" y="2783822"/>
              <a:ext cx="540000" cy="540000"/>
            </a:xfrm>
            <a:prstGeom prst="rect">
              <a:avLst/>
            </a:prstGeom>
          </p:spPr>
        </p:pic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1B540302-A2CF-2940-A382-4D872BFEA237}"/>
                </a:ext>
              </a:extLst>
            </p:cNvPr>
            <p:cNvSpPr txBox="1"/>
            <p:nvPr/>
          </p:nvSpPr>
          <p:spPr>
            <a:xfrm>
              <a:off x="8459003" y="2761435"/>
              <a:ext cx="33635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2600"/>
                </a:spcAft>
                <a:buSzPct val="80000"/>
              </a:pP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Gathered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extensive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customer</a:t>
              </a:r>
              <a:r>
                <a:rPr lang="de-DE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data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for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personalized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marketing</a:t>
              </a:r>
              <a:endParaRPr lang="de-DE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42" name="Grafik 41" descr="Sternschnuppe Silhouette">
              <a:extLst>
                <a:ext uri="{FF2B5EF4-FFF2-40B4-BE49-F238E27FC236}">
                  <a16:creationId xmlns:a16="http://schemas.microsoft.com/office/drawing/2014/main" id="{78686D01-73FB-8752-C539-38BEA11CA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670799" y="3455314"/>
              <a:ext cx="540000" cy="540000"/>
            </a:xfrm>
            <a:prstGeom prst="rect">
              <a:avLst/>
            </a:prstGeom>
          </p:spPr>
        </p:pic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5A791007-1053-316D-B0D9-8817ED5DF5C3}"/>
                </a:ext>
              </a:extLst>
            </p:cNvPr>
            <p:cNvSpPr txBox="1"/>
            <p:nvPr/>
          </p:nvSpPr>
          <p:spPr>
            <a:xfrm>
              <a:off x="8459003" y="3556037"/>
              <a:ext cx="33635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2600"/>
                </a:spcAft>
                <a:buSzPct val="80000"/>
              </a:pP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Boosted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brand</a:t>
              </a:r>
              <a:r>
                <a:rPr lang="de-DE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recognition</a:t>
              </a:r>
              <a:endParaRPr lang="de-DE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2" name="Textfeld 51">
            <a:extLst>
              <a:ext uri="{FF2B5EF4-FFF2-40B4-BE49-F238E27FC236}">
                <a16:creationId xmlns:a16="http://schemas.microsoft.com/office/drawing/2014/main" id="{EB0047B3-25CB-44C0-2E43-117EE12B1EA0}"/>
              </a:ext>
            </a:extLst>
          </p:cNvPr>
          <p:cNvSpPr txBox="1"/>
          <p:nvPr/>
        </p:nvSpPr>
        <p:spPr>
          <a:xfrm>
            <a:off x="249381" y="6530677"/>
            <a:ext cx="11741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PT" sz="1200" dirty="0">
                <a:solidFill>
                  <a:schemeClr val="tx1"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Sources: Handelsblatt, OMR, D</a:t>
            </a:r>
            <a:r>
              <a:rPr lang="de-DE" sz="1200" dirty="0">
                <a:solidFill>
                  <a:schemeClr val="tx1"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de-PT" sz="1200" dirty="0">
                <a:solidFill>
                  <a:schemeClr val="tx1"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 Zeit</a:t>
            </a:r>
          </a:p>
        </p:txBody>
      </p:sp>
    </p:spTree>
    <p:extLst>
      <p:ext uri="{BB962C8B-B14F-4D97-AF65-F5344CB8AC3E}">
        <p14:creationId xmlns:p14="http://schemas.microsoft.com/office/powerpoint/2010/main" val="1052589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>
            <a:extLst>
              <a:ext uri="{FF2B5EF4-FFF2-40B4-BE49-F238E27FC236}">
                <a16:creationId xmlns:a16="http://schemas.microsoft.com/office/drawing/2014/main" id="{3F1C4751-5A74-0CE0-7F0F-620585EC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0" y="270885"/>
            <a:ext cx="11741727" cy="776964"/>
          </a:xfrm>
        </p:spPr>
        <p:txBody>
          <a:bodyPr lIns="0" tIns="0" rIns="0" bIns="0" anchor="t">
            <a:noAutofit/>
          </a:bodyPr>
          <a:lstStyle/>
          <a:p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Driving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strategic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growth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Utilising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marketing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success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CHECK24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jersey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enhanced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user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acquisition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brand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visibility</a:t>
            </a:r>
            <a:endParaRPr lang="de-PT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Gerade Verbindung 11">
            <a:extLst>
              <a:ext uri="{FF2B5EF4-FFF2-40B4-BE49-F238E27FC236}">
                <a16:creationId xmlns:a16="http://schemas.microsoft.com/office/drawing/2014/main" id="{59DDC23A-4D7E-7DB0-4A78-B6CB38F7F9DF}"/>
              </a:ext>
            </a:extLst>
          </p:cNvPr>
          <p:cNvCxnSpPr>
            <a:cxnSpLocks/>
          </p:cNvCxnSpPr>
          <p:nvPr/>
        </p:nvCxnSpPr>
        <p:spPr>
          <a:xfrm>
            <a:off x="249381" y="1176795"/>
            <a:ext cx="1174172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Inhaltsplatzhalter 2">
            <a:extLst>
              <a:ext uri="{FF2B5EF4-FFF2-40B4-BE49-F238E27FC236}">
                <a16:creationId xmlns:a16="http://schemas.microsoft.com/office/drawing/2014/main" id="{68186527-5834-C0A7-1DDA-617A9490CF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383" t="10828" r="8301" b="2350"/>
          <a:stretch/>
        </p:blipFill>
        <p:spPr>
          <a:xfrm>
            <a:off x="7670799" y="4304524"/>
            <a:ext cx="4271819" cy="2076260"/>
          </a:xfrm>
          <a:prstGeom prst="rect">
            <a:avLst/>
          </a:prstGeom>
          <a:ln w="9525" cap="sq">
            <a:solidFill>
              <a:schemeClr val="bg1">
                <a:alpha val="48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255654F2-DC7E-BA7C-81D7-87B62556A050}"/>
              </a:ext>
            </a:extLst>
          </p:cNvPr>
          <p:cNvSpPr txBox="1"/>
          <p:nvPr/>
        </p:nvSpPr>
        <p:spPr>
          <a:xfrm>
            <a:off x="8440856" y="1565973"/>
            <a:ext cx="278019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Outcomes</a:t>
            </a:r>
          </a:p>
        </p:txBody>
      </p: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08AEC6B2-B44F-F9A0-065E-FBF24F53D957}"/>
              </a:ext>
            </a:extLst>
          </p:cNvPr>
          <p:cNvCxnSpPr>
            <a:cxnSpLocks/>
          </p:cNvCxnSpPr>
          <p:nvPr/>
        </p:nvCxnSpPr>
        <p:spPr>
          <a:xfrm>
            <a:off x="7670800" y="1868523"/>
            <a:ext cx="432030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7E74B4DD-DF26-7903-CE28-E55EBC085971}"/>
              </a:ext>
            </a:extLst>
          </p:cNvPr>
          <p:cNvSpPr txBox="1"/>
          <p:nvPr/>
        </p:nvSpPr>
        <p:spPr>
          <a:xfrm>
            <a:off x="2229354" y="1565973"/>
            <a:ext cx="278019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Initial Situation</a:t>
            </a:r>
            <a:endParaRPr lang="de-PT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1" name="Gerade Verbindung 20">
            <a:extLst>
              <a:ext uri="{FF2B5EF4-FFF2-40B4-BE49-F238E27FC236}">
                <a16:creationId xmlns:a16="http://schemas.microsoft.com/office/drawing/2014/main" id="{A4E65B95-3CF5-A724-4B0E-9E91362F705E}"/>
              </a:ext>
            </a:extLst>
          </p:cNvPr>
          <p:cNvCxnSpPr>
            <a:cxnSpLocks/>
          </p:cNvCxnSpPr>
          <p:nvPr/>
        </p:nvCxnSpPr>
        <p:spPr>
          <a:xfrm>
            <a:off x="249381" y="1868523"/>
            <a:ext cx="674014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6C295A02-3946-2FEA-8517-83FD6C85E8B8}"/>
              </a:ext>
            </a:extLst>
          </p:cNvPr>
          <p:cNvSpPr txBox="1"/>
          <p:nvPr/>
        </p:nvSpPr>
        <p:spPr>
          <a:xfrm>
            <a:off x="249381" y="2067555"/>
            <a:ext cx="674014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SzPct val="80000"/>
              <a:buFont typeface="Wingdings" pitchFamily="2" charset="2"/>
              <a:buChar char="v"/>
            </a:pP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Company: 	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Leading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online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comparison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portal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in Germany</a:t>
            </a:r>
          </a:p>
          <a:p>
            <a:pPr marL="285750" indent="-285750">
              <a:spcAft>
                <a:spcPts val="1200"/>
              </a:spcAft>
              <a:buSzPct val="80000"/>
              <a:buFont typeface="Wingdings" pitchFamily="2" charset="2"/>
              <a:buChar char="v"/>
            </a:pP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Goals: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 		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Expand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user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base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enhance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brand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visibility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target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			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younger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demographics</a:t>
            </a:r>
            <a:endParaRPr lang="de-DE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1200"/>
              </a:spcAft>
              <a:buSzPct val="80000"/>
              <a:buFont typeface="Wingdings" pitchFamily="2" charset="2"/>
              <a:buChar char="v"/>
            </a:pP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Opportunity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 	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Leverage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Euro 2024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excitement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connect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millions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		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football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fans</a:t>
            </a:r>
            <a:endParaRPr lang="de-PT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82D36A2-805D-BE1C-5F80-DDA32926C866}"/>
              </a:ext>
            </a:extLst>
          </p:cNvPr>
          <p:cNvSpPr txBox="1"/>
          <p:nvPr/>
        </p:nvSpPr>
        <p:spPr>
          <a:xfrm>
            <a:off x="249381" y="4503346"/>
            <a:ext cx="674014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SzPct val="80000"/>
              <a:buFont typeface="Wingdings" pitchFamily="2" charset="2"/>
              <a:buChar char="v"/>
            </a:pPr>
            <a:r>
              <a:rPr lang="de-DE" sz="1600" b="1" dirty="0"/>
              <a:t>Investment:	</a:t>
            </a:r>
            <a:r>
              <a:rPr lang="de-DE" sz="1600" dirty="0"/>
              <a:t>“CHECK 24 Puma </a:t>
            </a:r>
            <a:r>
              <a:rPr lang="de-DE" sz="1600" dirty="0" err="1"/>
              <a:t>jerseys</a:t>
            </a:r>
            <a:r>
              <a:rPr lang="de-DE" sz="1600" dirty="0"/>
              <a:t>“ </a:t>
            </a:r>
            <a:r>
              <a:rPr lang="de-DE" sz="1600" dirty="0" err="1"/>
              <a:t>with</a:t>
            </a:r>
            <a:r>
              <a:rPr lang="de-DE" sz="1600" dirty="0"/>
              <a:t> </a:t>
            </a:r>
            <a:r>
              <a:rPr lang="de-DE" sz="1600" dirty="0" err="1"/>
              <a:t>estimated</a:t>
            </a:r>
            <a:r>
              <a:rPr lang="de-DE" sz="1600" dirty="0"/>
              <a:t> </a:t>
            </a:r>
            <a:r>
              <a:rPr lang="de-DE" sz="1600" dirty="0" err="1"/>
              <a:t>costs</a:t>
            </a:r>
            <a:r>
              <a:rPr lang="de-DE" sz="1600" dirty="0"/>
              <a:t> </a:t>
            </a:r>
            <a:r>
              <a:rPr lang="de-DE" sz="1600" dirty="0" err="1"/>
              <a:t>of</a:t>
            </a:r>
            <a:r>
              <a:rPr lang="de-DE" sz="1600" dirty="0"/>
              <a:t> 			€100 </a:t>
            </a:r>
            <a:r>
              <a:rPr lang="de-DE" sz="1600" dirty="0" err="1"/>
              <a:t>million</a:t>
            </a:r>
            <a:r>
              <a:rPr lang="de-DE" sz="1600" dirty="0"/>
              <a:t> </a:t>
            </a:r>
            <a:r>
              <a:rPr lang="de-DE" sz="1600" dirty="0" err="1"/>
              <a:t>for</a:t>
            </a:r>
            <a:r>
              <a:rPr lang="de-DE" sz="1600" dirty="0"/>
              <a:t> </a:t>
            </a:r>
            <a:r>
              <a:rPr lang="de-DE" sz="1600" dirty="0" err="1"/>
              <a:t>production</a:t>
            </a:r>
            <a:r>
              <a:rPr lang="de-DE" sz="1600" dirty="0"/>
              <a:t>, </a:t>
            </a:r>
            <a:r>
              <a:rPr lang="de-DE" sz="1600" dirty="0" err="1"/>
              <a:t>logistics</a:t>
            </a:r>
            <a:r>
              <a:rPr lang="de-DE" sz="1600" dirty="0"/>
              <a:t>, </a:t>
            </a:r>
            <a:r>
              <a:rPr lang="de-DE" sz="1600" dirty="0" err="1"/>
              <a:t>marketing</a:t>
            </a:r>
            <a:r>
              <a:rPr lang="de-DE" sz="1600" dirty="0"/>
              <a:t> </a:t>
            </a:r>
          </a:p>
          <a:p>
            <a:pPr marL="285750" indent="-285750">
              <a:spcAft>
                <a:spcPts val="1200"/>
              </a:spcAft>
              <a:buSzPct val="80000"/>
              <a:buFont typeface="Wingdings" pitchFamily="2" charset="2"/>
              <a:buChar char="v"/>
            </a:pPr>
            <a:r>
              <a:rPr lang="de-DE" sz="1600" b="1" dirty="0"/>
              <a:t>Distribution:</a:t>
            </a:r>
            <a:r>
              <a:rPr lang="de-DE" sz="1600" dirty="0"/>
              <a:t> 	5 </a:t>
            </a:r>
            <a:r>
              <a:rPr lang="de-DE" sz="1600" dirty="0" err="1"/>
              <a:t>million</a:t>
            </a:r>
            <a:r>
              <a:rPr lang="de-DE" sz="1600" dirty="0"/>
              <a:t> </a:t>
            </a:r>
            <a:r>
              <a:rPr lang="de-DE" sz="1600" dirty="0" err="1"/>
              <a:t>free</a:t>
            </a:r>
            <a:r>
              <a:rPr lang="de-DE" sz="1600" dirty="0"/>
              <a:t> Puma </a:t>
            </a:r>
            <a:r>
              <a:rPr lang="de-DE" sz="1600" dirty="0" err="1"/>
              <a:t>jerseys</a:t>
            </a:r>
            <a:r>
              <a:rPr lang="de-DE" sz="1600" dirty="0"/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users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who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downloaded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			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app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and registered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Euro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betting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game</a:t>
            </a:r>
            <a:endParaRPr lang="de-DE" sz="1600" dirty="0"/>
          </a:p>
          <a:p>
            <a:pPr marL="285750" indent="-285750">
              <a:spcAft>
                <a:spcPts val="1200"/>
              </a:spcAft>
              <a:buSzPct val="80000"/>
              <a:buFont typeface="Wingdings" pitchFamily="2" charset="2"/>
              <a:buChar char="v"/>
            </a:pPr>
            <a:r>
              <a:rPr lang="de-DE" sz="1600" b="1" dirty="0"/>
              <a:t>Engagement:	</a:t>
            </a:r>
            <a:r>
              <a:rPr lang="de-DE" sz="1600" dirty="0"/>
              <a:t>Euro 2024 </a:t>
            </a:r>
            <a:r>
              <a:rPr lang="de-DE" sz="1600" dirty="0" err="1"/>
              <a:t>betting</a:t>
            </a:r>
            <a:r>
              <a:rPr lang="de-DE" sz="1600" dirty="0"/>
              <a:t> game </a:t>
            </a:r>
            <a:r>
              <a:rPr lang="de-DE" sz="1600" dirty="0" err="1"/>
              <a:t>with</a:t>
            </a:r>
            <a:r>
              <a:rPr lang="de-DE" sz="1600" dirty="0"/>
              <a:t> </a:t>
            </a:r>
            <a:r>
              <a:rPr lang="de-DE" sz="1600" dirty="0" err="1"/>
              <a:t>prizes</a:t>
            </a:r>
            <a:r>
              <a:rPr lang="de-DE" sz="1600" dirty="0"/>
              <a:t> </a:t>
            </a:r>
            <a:r>
              <a:rPr lang="de-DE" sz="1600" dirty="0" err="1"/>
              <a:t>up</a:t>
            </a:r>
            <a:r>
              <a:rPr lang="de-DE" sz="1600" dirty="0"/>
              <a:t> </a:t>
            </a:r>
            <a:r>
              <a:rPr lang="de-DE" sz="1600" dirty="0" err="1"/>
              <a:t>to</a:t>
            </a:r>
            <a:r>
              <a:rPr lang="de-DE" sz="1600" dirty="0"/>
              <a:t> €240,000</a:t>
            </a:r>
            <a:endParaRPr lang="de-DE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E51AA1C-AE3A-00FE-98A0-2482D9FFF589}"/>
              </a:ext>
            </a:extLst>
          </p:cNvPr>
          <p:cNvSpPr txBox="1"/>
          <p:nvPr/>
        </p:nvSpPr>
        <p:spPr>
          <a:xfrm>
            <a:off x="2229354" y="4001973"/>
            <a:ext cx="278019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Marketing Campaign</a:t>
            </a:r>
            <a:endParaRPr lang="de-PT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43C0DE8D-9FAE-7529-CBC3-50A974553D81}"/>
              </a:ext>
            </a:extLst>
          </p:cNvPr>
          <p:cNvCxnSpPr>
            <a:cxnSpLocks/>
          </p:cNvCxnSpPr>
          <p:nvPr/>
        </p:nvCxnSpPr>
        <p:spPr>
          <a:xfrm>
            <a:off x="249381" y="4304523"/>
            <a:ext cx="674014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B716AF13-7F3D-0D14-BE43-1DD474E7C901}"/>
              </a:ext>
            </a:extLst>
          </p:cNvPr>
          <p:cNvGrpSpPr/>
          <p:nvPr/>
        </p:nvGrpSpPr>
        <p:grpSpPr>
          <a:xfrm>
            <a:off x="7670799" y="2067555"/>
            <a:ext cx="4151779" cy="1927759"/>
            <a:chOff x="7670799" y="2067555"/>
            <a:chExt cx="4151779" cy="1927759"/>
          </a:xfrm>
        </p:grpSpPr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9F77546A-6578-C1BA-5515-FCE800913F02}"/>
                </a:ext>
              </a:extLst>
            </p:cNvPr>
            <p:cNvSpPr txBox="1"/>
            <p:nvPr/>
          </p:nvSpPr>
          <p:spPr>
            <a:xfrm>
              <a:off x="8459003" y="2067555"/>
              <a:ext cx="33635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200"/>
                </a:spcAft>
                <a:buSzPct val="80000"/>
              </a:pP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Significantly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increased</a:t>
              </a:r>
              <a:r>
                <a:rPr lang="de-DE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app</a:t>
              </a:r>
              <a:r>
                <a:rPr lang="de-DE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downloads</a:t>
              </a:r>
              <a:r>
                <a:rPr lang="de-DE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and </a:t>
              </a: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active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users</a:t>
              </a:r>
              <a:endParaRPr lang="de-DE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32" name="Grafik 31" descr="Smartphone Silhouette">
              <a:extLst>
                <a:ext uri="{FF2B5EF4-FFF2-40B4-BE49-F238E27FC236}">
                  <a16:creationId xmlns:a16="http://schemas.microsoft.com/office/drawing/2014/main" id="{74ABD351-BFA9-3724-1E79-F7D019F72D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670799" y="2089217"/>
              <a:ext cx="540000" cy="540000"/>
            </a:xfrm>
            <a:prstGeom prst="rect">
              <a:avLst/>
            </a:prstGeom>
          </p:spPr>
        </p:pic>
        <p:pic>
          <p:nvPicPr>
            <p:cNvPr id="33" name="Grafik 32" descr="Ordnersuche Silhouette">
              <a:extLst>
                <a:ext uri="{FF2B5EF4-FFF2-40B4-BE49-F238E27FC236}">
                  <a16:creationId xmlns:a16="http://schemas.microsoft.com/office/drawing/2014/main" id="{9AA2209F-B208-1C84-A391-88ECCFCFD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670799" y="2783822"/>
              <a:ext cx="540000" cy="540000"/>
            </a:xfrm>
            <a:prstGeom prst="rect">
              <a:avLst/>
            </a:prstGeom>
          </p:spPr>
        </p:pic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A82FCBD8-32B5-EBD1-EA87-B1976A65B910}"/>
                </a:ext>
              </a:extLst>
            </p:cNvPr>
            <p:cNvSpPr txBox="1"/>
            <p:nvPr/>
          </p:nvSpPr>
          <p:spPr>
            <a:xfrm>
              <a:off x="8459003" y="2761435"/>
              <a:ext cx="33635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2600"/>
                </a:spcAft>
                <a:buSzPct val="80000"/>
              </a:pP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Gathered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extensive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customer</a:t>
              </a:r>
              <a:r>
                <a:rPr lang="de-DE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data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for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personalized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marketing</a:t>
              </a:r>
              <a:endParaRPr lang="de-DE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35" name="Grafik 34" descr="Sternschnuppe Silhouette">
              <a:extLst>
                <a:ext uri="{FF2B5EF4-FFF2-40B4-BE49-F238E27FC236}">
                  <a16:creationId xmlns:a16="http://schemas.microsoft.com/office/drawing/2014/main" id="{675D96D2-C40C-51D1-D32A-D98708DE45E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670799" y="3455314"/>
              <a:ext cx="540000" cy="540000"/>
            </a:xfrm>
            <a:prstGeom prst="rect">
              <a:avLst/>
            </a:prstGeom>
          </p:spPr>
        </p:pic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4908DD97-1061-A126-82F7-1BB6F2A77FF6}"/>
                </a:ext>
              </a:extLst>
            </p:cNvPr>
            <p:cNvSpPr txBox="1"/>
            <p:nvPr/>
          </p:nvSpPr>
          <p:spPr>
            <a:xfrm>
              <a:off x="8459003" y="3556037"/>
              <a:ext cx="33635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2600"/>
                </a:spcAft>
                <a:buSzPct val="80000"/>
              </a:pP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Boosted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brand</a:t>
              </a:r>
              <a:r>
                <a:rPr lang="de-DE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recognition</a:t>
              </a:r>
              <a:endParaRPr lang="de-DE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231AB769-C51A-0A56-35D2-937DFCAA7909}"/>
              </a:ext>
            </a:extLst>
          </p:cNvPr>
          <p:cNvSpPr/>
          <p:nvPr/>
        </p:nvSpPr>
        <p:spPr>
          <a:xfrm>
            <a:off x="2581872" y="1565973"/>
            <a:ext cx="276999" cy="276999"/>
          </a:xfrm>
          <a:prstGeom prst="ellipse">
            <a:avLst/>
          </a:prstGeom>
          <a:solidFill>
            <a:srgbClr val="D923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PT" dirty="0"/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C3B2E22-38D3-758F-D680-0E4427760B84}"/>
              </a:ext>
            </a:extLst>
          </p:cNvPr>
          <p:cNvSpPr/>
          <p:nvPr/>
        </p:nvSpPr>
        <p:spPr>
          <a:xfrm>
            <a:off x="2304873" y="4001973"/>
            <a:ext cx="276999" cy="276999"/>
          </a:xfrm>
          <a:prstGeom prst="ellipse">
            <a:avLst/>
          </a:prstGeom>
          <a:solidFill>
            <a:srgbClr val="D923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PT" dirty="0"/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4581686-0731-5C70-D4B2-0FD04D989C7B}"/>
              </a:ext>
            </a:extLst>
          </p:cNvPr>
          <p:cNvSpPr/>
          <p:nvPr/>
        </p:nvSpPr>
        <p:spPr>
          <a:xfrm>
            <a:off x="9004316" y="1565973"/>
            <a:ext cx="276999" cy="276999"/>
          </a:xfrm>
          <a:prstGeom prst="ellipse">
            <a:avLst/>
          </a:prstGeom>
          <a:solidFill>
            <a:srgbClr val="D923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PT" dirty="0"/>
              <a:t>3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82D0513-5287-D5DA-A629-96E090E80235}"/>
              </a:ext>
            </a:extLst>
          </p:cNvPr>
          <p:cNvSpPr txBox="1"/>
          <p:nvPr/>
        </p:nvSpPr>
        <p:spPr>
          <a:xfrm>
            <a:off x="249381" y="6530677"/>
            <a:ext cx="11741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PT" sz="1200" dirty="0">
                <a:solidFill>
                  <a:schemeClr val="tx1"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Sources: Handelsblatt, OMR, D</a:t>
            </a:r>
            <a:r>
              <a:rPr lang="de-DE" sz="1200" dirty="0">
                <a:solidFill>
                  <a:schemeClr val="tx1"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de-PT" sz="1200" dirty="0">
                <a:solidFill>
                  <a:schemeClr val="tx1"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 Zeit</a:t>
            </a:r>
          </a:p>
        </p:txBody>
      </p:sp>
    </p:spTree>
    <p:extLst>
      <p:ext uri="{BB962C8B-B14F-4D97-AF65-F5344CB8AC3E}">
        <p14:creationId xmlns:p14="http://schemas.microsoft.com/office/powerpoint/2010/main" val="1070014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hteck 38">
            <a:extLst>
              <a:ext uri="{FF2B5EF4-FFF2-40B4-BE49-F238E27FC236}">
                <a16:creationId xmlns:a16="http://schemas.microsoft.com/office/drawing/2014/main" id="{9D04F9EF-4E07-1F54-D794-37D37904FEAB}"/>
              </a:ext>
            </a:extLst>
          </p:cNvPr>
          <p:cNvSpPr/>
          <p:nvPr/>
        </p:nvSpPr>
        <p:spPr>
          <a:xfrm>
            <a:off x="7467856" y="1313924"/>
            <a:ext cx="4539017" cy="5087806"/>
          </a:xfrm>
          <a:prstGeom prst="rect">
            <a:avLst/>
          </a:prstGeom>
          <a:solidFill>
            <a:schemeClr val="bg1">
              <a:alpha val="10000"/>
            </a:schemeClr>
          </a:solidFill>
          <a:ln w="19050">
            <a:solidFill>
              <a:schemeClr val="bg1">
                <a:lumMod val="50000"/>
                <a:alpha val="3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PT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3F1C4751-5A74-0CE0-7F0F-620585EC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0" y="270885"/>
            <a:ext cx="11741727" cy="776964"/>
          </a:xfrm>
        </p:spPr>
        <p:txBody>
          <a:bodyPr lIns="0" tIns="0" rIns="0" bIns="0" anchor="t">
            <a:noAutofit/>
          </a:bodyPr>
          <a:lstStyle/>
          <a:p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Driving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strategic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growth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Utilising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marketing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success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CHECK24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jersey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enhanced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user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acquisition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brand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visibility</a:t>
            </a:r>
            <a:endParaRPr lang="de-PT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Gerade Verbindung 11">
            <a:extLst>
              <a:ext uri="{FF2B5EF4-FFF2-40B4-BE49-F238E27FC236}">
                <a16:creationId xmlns:a16="http://schemas.microsoft.com/office/drawing/2014/main" id="{59DDC23A-4D7E-7DB0-4A78-B6CB38F7F9DF}"/>
              </a:ext>
            </a:extLst>
          </p:cNvPr>
          <p:cNvCxnSpPr>
            <a:cxnSpLocks/>
          </p:cNvCxnSpPr>
          <p:nvPr/>
        </p:nvCxnSpPr>
        <p:spPr>
          <a:xfrm>
            <a:off x="249381" y="1176795"/>
            <a:ext cx="1174172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255654F2-DC7E-BA7C-81D7-87B62556A050}"/>
              </a:ext>
            </a:extLst>
          </p:cNvPr>
          <p:cNvSpPr txBox="1"/>
          <p:nvPr/>
        </p:nvSpPr>
        <p:spPr>
          <a:xfrm>
            <a:off x="8347266" y="1616348"/>
            <a:ext cx="278019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Outcomes</a:t>
            </a:r>
          </a:p>
        </p:txBody>
      </p: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08AEC6B2-B44F-F9A0-065E-FBF24F53D957}"/>
              </a:ext>
            </a:extLst>
          </p:cNvPr>
          <p:cNvCxnSpPr>
            <a:cxnSpLocks/>
          </p:cNvCxnSpPr>
          <p:nvPr/>
        </p:nvCxnSpPr>
        <p:spPr>
          <a:xfrm>
            <a:off x="7577210" y="1918898"/>
            <a:ext cx="432030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7E74B4DD-DF26-7903-CE28-E55EBC085971}"/>
              </a:ext>
            </a:extLst>
          </p:cNvPr>
          <p:cNvSpPr txBox="1"/>
          <p:nvPr/>
        </p:nvSpPr>
        <p:spPr>
          <a:xfrm>
            <a:off x="775250" y="1616348"/>
            <a:ext cx="241668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Initial Situation</a:t>
            </a:r>
            <a:endParaRPr lang="de-PT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1" name="Gerade Verbindung 20">
            <a:extLst>
              <a:ext uri="{FF2B5EF4-FFF2-40B4-BE49-F238E27FC236}">
                <a16:creationId xmlns:a16="http://schemas.microsoft.com/office/drawing/2014/main" id="{A4E65B95-3CF5-A724-4B0E-9E91362F705E}"/>
              </a:ext>
            </a:extLst>
          </p:cNvPr>
          <p:cNvCxnSpPr>
            <a:cxnSpLocks/>
          </p:cNvCxnSpPr>
          <p:nvPr/>
        </p:nvCxnSpPr>
        <p:spPr>
          <a:xfrm>
            <a:off x="363593" y="1918898"/>
            <a:ext cx="324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6C295A02-3946-2FEA-8517-83FD6C85E8B8}"/>
              </a:ext>
            </a:extLst>
          </p:cNvPr>
          <p:cNvSpPr txBox="1"/>
          <p:nvPr/>
        </p:nvSpPr>
        <p:spPr>
          <a:xfrm>
            <a:off x="249380" y="2117930"/>
            <a:ext cx="335421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SzPct val="80000"/>
              <a:buFont typeface="Wingdings" pitchFamily="2" charset="2"/>
              <a:buChar char="v"/>
            </a:pP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CHECK 24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leading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online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comparison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portal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in Germany</a:t>
            </a:r>
          </a:p>
          <a:p>
            <a:pPr marL="285750" indent="-285750">
              <a:spcAft>
                <a:spcPts val="1200"/>
              </a:spcAft>
              <a:buSzPct val="80000"/>
              <a:buFont typeface="Wingdings" pitchFamily="2" charset="2"/>
              <a:buChar char="v"/>
            </a:pP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goal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marketing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campaign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was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expand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user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base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enhance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brand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visibility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target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younger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demographics</a:t>
            </a:r>
            <a:endParaRPr lang="de-DE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SzPct val="80000"/>
              <a:buFont typeface="Wingdings" pitchFamily="2" charset="2"/>
              <a:buChar char="v"/>
            </a:pP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CHECK 24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saw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opportunity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everage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excitement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Euro 2024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connect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millions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football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fans</a:t>
            </a:r>
            <a:endParaRPr lang="de-PT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82D36A2-805D-BE1C-5F80-DDA32926C866}"/>
              </a:ext>
            </a:extLst>
          </p:cNvPr>
          <p:cNvSpPr txBox="1"/>
          <p:nvPr/>
        </p:nvSpPr>
        <p:spPr>
          <a:xfrm>
            <a:off x="3960090" y="2117930"/>
            <a:ext cx="32400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SzPct val="80000"/>
              <a:buFont typeface="Wingdings" pitchFamily="2" charset="2"/>
              <a:buChar char="v"/>
            </a:pP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Invested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heavily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in „CHECK 24 Puma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jerseys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“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estimated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costs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€100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million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production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logistics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marketing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85750" indent="-285750">
              <a:spcAft>
                <a:spcPts val="1200"/>
              </a:spcAft>
              <a:buSzPct val="80000"/>
              <a:buFont typeface="Wingdings" pitchFamily="2" charset="2"/>
              <a:buChar char="v"/>
            </a:pP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Distributed 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5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million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free</a:t>
            </a:r>
            <a:r>
              <a:rPr lang="de-DE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jerseys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users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who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downloaded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app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and registered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Euro </a:t>
            </a:r>
            <a:r>
              <a:rPr lang="de-DE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betting</a:t>
            </a:r>
            <a:r>
              <a:rPr lang="de-DE" sz="1600" dirty="0">
                <a:latin typeface="Calibri" panose="020F0502020204030204" pitchFamily="34" charset="0"/>
                <a:cs typeface="Calibri" panose="020F0502020204030204" pitchFamily="34" charset="0"/>
              </a:rPr>
              <a:t> game</a:t>
            </a:r>
          </a:p>
          <a:p>
            <a:pPr marL="285750" indent="-285750">
              <a:spcAft>
                <a:spcPts val="1200"/>
              </a:spcAft>
              <a:buSzPct val="80000"/>
              <a:buFont typeface="Wingdings" pitchFamily="2" charset="2"/>
              <a:buChar char="v"/>
            </a:pP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Launched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betting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game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Euro 2024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participants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could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win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travel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credits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vouchers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up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€240 </a:t>
            </a:r>
            <a:r>
              <a:rPr lang="de-DE" sz="16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thousand</a:t>
            </a:r>
            <a:endParaRPr lang="de-DE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954AA5B-5026-57A4-98A3-990E8ECD1715}"/>
              </a:ext>
            </a:extLst>
          </p:cNvPr>
          <p:cNvSpPr txBox="1"/>
          <p:nvPr/>
        </p:nvSpPr>
        <p:spPr>
          <a:xfrm>
            <a:off x="4382059" y="1616348"/>
            <a:ext cx="241668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Marketing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campaign</a:t>
            </a:r>
            <a:endParaRPr lang="de-PT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54145E9C-C15E-9E19-BB97-8F484145A378}"/>
              </a:ext>
            </a:extLst>
          </p:cNvPr>
          <p:cNvCxnSpPr>
            <a:cxnSpLocks/>
          </p:cNvCxnSpPr>
          <p:nvPr/>
        </p:nvCxnSpPr>
        <p:spPr>
          <a:xfrm>
            <a:off x="3970402" y="1918898"/>
            <a:ext cx="324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Inhaltsplatzhalter 2">
            <a:extLst>
              <a:ext uri="{FF2B5EF4-FFF2-40B4-BE49-F238E27FC236}">
                <a16:creationId xmlns:a16="http://schemas.microsoft.com/office/drawing/2014/main" id="{800C6042-C3DD-4F14-76C0-C16D47B391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383" t="10828" r="8301" b="2350"/>
          <a:stretch/>
        </p:blipFill>
        <p:spPr>
          <a:xfrm>
            <a:off x="7585689" y="4188343"/>
            <a:ext cx="4271819" cy="2076260"/>
          </a:xfrm>
          <a:prstGeom prst="rect">
            <a:avLst/>
          </a:prstGeom>
          <a:ln w="9525" cap="sq">
            <a:solidFill>
              <a:schemeClr val="bg1">
                <a:alpha val="48000"/>
              </a:schemeClr>
            </a:solidFill>
            <a:prstDash val="solid"/>
            <a:miter lim="800000"/>
          </a:ln>
          <a:effectLst/>
        </p:spPr>
      </p:pic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FEA3C5DC-EB37-56BA-C7BE-115C64399872}"/>
              </a:ext>
            </a:extLst>
          </p:cNvPr>
          <p:cNvGrpSpPr/>
          <p:nvPr/>
        </p:nvGrpSpPr>
        <p:grpSpPr>
          <a:xfrm>
            <a:off x="7585689" y="2117930"/>
            <a:ext cx="4151779" cy="1927759"/>
            <a:chOff x="7915528" y="2217683"/>
            <a:chExt cx="4151779" cy="1927759"/>
          </a:xfrm>
        </p:grpSpPr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42045F2A-F227-CC77-086B-C9BF84AE981C}"/>
                </a:ext>
              </a:extLst>
            </p:cNvPr>
            <p:cNvSpPr txBox="1"/>
            <p:nvPr/>
          </p:nvSpPr>
          <p:spPr>
            <a:xfrm>
              <a:off x="8703732" y="2217683"/>
              <a:ext cx="33635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200"/>
                </a:spcAft>
                <a:buSzPct val="80000"/>
              </a:pP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Significantly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increased</a:t>
              </a:r>
              <a:r>
                <a:rPr lang="de-DE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app</a:t>
              </a:r>
              <a:r>
                <a:rPr lang="de-DE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downloads</a:t>
              </a:r>
              <a:r>
                <a:rPr lang="de-DE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and </a:t>
              </a: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active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users</a:t>
              </a:r>
              <a:endParaRPr lang="de-DE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1" name="Grafik 10" descr="Smartphone Silhouette">
              <a:extLst>
                <a:ext uri="{FF2B5EF4-FFF2-40B4-BE49-F238E27FC236}">
                  <a16:creationId xmlns:a16="http://schemas.microsoft.com/office/drawing/2014/main" id="{EB37AB96-F0DC-1D81-B655-D6680AF520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15528" y="2240070"/>
              <a:ext cx="540000" cy="540000"/>
            </a:xfrm>
            <a:prstGeom prst="rect">
              <a:avLst/>
            </a:prstGeom>
          </p:spPr>
        </p:pic>
        <p:pic>
          <p:nvPicPr>
            <p:cNvPr id="13" name="Grafik 12" descr="Ordnersuche Silhouette">
              <a:extLst>
                <a:ext uri="{FF2B5EF4-FFF2-40B4-BE49-F238E27FC236}">
                  <a16:creationId xmlns:a16="http://schemas.microsoft.com/office/drawing/2014/main" id="{113FE304-BD19-8BDF-B366-8CF4E271A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15528" y="2933950"/>
              <a:ext cx="540000" cy="540000"/>
            </a:xfrm>
            <a:prstGeom prst="rect">
              <a:avLst/>
            </a:prstGeom>
          </p:spPr>
        </p:pic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6BC929C3-66DF-30EA-B90A-054923DC5D54}"/>
                </a:ext>
              </a:extLst>
            </p:cNvPr>
            <p:cNvSpPr txBox="1"/>
            <p:nvPr/>
          </p:nvSpPr>
          <p:spPr>
            <a:xfrm>
              <a:off x="8703732" y="2911563"/>
              <a:ext cx="33635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2600"/>
                </a:spcAft>
                <a:buSzPct val="80000"/>
              </a:pP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Gathered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extensive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customer</a:t>
              </a:r>
              <a:r>
                <a:rPr lang="de-DE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data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for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personalized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marketing</a:t>
              </a:r>
              <a:endParaRPr lang="de-DE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4" name="Grafik 13" descr="Sternschnuppe Silhouette">
              <a:extLst>
                <a:ext uri="{FF2B5EF4-FFF2-40B4-BE49-F238E27FC236}">
                  <a16:creationId xmlns:a16="http://schemas.microsoft.com/office/drawing/2014/main" id="{D4FAACD5-8D86-031F-2E91-C39A52929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915528" y="3605442"/>
              <a:ext cx="540000" cy="540000"/>
            </a:xfrm>
            <a:prstGeom prst="rect">
              <a:avLst/>
            </a:prstGeom>
          </p:spPr>
        </p:pic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5817B6A3-0F8B-97BB-2F4B-EE98CD02203A}"/>
                </a:ext>
              </a:extLst>
            </p:cNvPr>
            <p:cNvSpPr txBox="1"/>
            <p:nvPr/>
          </p:nvSpPr>
          <p:spPr>
            <a:xfrm>
              <a:off x="8703732" y="3706165"/>
              <a:ext cx="33635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2600"/>
                </a:spcAft>
                <a:buSzPct val="80000"/>
              </a:pPr>
              <a:r>
                <a:rPr lang="de-DE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Boosted</a:t>
              </a:r>
              <a:r>
                <a:rPr lang="de-DE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brand</a:t>
              </a:r>
              <a:r>
                <a:rPr lang="de-DE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de-DE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recognition</a:t>
              </a:r>
              <a:endParaRPr lang="de-DE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8" name="Textfeld 37">
            <a:extLst>
              <a:ext uri="{FF2B5EF4-FFF2-40B4-BE49-F238E27FC236}">
                <a16:creationId xmlns:a16="http://schemas.microsoft.com/office/drawing/2014/main" id="{03526391-2062-3F53-14DD-ED47E3572A51}"/>
              </a:ext>
            </a:extLst>
          </p:cNvPr>
          <p:cNvSpPr txBox="1"/>
          <p:nvPr/>
        </p:nvSpPr>
        <p:spPr>
          <a:xfrm>
            <a:off x="249381" y="6530677"/>
            <a:ext cx="11741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PT" sz="1200" dirty="0">
                <a:solidFill>
                  <a:schemeClr val="tx1"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Sources: Handelsblatt, OMR, D</a:t>
            </a:r>
            <a:r>
              <a:rPr lang="de-DE" sz="1200" dirty="0">
                <a:solidFill>
                  <a:schemeClr val="tx1"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de-PT" sz="1200" dirty="0">
                <a:solidFill>
                  <a:schemeClr val="tx1"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 Zeit</a:t>
            </a:r>
          </a:p>
        </p:txBody>
      </p:sp>
    </p:spTree>
    <p:extLst>
      <p:ext uri="{BB962C8B-B14F-4D97-AF65-F5344CB8AC3E}">
        <p14:creationId xmlns:p14="http://schemas.microsoft.com/office/powerpoint/2010/main" val="417837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>
            <a:extLst>
              <a:ext uri="{FF2B5EF4-FFF2-40B4-BE49-F238E27FC236}">
                <a16:creationId xmlns:a16="http://schemas.microsoft.com/office/drawing/2014/main" id="{3F1C4751-5A74-0CE0-7F0F-620585EC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0" y="270885"/>
            <a:ext cx="11741727" cy="776964"/>
          </a:xfrm>
        </p:spPr>
        <p:txBody>
          <a:bodyPr lIns="0" tIns="0" rIns="0" bIns="0" anchor="t">
            <a:noAutofit/>
          </a:bodyPr>
          <a:lstStyle/>
          <a:p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Driving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strategic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growth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Utilising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marketing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success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CHECK24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jersey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enhanced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user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acquisition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brand</a:t>
            </a:r>
            <a:r>
              <a:rPr lang="de-DE" sz="26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6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visibility</a:t>
            </a:r>
            <a:endParaRPr lang="de-PT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Gerade Verbindung 11">
            <a:extLst>
              <a:ext uri="{FF2B5EF4-FFF2-40B4-BE49-F238E27FC236}">
                <a16:creationId xmlns:a16="http://schemas.microsoft.com/office/drawing/2014/main" id="{59DDC23A-4D7E-7DB0-4A78-B6CB38F7F9DF}"/>
              </a:ext>
            </a:extLst>
          </p:cNvPr>
          <p:cNvCxnSpPr>
            <a:cxnSpLocks/>
          </p:cNvCxnSpPr>
          <p:nvPr/>
        </p:nvCxnSpPr>
        <p:spPr>
          <a:xfrm>
            <a:off x="249381" y="1176795"/>
            <a:ext cx="1174172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Inhaltsplatzhalter 2">
            <a:extLst>
              <a:ext uri="{FF2B5EF4-FFF2-40B4-BE49-F238E27FC236}">
                <a16:creationId xmlns:a16="http://schemas.microsoft.com/office/drawing/2014/main" id="{68186527-5834-C0A7-1DDA-617A9490CF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383" r="8301"/>
          <a:stretch/>
        </p:blipFill>
        <p:spPr>
          <a:xfrm>
            <a:off x="668751" y="1675675"/>
            <a:ext cx="5040000" cy="2821410"/>
          </a:xfrm>
          <a:prstGeom prst="rect">
            <a:avLst/>
          </a:prstGeom>
          <a:ln w="9525" cap="sq">
            <a:solidFill>
              <a:schemeClr val="bg1">
                <a:lumMod val="8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7E74B4DD-DF26-7903-CE28-E55EBC085971}"/>
              </a:ext>
            </a:extLst>
          </p:cNvPr>
          <p:cNvSpPr txBox="1"/>
          <p:nvPr/>
        </p:nvSpPr>
        <p:spPr>
          <a:xfrm>
            <a:off x="956917" y="4764751"/>
            <a:ext cx="446366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Boosting</a:t>
            </a:r>
            <a:r>
              <a:rPr lang="de-DE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brand</a:t>
            </a:r>
            <a:r>
              <a:rPr lang="de-DE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awareness</a:t>
            </a:r>
            <a:r>
              <a:rPr lang="de-DE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through</a:t>
            </a:r>
            <a:r>
              <a:rPr lang="de-DE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Euro 2024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events</a:t>
            </a:r>
            <a:r>
              <a:rPr lang="de-DE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broad</a:t>
            </a:r>
            <a:r>
              <a:rPr lang="de-DE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media</a:t>
            </a:r>
            <a:r>
              <a:rPr lang="de-DE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coverage</a:t>
            </a:r>
            <a:endParaRPr lang="de-PT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1" name="Gerade Verbindung 20">
            <a:extLst>
              <a:ext uri="{FF2B5EF4-FFF2-40B4-BE49-F238E27FC236}">
                <a16:creationId xmlns:a16="http://schemas.microsoft.com/office/drawing/2014/main" id="{A4E65B95-3CF5-A724-4B0E-9E91362F705E}"/>
              </a:ext>
            </a:extLst>
          </p:cNvPr>
          <p:cNvCxnSpPr>
            <a:cxnSpLocks/>
          </p:cNvCxnSpPr>
          <p:nvPr/>
        </p:nvCxnSpPr>
        <p:spPr>
          <a:xfrm>
            <a:off x="668751" y="4652270"/>
            <a:ext cx="504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23">
            <a:extLst>
              <a:ext uri="{FF2B5EF4-FFF2-40B4-BE49-F238E27FC236}">
                <a16:creationId xmlns:a16="http://schemas.microsoft.com/office/drawing/2014/main" id="{35F8988B-C16C-692B-F0B7-C740E03BC96A}"/>
              </a:ext>
            </a:extLst>
          </p:cNvPr>
          <p:cNvCxnSpPr>
            <a:cxnSpLocks/>
          </p:cNvCxnSpPr>
          <p:nvPr/>
        </p:nvCxnSpPr>
        <p:spPr>
          <a:xfrm>
            <a:off x="6485206" y="4652270"/>
            <a:ext cx="504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hteck 25">
            <a:extLst>
              <a:ext uri="{FF2B5EF4-FFF2-40B4-BE49-F238E27FC236}">
                <a16:creationId xmlns:a16="http://schemas.microsoft.com/office/drawing/2014/main" id="{8F6A1A14-443B-318A-58B5-773DC2ACF1F0}"/>
              </a:ext>
            </a:extLst>
          </p:cNvPr>
          <p:cNvSpPr/>
          <p:nvPr/>
        </p:nvSpPr>
        <p:spPr>
          <a:xfrm>
            <a:off x="668751" y="5854088"/>
            <a:ext cx="10854498" cy="554699"/>
          </a:xfrm>
          <a:prstGeom prst="rect">
            <a:avLst/>
          </a:prstGeom>
          <a:solidFill>
            <a:srgbClr val="D923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4000" rtlCol="0" anchor="ctr"/>
          <a:lstStyle/>
          <a:p>
            <a:pPr algn="l"/>
            <a:r>
              <a:rPr lang="de-DE" b="1" i="0" u="none" strike="noStrike" dirty="0" err="1">
                <a:solidFill>
                  <a:schemeClr val="bg1"/>
                </a:solidFill>
                <a:effectLst/>
              </a:rPr>
              <a:t>Since</a:t>
            </a:r>
            <a:r>
              <a:rPr lang="de-DE" b="1" i="0" u="none" strike="noStrike" dirty="0">
                <a:solidFill>
                  <a:schemeClr val="bg1"/>
                </a:solidFill>
                <a:effectLst/>
              </a:rPr>
              <a:t> </a:t>
            </a:r>
            <a:r>
              <a:rPr lang="de-DE" b="1" i="0" u="none" strike="noStrike" dirty="0" err="1">
                <a:solidFill>
                  <a:schemeClr val="bg1"/>
                </a:solidFill>
                <a:effectLst/>
              </a:rPr>
              <a:t>the</a:t>
            </a:r>
            <a:r>
              <a:rPr lang="de-DE" b="1" i="0" u="none" strike="noStrike" dirty="0">
                <a:solidFill>
                  <a:schemeClr val="bg1"/>
                </a:solidFill>
                <a:effectLst/>
              </a:rPr>
              <a:t> </a:t>
            </a:r>
            <a:r>
              <a:rPr lang="de-DE" b="1" i="0" u="none" strike="noStrike" dirty="0" err="1">
                <a:solidFill>
                  <a:schemeClr val="bg1"/>
                </a:solidFill>
                <a:effectLst/>
              </a:rPr>
              <a:t>start</a:t>
            </a:r>
            <a:r>
              <a:rPr lang="de-DE" b="1" i="0" u="none" strike="noStrike" dirty="0">
                <a:solidFill>
                  <a:schemeClr val="bg1"/>
                </a:solidFill>
                <a:effectLst/>
              </a:rPr>
              <a:t> </a:t>
            </a:r>
            <a:r>
              <a:rPr lang="de-DE" b="1" i="0" u="none" strike="noStrike" dirty="0" err="1">
                <a:solidFill>
                  <a:schemeClr val="bg1"/>
                </a:solidFill>
                <a:effectLst/>
              </a:rPr>
              <a:t>of</a:t>
            </a:r>
            <a:r>
              <a:rPr lang="de-DE" b="1" i="0" u="none" strike="noStrike" dirty="0">
                <a:solidFill>
                  <a:schemeClr val="bg1"/>
                </a:solidFill>
                <a:effectLst/>
              </a:rPr>
              <a:t> </a:t>
            </a:r>
            <a:r>
              <a:rPr lang="de-DE" b="1" i="0" u="none" strike="noStrike" dirty="0" err="1">
                <a:solidFill>
                  <a:schemeClr val="bg1"/>
                </a:solidFill>
                <a:effectLst/>
              </a:rPr>
              <a:t>the</a:t>
            </a:r>
            <a:r>
              <a:rPr lang="de-DE" b="1" i="0" u="none" strike="noStrike" dirty="0">
                <a:solidFill>
                  <a:schemeClr val="bg1"/>
                </a:solidFill>
                <a:effectLst/>
              </a:rPr>
              <a:t> Euros, </a:t>
            </a:r>
            <a:r>
              <a:rPr lang="de-DE" b="1" i="0" u="none" strike="noStrike" dirty="0" err="1">
                <a:solidFill>
                  <a:schemeClr val="bg1"/>
                </a:solidFill>
                <a:effectLst/>
              </a:rPr>
              <a:t>five</a:t>
            </a:r>
            <a:r>
              <a:rPr lang="de-DE" b="1" i="0" u="none" strike="noStrike" dirty="0">
                <a:solidFill>
                  <a:schemeClr val="bg1"/>
                </a:solidFill>
                <a:effectLst/>
              </a:rPr>
              <a:t> </a:t>
            </a:r>
            <a:r>
              <a:rPr lang="de-DE" b="1" i="0" u="none" strike="noStrike" dirty="0" err="1">
                <a:solidFill>
                  <a:schemeClr val="bg1"/>
                </a:solidFill>
                <a:effectLst/>
              </a:rPr>
              <a:t>million</a:t>
            </a:r>
            <a:r>
              <a:rPr lang="de-DE" b="1" i="0" u="none" strike="noStrike" dirty="0">
                <a:solidFill>
                  <a:schemeClr val="bg1"/>
                </a:solidFill>
                <a:effectLst/>
              </a:rPr>
              <a:t> </a:t>
            </a:r>
            <a:r>
              <a:rPr lang="de-DE" b="1" i="0" u="none" strike="noStrike" dirty="0" err="1">
                <a:solidFill>
                  <a:schemeClr val="bg1"/>
                </a:solidFill>
                <a:effectLst/>
              </a:rPr>
              <a:t>jerseys</a:t>
            </a:r>
            <a:r>
              <a:rPr lang="de-DE" b="1" i="0" u="none" strike="noStrike" dirty="0">
                <a:solidFill>
                  <a:schemeClr val="bg1"/>
                </a:solidFill>
                <a:effectLst/>
              </a:rPr>
              <a:t> </a:t>
            </a:r>
            <a:r>
              <a:rPr lang="de-DE" b="1" i="0" u="none" strike="noStrike" dirty="0" err="1">
                <a:solidFill>
                  <a:schemeClr val="bg1"/>
                </a:solidFill>
                <a:effectLst/>
              </a:rPr>
              <a:t>have</a:t>
            </a:r>
            <a:r>
              <a:rPr lang="de-DE" b="1" i="0" u="none" strike="noStrike" dirty="0">
                <a:solidFill>
                  <a:schemeClr val="bg1"/>
                </a:solidFill>
                <a:effectLst/>
              </a:rPr>
              <a:t> </a:t>
            </a:r>
            <a:r>
              <a:rPr lang="de-DE" b="1" i="0" u="none" strike="noStrike" dirty="0" err="1">
                <a:solidFill>
                  <a:schemeClr val="bg1"/>
                </a:solidFill>
                <a:effectLst/>
              </a:rPr>
              <a:t>fueled</a:t>
            </a:r>
            <a:r>
              <a:rPr lang="de-DE" b="1" i="0" u="none" strike="noStrike" dirty="0">
                <a:solidFill>
                  <a:schemeClr val="bg1"/>
                </a:solidFill>
                <a:effectLst/>
              </a:rPr>
              <a:t> CHECK24's </a:t>
            </a:r>
            <a:r>
              <a:rPr lang="de-DE" b="1" i="0" u="none" strike="noStrike" dirty="0" err="1">
                <a:solidFill>
                  <a:schemeClr val="bg1"/>
                </a:solidFill>
                <a:effectLst/>
              </a:rPr>
              <a:t>guerrilla</a:t>
            </a:r>
            <a:r>
              <a:rPr lang="de-DE" b="1" i="0" u="none" strike="noStrike" dirty="0">
                <a:solidFill>
                  <a:schemeClr val="bg1"/>
                </a:solidFill>
                <a:effectLst/>
              </a:rPr>
              <a:t> </a:t>
            </a:r>
            <a:r>
              <a:rPr lang="de-DE" b="1" i="0" u="none" strike="noStrike" dirty="0" err="1">
                <a:solidFill>
                  <a:schemeClr val="bg1"/>
                </a:solidFill>
                <a:effectLst/>
              </a:rPr>
              <a:t>marketing</a:t>
            </a:r>
            <a:endParaRPr lang="de-DE" b="1" i="0" u="none" strike="noStrike" dirty="0">
              <a:solidFill>
                <a:schemeClr val="bg1"/>
              </a:solidFill>
              <a:effectLst/>
            </a:endParaRPr>
          </a:p>
        </p:txBody>
      </p:sp>
      <p:pic>
        <p:nvPicPr>
          <p:cNvPr id="27" name="Grafik 26" descr="Balkendiagramm mit Aufwärtstrend mit einfarbiger Füllung">
            <a:extLst>
              <a:ext uri="{FF2B5EF4-FFF2-40B4-BE49-F238E27FC236}">
                <a16:creationId xmlns:a16="http://schemas.microsoft.com/office/drawing/2014/main" id="{F1B6E9EA-D5AD-00D7-14E5-447A2E3926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3511" y="5918026"/>
            <a:ext cx="426822" cy="426822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044D27E7-D90E-8740-1B22-2ECCB91EDCF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7664" b="6235"/>
          <a:stretch/>
        </p:blipFill>
        <p:spPr>
          <a:xfrm>
            <a:off x="6485207" y="1675675"/>
            <a:ext cx="5039999" cy="2821403"/>
          </a:xfrm>
          <a:prstGeom prst="rect">
            <a:avLst/>
          </a:prstGeom>
          <a:ln w="9525" cap="sq">
            <a:solidFill>
              <a:schemeClr val="bg1">
                <a:lumMod val="85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BF73B864-3B12-7E89-85FA-3FED4A379D6E}"/>
              </a:ext>
            </a:extLst>
          </p:cNvPr>
          <p:cNvSpPr txBox="1"/>
          <p:nvPr/>
        </p:nvSpPr>
        <p:spPr>
          <a:xfrm>
            <a:off x="6674434" y="4764751"/>
            <a:ext cx="466154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Massive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user</a:t>
            </a:r>
            <a:r>
              <a:rPr lang="de-DE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base</a:t>
            </a:r>
            <a:r>
              <a:rPr lang="de-DE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growth</a:t>
            </a:r>
            <a:r>
              <a:rPr lang="de-DE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with</a:t>
            </a:r>
            <a:r>
              <a:rPr lang="de-DE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five</a:t>
            </a:r>
            <a:r>
              <a:rPr lang="de-DE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million</a:t>
            </a:r>
            <a:r>
              <a:rPr lang="de-DE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new</a:t>
            </a:r>
            <a:r>
              <a:rPr lang="de-DE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app</a:t>
            </a:r>
            <a:r>
              <a:rPr lang="de-DE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downloads</a:t>
            </a:r>
            <a:r>
              <a:rPr lang="de-DE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including</a:t>
            </a:r>
            <a:r>
              <a:rPr lang="de-DE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valuable</a:t>
            </a:r>
            <a:r>
              <a:rPr lang="de-DE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customer</a:t>
            </a:r>
            <a:r>
              <a:rPr lang="de-DE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de-DE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data</a:t>
            </a:r>
            <a:r>
              <a:rPr lang="de-DE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endParaRPr lang="de-PT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FD58076-350E-640C-1A82-C641212476EF}"/>
              </a:ext>
            </a:extLst>
          </p:cNvPr>
          <p:cNvSpPr txBox="1"/>
          <p:nvPr/>
        </p:nvSpPr>
        <p:spPr>
          <a:xfrm>
            <a:off x="249381" y="6530677"/>
            <a:ext cx="11741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PT" sz="1200" dirty="0">
                <a:solidFill>
                  <a:schemeClr val="tx1"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Sources: Handelsblatt, OMR, D</a:t>
            </a:r>
            <a:r>
              <a:rPr lang="de-DE" sz="1200" dirty="0">
                <a:solidFill>
                  <a:schemeClr val="tx1"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de-PT" sz="1200" dirty="0">
                <a:solidFill>
                  <a:schemeClr val="tx1"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 Zeit</a:t>
            </a:r>
          </a:p>
        </p:txBody>
      </p:sp>
    </p:spTree>
    <p:extLst>
      <p:ext uri="{BB962C8B-B14F-4D97-AF65-F5344CB8AC3E}">
        <p14:creationId xmlns:p14="http://schemas.microsoft.com/office/powerpoint/2010/main" val="3543253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1123</Words>
  <Application>Microsoft Macintosh PowerPoint</Application>
  <PresentationFormat>Breitbild</PresentationFormat>
  <Paragraphs>111</Paragraphs>
  <Slides>8</Slides>
  <Notes>5</Notes>
  <HiddenSlides>4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6" baseType="lpstr">
      <vt:lpstr>-webkit-standard</vt:lpstr>
      <vt:lpstr>Aptos</vt:lpstr>
      <vt:lpstr>Aptos Display</vt:lpstr>
      <vt:lpstr>Arial</vt:lpstr>
      <vt:lpstr>Calibri</vt:lpstr>
      <vt:lpstr>Courier New</vt:lpstr>
      <vt:lpstr>Wingdings</vt:lpstr>
      <vt:lpstr>Office</vt:lpstr>
      <vt:lpstr>I decided to apply to Simon-Kucher because of the unique specialized expertise, global reach, collaborative culture, and proven success</vt:lpstr>
      <vt:lpstr>I decided to apply to Simon-Kucher because of the unique specialized expertise, global reach, collaborative culture, and proven success</vt:lpstr>
      <vt:lpstr>Driving strategic growth: Utilising the marketing success of the CHECK24 jersey for enhanced user acquisition and brand visibility</vt:lpstr>
      <vt:lpstr>Driving strategic growth: Utilising the marketing success of the CHECK24 jersey for enhanced user acquisition and brand visibility</vt:lpstr>
      <vt:lpstr>Driving strategic growth: Utilising the marketing success of the CHECK24 jersey for enhanced user acquisition and brand visibility</vt:lpstr>
      <vt:lpstr>Driving strategic growth: Utilising the marketing success of the CHECK24 jersey for enhanced user acquisition and brand visibility</vt:lpstr>
      <vt:lpstr>Driving strategic growth: Utilising the marketing success of the CHECK24 jersey for enhanced user acquisition and brand visibility</vt:lpstr>
      <vt:lpstr>Driving strategic growth: Utilising the marketing success of the CHECK24 jersey for enhanced user acquisition and brand visibility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Veit Lux</dc:creator>
  <cp:lastModifiedBy>Veit Lux</cp:lastModifiedBy>
  <cp:revision>28</cp:revision>
  <cp:lastPrinted>2024-07-08T15:54:06Z</cp:lastPrinted>
  <dcterms:created xsi:type="dcterms:W3CDTF">2024-06-28T09:25:45Z</dcterms:created>
  <dcterms:modified xsi:type="dcterms:W3CDTF">2024-07-08T21:03:53Z</dcterms:modified>
</cp:coreProperties>
</file>