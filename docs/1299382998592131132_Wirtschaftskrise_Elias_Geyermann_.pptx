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75" r:id="rId9"/>
    <p:sldId id="268" r:id="rId10"/>
    <p:sldId id="265" r:id="rId11"/>
    <p:sldId id="269" r:id="rId12"/>
    <p:sldId id="271" r:id="rId13"/>
    <p:sldId id="274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0FEBB-3813-3248-9C86-9EB9E0D0989C}" v="288" dt="2024-10-25T14:24:54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7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90" d="100"/>
        <a:sy n="9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Arbeitslose</a:t>
            </a:r>
            <a:r>
              <a:rPr lang="en-US" dirty="0"/>
              <a:t> in</a:t>
            </a:r>
            <a:r>
              <a:rPr lang="en-US" baseline="0" dirty="0"/>
              <a:t> Deutschland.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Tabelle1!$A$2:$A$5</c:f>
              <c:numCache>
                <c:formatCode>General</c:formatCode>
                <c:ptCount val="4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1.9</c:v>
                </c:pt>
                <c:pt idx="1">
                  <c:v>3.08</c:v>
                </c:pt>
                <c:pt idx="2">
                  <c:v>4.5199999999999996</c:v>
                </c:pt>
                <c:pt idx="3">
                  <c:v>5.58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CC-E54B-9582-3C0436B5B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7617344"/>
        <c:axId val="443816704"/>
      </c:barChart>
      <c:catAx>
        <c:axId val="129761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3816704"/>
        <c:crosses val="autoZero"/>
        <c:auto val="1"/>
        <c:lblAlgn val="ctr"/>
        <c:lblOffset val="100"/>
        <c:noMultiLvlLbl val="0"/>
      </c:catAx>
      <c:valAx>
        <c:axId val="44381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97617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25B84A-F71A-4379-B6FC-21B4D1E1A44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B660FB-1F9A-4E85-BAB2-B1C83634756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Rückgang des Bruttoinlandsprodukts (BIP) vieler Länder</a:t>
          </a:r>
          <a:endParaRPr lang="en-US"/>
        </a:p>
      </dgm:t>
    </dgm:pt>
    <dgm:pt modelId="{B0025A70-6949-47C1-BD21-DC0E28CDD928}" type="parTrans" cxnId="{F94ECC8D-8FA8-4E26-B303-BA4F847D2F37}">
      <dgm:prSet/>
      <dgm:spPr/>
      <dgm:t>
        <a:bodyPr/>
        <a:lstStyle/>
        <a:p>
          <a:endParaRPr lang="en-US"/>
        </a:p>
      </dgm:t>
    </dgm:pt>
    <dgm:pt modelId="{9A39B22E-F4B1-4EE1-9A87-20064A0183A8}" type="sibTrans" cxnId="{F94ECC8D-8FA8-4E26-B303-BA4F847D2F37}">
      <dgm:prSet/>
      <dgm:spPr/>
      <dgm:t>
        <a:bodyPr/>
        <a:lstStyle/>
        <a:p>
          <a:endParaRPr lang="en-US"/>
        </a:p>
      </dgm:t>
    </dgm:pt>
    <dgm:pt modelId="{6BB09B09-09FD-4201-8FB6-2B75B2C6283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Negatives Wirtschaftswachstum in Schlüsselregionen wie den USA, Europa und Asien</a:t>
          </a:r>
          <a:endParaRPr lang="en-US"/>
        </a:p>
      </dgm:t>
    </dgm:pt>
    <dgm:pt modelId="{7C14D3C4-FE74-47E1-832A-DB123BCE09C5}" type="parTrans" cxnId="{8EFBDA65-0F1B-4810-8D47-BF0FCC6DF09F}">
      <dgm:prSet/>
      <dgm:spPr/>
      <dgm:t>
        <a:bodyPr/>
        <a:lstStyle/>
        <a:p>
          <a:endParaRPr lang="en-US"/>
        </a:p>
      </dgm:t>
    </dgm:pt>
    <dgm:pt modelId="{E9F6E068-6235-469B-A7F1-C549179C5718}" type="sibTrans" cxnId="{8EFBDA65-0F1B-4810-8D47-BF0FCC6DF09F}">
      <dgm:prSet/>
      <dgm:spPr/>
      <dgm:t>
        <a:bodyPr/>
        <a:lstStyle/>
        <a:p>
          <a:endParaRPr lang="en-US"/>
        </a:p>
      </dgm:t>
    </dgm:pt>
    <dgm:pt modelId="{62F551BE-2EE4-492C-AAF2-85F5ABEAF2B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Sinkende Verbraucherausgaben und Investitionen</a:t>
          </a:r>
          <a:endParaRPr lang="en-US"/>
        </a:p>
      </dgm:t>
    </dgm:pt>
    <dgm:pt modelId="{9E3A766C-8745-4493-A043-5FF633485DCE}" type="parTrans" cxnId="{43FA53BD-B3BE-4D45-9942-E850F1F84B57}">
      <dgm:prSet/>
      <dgm:spPr/>
      <dgm:t>
        <a:bodyPr/>
        <a:lstStyle/>
        <a:p>
          <a:endParaRPr lang="en-US"/>
        </a:p>
      </dgm:t>
    </dgm:pt>
    <dgm:pt modelId="{C6B25FEB-276E-4D07-A168-42EA8DE1484D}" type="sibTrans" cxnId="{43FA53BD-B3BE-4D45-9942-E850F1F84B57}">
      <dgm:prSet/>
      <dgm:spPr/>
      <dgm:t>
        <a:bodyPr/>
        <a:lstStyle/>
        <a:p>
          <a:endParaRPr lang="en-US"/>
        </a:p>
      </dgm:t>
    </dgm:pt>
    <dgm:pt modelId="{1E44C633-C15B-491F-97CD-1DAE89F96B5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Negative Auswirkungen auf den Tourismus- und Rohstoffsektor</a:t>
          </a:r>
          <a:endParaRPr lang="en-US"/>
        </a:p>
      </dgm:t>
    </dgm:pt>
    <dgm:pt modelId="{344DDEAA-839D-4B6A-B02B-832809F440A5}" type="parTrans" cxnId="{76917573-B062-4139-930E-13CE498155CD}">
      <dgm:prSet/>
      <dgm:spPr/>
      <dgm:t>
        <a:bodyPr/>
        <a:lstStyle/>
        <a:p>
          <a:endParaRPr lang="en-US"/>
        </a:p>
      </dgm:t>
    </dgm:pt>
    <dgm:pt modelId="{580B0CF5-63F4-436A-8295-318527292B30}" type="sibTrans" cxnId="{76917573-B062-4139-930E-13CE498155CD}">
      <dgm:prSet/>
      <dgm:spPr/>
      <dgm:t>
        <a:bodyPr/>
        <a:lstStyle/>
        <a:p>
          <a:endParaRPr lang="en-US"/>
        </a:p>
      </dgm:t>
    </dgm:pt>
    <dgm:pt modelId="{1F01DC26-CB84-4C90-B592-70FD26369603}" type="pres">
      <dgm:prSet presAssocID="{0325B84A-F71A-4379-B6FC-21B4D1E1A443}" presName="root" presStyleCnt="0">
        <dgm:presLayoutVars>
          <dgm:dir/>
          <dgm:resizeHandles val="exact"/>
        </dgm:presLayoutVars>
      </dgm:prSet>
      <dgm:spPr/>
    </dgm:pt>
    <dgm:pt modelId="{40D1DC6D-0213-4F5B-800D-476059857FA3}" type="pres">
      <dgm:prSet presAssocID="{16B660FB-1F9A-4E85-BAB2-B1C83634756F}" presName="compNode" presStyleCnt="0"/>
      <dgm:spPr/>
    </dgm:pt>
    <dgm:pt modelId="{BC9D4AC3-B79D-45E6-BB39-BE90F2A3EABE}" type="pres">
      <dgm:prSet presAssocID="{16B660FB-1F9A-4E85-BAB2-B1C8363475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AFDCCF6-7172-4D2C-BE7C-0EE24D2261E7}" type="pres">
      <dgm:prSet presAssocID="{16B660FB-1F9A-4E85-BAB2-B1C83634756F}" presName="spaceRect" presStyleCnt="0"/>
      <dgm:spPr/>
    </dgm:pt>
    <dgm:pt modelId="{9CEDD90C-F908-4A53-B45D-1C9D34AE23A4}" type="pres">
      <dgm:prSet presAssocID="{16B660FB-1F9A-4E85-BAB2-B1C83634756F}" presName="textRect" presStyleLbl="revTx" presStyleIdx="0" presStyleCnt="4">
        <dgm:presLayoutVars>
          <dgm:chMax val="1"/>
          <dgm:chPref val="1"/>
        </dgm:presLayoutVars>
      </dgm:prSet>
      <dgm:spPr/>
    </dgm:pt>
    <dgm:pt modelId="{71A017AC-60FF-4EDF-9F82-62158FDAD335}" type="pres">
      <dgm:prSet presAssocID="{9A39B22E-F4B1-4EE1-9A87-20064A0183A8}" presName="sibTrans" presStyleCnt="0"/>
      <dgm:spPr/>
    </dgm:pt>
    <dgm:pt modelId="{3BC59895-2A91-470D-8F8D-035C526EFF2B}" type="pres">
      <dgm:prSet presAssocID="{6BB09B09-09FD-4201-8FB6-2B75B2C62830}" presName="compNode" presStyleCnt="0"/>
      <dgm:spPr/>
    </dgm:pt>
    <dgm:pt modelId="{B26CAED9-CE77-459C-8B73-DFB89B3095AC}" type="pres">
      <dgm:prSet presAssocID="{6BB09B09-09FD-4201-8FB6-2B75B2C628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48B7AACB-18AA-4B7B-A690-22E8E400637C}" type="pres">
      <dgm:prSet presAssocID="{6BB09B09-09FD-4201-8FB6-2B75B2C62830}" presName="spaceRect" presStyleCnt="0"/>
      <dgm:spPr/>
    </dgm:pt>
    <dgm:pt modelId="{72F1144E-749C-4CE7-84B2-96F709720D1E}" type="pres">
      <dgm:prSet presAssocID="{6BB09B09-09FD-4201-8FB6-2B75B2C62830}" presName="textRect" presStyleLbl="revTx" presStyleIdx="1" presStyleCnt="4">
        <dgm:presLayoutVars>
          <dgm:chMax val="1"/>
          <dgm:chPref val="1"/>
        </dgm:presLayoutVars>
      </dgm:prSet>
      <dgm:spPr/>
    </dgm:pt>
    <dgm:pt modelId="{E9539143-F9B8-4145-B377-942BD3D05636}" type="pres">
      <dgm:prSet presAssocID="{E9F6E068-6235-469B-A7F1-C549179C5718}" presName="sibTrans" presStyleCnt="0"/>
      <dgm:spPr/>
    </dgm:pt>
    <dgm:pt modelId="{EC437329-31D9-4844-8B10-7FAD32B27844}" type="pres">
      <dgm:prSet presAssocID="{62F551BE-2EE4-492C-AAF2-85F5ABEAF2BA}" presName="compNode" presStyleCnt="0"/>
      <dgm:spPr/>
    </dgm:pt>
    <dgm:pt modelId="{C8CC4854-AEE5-4317-8092-AB3BD36DEC1C}" type="pres">
      <dgm:prSet presAssocID="{62F551BE-2EE4-492C-AAF2-85F5ABEAF2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59E1493-4FEE-41B9-B399-B7D57F1B007D}" type="pres">
      <dgm:prSet presAssocID="{62F551BE-2EE4-492C-AAF2-85F5ABEAF2BA}" presName="spaceRect" presStyleCnt="0"/>
      <dgm:spPr/>
    </dgm:pt>
    <dgm:pt modelId="{732746E6-EA5F-41A8-8063-28423CE953CE}" type="pres">
      <dgm:prSet presAssocID="{62F551BE-2EE4-492C-AAF2-85F5ABEAF2BA}" presName="textRect" presStyleLbl="revTx" presStyleIdx="2" presStyleCnt="4">
        <dgm:presLayoutVars>
          <dgm:chMax val="1"/>
          <dgm:chPref val="1"/>
        </dgm:presLayoutVars>
      </dgm:prSet>
      <dgm:spPr/>
    </dgm:pt>
    <dgm:pt modelId="{ACFA6221-6ABF-4AAD-96C5-C42EA51AB8E2}" type="pres">
      <dgm:prSet presAssocID="{C6B25FEB-276E-4D07-A168-42EA8DE1484D}" presName="sibTrans" presStyleCnt="0"/>
      <dgm:spPr/>
    </dgm:pt>
    <dgm:pt modelId="{04536BF2-4E29-49EA-A509-40969DE6A078}" type="pres">
      <dgm:prSet presAssocID="{1E44C633-C15B-491F-97CD-1DAE89F96B5B}" presName="compNode" presStyleCnt="0"/>
      <dgm:spPr/>
    </dgm:pt>
    <dgm:pt modelId="{41E48079-B3D1-45A4-BBF2-91749DFAF46F}" type="pres">
      <dgm:prSet presAssocID="{1E44C633-C15B-491F-97CD-1DAE89F96B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gzeug"/>
        </a:ext>
      </dgm:extLst>
    </dgm:pt>
    <dgm:pt modelId="{83CA252F-972D-4177-8E54-BE95236156EF}" type="pres">
      <dgm:prSet presAssocID="{1E44C633-C15B-491F-97CD-1DAE89F96B5B}" presName="spaceRect" presStyleCnt="0"/>
      <dgm:spPr/>
    </dgm:pt>
    <dgm:pt modelId="{28F33739-7CB3-49E9-8167-C439DFF6986E}" type="pres">
      <dgm:prSet presAssocID="{1E44C633-C15B-491F-97CD-1DAE89F96B5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575315-08D9-4AE7-9A76-FC4AC551F322}" type="presOf" srcId="{16B660FB-1F9A-4E85-BAB2-B1C83634756F}" destId="{9CEDD90C-F908-4A53-B45D-1C9D34AE23A4}" srcOrd="0" destOrd="0" presId="urn:microsoft.com/office/officeart/2018/2/layout/IconLabelList"/>
    <dgm:cxn modelId="{5A041A49-AB70-4F58-B610-B91287E0EB7E}" type="presOf" srcId="{6BB09B09-09FD-4201-8FB6-2B75B2C62830}" destId="{72F1144E-749C-4CE7-84B2-96F709720D1E}" srcOrd="0" destOrd="0" presId="urn:microsoft.com/office/officeart/2018/2/layout/IconLabelList"/>
    <dgm:cxn modelId="{8EFBDA65-0F1B-4810-8D47-BF0FCC6DF09F}" srcId="{0325B84A-F71A-4379-B6FC-21B4D1E1A443}" destId="{6BB09B09-09FD-4201-8FB6-2B75B2C62830}" srcOrd="1" destOrd="0" parTransId="{7C14D3C4-FE74-47E1-832A-DB123BCE09C5}" sibTransId="{E9F6E068-6235-469B-A7F1-C549179C5718}"/>
    <dgm:cxn modelId="{76917573-B062-4139-930E-13CE498155CD}" srcId="{0325B84A-F71A-4379-B6FC-21B4D1E1A443}" destId="{1E44C633-C15B-491F-97CD-1DAE89F96B5B}" srcOrd="3" destOrd="0" parTransId="{344DDEAA-839D-4B6A-B02B-832809F440A5}" sibTransId="{580B0CF5-63F4-436A-8295-318527292B30}"/>
    <dgm:cxn modelId="{18AE3D8B-6657-42A9-8F46-41275CF19CAB}" type="presOf" srcId="{1E44C633-C15B-491F-97CD-1DAE89F96B5B}" destId="{28F33739-7CB3-49E9-8167-C439DFF6986E}" srcOrd="0" destOrd="0" presId="urn:microsoft.com/office/officeart/2018/2/layout/IconLabelList"/>
    <dgm:cxn modelId="{F94ECC8D-8FA8-4E26-B303-BA4F847D2F37}" srcId="{0325B84A-F71A-4379-B6FC-21B4D1E1A443}" destId="{16B660FB-1F9A-4E85-BAB2-B1C83634756F}" srcOrd="0" destOrd="0" parTransId="{B0025A70-6949-47C1-BD21-DC0E28CDD928}" sibTransId="{9A39B22E-F4B1-4EE1-9A87-20064A0183A8}"/>
    <dgm:cxn modelId="{12A4FC97-2CE7-4803-B38F-D4D31AD829AE}" type="presOf" srcId="{62F551BE-2EE4-492C-AAF2-85F5ABEAF2BA}" destId="{732746E6-EA5F-41A8-8063-28423CE953CE}" srcOrd="0" destOrd="0" presId="urn:microsoft.com/office/officeart/2018/2/layout/IconLabelList"/>
    <dgm:cxn modelId="{B39F99B0-DD6E-4195-A08C-06D4C63085E2}" type="presOf" srcId="{0325B84A-F71A-4379-B6FC-21B4D1E1A443}" destId="{1F01DC26-CB84-4C90-B592-70FD26369603}" srcOrd="0" destOrd="0" presId="urn:microsoft.com/office/officeart/2018/2/layout/IconLabelList"/>
    <dgm:cxn modelId="{43FA53BD-B3BE-4D45-9942-E850F1F84B57}" srcId="{0325B84A-F71A-4379-B6FC-21B4D1E1A443}" destId="{62F551BE-2EE4-492C-AAF2-85F5ABEAF2BA}" srcOrd="2" destOrd="0" parTransId="{9E3A766C-8745-4493-A043-5FF633485DCE}" sibTransId="{C6B25FEB-276E-4D07-A168-42EA8DE1484D}"/>
    <dgm:cxn modelId="{B655F590-8E9F-445D-BFF2-AACCC49261C1}" type="presParOf" srcId="{1F01DC26-CB84-4C90-B592-70FD26369603}" destId="{40D1DC6D-0213-4F5B-800D-476059857FA3}" srcOrd="0" destOrd="0" presId="urn:microsoft.com/office/officeart/2018/2/layout/IconLabelList"/>
    <dgm:cxn modelId="{B95A2C25-F2DB-4D54-9759-226C1E9943CB}" type="presParOf" srcId="{40D1DC6D-0213-4F5B-800D-476059857FA3}" destId="{BC9D4AC3-B79D-45E6-BB39-BE90F2A3EABE}" srcOrd="0" destOrd="0" presId="urn:microsoft.com/office/officeart/2018/2/layout/IconLabelList"/>
    <dgm:cxn modelId="{B046957A-558D-4A59-9E7A-CD57E8A02EA2}" type="presParOf" srcId="{40D1DC6D-0213-4F5B-800D-476059857FA3}" destId="{8AFDCCF6-7172-4D2C-BE7C-0EE24D2261E7}" srcOrd="1" destOrd="0" presId="urn:microsoft.com/office/officeart/2018/2/layout/IconLabelList"/>
    <dgm:cxn modelId="{0FF41E94-9EDB-4FAB-AD26-A939FBCBE8A1}" type="presParOf" srcId="{40D1DC6D-0213-4F5B-800D-476059857FA3}" destId="{9CEDD90C-F908-4A53-B45D-1C9D34AE23A4}" srcOrd="2" destOrd="0" presId="urn:microsoft.com/office/officeart/2018/2/layout/IconLabelList"/>
    <dgm:cxn modelId="{D6F5AE87-9B62-42B7-B02D-83C1C3C79F11}" type="presParOf" srcId="{1F01DC26-CB84-4C90-B592-70FD26369603}" destId="{71A017AC-60FF-4EDF-9F82-62158FDAD335}" srcOrd="1" destOrd="0" presId="urn:microsoft.com/office/officeart/2018/2/layout/IconLabelList"/>
    <dgm:cxn modelId="{7F8E2DA1-BB21-4F9C-B614-3A25AFB57041}" type="presParOf" srcId="{1F01DC26-CB84-4C90-B592-70FD26369603}" destId="{3BC59895-2A91-470D-8F8D-035C526EFF2B}" srcOrd="2" destOrd="0" presId="urn:microsoft.com/office/officeart/2018/2/layout/IconLabelList"/>
    <dgm:cxn modelId="{379D7585-9F8C-470C-93EB-8F98EE0658DC}" type="presParOf" srcId="{3BC59895-2A91-470D-8F8D-035C526EFF2B}" destId="{B26CAED9-CE77-459C-8B73-DFB89B3095AC}" srcOrd="0" destOrd="0" presId="urn:microsoft.com/office/officeart/2018/2/layout/IconLabelList"/>
    <dgm:cxn modelId="{1BEB5CC0-0E5B-47E1-BE38-52C6E26E8128}" type="presParOf" srcId="{3BC59895-2A91-470D-8F8D-035C526EFF2B}" destId="{48B7AACB-18AA-4B7B-A690-22E8E400637C}" srcOrd="1" destOrd="0" presId="urn:microsoft.com/office/officeart/2018/2/layout/IconLabelList"/>
    <dgm:cxn modelId="{E1BB5E00-6E9A-4B2A-B27B-CCD2F7CF84D9}" type="presParOf" srcId="{3BC59895-2A91-470D-8F8D-035C526EFF2B}" destId="{72F1144E-749C-4CE7-84B2-96F709720D1E}" srcOrd="2" destOrd="0" presId="urn:microsoft.com/office/officeart/2018/2/layout/IconLabelList"/>
    <dgm:cxn modelId="{01245242-FE34-4379-93DE-1FB2A4FE5DB5}" type="presParOf" srcId="{1F01DC26-CB84-4C90-B592-70FD26369603}" destId="{E9539143-F9B8-4145-B377-942BD3D05636}" srcOrd="3" destOrd="0" presId="urn:microsoft.com/office/officeart/2018/2/layout/IconLabelList"/>
    <dgm:cxn modelId="{5D0C0F48-F436-4665-8B14-14F4DF849E90}" type="presParOf" srcId="{1F01DC26-CB84-4C90-B592-70FD26369603}" destId="{EC437329-31D9-4844-8B10-7FAD32B27844}" srcOrd="4" destOrd="0" presId="urn:microsoft.com/office/officeart/2018/2/layout/IconLabelList"/>
    <dgm:cxn modelId="{5C45A33A-8707-4DEB-8418-5EF4A6C27F33}" type="presParOf" srcId="{EC437329-31D9-4844-8B10-7FAD32B27844}" destId="{C8CC4854-AEE5-4317-8092-AB3BD36DEC1C}" srcOrd="0" destOrd="0" presId="urn:microsoft.com/office/officeart/2018/2/layout/IconLabelList"/>
    <dgm:cxn modelId="{7977B2C5-ACE1-472E-BCFE-69F4DC48F809}" type="presParOf" srcId="{EC437329-31D9-4844-8B10-7FAD32B27844}" destId="{659E1493-4FEE-41B9-B399-B7D57F1B007D}" srcOrd="1" destOrd="0" presId="urn:microsoft.com/office/officeart/2018/2/layout/IconLabelList"/>
    <dgm:cxn modelId="{A1383EB2-873E-4F1B-B700-1214800E0CEE}" type="presParOf" srcId="{EC437329-31D9-4844-8B10-7FAD32B27844}" destId="{732746E6-EA5F-41A8-8063-28423CE953CE}" srcOrd="2" destOrd="0" presId="urn:microsoft.com/office/officeart/2018/2/layout/IconLabelList"/>
    <dgm:cxn modelId="{39B48B2F-107A-4A75-9283-B782C0FCC28E}" type="presParOf" srcId="{1F01DC26-CB84-4C90-B592-70FD26369603}" destId="{ACFA6221-6ABF-4AAD-96C5-C42EA51AB8E2}" srcOrd="5" destOrd="0" presId="urn:microsoft.com/office/officeart/2018/2/layout/IconLabelList"/>
    <dgm:cxn modelId="{CBC148A2-B4C9-4496-A9A6-83CEC9BF2173}" type="presParOf" srcId="{1F01DC26-CB84-4C90-B592-70FD26369603}" destId="{04536BF2-4E29-49EA-A509-40969DE6A078}" srcOrd="6" destOrd="0" presId="urn:microsoft.com/office/officeart/2018/2/layout/IconLabelList"/>
    <dgm:cxn modelId="{6A147DF3-1F8C-4598-9335-F7C24D1A410A}" type="presParOf" srcId="{04536BF2-4E29-49EA-A509-40969DE6A078}" destId="{41E48079-B3D1-45A4-BBF2-91749DFAF46F}" srcOrd="0" destOrd="0" presId="urn:microsoft.com/office/officeart/2018/2/layout/IconLabelList"/>
    <dgm:cxn modelId="{BE25111E-D384-4935-97A4-DC0882A7C7B4}" type="presParOf" srcId="{04536BF2-4E29-49EA-A509-40969DE6A078}" destId="{83CA252F-972D-4177-8E54-BE95236156EF}" srcOrd="1" destOrd="0" presId="urn:microsoft.com/office/officeart/2018/2/layout/IconLabelList"/>
    <dgm:cxn modelId="{4FADBC49-3020-4177-AB02-1A4B74058252}" type="presParOf" srcId="{04536BF2-4E29-49EA-A509-40969DE6A078}" destId="{28F33739-7CB3-49E9-8167-C439DFF6986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608B75-5B46-421C-9187-B66003445F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7DEA22-473A-481E-A6F0-21EDD43054F1}">
      <dgm:prSet/>
      <dgm:spPr/>
      <dgm:t>
        <a:bodyPr/>
        <a:lstStyle/>
        <a:p>
          <a:r>
            <a:rPr lang="de-DE" baseline="0" dirty="0"/>
            <a:t>Export und Handel</a:t>
          </a:r>
          <a:endParaRPr lang="en-US" dirty="0"/>
        </a:p>
      </dgm:t>
    </dgm:pt>
    <dgm:pt modelId="{5989DCE4-128D-44B5-BA6A-B6669E4F961D}" type="parTrans" cxnId="{BCFD681D-ADFC-452A-BE28-1D1074FA31AB}">
      <dgm:prSet/>
      <dgm:spPr/>
      <dgm:t>
        <a:bodyPr/>
        <a:lstStyle/>
        <a:p>
          <a:endParaRPr lang="en-US"/>
        </a:p>
      </dgm:t>
    </dgm:pt>
    <dgm:pt modelId="{2075DB10-F686-4277-87EA-AF7592A4D8A2}" type="sibTrans" cxnId="{BCFD681D-ADFC-452A-BE28-1D1074FA31AB}">
      <dgm:prSet/>
      <dgm:spPr/>
      <dgm:t>
        <a:bodyPr/>
        <a:lstStyle/>
        <a:p>
          <a:endParaRPr lang="en-US"/>
        </a:p>
      </dgm:t>
    </dgm:pt>
    <dgm:pt modelId="{3B5824A0-4A19-4291-8F42-B65CAA43AAD8}">
      <dgm:prSet/>
      <dgm:spPr/>
      <dgm:t>
        <a:bodyPr/>
        <a:lstStyle/>
        <a:p>
          <a:r>
            <a:rPr lang="de-DE" baseline="0"/>
            <a:t>Arbeitsmarkt </a:t>
          </a:r>
          <a:endParaRPr lang="en-US"/>
        </a:p>
      </dgm:t>
    </dgm:pt>
    <dgm:pt modelId="{AE6B1B3D-FE8D-4D43-B368-C1E31B4A27F5}" type="parTrans" cxnId="{8563B1C3-85AB-44AB-B90A-0A2AAF02F824}">
      <dgm:prSet/>
      <dgm:spPr/>
      <dgm:t>
        <a:bodyPr/>
        <a:lstStyle/>
        <a:p>
          <a:endParaRPr lang="en-US"/>
        </a:p>
      </dgm:t>
    </dgm:pt>
    <dgm:pt modelId="{A26DB06D-1762-4939-A3B5-04D29F48873B}" type="sibTrans" cxnId="{8563B1C3-85AB-44AB-B90A-0A2AAF02F824}">
      <dgm:prSet/>
      <dgm:spPr/>
      <dgm:t>
        <a:bodyPr/>
        <a:lstStyle/>
        <a:p>
          <a:endParaRPr lang="en-US"/>
        </a:p>
      </dgm:t>
    </dgm:pt>
    <dgm:pt modelId="{FD346B08-F674-4AB1-8972-4A413D7E08FB}">
      <dgm:prSet/>
      <dgm:spPr/>
      <dgm:t>
        <a:bodyPr/>
        <a:lstStyle/>
        <a:p>
          <a:r>
            <a:rPr lang="de-DE" baseline="0"/>
            <a:t>Finanzsektor</a:t>
          </a:r>
          <a:endParaRPr lang="en-US"/>
        </a:p>
      </dgm:t>
    </dgm:pt>
    <dgm:pt modelId="{46148364-F0B0-4524-925B-18CA28D92670}" type="parTrans" cxnId="{4FDE77CA-FBCA-4CEB-A023-C53F20DDFE64}">
      <dgm:prSet/>
      <dgm:spPr/>
      <dgm:t>
        <a:bodyPr/>
        <a:lstStyle/>
        <a:p>
          <a:endParaRPr lang="en-US"/>
        </a:p>
      </dgm:t>
    </dgm:pt>
    <dgm:pt modelId="{B28EA444-7471-4091-AA41-09C4B6F801A6}" type="sibTrans" cxnId="{4FDE77CA-FBCA-4CEB-A023-C53F20DDFE64}">
      <dgm:prSet/>
      <dgm:spPr/>
      <dgm:t>
        <a:bodyPr/>
        <a:lstStyle/>
        <a:p>
          <a:endParaRPr lang="en-US"/>
        </a:p>
      </dgm:t>
    </dgm:pt>
    <dgm:pt modelId="{2F88D62D-EDF4-4F36-A624-F289C5B2212B}">
      <dgm:prSet/>
      <dgm:spPr/>
      <dgm:t>
        <a:bodyPr/>
        <a:lstStyle/>
        <a:p>
          <a:r>
            <a:rPr lang="de-DE" baseline="0"/>
            <a:t>Industrie und Produktion </a:t>
          </a:r>
          <a:endParaRPr lang="en-US"/>
        </a:p>
      </dgm:t>
    </dgm:pt>
    <dgm:pt modelId="{A98530BB-7154-40E5-A589-5BBCCBBB4DEE}" type="parTrans" cxnId="{E77F0499-F775-4FA3-8522-EECA431D6674}">
      <dgm:prSet/>
      <dgm:spPr/>
      <dgm:t>
        <a:bodyPr/>
        <a:lstStyle/>
        <a:p>
          <a:endParaRPr lang="en-US"/>
        </a:p>
      </dgm:t>
    </dgm:pt>
    <dgm:pt modelId="{53949DD5-35D6-49C7-9305-94EA901F180B}" type="sibTrans" cxnId="{E77F0499-F775-4FA3-8522-EECA431D6674}">
      <dgm:prSet/>
      <dgm:spPr/>
      <dgm:t>
        <a:bodyPr/>
        <a:lstStyle/>
        <a:p>
          <a:endParaRPr lang="en-US"/>
        </a:p>
      </dgm:t>
    </dgm:pt>
    <dgm:pt modelId="{AA71A34C-8777-4278-BF67-C2B11E94C25A}">
      <dgm:prSet/>
      <dgm:spPr/>
      <dgm:t>
        <a:bodyPr/>
        <a:lstStyle/>
        <a:p>
          <a:r>
            <a:rPr lang="de-DE" baseline="0" dirty="0"/>
            <a:t>Staatliche Maßnahmen</a:t>
          </a:r>
          <a:endParaRPr lang="en-US" dirty="0"/>
        </a:p>
      </dgm:t>
    </dgm:pt>
    <dgm:pt modelId="{CB7DB89F-81A1-4A19-8C88-5214071A0BBE}" type="parTrans" cxnId="{89B5AA61-6802-4E2E-8298-52056CA6F8C7}">
      <dgm:prSet/>
      <dgm:spPr/>
      <dgm:t>
        <a:bodyPr/>
        <a:lstStyle/>
        <a:p>
          <a:endParaRPr lang="en-US"/>
        </a:p>
      </dgm:t>
    </dgm:pt>
    <dgm:pt modelId="{1D09EE85-ACF3-41A4-98D6-26EA49C0E289}" type="sibTrans" cxnId="{89B5AA61-6802-4E2E-8298-52056CA6F8C7}">
      <dgm:prSet/>
      <dgm:spPr/>
      <dgm:t>
        <a:bodyPr/>
        <a:lstStyle/>
        <a:p>
          <a:endParaRPr lang="en-US"/>
        </a:p>
      </dgm:t>
    </dgm:pt>
    <dgm:pt modelId="{0A633725-903C-427E-B17C-31E7C9B24D53}" type="pres">
      <dgm:prSet presAssocID="{72608B75-5B46-421C-9187-B66003445F87}" presName="linear" presStyleCnt="0">
        <dgm:presLayoutVars>
          <dgm:animLvl val="lvl"/>
          <dgm:resizeHandles val="exact"/>
        </dgm:presLayoutVars>
      </dgm:prSet>
      <dgm:spPr/>
    </dgm:pt>
    <dgm:pt modelId="{6A858C31-7C1E-4374-B665-C3B3BFCCF846}" type="pres">
      <dgm:prSet presAssocID="{657DEA22-473A-481E-A6F0-21EDD43054F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A75F592-5AB9-4E99-8588-7BA9734269B7}" type="pres">
      <dgm:prSet presAssocID="{2075DB10-F686-4277-87EA-AF7592A4D8A2}" presName="spacer" presStyleCnt="0"/>
      <dgm:spPr/>
    </dgm:pt>
    <dgm:pt modelId="{6301C2BA-693D-432B-9383-B3AE7A37189B}" type="pres">
      <dgm:prSet presAssocID="{3B5824A0-4A19-4291-8F42-B65CAA43AA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C4F77A-4EC3-4407-8456-35465090401E}" type="pres">
      <dgm:prSet presAssocID="{A26DB06D-1762-4939-A3B5-04D29F48873B}" presName="spacer" presStyleCnt="0"/>
      <dgm:spPr/>
    </dgm:pt>
    <dgm:pt modelId="{95A3B4BD-1A8F-449B-89BB-5958418D83B7}" type="pres">
      <dgm:prSet presAssocID="{FD346B08-F674-4AB1-8972-4A413D7E08F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62DA50F-C362-4520-8079-CBD156CD9E1B}" type="pres">
      <dgm:prSet presAssocID="{B28EA444-7471-4091-AA41-09C4B6F801A6}" presName="spacer" presStyleCnt="0"/>
      <dgm:spPr/>
    </dgm:pt>
    <dgm:pt modelId="{63CA6576-FF8C-43CA-8507-1F1C7C7FD1BE}" type="pres">
      <dgm:prSet presAssocID="{2F88D62D-EDF4-4F36-A624-F289C5B2212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762292A-62AA-46F1-B83F-4ED421C55188}" type="pres">
      <dgm:prSet presAssocID="{53949DD5-35D6-49C7-9305-94EA901F180B}" presName="spacer" presStyleCnt="0"/>
      <dgm:spPr/>
    </dgm:pt>
    <dgm:pt modelId="{2EDA46C1-5E91-440D-B50D-A56C93A99FD2}" type="pres">
      <dgm:prSet presAssocID="{AA71A34C-8777-4278-BF67-C2B11E94C25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000A40B-8AB0-4A9C-A91A-1092E478061F}" type="presOf" srcId="{3B5824A0-4A19-4291-8F42-B65CAA43AAD8}" destId="{6301C2BA-693D-432B-9383-B3AE7A37189B}" srcOrd="0" destOrd="0" presId="urn:microsoft.com/office/officeart/2005/8/layout/vList2"/>
    <dgm:cxn modelId="{BCFD681D-ADFC-452A-BE28-1D1074FA31AB}" srcId="{72608B75-5B46-421C-9187-B66003445F87}" destId="{657DEA22-473A-481E-A6F0-21EDD43054F1}" srcOrd="0" destOrd="0" parTransId="{5989DCE4-128D-44B5-BA6A-B6669E4F961D}" sibTransId="{2075DB10-F686-4277-87EA-AF7592A4D8A2}"/>
    <dgm:cxn modelId="{4853E526-E1DF-4F42-97AD-6EFC089F01AC}" type="presOf" srcId="{2F88D62D-EDF4-4F36-A624-F289C5B2212B}" destId="{63CA6576-FF8C-43CA-8507-1F1C7C7FD1BE}" srcOrd="0" destOrd="0" presId="urn:microsoft.com/office/officeart/2005/8/layout/vList2"/>
    <dgm:cxn modelId="{C9264F5C-D8A0-405E-A8A0-3216C623F859}" type="presOf" srcId="{FD346B08-F674-4AB1-8972-4A413D7E08FB}" destId="{95A3B4BD-1A8F-449B-89BB-5958418D83B7}" srcOrd="0" destOrd="0" presId="urn:microsoft.com/office/officeart/2005/8/layout/vList2"/>
    <dgm:cxn modelId="{89B5AA61-6802-4E2E-8298-52056CA6F8C7}" srcId="{72608B75-5B46-421C-9187-B66003445F87}" destId="{AA71A34C-8777-4278-BF67-C2B11E94C25A}" srcOrd="4" destOrd="0" parTransId="{CB7DB89F-81A1-4A19-8C88-5214071A0BBE}" sibTransId="{1D09EE85-ACF3-41A4-98D6-26EA49C0E289}"/>
    <dgm:cxn modelId="{E77F0499-F775-4FA3-8522-EECA431D6674}" srcId="{72608B75-5B46-421C-9187-B66003445F87}" destId="{2F88D62D-EDF4-4F36-A624-F289C5B2212B}" srcOrd="3" destOrd="0" parTransId="{A98530BB-7154-40E5-A589-5BBCCBBB4DEE}" sibTransId="{53949DD5-35D6-49C7-9305-94EA901F180B}"/>
    <dgm:cxn modelId="{8563B1C3-85AB-44AB-B90A-0A2AAF02F824}" srcId="{72608B75-5B46-421C-9187-B66003445F87}" destId="{3B5824A0-4A19-4291-8F42-B65CAA43AAD8}" srcOrd="1" destOrd="0" parTransId="{AE6B1B3D-FE8D-4D43-B368-C1E31B4A27F5}" sibTransId="{A26DB06D-1762-4939-A3B5-04D29F48873B}"/>
    <dgm:cxn modelId="{4FDE77CA-FBCA-4CEB-A023-C53F20DDFE64}" srcId="{72608B75-5B46-421C-9187-B66003445F87}" destId="{FD346B08-F674-4AB1-8972-4A413D7E08FB}" srcOrd="2" destOrd="0" parTransId="{46148364-F0B0-4524-925B-18CA28D92670}" sibTransId="{B28EA444-7471-4091-AA41-09C4B6F801A6}"/>
    <dgm:cxn modelId="{20FCE8D0-05DE-44A4-8B43-CEF8CE649370}" type="presOf" srcId="{72608B75-5B46-421C-9187-B66003445F87}" destId="{0A633725-903C-427E-B17C-31E7C9B24D53}" srcOrd="0" destOrd="0" presId="urn:microsoft.com/office/officeart/2005/8/layout/vList2"/>
    <dgm:cxn modelId="{3161D6E8-1048-495A-B6AF-FC5DCD83B2ED}" type="presOf" srcId="{AA71A34C-8777-4278-BF67-C2B11E94C25A}" destId="{2EDA46C1-5E91-440D-B50D-A56C93A99FD2}" srcOrd="0" destOrd="0" presId="urn:microsoft.com/office/officeart/2005/8/layout/vList2"/>
    <dgm:cxn modelId="{3A7F0FF0-A3D9-409B-9579-2B521AC248ED}" type="presOf" srcId="{657DEA22-473A-481E-A6F0-21EDD43054F1}" destId="{6A858C31-7C1E-4374-B665-C3B3BFCCF846}" srcOrd="0" destOrd="0" presId="urn:microsoft.com/office/officeart/2005/8/layout/vList2"/>
    <dgm:cxn modelId="{4C9CFA73-462E-4E8D-9E45-033DD022ACD2}" type="presParOf" srcId="{0A633725-903C-427E-B17C-31E7C9B24D53}" destId="{6A858C31-7C1E-4374-B665-C3B3BFCCF846}" srcOrd="0" destOrd="0" presId="urn:microsoft.com/office/officeart/2005/8/layout/vList2"/>
    <dgm:cxn modelId="{AC8B6572-3765-4A8B-B421-27962BC10E0A}" type="presParOf" srcId="{0A633725-903C-427E-B17C-31E7C9B24D53}" destId="{5A75F592-5AB9-4E99-8588-7BA9734269B7}" srcOrd="1" destOrd="0" presId="urn:microsoft.com/office/officeart/2005/8/layout/vList2"/>
    <dgm:cxn modelId="{91684FAF-BFE3-4907-B653-0A653E6EBA5A}" type="presParOf" srcId="{0A633725-903C-427E-B17C-31E7C9B24D53}" destId="{6301C2BA-693D-432B-9383-B3AE7A37189B}" srcOrd="2" destOrd="0" presId="urn:microsoft.com/office/officeart/2005/8/layout/vList2"/>
    <dgm:cxn modelId="{704597F4-8937-435D-B098-FCB28476548A}" type="presParOf" srcId="{0A633725-903C-427E-B17C-31E7C9B24D53}" destId="{EEC4F77A-4EC3-4407-8456-35465090401E}" srcOrd="3" destOrd="0" presId="urn:microsoft.com/office/officeart/2005/8/layout/vList2"/>
    <dgm:cxn modelId="{E3D69B5E-664D-49FA-B6FF-1E994E64ABB8}" type="presParOf" srcId="{0A633725-903C-427E-B17C-31E7C9B24D53}" destId="{95A3B4BD-1A8F-449B-89BB-5958418D83B7}" srcOrd="4" destOrd="0" presId="urn:microsoft.com/office/officeart/2005/8/layout/vList2"/>
    <dgm:cxn modelId="{309321D1-692C-4B72-82FA-3ABED403252D}" type="presParOf" srcId="{0A633725-903C-427E-B17C-31E7C9B24D53}" destId="{362DA50F-C362-4520-8079-CBD156CD9E1B}" srcOrd="5" destOrd="0" presId="urn:microsoft.com/office/officeart/2005/8/layout/vList2"/>
    <dgm:cxn modelId="{490104EC-AD5D-490C-B577-5E794ACB0D5E}" type="presParOf" srcId="{0A633725-903C-427E-B17C-31E7C9B24D53}" destId="{63CA6576-FF8C-43CA-8507-1F1C7C7FD1BE}" srcOrd="6" destOrd="0" presId="urn:microsoft.com/office/officeart/2005/8/layout/vList2"/>
    <dgm:cxn modelId="{EEA3B048-6041-4B49-9D2C-6E1D939CB62F}" type="presParOf" srcId="{0A633725-903C-427E-B17C-31E7C9B24D53}" destId="{9762292A-62AA-46F1-B83F-4ED421C55188}" srcOrd="7" destOrd="0" presId="urn:microsoft.com/office/officeart/2005/8/layout/vList2"/>
    <dgm:cxn modelId="{B6B33EDF-E5A4-4894-B87B-E86B09FB9330}" type="presParOf" srcId="{0A633725-903C-427E-B17C-31E7C9B24D53}" destId="{2EDA46C1-5E91-440D-B50D-A56C93A99FD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A193FF-F9E3-4738-9832-B40AA70DE30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EC9232-1F67-43D4-9B07-7749C9E27B2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Reformen im Finanzsektor zur Risikominderung</a:t>
          </a:r>
          <a:endParaRPr lang="en-US"/>
        </a:p>
      </dgm:t>
    </dgm:pt>
    <dgm:pt modelId="{253B8830-0BE6-4FAA-B37F-4D402D9C802D}" type="parTrans" cxnId="{8B81BDDB-65E6-420D-A20B-5209143D6DDB}">
      <dgm:prSet/>
      <dgm:spPr/>
      <dgm:t>
        <a:bodyPr/>
        <a:lstStyle/>
        <a:p>
          <a:endParaRPr lang="en-US"/>
        </a:p>
      </dgm:t>
    </dgm:pt>
    <dgm:pt modelId="{FA8027A5-5946-478A-A3FA-CEDC325BFD08}" type="sibTrans" cxnId="{8B81BDDB-65E6-420D-A20B-5209143D6DDB}">
      <dgm:prSet/>
      <dgm:spPr/>
      <dgm:t>
        <a:bodyPr/>
        <a:lstStyle/>
        <a:p>
          <a:endParaRPr lang="en-US"/>
        </a:p>
      </dgm:t>
    </dgm:pt>
    <dgm:pt modelId="{D0CEE98B-7A42-4F5D-A3FA-223DAA590B3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Stärkung der Finanzaufsicht und –regulierung</a:t>
          </a:r>
          <a:endParaRPr lang="en-US"/>
        </a:p>
      </dgm:t>
    </dgm:pt>
    <dgm:pt modelId="{0C1EF6A0-2E63-46CB-A895-871D27648C06}" type="parTrans" cxnId="{3A43EF3E-6850-483E-A605-E2350D58FFDC}">
      <dgm:prSet/>
      <dgm:spPr/>
      <dgm:t>
        <a:bodyPr/>
        <a:lstStyle/>
        <a:p>
          <a:endParaRPr lang="en-US"/>
        </a:p>
      </dgm:t>
    </dgm:pt>
    <dgm:pt modelId="{F490E0E2-7AAA-4809-A60B-69191664F64A}" type="sibTrans" cxnId="{3A43EF3E-6850-483E-A605-E2350D58FFDC}">
      <dgm:prSet/>
      <dgm:spPr/>
      <dgm:t>
        <a:bodyPr/>
        <a:lstStyle/>
        <a:p>
          <a:endParaRPr lang="en-US"/>
        </a:p>
      </dgm:t>
    </dgm:pt>
    <dgm:pt modelId="{D6591059-0A8C-49A0-A97E-C0C19204576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aseline="0"/>
            <a:t>Betonung der Bedeutung einer ausgewogenen und nachhaltigen Wirtschaftsentwicklung</a:t>
          </a:r>
          <a:endParaRPr lang="en-US"/>
        </a:p>
      </dgm:t>
    </dgm:pt>
    <dgm:pt modelId="{B7E2E435-7CC6-4FB5-9A96-028E504D58CE}" type="parTrans" cxnId="{15F47214-E863-454F-B64F-7321865472AA}">
      <dgm:prSet/>
      <dgm:spPr/>
      <dgm:t>
        <a:bodyPr/>
        <a:lstStyle/>
        <a:p>
          <a:endParaRPr lang="en-US"/>
        </a:p>
      </dgm:t>
    </dgm:pt>
    <dgm:pt modelId="{41AEB6E0-33C5-4012-A021-5BBC63BAE219}" type="sibTrans" cxnId="{15F47214-E863-454F-B64F-7321865472AA}">
      <dgm:prSet/>
      <dgm:spPr/>
      <dgm:t>
        <a:bodyPr/>
        <a:lstStyle/>
        <a:p>
          <a:endParaRPr lang="en-US"/>
        </a:p>
      </dgm:t>
    </dgm:pt>
    <dgm:pt modelId="{9C7B7149-1E0C-4BA8-B878-BCD761F3FD77}" type="pres">
      <dgm:prSet presAssocID="{FAA193FF-F9E3-4738-9832-B40AA70DE302}" presName="root" presStyleCnt="0">
        <dgm:presLayoutVars>
          <dgm:dir/>
          <dgm:resizeHandles val="exact"/>
        </dgm:presLayoutVars>
      </dgm:prSet>
      <dgm:spPr/>
    </dgm:pt>
    <dgm:pt modelId="{3848B0E7-C8FE-4DD0-A0FA-895ABADF4DDA}" type="pres">
      <dgm:prSet presAssocID="{E4EC9232-1F67-43D4-9B07-7749C9E27B29}" presName="compNode" presStyleCnt="0"/>
      <dgm:spPr/>
    </dgm:pt>
    <dgm:pt modelId="{A7A2F193-070A-41B5-9C75-0BD47A913E8C}" type="pres">
      <dgm:prSet presAssocID="{E4EC9232-1F67-43D4-9B07-7749C9E27B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702822A6-9D54-48BA-9C72-71B5F0C22F0D}" type="pres">
      <dgm:prSet presAssocID="{E4EC9232-1F67-43D4-9B07-7749C9E27B29}" presName="spaceRect" presStyleCnt="0"/>
      <dgm:spPr/>
    </dgm:pt>
    <dgm:pt modelId="{68C21680-337A-4676-B0AF-822B807D4BC0}" type="pres">
      <dgm:prSet presAssocID="{E4EC9232-1F67-43D4-9B07-7749C9E27B29}" presName="textRect" presStyleLbl="revTx" presStyleIdx="0" presStyleCnt="3">
        <dgm:presLayoutVars>
          <dgm:chMax val="1"/>
          <dgm:chPref val="1"/>
        </dgm:presLayoutVars>
      </dgm:prSet>
      <dgm:spPr/>
    </dgm:pt>
    <dgm:pt modelId="{A689FEC4-4FC9-459B-8089-8584DBB71A89}" type="pres">
      <dgm:prSet presAssocID="{FA8027A5-5946-478A-A3FA-CEDC325BFD08}" presName="sibTrans" presStyleCnt="0"/>
      <dgm:spPr/>
    </dgm:pt>
    <dgm:pt modelId="{C0A2073C-475D-4383-8B2B-8EC288A6D060}" type="pres">
      <dgm:prSet presAssocID="{D0CEE98B-7A42-4F5D-A3FA-223DAA590B3D}" presName="compNode" presStyleCnt="0"/>
      <dgm:spPr/>
    </dgm:pt>
    <dgm:pt modelId="{7E2DCA6F-46EC-4063-BFD3-67A44B758940}" type="pres">
      <dgm:prSet presAssocID="{D0CEE98B-7A42-4F5D-A3FA-223DAA590B3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chlag"/>
        </a:ext>
      </dgm:extLst>
    </dgm:pt>
    <dgm:pt modelId="{13CFD215-5A49-41DB-9266-248CB95DFB1B}" type="pres">
      <dgm:prSet presAssocID="{D0CEE98B-7A42-4F5D-A3FA-223DAA590B3D}" presName="spaceRect" presStyleCnt="0"/>
      <dgm:spPr/>
    </dgm:pt>
    <dgm:pt modelId="{A3BB356E-D2CB-45A8-BE70-46978207D8E8}" type="pres">
      <dgm:prSet presAssocID="{D0CEE98B-7A42-4F5D-A3FA-223DAA590B3D}" presName="textRect" presStyleLbl="revTx" presStyleIdx="1" presStyleCnt="3">
        <dgm:presLayoutVars>
          <dgm:chMax val="1"/>
          <dgm:chPref val="1"/>
        </dgm:presLayoutVars>
      </dgm:prSet>
      <dgm:spPr/>
    </dgm:pt>
    <dgm:pt modelId="{2C8494B2-85BB-42B4-99F7-E099E472A200}" type="pres">
      <dgm:prSet presAssocID="{F490E0E2-7AAA-4809-A60B-69191664F64A}" presName="sibTrans" presStyleCnt="0"/>
      <dgm:spPr/>
    </dgm:pt>
    <dgm:pt modelId="{A66C6060-0988-493C-B481-29C605B9F87A}" type="pres">
      <dgm:prSet presAssocID="{D6591059-0A8C-49A0-A97E-C0C192045760}" presName="compNode" presStyleCnt="0"/>
      <dgm:spPr/>
    </dgm:pt>
    <dgm:pt modelId="{5422B04C-E69E-430A-A700-F7567FC061EB}" type="pres">
      <dgm:prSet presAssocID="{D6591059-0A8C-49A0-A97E-C0C1920457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DC3485B-04E1-4049-B771-0B48F8B0076A}" type="pres">
      <dgm:prSet presAssocID="{D6591059-0A8C-49A0-A97E-C0C192045760}" presName="spaceRect" presStyleCnt="0"/>
      <dgm:spPr/>
    </dgm:pt>
    <dgm:pt modelId="{9D3E156A-BC23-4379-B376-BE995DC25C75}" type="pres">
      <dgm:prSet presAssocID="{D6591059-0A8C-49A0-A97E-C0C1920457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5F47214-E863-454F-B64F-7321865472AA}" srcId="{FAA193FF-F9E3-4738-9832-B40AA70DE302}" destId="{D6591059-0A8C-49A0-A97E-C0C192045760}" srcOrd="2" destOrd="0" parTransId="{B7E2E435-7CC6-4FB5-9A96-028E504D58CE}" sibTransId="{41AEB6E0-33C5-4012-A021-5BBC63BAE219}"/>
    <dgm:cxn modelId="{7C7B8A30-4F3D-4009-AAAB-0D567B74253C}" type="presOf" srcId="{D6591059-0A8C-49A0-A97E-C0C192045760}" destId="{9D3E156A-BC23-4379-B376-BE995DC25C75}" srcOrd="0" destOrd="0" presId="urn:microsoft.com/office/officeart/2018/2/layout/IconLabelList"/>
    <dgm:cxn modelId="{3A43EF3E-6850-483E-A605-E2350D58FFDC}" srcId="{FAA193FF-F9E3-4738-9832-B40AA70DE302}" destId="{D0CEE98B-7A42-4F5D-A3FA-223DAA590B3D}" srcOrd="1" destOrd="0" parTransId="{0C1EF6A0-2E63-46CB-A895-871D27648C06}" sibTransId="{F490E0E2-7AAA-4809-A60B-69191664F64A}"/>
    <dgm:cxn modelId="{9A5FA7B0-614B-4FC2-897D-E88D87A61767}" type="presOf" srcId="{FAA193FF-F9E3-4738-9832-B40AA70DE302}" destId="{9C7B7149-1E0C-4BA8-B878-BCD761F3FD77}" srcOrd="0" destOrd="0" presId="urn:microsoft.com/office/officeart/2018/2/layout/IconLabelList"/>
    <dgm:cxn modelId="{94419BB4-E0CA-4390-8A94-9550E8818990}" type="presOf" srcId="{E4EC9232-1F67-43D4-9B07-7749C9E27B29}" destId="{68C21680-337A-4676-B0AF-822B807D4BC0}" srcOrd="0" destOrd="0" presId="urn:microsoft.com/office/officeart/2018/2/layout/IconLabelList"/>
    <dgm:cxn modelId="{076010B7-6B82-488D-9853-AF4AE13C88C5}" type="presOf" srcId="{D0CEE98B-7A42-4F5D-A3FA-223DAA590B3D}" destId="{A3BB356E-D2CB-45A8-BE70-46978207D8E8}" srcOrd="0" destOrd="0" presId="urn:microsoft.com/office/officeart/2018/2/layout/IconLabelList"/>
    <dgm:cxn modelId="{8B81BDDB-65E6-420D-A20B-5209143D6DDB}" srcId="{FAA193FF-F9E3-4738-9832-B40AA70DE302}" destId="{E4EC9232-1F67-43D4-9B07-7749C9E27B29}" srcOrd="0" destOrd="0" parTransId="{253B8830-0BE6-4FAA-B37F-4D402D9C802D}" sibTransId="{FA8027A5-5946-478A-A3FA-CEDC325BFD08}"/>
    <dgm:cxn modelId="{04EE0C67-87B7-4D8B-A1C4-B35BD5D5D2CA}" type="presParOf" srcId="{9C7B7149-1E0C-4BA8-B878-BCD761F3FD77}" destId="{3848B0E7-C8FE-4DD0-A0FA-895ABADF4DDA}" srcOrd="0" destOrd="0" presId="urn:microsoft.com/office/officeart/2018/2/layout/IconLabelList"/>
    <dgm:cxn modelId="{229497AD-AA72-4505-A999-F77677647D61}" type="presParOf" srcId="{3848B0E7-C8FE-4DD0-A0FA-895ABADF4DDA}" destId="{A7A2F193-070A-41B5-9C75-0BD47A913E8C}" srcOrd="0" destOrd="0" presId="urn:microsoft.com/office/officeart/2018/2/layout/IconLabelList"/>
    <dgm:cxn modelId="{E08B912B-7D87-4F36-9D89-2F7A73037F31}" type="presParOf" srcId="{3848B0E7-C8FE-4DD0-A0FA-895ABADF4DDA}" destId="{702822A6-9D54-48BA-9C72-71B5F0C22F0D}" srcOrd="1" destOrd="0" presId="urn:microsoft.com/office/officeart/2018/2/layout/IconLabelList"/>
    <dgm:cxn modelId="{491C856D-5B1F-4131-AC8F-458ED5EE718C}" type="presParOf" srcId="{3848B0E7-C8FE-4DD0-A0FA-895ABADF4DDA}" destId="{68C21680-337A-4676-B0AF-822B807D4BC0}" srcOrd="2" destOrd="0" presId="urn:microsoft.com/office/officeart/2018/2/layout/IconLabelList"/>
    <dgm:cxn modelId="{C54EBD4B-C0E8-43F9-A959-CA58130F4B90}" type="presParOf" srcId="{9C7B7149-1E0C-4BA8-B878-BCD761F3FD77}" destId="{A689FEC4-4FC9-459B-8089-8584DBB71A89}" srcOrd="1" destOrd="0" presId="urn:microsoft.com/office/officeart/2018/2/layout/IconLabelList"/>
    <dgm:cxn modelId="{6DCC4040-0835-42F0-8B4C-878678446B68}" type="presParOf" srcId="{9C7B7149-1E0C-4BA8-B878-BCD761F3FD77}" destId="{C0A2073C-475D-4383-8B2B-8EC288A6D060}" srcOrd="2" destOrd="0" presId="urn:microsoft.com/office/officeart/2018/2/layout/IconLabelList"/>
    <dgm:cxn modelId="{2C8C8010-3B8F-4692-BB7C-EBEA1875792D}" type="presParOf" srcId="{C0A2073C-475D-4383-8B2B-8EC288A6D060}" destId="{7E2DCA6F-46EC-4063-BFD3-67A44B758940}" srcOrd="0" destOrd="0" presId="urn:microsoft.com/office/officeart/2018/2/layout/IconLabelList"/>
    <dgm:cxn modelId="{90CD514D-3B31-4B92-83CD-52985587D5E9}" type="presParOf" srcId="{C0A2073C-475D-4383-8B2B-8EC288A6D060}" destId="{13CFD215-5A49-41DB-9266-248CB95DFB1B}" srcOrd="1" destOrd="0" presId="urn:microsoft.com/office/officeart/2018/2/layout/IconLabelList"/>
    <dgm:cxn modelId="{340F7090-D74F-4852-A94A-1F7B47E91411}" type="presParOf" srcId="{C0A2073C-475D-4383-8B2B-8EC288A6D060}" destId="{A3BB356E-D2CB-45A8-BE70-46978207D8E8}" srcOrd="2" destOrd="0" presId="urn:microsoft.com/office/officeart/2018/2/layout/IconLabelList"/>
    <dgm:cxn modelId="{F0DE70DE-DE97-47F9-9E66-522C3F4BB7D2}" type="presParOf" srcId="{9C7B7149-1E0C-4BA8-B878-BCD761F3FD77}" destId="{2C8494B2-85BB-42B4-99F7-E099E472A200}" srcOrd="3" destOrd="0" presId="urn:microsoft.com/office/officeart/2018/2/layout/IconLabelList"/>
    <dgm:cxn modelId="{B7461103-275B-4A88-BD5D-535C731C0689}" type="presParOf" srcId="{9C7B7149-1E0C-4BA8-B878-BCD761F3FD77}" destId="{A66C6060-0988-493C-B481-29C605B9F87A}" srcOrd="4" destOrd="0" presId="urn:microsoft.com/office/officeart/2018/2/layout/IconLabelList"/>
    <dgm:cxn modelId="{CA82C477-1586-423E-9AB3-D5B57E3AF1BA}" type="presParOf" srcId="{A66C6060-0988-493C-B481-29C605B9F87A}" destId="{5422B04C-E69E-430A-A700-F7567FC061EB}" srcOrd="0" destOrd="0" presId="urn:microsoft.com/office/officeart/2018/2/layout/IconLabelList"/>
    <dgm:cxn modelId="{A80A7479-E674-44AA-9F8E-FB746F3F7268}" type="presParOf" srcId="{A66C6060-0988-493C-B481-29C605B9F87A}" destId="{6DC3485B-04E1-4049-B771-0B48F8B0076A}" srcOrd="1" destOrd="0" presId="urn:microsoft.com/office/officeart/2018/2/layout/IconLabelList"/>
    <dgm:cxn modelId="{6AE63308-CD14-419F-92D3-AB88F22A021D}" type="presParOf" srcId="{A66C6060-0988-493C-B481-29C605B9F87A}" destId="{9D3E156A-BC23-4379-B376-BE995DC25C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D4AC3-B79D-45E6-BB39-BE90F2A3EABE}">
      <dsp:nvSpPr>
        <dsp:cNvPr id="0" name=""/>
        <dsp:cNvSpPr/>
      </dsp:nvSpPr>
      <dsp:spPr>
        <a:xfrm>
          <a:off x="685637" y="1617681"/>
          <a:ext cx="1061710" cy="1061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DD90C-F908-4A53-B45D-1C9D34AE23A4}">
      <dsp:nvSpPr>
        <dsp:cNvPr id="0" name=""/>
        <dsp:cNvSpPr/>
      </dsp:nvSpPr>
      <dsp:spPr>
        <a:xfrm>
          <a:off x="36814" y="2999630"/>
          <a:ext cx="2359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Rückgang des Bruttoinlandsprodukts (BIP) vieler Länder</a:t>
          </a:r>
          <a:endParaRPr lang="en-US" sz="1300" kern="1200"/>
        </a:p>
      </dsp:txBody>
      <dsp:txXfrm>
        <a:off x="36814" y="2999630"/>
        <a:ext cx="2359357" cy="720000"/>
      </dsp:txXfrm>
    </dsp:sp>
    <dsp:sp modelId="{B26CAED9-CE77-459C-8B73-DFB89B3095AC}">
      <dsp:nvSpPr>
        <dsp:cNvPr id="0" name=""/>
        <dsp:cNvSpPr/>
      </dsp:nvSpPr>
      <dsp:spPr>
        <a:xfrm>
          <a:off x="3457882" y="1617681"/>
          <a:ext cx="1061710" cy="1061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1144E-749C-4CE7-84B2-96F709720D1E}">
      <dsp:nvSpPr>
        <dsp:cNvPr id="0" name=""/>
        <dsp:cNvSpPr/>
      </dsp:nvSpPr>
      <dsp:spPr>
        <a:xfrm>
          <a:off x="2809059" y="2999630"/>
          <a:ext cx="2359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Negatives Wirtschaftswachstum in Schlüsselregionen wie den USA, Europa und Asien</a:t>
          </a:r>
          <a:endParaRPr lang="en-US" sz="1300" kern="1200"/>
        </a:p>
      </dsp:txBody>
      <dsp:txXfrm>
        <a:off x="2809059" y="2999630"/>
        <a:ext cx="2359357" cy="720000"/>
      </dsp:txXfrm>
    </dsp:sp>
    <dsp:sp modelId="{C8CC4854-AEE5-4317-8092-AB3BD36DEC1C}">
      <dsp:nvSpPr>
        <dsp:cNvPr id="0" name=""/>
        <dsp:cNvSpPr/>
      </dsp:nvSpPr>
      <dsp:spPr>
        <a:xfrm>
          <a:off x="6230127" y="1617681"/>
          <a:ext cx="1061710" cy="1061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746E6-EA5F-41A8-8063-28423CE953CE}">
      <dsp:nvSpPr>
        <dsp:cNvPr id="0" name=""/>
        <dsp:cNvSpPr/>
      </dsp:nvSpPr>
      <dsp:spPr>
        <a:xfrm>
          <a:off x="5581304" y="2999630"/>
          <a:ext cx="2359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Sinkende Verbraucherausgaben und Investitionen</a:t>
          </a:r>
          <a:endParaRPr lang="en-US" sz="1300" kern="1200"/>
        </a:p>
      </dsp:txBody>
      <dsp:txXfrm>
        <a:off x="5581304" y="2999630"/>
        <a:ext cx="2359357" cy="720000"/>
      </dsp:txXfrm>
    </dsp:sp>
    <dsp:sp modelId="{41E48079-B3D1-45A4-BBF2-91749DFAF46F}">
      <dsp:nvSpPr>
        <dsp:cNvPr id="0" name=""/>
        <dsp:cNvSpPr/>
      </dsp:nvSpPr>
      <dsp:spPr>
        <a:xfrm>
          <a:off x="9002372" y="1617681"/>
          <a:ext cx="1061710" cy="1061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33739-7CB3-49E9-8167-C439DFF6986E}">
      <dsp:nvSpPr>
        <dsp:cNvPr id="0" name=""/>
        <dsp:cNvSpPr/>
      </dsp:nvSpPr>
      <dsp:spPr>
        <a:xfrm>
          <a:off x="8353549" y="2999630"/>
          <a:ext cx="2359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baseline="0"/>
            <a:t>Negative Auswirkungen auf den Tourismus- und Rohstoffsektor</a:t>
          </a:r>
          <a:endParaRPr lang="en-US" sz="1300" kern="1200"/>
        </a:p>
      </dsp:txBody>
      <dsp:txXfrm>
        <a:off x="8353549" y="2999630"/>
        <a:ext cx="235935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58C31-7C1E-4374-B665-C3B3BFCCF846}">
      <dsp:nvSpPr>
        <dsp:cNvPr id="0" name=""/>
        <dsp:cNvSpPr/>
      </dsp:nvSpPr>
      <dsp:spPr>
        <a:xfrm>
          <a:off x="0" y="32370"/>
          <a:ext cx="5127171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baseline="0" dirty="0"/>
            <a:t>Export und Handel</a:t>
          </a:r>
          <a:endParaRPr lang="en-US" sz="2800" kern="1200" dirty="0"/>
        </a:p>
      </dsp:txBody>
      <dsp:txXfrm>
        <a:off x="31185" y="63555"/>
        <a:ext cx="5064801" cy="576449"/>
      </dsp:txXfrm>
    </dsp:sp>
    <dsp:sp modelId="{6301C2BA-693D-432B-9383-B3AE7A37189B}">
      <dsp:nvSpPr>
        <dsp:cNvPr id="0" name=""/>
        <dsp:cNvSpPr/>
      </dsp:nvSpPr>
      <dsp:spPr>
        <a:xfrm>
          <a:off x="0" y="751830"/>
          <a:ext cx="5127171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baseline="0"/>
            <a:t>Arbeitsmarkt </a:t>
          </a:r>
          <a:endParaRPr lang="en-US" sz="2800" kern="1200"/>
        </a:p>
      </dsp:txBody>
      <dsp:txXfrm>
        <a:off x="31185" y="783015"/>
        <a:ext cx="5064801" cy="576449"/>
      </dsp:txXfrm>
    </dsp:sp>
    <dsp:sp modelId="{95A3B4BD-1A8F-449B-89BB-5958418D83B7}">
      <dsp:nvSpPr>
        <dsp:cNvPr id="0" name=""/>
        <dsp:cNvSpPr/>
      </dsp:nvSpPr>
      <dsp:spPr>
        <a:xfrm>
          <a:off x="0" y="1471290"/>
          <a:ext cx="5127171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baseline="0"/>
            <a:t>Finanzsektor</a:t>
          </a:r>
          <a:endParaRPr lang="en-US" sz="2800" kern="1200"/>
        </a:p>
      </dsp:txBody>
      <dsp:txXfrm>
        <a:off x="31185" y="1502475"/>
        <a:ext cx="5064801" cy="576449"/>
      </dsp:txXfrm>
    </dsp:sp>
    <dsp:sp modelId="{63CA6576-FF8C-43CA-8507-1F1C7C7FD1BE}">
      <dsp:nvSpPr>
        <dsp:cNvPr id="0" name=""/>
        <dsp:cNvSpPr/>
      </dsp:nvSpPr>
      <dsp:spPr>
        <a:xfrm>
          <a:off x="0" y="2190750"/>
          <a:ext cx="5127171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baseline="0"/>
            <a:t>Industrie und Produktion </a:t>
          </a:r>
          <a:endParaRPr lang="en-US" sz="2800" kern="1200"/>
        </a:p>
      </dsp:txBody>
      <dsp:txXfrm>
        <a:off x="31185" y="2221935"/>
        <a:ext cx="5064801" cy="576449"/>
      </dsp:txXfrm>
    </dsp:sp>
    <dsp:sp modelId="{2EDA46C1-5E91-440D-B50D-A56C93A99FD2}">
      <dsp:nvSpPr>
        <dsp:cNvPr id="0" name=""/>
        <dsp:cNvSpPr/>
      </dsp:nvSpPr>
      <dsp:spPr>
        <a:xfrm>
          <a:off x="0" y="2910210"/>
          <a:ext cx="5127171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baseline="0" dirty="0"/>
            <a:t>Staatliche Maßnahmen</a:t>
          </a:r>
          <a:endParaRPr lang="en-US" sz="2800" kern="1200" dirty="0"/>
        </a:p>
      </dsp:txBody>
      <dsp:txXfrm>
        <a:off x="31185" y="2941395"/>
        <a:ext cx="5064801" cy="5764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2F193-070A-41B5-9C75-0BD47A913E8C}">
      <dsp:nvSpPr>
        <dsp:cNvPr id="0" name=""/>
        <dsp:cNvSpPr/>
      </dsp:nvSpPr>
      <dsp:spPr>
        <a:xfrm>
          <a:off x="915389" y="632537"/>
          <a:ext cx="1248817" cy="1248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21680-337A-4676-B0AF-822B807D4BC0}">
      <dsp:nvSpPr>
        <dsp:cNvPr id="0" name=""/>
        <dsp:cNvSpPr/>
      </dsp:nvSpPr>
      <dsp:spPr>
        <a:xfrm>
          <a:off x="152223" y="2228862"/>
          <a:ext cx="27751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baseline="0"/>
            <a:t>Reformen im Finanzsektor zur Risikominderung</a:t>
          </a:r>
          <a:endParaRPr lang="en-US" sz="1500" kern="1200"/>
        </a:p>
      </dsp:txBody>
      <dsp:txXfrm>
        <a:off x="152223" y="2228862"/>
        <a:ext cx="2775150" cy="720000"/>
      </dsp:txXfrm>
    </dsp:sp>
    <dsp:sp modelId="{7E2DCA6F-46EC-4063-BFD3-67A44B758940}">
      <dsp:nvSpPr>
        <dsp:cNvPr id="0" name=""/>
        <dsp:cNvSpPr/>
      </dsp:nvSpPr>
      <dsp:spPr>
        <a:xfrm>
          <a:off x="4176191" y="632537"/>
          <a:ext cx="1248817" cy="1248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B356E-D2CB-45A8-BE70-46978207D8E8}">
      <dsp:nvSpPr>
        <dsp:cNvPr id="0" name=""/>
        <dsp:cNvSpPr/>
      </dsp:nvSpPr>
      <dsp:spPr>
        <a:xfrm>
          <a:off x="3413025" y="2228862"/>
          <a:ext cx="27751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baseline="0"/>
            <a:t>Stärkung der Finanzaufsicht und –regulierung</a:t>
          </a:r>
          <a:endParaRPr lang="en-US" sz="1500" kern="1200"/>
        </a:p>
      </dsp:txBody>
      <dsp:txXfrm>
        <a:off x="3413025" y="2228862"/>
        <a:ext cx="2775150" cy="720000"/>
      </dsp:txXfrm>
    </dsp:sp>
    <dsp:sp modelId="{5422B04C-E69E-430A-A700-F7567FC061EB}">
      <dsp:nvSpPr>
        <dsp:cNvPr id="0" name=""/>
        <dsp:cNvSpPr/>
      </dsp:nvSpPr>
      <dsp:spPr>
        <a:xfrm>
          <a:off x="7436992" y="632537"/>
          <a:ext cx="1248817" cy="12488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E156A-BC23-4379-B376-BE995DC25C75}">
      <dsp:nvSpPr>
        <dsp:cNvPr id="0" name=""/>
        <dsp:cNvSpPr/>
      </dsp:nvSpPr>
      <dsp:spPr>
        <a:xfrm>
          <a:off x="6673826" y="2228862"/>
          <a:ext cx="27751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baseline="0"/>
            <a:t>Betonung der Bedeutung einer ausgewogenen und nachhaltigen Wirtschaftsentwicklung</a:t>
          </a:r>
          <a:endParaRPr lang="en-US" sz="1500" kern="1200"/>
        </a:p>
      </dsp:txBody>
      <dsp:txXfrm>
        <a:off x="6673826" y="2228862"/>
        <a:ext cx="27751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chart" Target="../charts/chart1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wk.de/Redaktion/DE/Artikel/Ministerium/Geschichte/1929-1933.html" TargetMode="External"/><Relationship Id="rId2" Type="http://schemas.openxmlformats.org/officeDocument/2006/relationships/hyperlink" Target="https://studyflix.de/geschichte/weltwirtschaftskrise-435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rend.at/politik/weltwirtschaftskrisen" TargetMode="External"/><Relationship Id="rId4" Type="http://schemas.openxmlformats.org/officeDocument/2006/relationships/hyperlink" Target="https://www.americanexpress.com/de-de/kampagnen/guide/geldanlagen/weltwirtschaftskrise-9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19B2F-92BB-8BE8-7FCD-E9537B3A5E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Weltwirtschaftskrise 1929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4121C12-7873-BA51-C984-F47F130C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Von Elias Geyermann</a:t>
            </a:r>
          </a:p>
        </p:txBody>
      </p:sp>
    </p:spTree>
    <p:extLst>
      <p:ext uri="{BB962C8B-B14F-4D97-AF65-F5344CB8AC3E}">
        <p14:creationId xmlns:p14="http://schemas.microsoft.com/office/powerpoint/2010/main" val="812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08F148-230C-B183-E99C-BA3E280E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736" y="208460"/>
            <a:ext cx="10301350" cy="665018"/>
          </a:xfrm>
        </p:spPr>
        <p:txBody>
          <a:bodyPr>
            <a:noAutofit/>
          </a:bodyPr>
          <a:lstStyle/>
          <a:p>
            <a:r>
              <a:rPr lang="de-DE" dirty="0"/>
              <a:t>Ausgangssituation Zeit vor 1929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3F63D5-85FA-C3A6-323F-CEB34164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1735089"/>
            <a:ext cx="5105445" cy="285904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CAFC05D4-B1B8-A4AE-BB21-027E039007A2}"/>
              </a:ext>
            </a:extLst>
          </p:cNvPr>
          <p:cNvSpPr/>
          <p:nvPr/>
        </p:nvSpPr>
        <p:spPr>
          <a:xfrm>
            <a:off x="1023561" y="1735089"/>
            <a:ext cx="4756799" cy="43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Höhenflug der Wirtschaft (USA)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F5C54C-205B-8F8E-DB91-9BEAE2A56758}"/>
              </a:ext>
            </a:extLst>
          </p:cNvPr>
          <p:cNvSpPr/>
          <p:nvPr/>
        </p:nvSpPr>
        <p:spPr>
          <a:xfrm>
            <a:off x="1023560" y="2384200"/>
            <a:ext cx="4756799" cy="43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Bekannt als die Goldenen 20er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D2B11F2-47DE-89B3-5488-A582F7A7A685}"/>
              </a:ext>
            </a:extLst>
          </p:cNvPr>
          <p:cNvSpPr/>
          <p:nvPr/>
        </p:nvSpPr>
        <p:spPr>
          <a:xfrm>
            <a:off x="1023560" y="3033311"/>
            <a:ext cx="4756799" cy="43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Erstmalige Massenkonsumgesellschaft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4ED8BCB-21C6-9C57-A755-12D0DE38B7FB}"/>
              </a:ext>
            </a:extLst>
          </p:cNvPr>
          <p:cNvSpPr/>
          <p:nvPr/>
        </p:nvSpPr>
        <p:spPr>
          <a:xfrm>
            <a:off x="1023560" y="3682422"/>
            <a:ext cx="4756799" cy="4366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Zunehmender Wohlstand im Mittelstand</a:t>
            </a:r>
          </a:p>
        </p:txBody>
      </p:sp>
    </p:spTree>
    <p:extLst>
      <p:ext uri="{BB962C8B-B14F-4D97-AF65-F5344CB8AC3E}">
        <p14:creationId xmlns:p14="http://schemas.microsoft.com/office/powerpoint/2010/main" val="342015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B0DAE4-D544-3E50-C55C-034500D7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80202"/>
            <a:ext cx="7845136" cy="526614"/>
          </a:xfrm>
        </p:spPr>
        <p:txBody>
          <a:bodyPr>
            <a:noAutofit/>
          </a:bodyPr>
          <a:lstStyle/>
          <a:p>
            <a:r>
              <a:rPr lang="de-DE" dirty="0"/>
              <a:t>Börsen Spekulation als Ursache</a:t>
            </a:r>
          </a:p>
        </p:txBody>
      </p:sp>
      <p:sp>
        <p:nvSpPr>
          <p:cNvPr id="4" name="Pfeil nach unten 3">
            <a:extLst>
              <a:ext uri="{FF2B5EF4-FFF2-40B4-BE49-F238E27FC236}">
                <a16:creationId xmlns:a16="http://schemas.microsoft.com/office/drawing/2014/main" id="{79D1A31C-0981-6BF3-E0FB-6BFACDBC094D}"/>
              </a:ext>
            </a:extLst>
          </p:cNvPr>
          <p:cNvSpPr/>
          <p:nvPr/>
        </p:nvSpPr>
        <p:spPr>
          <a:xfrm>
            <a:off x="3763874" y="3709310"/>
            <a:ext cx="484632" cy="488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420C118-F0E5-11E6-B82B-BA817039F8B3}"/>
              </a:ext>
            </a:extLst>
          </p:cNvPr>
          <p:cNvSpPr/>
          <p:nvPr/>
        </p:nvSpPr>
        <p:spPr>
          <a:xfrm>
            <a:off x="882114" y="1192515"/>
            <a:ext cx="6265718" cy="449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Ursprung in den USA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3AB2F4-3D8F-1756-FB5D-9821117F6F21}"/>
              </a:ext>
            </a:extLst>
          </p:cNvPr>
          <p:cNvSpPr/>
          <p:nvPr/>
        </p:nvSpPr>
        <p:spPr>
          <a:xfrm>
            <a:off x="882114" y="1778300"/>
            <a:ext cx="6265718" cy="526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dirty="0"/>
              <a:t>Zuvor rapides Wirtschaftswachstum</a:t>
            </a:r>
            <a:endParaRPr lang="en-US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74B7347-34EC-09C6-3DF5-A18993341384}"/>
              </a:ext>
            </a:extLst>
          </p:cNvPr>
          <p:cNvSpPr/>
          <p:nvPr/>
        </p:nvSpPr>
        <p:spPr>
          <a:xfrm>
            <a:off x="882114" y="2471681"/>
            <a:ext cx="6265718" cy="526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dirty="0"/>
              <a:t>Großer Bevölkerungsteil konnte erstmalig Investieren</a:t>
            </a:r>
            <a:endParaRPr lang="en-US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6A72277-CC4F-6231-64F2-18DC177332CE}"/>
              </a:ext>
            </a:extLst>
          </p:cNvPr>
          <p:cNvSpPr/>
          <p:nvPr/>
        </p:nvSpPr>
        <p:spPr>
          <a:xfrm>
            <a:off x="873331" y="5627919"/>
            <a:ext cx="626571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Großzügige Vergabe an Kredite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EB2AEA4-8606-CB28-B70D-C200829EF85F}"/>
              </a:ext>
            </a:extLst>
          </p:cNvPr>
          <p:cNvSpPr/>
          <p:nvPr/>
        </p:nvSpPr>
        <p:spPr>
          <a:xfrm>
            <a:off x="873331" y="4352299"/>
            <a:ext cx="6265718" cy="526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Fehlendes Kapital </a:t>
            </a:r>
            <a:endParaRPr lang="en-US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59C72B6-FA38-CBD1-3730-803C7E672A6A}"/>
              </a:ext>
            </a:extLst>
          </p:cNvPr>
          <p:cNvSpPr/>
          <p:nvPr/>
        </p:nvSpPr>
        <p:spPr>
          <a:xfrm>
            <a:off x="882114" y="3170941"/>
            <a:ext cx="6265718" cy="449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Hoher Konsum in der Bevölkerung</a:t>
            </a:r>
          </a:p>
        </p:txBody>
      </p:sp>
      <p:sp>
        <p:nvSpPr>
          <p:cNvPr id="18" name="Pfeil nach unten 17">
            <a:extLst>
              <a:ext uri="{FF2B5EF4-FFF2-40B4-BE49-F238E27FC236}">
                <a16:creationId xmlns:a16="http://schemas.microsoft.com/office/drawing/2014/main" id="{7037BF1C-7AF7-047F-FEEC-2AF0FC937E4F}"/>
              </a:ext>
            </a:extLst>
          </p:cNvPr>
          <p:cNvSpPr/>
          <p:nvPr/>
        </p:nvSpPr>
        <p:spPr>
          <a:xfrm>
            <a:off x="3772657" y="5009366"/>
            <a:ext cx="484632" cy="488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966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900EAA-8D16-7CF4-764A-AFFC80A7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987" y="155863"/>
            <a:ext cx="10493524" cy="713401"/>
          </a:xfrm>
        </p:spPr>
        <p:txBody>
          <a:bodyPr>
            <a:normAutofit/>
          </a:bodyPr>
          <a:lstStyle/>
          <a:p>
            <a:r>
              <a:rPr lang="de-DE" dirty="0"/>
              <a:t>Spekulationsblase als erste Folge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513D76-284B-8E09-16C5-F477BC09D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025" y="2013654"/>
            <a:ext cx="2918888" cy="208421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3861989-A89C-CCA9-5FD7-0D85BB158EF3}"/>
              </a:ext>
            </a:extLst>
          </p:cNvPr>
          <p:cNvSpPr txBox="1"/>
          <p:nvPr/>
        </p:nvSpPr>
        <p:spPr>
          <a:xfrm>
            <a:off x="8289714" y="4083787"/>
            <a:ext cx="4653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Börsenhändler während des Crashs</a:t>
            </a:r>
          </a:p>
        </p:txBody>
      </p:sp>
      <p:sp>
        <p:nvSpPr>
          <p:cNvPr id="10" name="Pfeil nach unten 9">
            <a:extLst>
              <a:ext uri="{FF2B5EF4-FFF2-40B4-BE49-F238E27FC236}">
                <a16:creationId xmlns:a16="http://schemas.microsoft.com/office/drawing/2014/main" id="{E3A93968-C9ED-61AE-3800-CCAB50154004}"/>
              </a:ext>
            </a:extLst>
          </p:cNvPr>
          <p:cNvSpPr/>
          <p:nvPr/>
        </p:nvSpPr>
        <p:spPr>
          <a:xfrm>
            <a:off x="3570871" y="4360786"/>
            <a:ext cx="484632" cy="7513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FAD0620-E4C0-56F3-69EA-93E7DA940D19}"/>
              </a:ext>
            </a:extLst>
          </p:cNvPr>
          <p:cNvSpPr/>
          <p:nvPr/>
        </p:nvSpPr>
        <p:spPr>
          <a:xfrm>
            <a:off x="1023560" y="2013654"/>
            <a:ext cx="5579257" cy="5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de-DE" sz="1800" dirty="0"/>
              <a:t>Handel an der Börse wurde zum Massenphänomen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219071C-A072-E82D-DAB3-094581CED449}"/>
              </a:ext>
            </a:extLst>
          </p:cNvPr>
          <p:cNvSpPr/>
          <p:nvPr/>
        </p:nvSpPr>
        <p:spPr>
          <a:xfrm>
            <a:off x="1023561" y="2864960"/>
            <a:ext cx="5579257" cy="5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2. Aktienkurse stiegen extrem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22CE093-8BAA-E00A-6694-106BA6DC2BC6}"/>
              </a:ext>
            </a:extLst>
          </p:cNvPr>
          <p:cNvSpPr/>
          <p:nvPr/>
        </p:nvSpPr>
        <p:spPr>
          <a:xfrm>
            <a:off x="1023561" y="3715331"/>
            <a:ext cx="5579257" cy="5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3. Es investierten immer mehr Menschen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8D05BC0-0213-671E-BBB1-B42E4F8FCA6A}"/>
              </a:ext>
            </a:extLst>
          </p:cNvPr>
          <p:cNvSpPr/>
          <p:nvPr/>
        </p:nvSpPr>
        <p:spPr>
          <a:xfrm>
            <a:off x="1023559" y="5212092"/>
            <a:ext cx="5579257" cy="5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4. Aktienkurs &gt; Realwirtschaft </a:t>
            </a:r>
          </a:p>
        </p:txBody>
      </p:sp>
    </p:spTree>
    <p:extLst>
      <p:ext uri="{BB962C8B-B14F-4D97-AF65-F5344CB8AC3E}">
        <p14:creationId xmlns:p14="http://schemas.microsoft.com/office/powerpoint/2010/main" val="274351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68B82-58C2-9165-1049-4466C670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47" y="174913"/>
            <a:ext cx="10400687" cy="507365"/>
          </a:xfrm>
        </p:spPr>
        <p:txBody>
          <a:bodyPr>
            <a:noAutofit/>
          </a:bodyPr>
          <a:lstStyle/>
          <a:p>
            <a:r>
              <a:rPr lang="de-DE" dirty="0"/>
              <a:t>Ende der Spekulationsblase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A1670C-F9E1-D56F-2384-B02E68305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325" y="1569156"/>
            <a:ext cx="5431277" cy="402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24.10.1929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B7C4E13-FFE4-BDFA-D225-EC2E90FC7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325" y="1939685"/>
            <a:ext cx="5105445" cy="326418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8CDCD278-57DB-A349-0C7C-52DE136570D8}"/>
              </a:ext>
            </a:extLst>
          </p:cNvPr>
          <p:cNvSpPr/>
          <p:nvPr/>
        </p:nvSpPr>
        <p:spPr>
          <a:xfrm>
            <a:off x="997290" y="1262856"/>
            <a:ext cx="3819372" cy="640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Verlangsamung des Aufwärtstrends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6FA2563-6845-1A5B-177F-DFFEAC555ECA}"/>
              </a:ext>
            </a:extLst>
          </p:cNvPr>
          <p:cNvSpPr/>
          <p:nvPr/>
        </p:nvSpPr>
        <p:spPr>
          <a:xfrm>
            <a:off x="997292" y="2464668"/>
            <a:ext cx="3819372" cy="640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Resultiert in Panik</a:t>
            </a:r>
          </a:p>
        </p:txBody>
      </p:sp>
      <p:cxnSp>
        <p:nvCxnSpPr>
          <p:cNvPr id="8" name="Gekrümmte Verbindung 7">
            <a:extLst>
              <a:ext uri="{FF2B5EF4-FFF2-40B4-BE49-F238E27FC236}">
                <a16:creationId xmlns:a16="http://schemas.microsoft.com/office/drawing/2014/main" id="{9516CA56-49A3-08DC-2354-4415D06A6C9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14519" y="2046498"/>
            <a:ext cx="496951" cy="283326"/>
          </a:xfrm>
          <a:prstGeom prst="curvedConnector3">
            <a:avLst>
              <a:gd name="adj1" fmla="val 435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krümmte Verbindung 17">
            <a:extLst>
              <a:ext uri="{FF2B5EF4-FFF2-40B4-BE49-F238E27FC236}">
                <a16:creationId xmlns:a16="http://schemas.microsoft.com/office/drawing/2014/main" id="{53B69FD2-0F25-50A1-67DB-011840251B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14520" y="3259828"/>
            <a:ext cx="496951" cy="283326"/>
          </a:xfrm>
          <a:prstGeom prst="curvedConnector3">
            <a:avLst>
              <a:gd name="adj1" fmla="val 435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DC62A04E-4CEA-DC67-A84D-B791E89A9422}"/>
              </a:ext>
            </a:extLst>
          </p:cNvPr>
          <p:cNvSpPr/>
          <p:nvPr/>
        </p:nvSpPr>
        <p:spPr>
          <a:xfrm>
            <a:off x="1023561" y="3666479"/>
            <a:ext cx="3819372" cy="640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Resultiert in erste Verkäufe</a:t>
            </a:r>
          </a:p>
        </p:txBody>
      </p:sp>
      <p:cxnSp>
        <p:nvCxnSpPr>
          <p:cNvPr id="23" name="Gekrümmte Verbindung 22">
            <a:extLst>
              <a:ext uri="{FF2B5EF4-FFF2-40B4-BE49-F238E27FC236}">
                <a16:creationId xmlns:a16="http://schemas.microsoft.com/office/drawing/2014/main" id="{00BB3513-F068-FE73-7C83-DCEE69D7EE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14518" y="4430416"/>
            <a:ext cx="496951" cy="283326"/>
          </a:xfrm>
          <a:prstGeom prst="curvedConnector3">
            <a:avLst>
              <a:gd name="adj1" fmla="val 435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7A02F8BE-CDF4-6E91-145B-7821FB1A16A5}"/>
              </a:ext>
            </a:extLst>
          </p:cNvPr>
          <p:cNvSpPr/>
          <p:nvPr/>
        </p:nvSpPr>
        <p:spPr>
          <a:xfrm>
            <a:off x="997291" y="4868291"/>
            <a:ext cx="3845642" cy="640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Resultiert in Massenverkäufe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F88FB44-5E02-363E-A3C1-ACF70B0319BC}"/>
              </a:ext>
            </a:extLst>
          </p:cNvPr>
          <p:cNvSpPr/>
          <p:nvPr/>
        </p:nvSpPr>
        <p:spPr>
          <a:xfrm>
            <a:off x="997289" y="6089481"/>
            <a:ext cx="3845644" cy="640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800" dirty="0"/>
              <a:t>Resultiert in Börsen Crash</a:t>
            </a:r>
          </a:p>
        </p:txBody>
      </p:sp>
      <p:cxnSp>
        <p:nvCxnSpPr>
          <p:cNvPr id="26" name="Gekrümmte Verbindung 25">
            <a:extLst>
              <a:ext uri="{FF2B5EF4-FFF2-40B4-BE49-F238E27FC236}">
                <a16:creationId xmlns:a16="http://schemas.microsoft.com/office/drawing/2014/main" id="{BB40D640-149E-6682-C2E4-CA29E76BA5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14519" y="5657529"/>
            <a:ext cx="496951" cy="283326"/>
          </a:xfrm>
          <a:prstGeom prst="curvedConnector3">
            <a:avLst>
              <a:gd name="adj1" fmla="val 435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48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5E174-413D-DF78-BE7F-6EB84F17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666" y="169419"/>
            <a:ext cx="6783725" cy="598840"/>
          </a:xfrm>
        </p:spPr>
        <p:txBody>
          <a:bodyPr>
            <a:noAutofit/>
          </a:bodyPr>
          <a:lstStyle/>
          <a:p>
            <a:r>
              <a:rPr lang="de-DE" dirty="0"/>
              <a:t>Reaktion des Finanzmarkts</a:t>
            </a:r>
          </a:p>
        </p:txBody>
      </p:sp>
      <p:sp>
        <p:nvSpPr>
          <p:cNvPr id="5" name="Legende mit Pfeil nach unten 4">
            <a:extLst>
              <a:ext uri="{FF2B5EF4-FFF2-40B4-BE49-F238E27FC236}">
                <a16:creationId xmlns:a16="http://schemas.microsoft.com/office/drawing/2014/main" id="{500CD789-DA2E-E8C9-1874-E73E198823FB}"/>
              </a:ext>
            </a:extLst>
          </p:cNvPr>
          <p:cNvSpPr/>
          <p:nvPr/>
        </p:nvSpPr>
        <p:spPr>
          <a:xfrm>
            <a:off x="4911359" y="1001359"/>
            <a:ext cx="2709334" cy="14859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Massive Liquidierung Vergebener Bankkredite </a:t>
            </a:r>
          </a:p>
        </p:txBody>
      </p:sp>
      <p:sp>
        <p:nvSpPr>
          <p:cNvPr id="8" name="Legende mit Pfeil nach unten 7">
            <a:extLst>
              <a:ext uri="{FF2B5EF4-FFF2-40B4-BE49-F238E27FC236}">
                <a16:creationId xmlns:a16="http://schemas.microsoft.com/office/drawing/2014/main" id="{73C80CC7-7472-9EFF-C87E-7562566B6AC9}"/>
              </a:ext>
            </a:extLst>
          </p:cNvPr>
          <p:cNvSpPr/>
          <p:nvPr/>
        </p:nvSpPr>
        <p:spPr>
          <a:xfrm>
            <a:off x="1485900" y="2286000"/>
            <a:ext cx="2782687" cy="14859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Insolvenzen bei </a:t>
            </a:r>
          </a:p>
          <a:p>
            <a:pPr algn="ctr"/>
            <a:r>
              <a:rPr lang="de-DE" dirty="0"/>
              <a:t>Banken, Unternehmen, Konsumenten</a:t>
            </a:r>
          </a:p>
        </p:txBody>
      </p:sp>
      <p:sp>
        <p:nvSpPr>
          <p:cNvPr id="10" name="Legende mit Pfeil nach unten 9">
            <a:extLst>
              <a:ext uri="{FF2B5EF4-FFF2-40B4-BE49-F238E27FC236}">
                <a16:creationId xmlns:a16="http://schemas.microsoft.com/office/drawing/2014/main" id="{F634B265-4EFB-0C64-DE54-03ACCE3BE069}"/>
              </a:ext>
            </a:extLst>
          </p:cNvPr>
          <p:cNvSpPr/>
          <p:nvPr/>
        </p:nvSpPr>
        <p:spPr>
          <a:xfrm>
            <a:off x="8263466" y="2299404"/>
            <a:ext cx="2709334" cy="14859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Einzug bestehender Investition </a:t>
            </a:r>
          </a:p>
        </p:txBody>
      </p:sp>
      <p:sp>
        <p:nvSpPr>
          <p:cNvPr id="12" name="Legende mit Pfeil nach unten 11">
            <a:extLst>
              <a:ext uri="{FF2B5EF4-FFF2-40B4-BE49-F238E27FC236}">
                <a16:creationId xmlns:a16="http://schemas.microsoft.com/office/drawing/2014/main" id="{E3DE1C53-5160-67EA-C607-E7768C2CC8FD}"/>
              </a:ext>
            </a:extLst>
          </p:cNvPr>
          <p:cNvSpPr/>
          <p:nvPr/>
        </p:nvSpPr>
        <p:spPr>
          <a:xfrm>
            <a:off x="4866204" y="3748263"/>
            <a:ext cx="2799645" cy="14859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Globales Solvenz Problem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60EB9ED-6666-4B63-7EB8-11BF738E6BA4}"/>
              </a:ext>
            </a:extLst>
          </p:cNvPr>
          <p:cNvSpPr/>
          <p:nvPr/>
        </p:nvSpPr>
        <p:spPr>
          <a:xfrm>
            <a:off x="1522576" y="5485520"/>
            <a:ext cx="9486899" cy="903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Globale Wirtschaftskrise</a:t>
            </a:r>
          </a:p>
        </p:txBody>
      </p:sp>
    </p:spTree>
    <p:extLst>
      <p:ext uri="{BB962C8B-B14F-4D97-AF65-F5344CB8AC3E}">
        <p14:creationId xmlns:p14="http://schemas.microsoft.com/office/powerpoint/2010/main" val="285112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21D2-F4D7-99DB-A61E-BCB3BA4F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736" y="145475"/>
            <a:ext cx="7471064" cy="488372"/>
          </a:xfrm>
        </p:spPr>
        <p:txBody>
          <a:bodyPr>
            <a:noAutofit/>
          </a:bodyPr>
          <a:lstStyle/>
          <a:p>
            <a:r>
              <a:rPr lang="de-DE" dirty="0"/>
              <a:t>Globale Rezessionen 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70FB554-8DD2-EE16-01A4-2BE116158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146796"/>
              </p:ext>
            </p:extLst>
          </p:nvPr>
        </p:nvGraphicFramePr>
        <p:xfrm>
          <a:off x="985078" y="1292087"/>
          <a:ext cx="10749721" cy="5337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572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24C10-F765-48DE-C183-A3D49823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447" y="164180"/>
            <a:ext cx="9601200" cy="573575"/>
          </a:xfrm>
        </p:spPr>
        <p:txBody>
          <a:bodyPr>
            <a:noAutofit/>
          </a:bodyPr>
          <a:lstStyle/>
          <a:p>
            <a:r>
              <a:rPr lang="de-DE" dirty="0"/>
              <a:t>Soziale Folgen der Weltwirtschaftskrise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553D26E-B7AA-A0C1-5C88-941DCC4290B5}"/>
              </a:ext>
            </a:extLst>
          </p:cNvPr>
          <p:cNvSpPr/>
          <p:nvPr/>
        </p:nvSpPr>
        <p:spPr>
          <a:xfrm>
            <a:off x="1292574" y="2252125"/>
            <a:ext cx="5322711" cy="440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aseline="0" dirty="0"/>
              <a:t>Anstieg der Armut und der Obdachlosigkeit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8BFD841-B505-40DC-0205-1ADE934F9679}"/>
              </a:ext>
            </a:extLst>
          </p:cNvPr>
          <p:cNvSpPr/>
          <p:nvPr/>
        </p:nvSpPr>
        <p:spPr>
          <a:xfrm>
            <a:off x="1292574" y="2885716"/>
            <a:ext cx="8449733" cy="440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aseline="0" dirty="0"/>
              <a:t>Zunahme psychischer Gesundheitsprobleme aufgrund von Stress und Unsicherheit</a:t>
            </a:r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61780B8-90DB-6433-0AB6-6505ACEB4A0C}"/>
              </a:ext>
            </a:extLst>
          </p:cNvPr>
          <p:cNvSpPr/>
          <p:nvPr/>
        </p:nvSpPr>
        <p:spPr>
          <a:xfrm>
            <a:off x="1292574" y="3519307"/>
            <a:ext cx="8449733" cy="440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aseline="0" dirty="0"/>
              <a:t>Verschärfung sozialer Ungleichheit</a:t>
            </a:r>
            <a:endParaRPr lang="en-US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8FFE459-CB1A-61A8-1001-B99B529A69FD}"/>
              </a:ext>
            </a:extLst>
          </p:cNvPr>
          <p:cNvSpPr/>
          <p:nvPr/>
        </p:nvSpPr>
        <p:spPr>
          <a:xfrm>
            <a:off x="1292575" y="4152898"/>
            <a:ext cx="8449733" cy="440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aseline="0" dirty="0"/>
              <a:t>Anstieg der Zahl der Menschen, die auf staatliche Unterstützung angewiesen sind </a:t>
            </a:r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7591B94-FFC2-E355-5ED7-EAB033485C77}"/>
              </a:ext>
            </a:extLst>
          </p:cNvPr>
          <p:cNvSpPr/>
          <p:nvPr/>
        </p:nvSpPr>
        <p:spPr>
          <a:xfrm>
            <a:off x="1292576" y="4786489"/>
            <a:ext cx="8449733" cy="440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aseline="0" dirty="0"/>
              <a:t>Zunahme von Zwangsräumungen und Wohnungslosigkeit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6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E4CBF-F1D0-4ED5-4B2E-41DB5ACA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929" y="155864"/>
            <a:ext cx="8732322" cy="602673"/>
          </a:xfrm>
        </p:spPr>
        <p:txBody>
          <a:bodyPr>
            <a:noAutofit/>
          </a:bodyPr>
          <a:lstStyle/>
          <a:p>
            <a:r>
              <a:rPr lang="de-DE" dirty="0"/>
              <a:t>Auswirkungen auf Deutschland</a:t>
            </a:r>
          </a:p>
        </p:txBody>
      </p:sp>
      <p:graphicFrame>
        <p:nvGraphicFramePr>
          <p:cNvPr id="11" name="Inhaltsplatzhalter 2">
            <a:extLst>
              <a:ext uri="{FF2B5EF4-FFF2-40B4-BE49-F238E27FC236}">
                <a16:creationId xmlns:a16="http://schemas.microsoft.com/office/drawing/2014/main" id="{294CD902-3FD3-9980-2699-065E2ACE37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389914" y="2286000"/>
          <a:ext cx="5127172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E28ADB24-96EC-B76B-5450-04284689A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3416841"/>
              </p:ext>
            </p:extLst>
          </p:nvPr>
        </p:nvGraphicFramePr>
        <p:xfrm>
          <a:off x="1010858" y="2136288"/>
          <a:ext cx="4600232" cy="3731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CD231D8E-AF43-793D-1363-3E94CF4894FC}"/>
              </a:ext>
            </a:extLst>
          </p:cNvPr>
          <p:cNvSpPr txBox="1"/>
          <p:nvPr/>
        </p:nvSpPr>
        <p:spPr>
          <a:xfrm>
            <a:off x="1046678" y="6511352"/>
            <a:ext cx="709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In Mio.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B7EF4F-C655-4462-E5F4-17DB572382B0}"/>
              </a:ext>
            </a:extLst>
          </p:cNvPr>
          <p:cNvSpPr txBox="1"/>
          <p:nvPr/>
        </p:nvSpPr>
        <p:spPr>
          <a:xfrm>
            <a:off x="1919514" y="6511351"/>
            <a:ext cx="1423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Quelle: </a:t>
            </a:r>
            <a:r>
              <a:rPr lang="de-DE" sz="1400" dirty="0" err="1"/>
              <a:t>Studyflix</a:t>
            </a:r>
            <a:r>
              <a:rPr lang="de-DE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185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97097-C8B4-D9E3-F260-357CED7C7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517" y="145473"/>
            <a:ext cx="9310255" cy="716973"/>
          </a:xfrm>
        </p:spPr>
        <p:txBody>
          <a:bodyPr/>
          <a:lstStyle/>
          <a:p>
            <a:r>
              <a:rPr lang="de-DE" dirty="0">
                <a:ea typeface="+mj-lt"/>
                <a:cs typeface="+mj-lt"/>
              </a:rPr>
              <a:t>Rückblickende Lehren aus der Krise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46951640-39BE-DF5E-102D-9EF7DD129D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412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C8A2B8-5B49-7386-5325-1EA9A01F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27" y="166254"/>
            <a:ext cx="8375073" cy="592282"/>
          </a:xfrm>
        </p:spPr>
        <p:txBody>
          <a:bodyPr>
            <a:noAutofit/>
          </a:bodyPr>
          <a:lstStyle/>
          <a:p>
            <a:r>
              <a:rPr lang="de-DE" dirty="0"/>
              <a:t>Politische Folgen in Deutschland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3197FB0-517D-D607-C1D9-46E73365AE84}"/>
              </a:ext>
            </a:extLst>
          </p:cNvPr>
          <p:cNvSpPr/>
          <p:nvPr/>
        </p:nvSpPr>
        <p:spPr>
          <a:xfrm>
            <a:off x="829541" y="1269855"/>
            <a:ext cx="4604904" cy="590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Schlechte wirtschaftliche soziale Verhältnisse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78E4DD3-5E19-DFC2-512F-68EE7EEA6BAD}"/>
              </a:ext>
            </a:extLst>
          </p:cNvPr>
          <p:cNvSpPr/>
          <p:nvPr/>
        </p:nvSpPr>
        <p:spPr>
          <a:xfrm>
            <a:off x="829541" y="2836718"/>
            <a:ext cx="4604904" cy="593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Radikalisierung in der Bevölkerung nimmt zu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7A86F76-E440-5886-5DEC-8036FB5563FA}"/>
              </a:ext>
            </a:extLst>
          </p:cNvPr>
          <p:cNvSpPr/>
          <p:nvPr/>
        </p:nvSpPr>
        <p:spPr>
          <a:xfrm>
            <a:off x="829541" y="4404404"/>
            <a:ext cx="4719204" cy="66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NSDAP, KPD gewinnen an macht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BA83C72-0DD5-7B17-121B-62B502DCDE01}"/>
              </a:ext>
            </a:extLst>
          </p:cNvPr>
          <p:cNvSpPr/>
          <p:nvPr/>
        </p:nvSpPr>
        <p:spPr>
          <a:xfrm>
            <a:off x="7383869" y="4366981"/>
            <a:ext cx="3497359" cy="699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Koalition aus SPD und DVP zerbricht </a:t>
            </a:r>
          </a:p>
        </p:txBody>
      </p:sp>
      <p:sp>
        <p:nvSpPr>
          <p:cNvPr id="9" name="Pfeil nach rechts 8">
            <a:extLst>
              <a:ext uri="{FF2B5EF4-FFF2-40B4-BE49-F238E27FC236}">
                <a16:creationId xmlns:a16="http://schemas.microsoft.com/office/drawing/2014/main" id="{B2C543EE-181C-6958-ECE5-55568A159485}"/>
              </a:ext>
            </a:extLst>
          </p:cNvPr>
          <p:cNvSpPr/>
          <p:nvPr/>
        </p:nvSpPr>
        <p:spPr>
          <a:xfrm>
            <a:off x="6096000" y="1267953"/>
            <a:ext cx="52573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30DB6A5-68B0-E2C8-BFBA-FA5C98CB0CFC}"/>
              </a:ext>
            </a:extLst>
          </p:cNvPr>
          <p:cNvSpPr/>
          <p:nvPr/>
        </p:nvSpPr>
        <p:spPr>
          <a:xfrm>
            <a:off x="7387935" y="1267953"/>
            <a:ext cx="3497357" cy="59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Geringes vertrauen in Regierung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41DAEE2-0B1F-94C7-DC01-8EC8F340F590}"/>
              </a:ext>
            </a:extLst>
          </p:cNvPr>
          <p:cNvSpPr/>
          <p:nvPr/>
        </p:nvSpPr>
        <p:spPr>
          <a:xfrm>
            <a:off x="7383871" y="2836717"/>
            <a:ext cx="3497359" cy="592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Demokratische Parteien sind laut Volksmund verantwortlich</a:t>
            </a:r>
          </a:p>
        </p:txBody>
      </p:sp>
      <p:sp>
        <p:nvSpPr>
          <p:cNvPr id="14" name="Pfeil nach unten 13">
            <a:extLst>
              <a:ext uri="{FF2B5EF4-FFF2-40B4-BE49-F238E27FC236}">
                <a16:creationId xmlns:a16="http://schemas.microsoft.com/office/drawing/2014/main" id="{28B70581-B23A-D70F-AC0D-3C443EFBB5FC}"/>
              </a:ext>
            </a:extLst>
          </p:cNvPr>
          <p:cNvSpPr/>
          <p:nvPr/>
        </p:nvSpPr>
        <p:spPr>
          <a:xfrm>
            <a:off x="8890233" y="1944169"/>
            <a:ext cx="484632" cy="3831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unten 14">
            <a:extLst>
              <a:ext uri="{FF2B5EF4-FFF2-40B4-BE49-F238E27FC236}">
                <a16:creationId xmlns:a16="http://schemas.microsoft.com/office/drawing/2014/main" id="{84585992-8C09-E3DD-6E7A-7549A40FC4C1}"/>
              </a:ext>
            </a:extLst>
          </p:cNvPr>
          <p:cNvSpPr/>
          <p:nvPr/>
        </p:nvSpPr>
        <p:spPr>
          <a:xfrm>
            <a:off x="2993586" y="1944169"/>
            <a:ext cx="484632" cy="3831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Pfeil nach unten 15">
            <a:extLst>
              <a:ext uri="{FF2B5EF4-FFF2-40B4-BE49-F238E27FC236}">
                <a16:creationId xmlns:a16="http://schemas.microsoft.com/office/drawing/2014/main" id="{779387E7-66F9-E54D-20DD-D3CD0A41DCE9}"/>
              </a:ext>
            </a:extLst>
          </p:cNvPr>
          <p:cNvSpPr/>
          <p:nvPr/>
        </p:nvSpPr>
        <p:spPr>
          <a:xfrm>
            <a:off x="2993586" y="3514722"/>
            <a:ext cx="484632" cy="3831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 nach unten 16">
            <a:extLst>
              <a:ext uri="{FF2B5EF4-FFF2-40B4-BE49-F238E27FC236}">
                <a16:creationId xmlns:a16="http://schemas.microsoft.com/office/drawing/2014/main" id="{A5DC2697-1462-0B26-C176-92F47DFD449A}"/>
              </a:ext>
            </a:extLst>
          </p:cNvPr>
          <p:cNvSpPr/>
          <p:nvPr/>
        </p:nvSpPr>
        <p:spPr>
          <a:xfrm>
            <a:off x="8890233" y="3514722"/>
            <a:ext cx="484632" cy="3831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0B26640-8663-E3F7-29B1-8AE006808A08}"/>
              </a:ext>
            </a:extLst>
          </p:cNvPr>
          <p:cNvSpPr/>
          <p:nvPr/>
        </p:nvSpPr>
        <p:spPr>
          <a:xfrm>
            <a:off x="7383870" y="5937534"/>
            <a:ext cx="3497357" cy="4840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Beginn der Präsidial Kabinette</a:t>
            </a:r>
          </a:p>
        </p:txBody>
      </p:sp>
      <p:sp>
        <p:nvSpPr>
          <p:cNvPr id="21" name="Pfeil nach unten 20">
            <a:extLst>
              <a:ext uri="{FF2B5EF4-FFF2-40B4-BE49-F238E27FC236}">
                <a16:creationId xmlns:a16="http://schemas.microsoft.com/office/drawing/2014/main" id="{9AFABC9B-3772-2979-A1FE-765C91230482}"/>
              </a:ext>
            </a:extLst>
          </p:cNvPr>
          <p:cNvSpPr/>
          <p:nvPr/>
        </p:nvSpPr>
        <p:spPr>
          <a:xfrm>
            <a:off x="8890233" y="5155086"/>
            <a:ext cx="484632" cy="3831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199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F6322-FB46-DB33-51B1-1B752319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025" y="164957"/>
            <a:ext cx="9645950" cy="745547"/>
          </a:xfrm>
        </p:spPr>
        <p:txBody>
          <a:bodyPr>
            <a:normAutofit/>
          </a:bodyPr>
          <a:lstStyle/>
          <a:p>
            <a:r>
              <a:rPr lang="de-DE" dirty="0"/>
              <a:t>Grund für die Präsidial Kabinette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B83EB41-563B-BE7B-6F48-0DF6DB25578C}"/>
              </a:ext>
            </a:extLst>
          </p:cNvPr>
          <p:cNvSpPr/>
          <p:nvPr/>
        </p:nvSpPr>
        <p:spPr>
          <a:xfrm>
            <a:off x="1371600" y="1428750"/>
            <a:ext cx="8260773" cy="566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Radikalisierung und Abnahme der Wähler bei demokratischen Parteien </a:t>
            </a:r>
          </a:p>
        </p:txBody>
      </p:sp>
      <p:sp>
        <p:nvSpPr>
          <p:cNvPr id="6" name="Pfeil nach unten 5">
            <a:extLst>
              <a:ext uri="{FF2B5EF4-FFF2-40B4-BE49-F238E27FC236}">
                <a16:creationId xmlns:a16="http://schemas.microsoft.com/office/drawing/2014/main" id="{274D0B72-FD02-784B-DEA8-0DF668DF5643}"/>
              </a:ext>
            </a:extLst>
          </p:cNvPr>
          <p:cNvSpPr/>
          <p:nvPr/>
        </p:nvSpPr>
        <p:spPr>
          <a:xfrm>
            <a:off x="5351319" y="2041813"/>
            <a:ext cx="484632" cy="3948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4C6B3A-2353-D3A9-2E33-34FD838C7BF7}"/>
              </a:ext>
            </a:extLst>
          </p:cNvPr>
          <p:cNvSpPr/>
          <p:nvPr/>
        </p:nvSpPr>
        <p:spPr>
          <a:xfrm>
            <a:off x="3702489" y="2509404"/>
            <a:ext cx="3782291" cy="566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Keine Mehrheit in der Regierung</a:t>
            </a:r>
          </a:p>
        </p:txBody>
      </p:sp>
      <p:sp>
        <p:nvSpPr>
          <p:cNvPr id="8" name="Pfeil nach unten 7">
            <a:extLst>
              <a:ext uri="{FF2B5EF4-FFF2-40B4-BE49-F238E27FC236}">
                <a16:creationId xmlns:a16="http://schemas.microsoft.com/office/drawing/2014/main" id="{7DBBECFE-77D5-2256-E21A-813F4DE7F5AA}"/>
              </a:ext>
            </a:extLst>
          </p:cNvPr>
          <p:cNvSpPr/>
          <p:nvPr/>
        </p:nvSpPr>
        <p:spPr>
          <a:xfrm>
            <a:off x="5351318" y="3153640"/>
            <a:ext cx="484632" cy="3948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AC74765-8A1B-822C-805D-8903969D4CAC}"/>
              </a:ext>
            </a:extLst>
          </p:cNvPr>
          <p:cNvSpPr/>
          <p:nvPr/>
        </p:nvSpPr>
        <p:spPr>
          <a:xfrm>
            <a:off x="3712741" y="3626426"/>
            <a:ext cx="3782291" cy="566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Kompromissunfähigkeit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1BC7BC3-3372-0D3D-6922-78B4DF1EC1FF}"/>
              </a:ext>
            </a:extLst>
          </p:cNvPr>
          <p:cNvSpPr/>
          <p:nvPr/>
        </p:nvSpPr>
        <p:spPr>
          <a:xfrm>
            <a:off x="2193937" y="5003221"/>
            <a:ext cx="7284026" cy="7065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Ziel war es die Kompromissunfähigkeit zu überwinden in dem man den Reichstag auflöst und somit die Reichsregierung alleine regiert.</a:t>
            </a:r>
          </a:p>
        </p:txBody>
      </p:sp>
    </p:spTree>
    <p:extLst>
      <p:ext uri="{BB962C8B-B14F-4D97-AF65-F5344CB8AC3E}">
        <p14:creationId xmlns:p14="http://schemas.microsoft.com/office/powerpoint/2010/main" val="223057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A4EFF-4811-C8F6-6000-FA0B1C0C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88733"/>
            <a:ext cx="9601200" cy="820480"/>
          </a:xfrm>
        </p:spPr>
        <p:txBody>
          <a:bodyPr>
            <a:normAutofit/>
          </a:bodyPr>
          <a:lstStyle/>
          <a:p>
            <a:r>
              <a:rPr lang="de-DE" dirty="0"/>
              <a:t>Vorgang hinter den Präsidialkabinetten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3D1E8D1B-BC99-F907-9324-CE670A5760DD}"/>
              </a:ext>
            </a:extLst>
          </p:cNvPr>
          <p:cNvSpPr/>
          <p:nvPr/>
        </p:nvSpPr>
        <p:spPr>
          <a:xfrm>
            <a:off x="1371600" y="2498651"/>
            <a:ext cx="2541181" cy="123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1. Einbringung Gesetzesvorlage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4DADCF5-A6E5-5786-5CBA-D3BE73F91297}"/>
              </a:ext>
            </a:extLst>
          </p:cNvPr>
          <p:cNvSpPr/>
          <p:nvPr/>
        </p:nvSpPr>
        <p:spPr>
          <a:xfrm>
            <a:off x="1371600" y="1376917"/>
            <a:ext cx="2541181" cy="609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Reichsregierung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3571FB-3270-A1F2-249F-DA91B09273C3}"/>
              </a:ext>
            </a:extLst>
          </p:cNvPr>
          <p:cNvSpPr/>
          <p:nvPr/>
        </p:nvSpPr>
        <p:spPr>
          <a:xfrm>
            <a:off x="4996415" y="1385776"/>
            <a:ext cx="2446374" cy="6096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Reichstag</a:t>
            </a:r>
          </a:p>
        </p:txBody>
      </p:sp>
      <p:sp>
        <p:nvSpPr>
          <p:cNvPr id="9" name="Pfeil nach rechts 8">
            <a:extLst>
              <a:ext uri="{FF2B5EF4-FFF2-40B4-BE49-F238E27FC236}">
                <a16:creationId xmlns:a16="http://schemas.microsoft.com/office/drawing/2014/main" id="{B58EA52A-769B-AB77-7747-CDE5C31F2AF6}"/>
              </a:ext>
            </a:extLst>
          </p:cNvPr>
          <p:cNvSpPr/>
          <p:nvPr/>
        </p:nvSpPr>
        <p:spPr>
          <a:xfrm>
            <a:off x="4996416" y="2498651"/>
            <a:ext cx="2541181" cy="123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2. Ablehnung </a:t>
            </a:r>
          </a:p>
          <a:p>
            <a:pPr algn="ctr"/>
            <a:r>
              <a:rPr lang="de-DE" dirty="0"/>
              <a:t>Gesetzesvorlage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56C7709-12BC-8C6A-6838-B9E102CC1883}"/>
              </a:ext>
            </a:extLst>
          </p:cNvPr>
          <p:cNvSpPr/>
          <p:nvPr/>
        </p:nvSpPr>
        <p:spPr>
          <a:xfrm>
            <a:off x="8431619" y="1376917"/>
            <a:ext cx="2541182" cy="609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Reichspräsident  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2C06B1B-9BB5-054E-E3E3-E47390546E97}"/>
              </a:ext>
            </a:extLst>
          </p:cNvPr>
          <p:cNvSpPr/>
          <p:nvPr/>
        </p:nvSpPr>
        <p:spPr>
          <a:xfrm>
            <a:off x="8431618" y="2809651"/>
            <a:ext cx="2541181" cy="609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3. Erlassung </a:t>
            </a:r>
          </a:p>
          <a:p>
            <a:pPr algn="ctr"/>
            <a:r>
              <a:rPr lang="de-DE" dirty="0"/>
              <a:t>Notverordnung   </a:t>
            </a:r>
          </a:p>
        </p:txBody>
      </p:sp>
      <p:sp>
        <p:nvSpPr>
          <p:cNvPr id="18" name="Pfeil nach rechts 17">
            <a:extLst>
              <a:ext uri="{FF2B5EF4-FFF2-40B4-BE49-F238E27FC236}">
                <a16:creationId xmlns:a16="http://schemas.microsoft.com/office/drawing/2014/main" id="{E5AA25EA-AEE1-7A3A-EAD8-CEEE69F85AD9}"/>
              </a:ext>
            </a:extLst>
          </p:cNvPr>
          <p:cNvSpPr/>
          <p:nvPr/>
        </p:nvSpPr>
        <p:spPr>
          <a:xfrm>
            <a:off x="4996416" y="3966832"/>
            <a:ext cx="2541181" cy="123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4. Forderung </a:t>
            </a:r>
          </a:p>
          <a:p>
            <a:pPr algn="ctr"/>
            <a:r>
              <a:rPr lang="de-DE" dirty="0"/>
              <a:t>nach Aufhebung  </a:t>
            </a:r>
          </a:p>
        </p:txBody>
      </p:sp>
      <p:sp>
        <p:nvSpPr>
          <p:cNvPr id="23" name="Pfeil nach links 22">
            <a:extLst>
              <a:ext uri="{FF2B5EF4-FFF2-40B4-BE49-F238E27FC236}">
                <a16:creationId xmlns:a16="http://schemas.microsoft.com/office/drawing/2014/main" id="{1F107D8D-BEB3-EF5E-1CD2-44D2005FD217}"/>
              </a:ext>
            </a:extLst>
          </p:cNvPr>
          <p:cNvSpPr/>
          <p:nvPr/>
        </p:nvSpPr>
        <p:spPr>
          <a:xfrm>
            <a:off x="8431619" y="5027425"/>
            <a:ext cx="2541182" cy="1231602"/>
          </a:xfrm>
          <a:prstGeom prst="leftArrow">
            <a:avLst>
              <a:gd name="adj1" fmla="val 50000"/>
              <a:gd name="adj2" fmla="val 473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5. Auflösung  Reichstags Artikel 25 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479E0BF-625D-6C7A-BCB5-EEA0445F28D2}"/>
              </a:ext>
            </a:extLst>
          </p:cNvPr>
          <p:cNvSpPr/>
          <p:nvPr/>
        </p:nvSpPr>
        <p:spPr>
          <a:xfrm>
            <a:off x="1371599" y="5338425"/>
            <a:ext cx="2541181" cy="609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6. Regiert bis Neuwahl</a:t>
            </a:r>
          </a:p>
          <a:p>
            <a:pPr algn="ctr"/>
            <a:r>
              <a:rPr lang="de-DE" dirty="0"/>
              <a:t>60 Tage alleine</a:t>
            </a:r>
          </a:p>
        </p:txBody>
      </p:sp>
    </p:spTree>
    <p:extLst>
      <p:ext uri="{BB962C8B-B14F-4D97-AF65-F5344CB8AC3E}">
        <p14:creationId xmlns:p14="http://schemas.microsoft.com/office/powerpoint/2010/main" val="1338201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398A90-415E-32F6-02A7-A650D462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                           Quellen 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8787D6-4F01-2E68-75B0-07BB9546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de-DE">
                <a:ea typeface="+mn-lt"/>
                <a:cs typeface="+mn-lt"/>
                <a:hlinkClick r:id="rId2"/>
              </a:rPr>
              <a:t>https://studyflix.de/geschichte/weltwirtschaftskrise-4358</a:t>
            </a:r>
            <a:endParaRPr lang="de-DE">
              <a:ea typeface="+mn-lt"/>
              <a:cs typeface="+mn-lt"/>
            </a:endParaRPr>
          </a:p>
          <a:p>
            <a:pPr marL="383540" indent="-383540"/>
            <a:r>
              <a:rPr lang="de-DE">
                <a:ea typeface="+mn-lt"/>
                <a:cs typeface="+mn-lt"/>
                <a:hlinkClick r:id="rId3"/>
              </a:rPr>
              <a:t>https://www.bmwk.de/Redaktion/DE/Artikel/Ministerium/Geschichte/1929-1933.html</a:t>
            </a:r>
            <a:endParaRPr lang="de-DE">
              <a:ea typeface="+mn-lt"/>
              <a:cs typeface="+mn-lt"/>
            </a:endParaRPr>
          </a:p>
          <a:p>
            <a:pPr marL="383540" indent="-383540"/>
            <a:r>
              <a:rPr lang="de-DE">
                <a:ea typeface="+mn-lt"/>
                <a:cs typeface="+mn-lt"/>
                <a:hlinkClick r:id="rId4"/>
              </a:rPr>
              <a:t>https://www.americanexpress.com/de-de/kampagnen/guide/geldanlagen/weltwirtschaftskrise-969</a:t>
            </a:r>
            <a:endParaRPr lang="de-DE">
              <a:ea typeface="+mn-lt"/>
              <a:cs typeface="+mn-lt"/>
            </a:endParaRPr>
          </a:p>
          <a:p>
            <a:pPr marL="383540" indent="-383540"/>
            <a:r>
              <a:rPr lang="de-DE">
                <a:ea typeface="+mn-lt"/>
                <a:cs typeface="+mn-lt"/>
                <a:hlinkClick r:id="rId5"/>
              </a:rPr>
              <a:t>https://www.trend.at/politik/weltwirtschaftskrisen</a:t>
            </a:r>
          </a:p>
          <a:p>
            <a:pPr marL="383540" indent="-383540"/>
            <a:endParaRPr lang="de-DE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0888392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Macintosh PowerPoint</Application>
  <PresentationFormat>Breitbild</PresentationFormat>
  <Paragraphs>90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6" baseType="lpstr">
      <vt:lpstr>Franklin Gothic Book</vt:lpstr>
      <vt:lpstr>Ausschnitt</vt:lpstr>
      <vt:lpstr>Weltwirtschaftskrise 1929</vt:lpstr>
      <vt:lpstr>Ausgangssituation Zeit vor 1929</vt:lpstr>
      <vt:lpstr>Börsen Spekulation als Ursache</vt:lpstr>
      <vt:lpstr>Spekulationsblase als erste Folge</vt:lpstr>
      <vt:lpstr>Ende der Spekulationsblase</vt:lpstr>
      <vt:lpstr>Reaktion des Finanzmarkts</vt:lpstr>
      <vt:lpstr>Globale Rezessionen </vt:lpstr>
      <vt:lpstr>Soziale Folgen der Weltwirtschaftskrise</vt:lpstr>
      <vt:lpstr>Auswirkungen auf Deutschland</vt:lpstr>
      <vt:lpstr>Rückblickende Lehren aus der Krise</vt:lpstr>
      <vt:lpstr>Politische Folgen in Deutschland</vt:lpstr>
      <vt:lpstr>Grund für die Präsidial Kabinette</vt:lpstr>
      <vt:lpstr>Vorgang hinter den Präsidialkabinetten</vt:lpstr>
      <vt:lpstr>                           Quellen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Weltwirtschaftskrise 1929</dc:title>
  <dc:creator>Elias Geyermann</dc:creator>
  <cp:lastModifiedBy>Elias Geyermann</cp:lastModifiedBy>
  <cp:revision>3</cp:revision>
  <dcterms:created xsi:type="dcterms:W3CDTF">2024-02-19T18:20:45Z</dcterms:created>
  <dcterms:modified xsi:type="dcterms:W3CDTF">2024-10-25T14:43:52Z</dcterms:modified>
</cp:coreProperties>
</file>