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65" r:id="rId5"/>
    <p:sldId id="264" r:id="rId6"/>
    <p:sldId id="260" r:id="rId7"/>
    <p:sldId id="261" r:id="rId8"/>
    <p:sldId id="263" r:id="rId9"/>
    <p:sldId id="266" r:id="rId10"/>
    <p:sldId id="267" r:id="rId11"/>
    <p:sldId id="268" r:id="rId12"/>
    <p:sldId id="269" r:id="rId13"/>
    <p:sldId id="271" r:id="rId14"/>
    <p:sldId id="270" r:id="rId15"/>
    <p:sldId id="272" r:id="rId16"/>
    <p:sldId id="273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969" autoAdjust="0"/>
    <p:restoredTop sz="94660"/>
  </p:normalViewPr>
  <p:slideViewPr>
    <p:cSldViewPr snapToGrid="0">
      <p:cViewPr>
        <p:scale>
          <a:sx n="80" d="100"/>
          <a:sy n="80" d="100"/>
        </p:scale>
        <p:origin x="211" y="1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4" Type="http://schemas.openxmlformats.org/officeDocument/2006/relationships/image" Target="../media/image14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4" Type="http://schemas.openxmlformats.org/officeDocument/2006/relationships/image" Target="../media/image19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4" Type="http://schemas.openxmlformats.org/officeDocument/2006/relationships/image" Target="../media/image14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4" Type="http://schemas.openxmlformats.org/officeDocument/2006/relationships/image" Target="../media/image1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80BFEBA-5181-4443-B011-B32E5F94173F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EE1CF98A-3422-40A4-80A0-8173F3FA3B3B}">
      <dgm:prSet/>
      <dgm:spPr/>
      <dgm:t>
        <a:bodyPr/>
        <a:lstStyle/>
        <a:p>
          <a:r>
            <a:rPr lang="de-DE" b="1"/>
            <a:t>Nachhaltigkeit als übergeordnetes Ziel</a:t>
          </a:r>
          <a:endParaRPr lang="en-US"/>
        </a:p>
      </dgm:t>
    </dgm:pt>
    <dgm:pt modelId="{474B9DA8-6A40-4295-AE11-BA631A2C33C0}" type="parTrans" cxnId="{C47986CB-8910-48C0-B93E-7131A42496BE}">
      <dgm:prSet/>
      <dgm:spPr/>
      <dgm:t>
        <a:bodyPr/>
        <a:lstStyle/>
        <a:p>
          <a:endParaRPr lang="en-US"/>
        </a:p>
      </dgm:t>
    </dgm:pt>
    <dgm:pt modelId="{1A239EB0-2760-4AB9-A1D5-DEC1979782A7}" type="sibTrans" cxnId="{C47986CB-8910-48C0-B93E-7131A42496BE}">
      <dgm:prSet/>
      <dgm:spPr/>
      <dgm:t>
        <a:bodyPr/>
        <a:lstStyle/>
        <a:p>
          <a:endParaRPr lang="en-US"/>
        </a:p>
      </dgm:t>
    </dgm:pt>
    <dgm:pt modelId="{A30C4E81-961E-48BB-B23D-F781D500B569}">
      <dgm:prSet/>
      <dgm:spPr/>
      <dgm:t>
        <a:bodyPr/>
        <a:lstStyle/>
        <a:p>
          <a:r>
            <a:rPr lang="de-DE"/>
            <a:t>Die Vision des Unternehmens: Durch „Kreislaufwirtschaft“ bis 2050 für die Produktion neuer Reifen zu 100% nachhaltige Materialien zu verwenden</a:t>
          </a:r>
          <a:endParaRPr lang="en-US"/>
        </a:p>
      </dgm:t>
    </dgm:pt>
    <dgm:pt modelId="{DAB1D7AC-FE4D-4F49-A27F-A7A326A321E3}" type="parTrans" cxnId="{96253D07-BB91-45E9-9E26-11EDEAA23017}">
      <dgm:prSet/>
      <dgm:spPr/>
      <dgm:t>
        <a:bodyPr/>
        <a:lstStyle/>
        <a:p>
          <a:endParaRPr lang="en-US"/>
        </a:p>
      </dgm:t>
    </dgm:pt>
    <dgm:pt modelId="{91D62D68-AA3E-4C74-92D3-1E767751D1FA}" type="sibTrans" cxnId="{96253D07-BB91-45E9-9E26-11EDEAA23017}">
      <dgm:prSet/>
      <dgm:spPr/>
      <dgm:t>
        <a:bodyPr/>
        <a:lstStyle/>
        <a:p>
          <a:endParaRPr lang="en-US"/>
        </a:p>
      </dgm:t>
    </dgm:pt>
    <dgm:pt modelId="{FDA8D8DF-2433-47E5-92E4-A0D5637FABFD}" type="pres">
      <dgm:prSet presAssocID="{280BFEBA-5181-4443-B011-B32E5F94173F}" presName="root" presStyleCnt="0">
        <dgm:presLayoutVars>
          <dgm:dir/>
          <dgm:resizeHandles val="exact"/>
        </dgm:presLayoutVars>
      </dgm:prSet>
      <dgm:spPr/>
    </dgm:pt>
    <dgm:pt modelId="{C2469D3F-BFEA-4544-8290-025084A8EDF0}" type="pres">
      <dgm:prSet presAssocID="{EE1CF98A-3422-40A4-80A0-8173F3FA3B3B}" presName="compNode" presStyleCnt="0"/>
      <dgm:spPr/>
    </dgm:pt>
    <dgm:pt modelId="{BFFB3B44-052A-4C8E-B2BB-680107C5BE61}" type="pres">
      <dgm:prSet presAssocID="{EE1CF98A-3422-40A4-80A0-8173F3FA3B3B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olltreffer"/>
        </a:ext>
      </dgm:extLst>
    </dgm:pt>
    <dgm:pt modelId="{3D61BE8C-E7CA-4066-BC61-D3C237C9BF19}" type="pres">
      <dgm:prSet presAssocID="{EE1CF98A-3422-40A4-80A0-8173F3FA3B3B}" presName="spaceRect" presStyleCnt="0"/>
      <dgm:spPr/>
    </dgm:pt>
    <dgm:pt modelId="{5CB1149C-D76A-4F31-9CC8-37F5F8D81B5F}" type="pres">
      <dgm:prSet presAssocID="{EE1CF98A-3422-40A4-80A0-8173F3FA3B3B}" presName="textRect" presStyleLbl="revTx" presStyleIdx="0" presStyleCnt="2">
        <dgm:presLayoutVars>
          <dgm:chMax val="1"/>
          <dgm:chPref val="1"/>
        </dgm:presLayoutVars>
      </dgm:prSet>
      <dgm:spPr/>
    </dgm:pt>
    <dgm:pt modelId="{B9600896-D400-4D70-BE61-DBBA3DAFD3B2}" type="pres">
      <dgm:prSet presAssocID="{1A239EB0-2760-4AB9-A1D5-DEC1979782A7}" presName="sibTrans" presStyleCnt="0"/>
      <dgm:spPr/>
    </dgm:pt>
    <dgm:pt modelId="{F21029DE-0F8E-4B69-AC82-836F4CF2F415}" type="pres">
      <dgm:prSet presAssocID="{A30C4E81-961E-48BB-B23D-F781D500B569}" presName="compNode" presStyleCnt="0"/>
      <dgm:spPr/>
    </dgm:pt>
    <dgm:pt modelId="{4AC34786-E421-4D46-AF7E-B29E1E2255A9}" type="pres">
      <dgm:prSet presAssocID="{A30C4E81-961E-48BB-B23D-F781D500B569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abrik"/>
        </a:ext>
      </dgm:extLst>
    </dgm:pt>
    <dgm:pt modelId="{9EB5206F-4889-4830-976C-DC8EA0E821D4}" type="pres">
      <dgm:prSet presAssocID="{A30C4E81-961E-48BB-B23D-F781D500B569}" presName="spaceRect" presStyleCnt="0"/>
      <dgm:spPr/>
    </dgm:pt>
    <dgm:pt modelId="{F4450203-46A5-48C3-A45C-3E2763399022}" type="pres">
      <dgm:prSet presAssocID="{A30C4E81-961E-48BB-B23D-F781D500B569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96253D07-BB91-45E9-9E26-11EDEAA23017}" srcId="{280BFEBA-5181-4443-B011-B32E5F94173F}" destId="{A30C4E81-961E-48BB-B23D-F781D500B569}" srcOrd="1" destOrd="0" parTransId="{DAB1D7AC-FE4D-4F49-A27F-A7A326A321E3}" sibTransId="{91D62D68-AA3E-4C74-92D3-1E767751D1FA}"/>
    <dgm:cxn modelId="{45727609-8639-46F3-A070-F96DB3E7C670}" type="presOf" srcId="{A30C4E81-961E-48BB-B23D-F781D500B569}" destId="{F4450203-46A5-48C3-A45C-3E2763399022}" srcOrd="0" destOrd="0" presId="urn:microsoft.com/office/officeart/2018/2/layout/IconLabelList"/>
    <dgm:cxn modelId="{54B8901C-0EB9-43D0-8421-97299043751F}" type="presOf" srcId="{EE1CF98A-3422-40A4-80A0-8173F3FA3B3B}" destId="{5CB1149C-D76A-4F31-9CC8-37F5F8D81B5F}" srcOrd="0" destOrd="0" presId="urn:microsoft.com/office/officeart/2018/2/layout/IconLabelList"/>
    <dgm:cxn modelId="{C47986CB-8910-48C0-B93E-7131A42496BE}" srcId="{280BFEBA-5181-4443-B011-B32E5F94173F}" destId="{EE1CF98A-3422-40A4-80A0-8173F3FA3B3B}" srcOrd="0" destOrd="0" parTransId="{474B9DA8-6A40-4295-AE11-BA631A2C33C0}" sibTransId="{1A239EB0-2760-4AB9-A1D5-DEC1979782A7}"/>
    <dgm:cxn modelId="{D13A6CDA-0A8C-43DA-9282-CE2560DCD91E}" type="presOf" srcId="{280BFEBA-5181-4443-B011-B32E5F94173F}" destId="{FDA8D8DF-2433-47E5-92E4-A0D5637FABFD}" srcOrd="0" destOrd="0" presId="urn:microsoft.com/office/officeart/2018/2/layout/IconLabelList"/>
    <dgm:cxn modelId="{A3BB18C1-3F2F-4F6F-8D74-89980BC68EF9}" type="presParOf" srcId="{FDA8D8DF-2433-47E5-92E4-A0D5637FABFD}" destId="{C2469D3F-BFEA-4544-8290-025084A8EDF0}" srcOrd="0" destOrd="0" presId="urn:microsoft.com/office/officeart/2018/2/layout/IconLabelList"/>
    <dgm:cxn modelId="{DBE70B1E-EACD-4B3E-9070-F8548D627C96}" type="presParOf" srcId="{C2469D3F-BFEA-4544-8290-025084A8EDF0}" destId="{BFFB3B44-052A-4C8E-B2BB-680107C5BE61}" srcOrd="0" destOrd="0" presId="urn:microsoft.com/office/officeart/2018/2/layout/IconLabelList"/>
    <dgm:cxn modelId="{43397635-E8F5-40F9-9F61-6F354C868CF3}" type="presParOf" srcId="{C2469D3F-BFEA-4544-8290-025084A8EDF0}" destId="{3D61BE8C-E7CA-4066-BC61-D3C237C9BF19}" srcOrd="1" destOrd="0" presId="urn:microsoft.com/office/officeart/2018/2/layout/IconLabelList"/>
    <dgm:cxn modelId="{FDF8C516-A020-4BA5-BB5C-9526C0F2A9FB}" type="presParOf" srcId="{C2469D3F-BFEA-4544-8290-025084A8EDF0}" destId="{5CB1149C-D76A-4F31-9CC8-37F5F8D81B5F}" srcOrd="2" destOrd="0" presId="urn:microsoft.com/office/officeart/2018/2/layout/IconLabelList"/>
    <dgm:cxn modelId="{3BA3FABF-B2D9-4D4D-B03E-4A39899BE030}" type="presParOf" srcId="{FDA8D8DF-2433-47E5-92E4-A0D5637FABFD}" destId="{B9600896-D400-4D70-BE61-DBBA3DAFD3B2}" srcOrd="1" destOrd="0" presId="urn:microsoft.com/office/officeart/2018/2/layout/IconLabelList"/>
    <dgm:cxn modelId="{BA627BB9-DE89-46D9-B011-B6150BA67E31}" type="presParOf" srcId="{FDA8D8DF-2433-47E5-92E4-A0D5637FABFD}" destId="{F21029DE-0F8E-4B69-AC82-836F4CF2F415}" srcOrd="2" destOrd="0" presId="urn:microsoft.com/office/officeart/2018/2/layout/IconLabelList"/>
    <dgm:cxn modelId="{62DF6E85-7E12-45EA-A52E-D0449615073A}" type="presParOf" srcId="{F21029DE-0F8E-4B69-AC82-836F4CF2F415}" destId="{4AC34786-E421-4D46-AF7E-B29E1E2255A9}" srcOrd="0" destOrd="0" presId="urn:microsoft.com/office/officeart/2018/2/layout/IconLabelList"/>
    <dgm:cxn modelId="{6377280C-2470-4C17-AFC5-301042DCB8DB}" type="presParOf" srcId="{F21029DE-0F8E-4B69-AC82-836F4CF2F415}" destId="{9EB5206F-4889-4830-976C-DC8EA0E821D4}" srcOrd="1" destOrd="0" presId="urn:microsoft.com/office/officeart/2018/2/layout/IconLabelList"/>
    <dgm:cxn modelId="{8A42E2E9-FA1A-4DEC-8F22-C3E197177EBB}" type="presParOf" srcId="{F21029DE-0F8E-4B69-AC82-836F4CF2F415}" destId="{F4450203-46A5-48C3-A45C-3E2763399022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8750533-CE1D-488F-870E-D50AD2A09CA1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66797389-35EA-4BA3-B08C-C8B6A4CAC4B7}">
      <dgm:prSet/>
      <dgm:spPr/>
      <dgm:t>
        <a:bodyPr/>
        <a:lstStyle/>
        <a:p>
          <a:r>
            <a:rPr lang="de-DE"/>
            <a:t>Da die Technologie der Strategie und der Vision des Unternehmens entspricht und deren Umsetzung unterstützt, empfehle ich die nächstmögliche Einführung.</a:t>
          </a:r>
          <a:endParaRPr lang="en-US"/>
        </a:p>
      </dgm:t>
    </dgm:pt>
    <dgm:pt modelId="{E2AE144B-70A4-4D2A-8929-542575D33C53}" type="parTrans" cxnId="{152AABA9-4D27-45D2-A150-7E60969B4994}">
      <dgm:prSet/>
      <dgm:spPr/>
      <dgm:t>
        <a:bodyPr/>
        <a:lstStyle/>
        <a:p>
          <a:endParaRPr lang="en-US"/>
        </a:p>
      </dgm:t>
    </dgm:pt>
    <dgm:pt modelId="{83FEECF5-9F1B-4267-A3B5-07C255765660}" type="sibTrans" cxnId="{152AABA9-4D27-45D2-A150-7E60969B4994}">
      <dgm:prSet/>
      <dgm:spPr/>
      <dgm:t>
        <a:bodyPr/>
        <a:lstStyle/>
        <a:p>
          <a:endParaRPr lang="en-US"/>
        </a:p>
      </dgm:t>
    </dgm:pt>
    <dgm:pt modelId="{98BF01E9-2591-495B-8BDD-AED25241E817}">
      <dgm:prSet/>
      <dgm:spPr/>
      <dgm:t>
        <a:bodyPr/>
        <a:lstStyle/>
        <a:p>
          <a:r>
            <a:rPr lang="de-DE"/>
            <a:t>Im Hinblick auf die steigenden Preise für Reifen macht es zudem Sinn, den Angebotspreis um die zusätzliche Gewinnmarge zu senken und hierdurch die Nachfrage und somit den eigenen Marktanteil zu erhöhen.</a:t>
          </a:r>
          <a:endParaRPr lang="en-US"/>
        </a:p>
      </dgm:t>
    </dgm:pt>
    <dgm:pt modelId="{D595D197-6E7B-4A94-9664-FCE195BA13E1}" type="parTrans" cxnId="{F74463B3-E570-45A7-BAC6-F72336F32A81}">
      <dgm:prSet/>
      <dgm:spPr/>
      <dgm:t>
        <a:bodyPr/>
        <a:lstStyle/>
        <a:p>
          <a:endParaRPr lang="en-US"/>
        </a:p>
      </dgm:t>
    </dgm:pt>
    <dgm:pt modelId="{34459DFA-ACCC-4705-8EB2-2150C5A16A93}" type="sibTrans" cxnId="{F74463B3-E570-45A7-BAC6-F72336F32A81}">
      <dgm:prSet/>
      <dgm:spPr/>
      <dgm:t>
        <a:bodyPr/>
        <a:lstStyle/>
        <a:p>
          <a:endParaRPr lang="en-US"/>
        </a:p>
      </dgm:t>
    </dgm:pt>
    <dgm:pt modelId="{6231BBD0-7C55-4480-BC2F-5A66AB016823}" type="pres">
      <dgm:prSet presAssocID="{98750533-CE1D-488F-870E-D50AD2A09CA1}" presName="root" presStyleCnt="0">
        <dgm:presLayoutVars>
          <dgm:dir/>
          <dgm:resizeHandles val="exact"/>
        </dgm:presLayoutVars>
      </dgm:prSet>
      <dgm:spPr/>
    </dgm:pt>
    <dgm:pt modelId="{FAC3074A-276B-4D44-982C-7C8CC0DCCEE5}" type="pres">
      <dgm:prSet presAssocID="{66797389-35EA-4BA3-B08C-C8B6A4CAC4B7}" presName="compNode" presStyleCnt="0"/>
      <dgm:spPr/>
    </dgm:pt>
    <dgm:pt modelId="{361C51A0-8EA3-4885-9502-92D05F51ABCD}" type="pres">
      <dgm:prSet presAssocID="{66797389-35EA-4BA3-B08C-C8B6A4CAC4B7}" presName="bgRect" presStyleLbl="bgShp" presStyleIdx="0" presStyleCnt="2"/>
      <dgm:spPr/>
    </dgm:pt>
    <dgm:pt modelId="{83666720-2983-48FA-B1E8-A8DD65A5918B}" type="pres">
      <dgm:prSet presAssocID="{66797389-35EA-4BA3-B08C-C8B6A4CAC4B7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ght Bulb and Gear"/>
        </a:ext>
      </dgm:extLst>
    </dgm:pt>
    <dgm:pt modelId="{7BE855DA-6122-466C-9DA6-C9297D82D590}" type="pres">
      <dgm:prSet presAssocID="{66797389-35EA-4BA3-B08C-C8B6A4CAC4B7}" presName="spaceRect" presStyleCnt="0"/>
      <dgm:spPr/>
    </dgm:pt>
    <dgm:pt modelId="{AF7BCFA1-658E-4BB7-8C28-CDBC1F67D078}" type="pres">
      <dgm:prSet presAssocID="{66797389-35EA-4BA3-B08C-C8B6A4CAC4B7}" presName="parTx" presStyleLbl="revTx" presStyleIdx="0" presStyleCnt="2">
        <dgm:presLayoutVars>
          <dgm:chMax val="0"/>
          <dgm:chPref val="0"/>
        </dgm:presLayoutVars>
      </dgm:prSet>
      <dgm:spPr/>
    </dgm:pt>
    <dgm:pt modelId="{E8C7369E-18F1-48CE-B020-E2FA4BDB0E45}" type="pres">
      <dgm:prSet presAssocID="{83FEECF5-9F1B-4267-A3B5-07C255765660}" presName="sibTrans" presStyleCnt="0"/>
      <dgm:spPr/>
    </dgm:pt>
    <dgm:pt modelId="{F4B619FC-7C5E-44E6-ABB4-9ACBAC965AB8}" type="pres">
      <dgm:prSet presAssocID="{98BF01E9-2591-495B-8BDD-AED25241E817}" presName="compNode" presStyleCnt="0"/>
      <dgm:spPr/>
    </dgm:pt>
    <dgm:pt modelId="{8027318B-6659-4CCA-9523-1EA87617E5B4}" type="pres">
      <dgm:prSet presAssocID="{98BF01E9-2591-495B-8BDD-AED25241E817}" presName="bgRect" presStyleLbl="bgShp" presStyleIdx="1" presStyleCnt="2"/>
      <dgm:spPr/>
    </dgm:pt>
    <dgm:pt modelId="{3BD5445C-DB0E-4F1E-A935-A5EBB9BAE4A5}" type="pres">
      <dgm:prSet presAssocID="{98BF01E9-2591-495B-8BDD-AED25241E817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ller"/>
        </a:ext>
      </dgm:extLst>
    </dgm:pt>
    <dgm:pt modelId="{7BE35B2F-B78F-4CF7-ACD5-8E7133F2F02B}" type="pres">
      <dgm:prSet presAssocID="{98BF01E9-2591-495B-8BDD-AED25241E817}" presName="spaceRect" presStyleCnt="0"/>
      <dgm:spPr/>
    </dgm:pt>
    <dgm:pt modelId="{5882A62B-2DC4-4E1A-9601-86EAE86352A8}" type="pres">
      <dgm:prSet presAssocID="{98BF01E9-2591-495B-8BDD-AED25241E817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3DA28031-C5C7-48E9-8957-862074D29BBA}" type="presOf" srcId="{66797389-35EA-4BA3-B08C-C8B6A4CAC4B7}" destId="{AF7BCFA1-658E-4BB7-8C28-CDBC1F67D078}" srcOrd="0" destOrd="0" presId="urn:microsoft.com/office/officeart/2018/2/layout/IconVerticalSolidList"/>
    <dgm:cxn modelId="{ADDAEAA4-5F16-4B0C-AC11-1CB8B9D102F9}" type="presOf" srcId="{98750533-CE1D-488F-870E-D50AD2A09CA1}" destId="{6231BBD0-7C55-4480-BC2F-5A66AB016823}" srcOrd="0" destOrd="0" presId="urn:microsoft.com/office/officeart/2018/2/layout/IconVerticalSolidList"/>
    <dgm:cxn modelId="{152AABA9-4D27-45D2-A150-7E60969B4994}" srcId="{98750533-CE1D-488F-870E-D50AD2A09CA1}" destId="{66797389-35EA-4BA3-B08C-C8B6A4CAC4B7}" srcOrd="0" destOrd="0" parTransId="{E2AE144B-70A4-4D2A-8929-542575D33C53}" sibTransId="{83FEECF5-9F1B-4267-A3B5-07C255765660}"/>
    <dgm:cxn modelId="{F74463B3-E570-45A7-BAC6-F72336F32A81}" srcId="{98750533-CE1D-488F-870E-D50AD2A09CA1}" destId="{98BF01E9-2591-495B-8BDD-AED25241E817}" srcOrd="1" destOrd="0" parTransId="{D595D197-6E7B-4A94-9664-FCE195BA13E1}" sibTransId="{34459DFA-ACCC-4705-8EB2-2150C5A16A93}"/>
    <dgm:cxn modelId="{C2EBB8F3-9475-41AD-83FC-927B7D7D2481}" type="presOf" srcId="{98BF01E9-2591-495B-8BDD-AED25241E817}" destId="{5882A62B-2DC4-4E1A-9601-86EAE86352A8}" srcOrd="0" destOrd="0" presId="urn:microsoft.com/office/officeart/2018/2/layout/IconVerticalSolidList"/>
    <dgm:cxn modelId="{75F1480B-063F-4CC1-A336-C581D52FEFFE}" type="presParOf" srcId="{6231BBD0-7C55-4480-BC2F-5A66AB016823}" destId="{FAC3074A-276B-4D44-982C-7C8CC0DCCEE5}" srcOrd="0" destOrd="0" presId="urn:microsoft.com/office/officeart/2018/2/layout/IconVerticalSolidList"/>
    <dgm:cxn modelId="{603180B4-C27C-4424-9A98-CA66E2B6BD08}" type="presParOf" srcId="{FAC3074A-276B-4D44-982C-7C8CC0DCCEE5}" destId="{361C51A0-8EA3-4885-9502-92D05F51ABCD}" srcOrd="0" destOrd="0" presId="urn:microsoft.com/office/officeart/2018/2/layout/IconVerticalSolidList"/>
    <dgm:cxn modelId="{DAF37539-6FC7-4284-814F-F153A89429AB}" type="presParOf" srcId="{FAC3074A-276B-4D44-982C-7C8CC0DCCEE5}" destId="{83666720-2983-48FA-B1E8-A8DD65A5918B}" srcOrd="1" destOrd="0" presId="urn:microsoft.com/office/officeart/2018/2/layout/IconVerticalSolidList"/>
    <dgm:cxn modelId="{F2917856-ABEC-4A3C-A261-E7464FDAC736}" type="presParOf" srcId="{FAC3074A-276B-4D44-982C-7C8CC0DCCEE5}" destId="{7BE855DA-6122-466C-9DA6-C9297D82D590}" srcOrd="2" destOrd="0" presId="urn:microsoft.com/office/officeart/2018/2/layout/IconVerticalSolidList"/>
    <dgm:cxn modelId="{EA67059E-78F2-4A30-8FC1-DB2DA8C9D292}" type="presParOf" srcId="{FAC3074A-276B-4D44-982C-7C8CC0DCCEE5}" destId="{AF7BCFA1-658E-4BB7-8C28-CDBC1F67D078}" srcOrd="3" destOrd="0" presId="urn:microsoft.com/office/officeart/2018/2/layout/IconVerticalSolidList"/>
    <dgm:cxn modelId="{A6F524F9-F19B-42E2-87D6-A731FABCA954}" type="presParOf" srcId="{6231BBD0-7C55-4480-BC2F-5A66AB016823}" destId="{E8C7369E-18F1-48CE-B020-E2FA4BDB0E45}" srcOrd="1" destOrd="0" presId="urn:microsoft.com/office/officeart/2018/2/layout/IconVerticalSolidList"/>
    <dgm:cxn modelId="{5F0D08E1-63CA-48CA-9E11-24889CEF21D0}" type="presParOf" srcId="{6231BBD0-7C55-4480-BC2F-5A66AB016823}" destId="{F4B619FC-7C5E-44E6-ABB4-9ACBAC965AB8}" srcOrd="2" destOrd="0" presId="urn:microsoft.com/office/officeart/2018/2/layout/IconVerticalSolidList"/>
    <dgm:cxn modelId="{0B81BDAE-CD74-4AA3-86B7-28A2AA9C8BB6}" type="presParOf" srcId="{F4B619FC-7C5E-44E6-ABB4-9ACBAC965AB8}" destId="{8027318B-6659-4CCA-9523-1EA87617E5B4}" srcOrd="0" destOrd="0" presId="urn:microsoft.com/office/officeart/2018/2/layout/IconVerticalSolidList"/>
    <dgm:cxn modelId="{5FE9D982-94C3-43A7-ACA1-B1992F148FF9}" type="presParOf" srcId="{F4B619FC-7C5E-44E6-ABB4-9ACBAC965AB8}" destId="{3BD5445C-DB0E-4F1E-A935-A5EBB9BAE4A5}" srcOrd="1" destOrd="0" presId="urn:microsoft.com/office/officeart/2018/2/layout/IconVerticalSolidList"/>
    <dgm:cxn modelId="{001655A6-C345-4708-AC02-77129F6201AB}" type="presParOf" srcId="{F4B619FC-7C5E-44E6-ABB4-9ACBAC965AB8}" destId="{7BE35B2F-B78F-4CF7-ACD5-8E7133F2F02B}" srcOrd="2" destOrd="0" presId="urn:microsoft.com/office/officeart/2018/2/layout/IconVerticalSolidList"/>
    <dgm:cxn modelId="{821A5489-3F41-4F6E-9860-E6FB11CB6885}" type="presParOf" srcId="{F4B619FC-7C5E-44E6-ABB4-9ACBAC965AB8}" destId="{5882A62B-2DC4-4E1A-9601-86EAE86352A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4469D71-F46C-4F20-98AC-42F9B5038F01}" type="doc">
      <dgm:prSet loTypeId="urn:microsoft.com/office/officeart/2005/8/layout/vProcess5" loCatId="process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BB7DF4B8-8F2B-4F20-8202-C1C6E309E136}">
      <dgm:prSet/>
      <dgm:spPr/>
      <dgm:t>
        <a:bodyPr/>
        <a:lstStyle/>
        <a:p>
          <a:r>
            <a:rPr lang="de-DE" b="0" i="0"/>
            <a:t>Durch anhaltende globale Krisen (Krieg, Pandemie) prognostizieren Experten weiterhin eine Rezession im Bereich der Automobilbranche.</a:t>
          </a:r>
          <a:endParaRPr lang="en-US"/>
        </a:p>
      </dgm:t>
    </dgm:pt>
    <dgm:pt modelId="{2CC85F22-104F-4D5F-8D79-CE26095DCC92}" type="parTrans" cxnId="{C3635A99-4299-4C6B-882D-6067B120E7A3}">
      <dgm:prSet/>
      <dgm:spPr/>
      <dgm:t>
        <a:bodyPr/>
        <a:lstStyle/>
        <a:p>
          <a:endParaRPr lang="en-US"/>
        </a:p>
      </dgm:t>
    </dgm:pt>
    <dgm:pt modelId="{E44233C7-7D89-4BD0-8D0E-450888448893}" type="sibTrans" cxnId="{C3635A99-4299-4C6B-882D-6067B120E7A3}">
      <dgm:prSet/>
      <dgm:spPr/>
      <dgm:t>
        <a:bodyPr/>
        <a:lstStyle/>
        <a:p>
          <a:endParaRPr lang="en-US"/>
        </a:p>
      </dgm:t>
    </dgm:pt>
    <dgm:pt modelId="{A4562EFE-EF9A-4BD8-9C1F-8AF0B56FB012}">
      <dgm:prSet/>
      <dgm:spPr/>
      <dgm:t>
        <a:bodyPr/>
        <a:lstStyle/>
        <a:p>
          <a:r>
            <a:rPr lang="de-DE" b="0" i="0"/>
            <a:t>Um weiterhin Abnehmer finden zu können, müssen die eigenen Preise an die derzeitige Situation angepasst werden.</a:t>
          </a:r>
          <a:endParaRPr lang="en-US"/>
        </a:p>
      </dgm:t>
    </dgm:pt>
    <dgm:pt modelId="{1F0B91CD-B7DF-482E-820F-94798C657E55}" type="parTrans" cxnId="{9D551BA0-65ED-49D2-8A4F-A62B165261E6}">
      <dgm:prSet/>
      <dgm:spPr/>
      <dgm:t>
        <a:bodyPr/>
        <a:lstStyle/>
        <a:p>
          <a:endParaRPr lang="en-US"/>
        </a:p>
      </dgm:t>
    </dgm:pt>
    <dgm:pt modelId="{FE1DE3C7-5EFD-4F34-BE9A-0D882BEB3611}" type="sibTrans" cxnId="{9D551BA0-65ED-49D2-8A4F-A62B165261E6}">
      <dgm:prSet/>
      <dgm:spPr/>
      <dgm:t>
        <a:bodyPr/>
        <a:lstStyle/>
        <a:p>
          <a:endParaRPr lang="en-US"/>
        </a:p>
      </dgm:t>
    </dgm:pt>
    <dgm:pt modelId="{C69A6AC4-41D3-44ED-BC92-3919AC6DCF09}">
      <dgm:prSet/>
      <dgm:spPr/>
      <dgm:t>
        <a:bodyPr/>
        <a:lstStyle/>
        <a:p>
          <a:r>
            <a:rPr lang="de-DE" b="0" i="0"/>
            <a:t>Nur durch einzigartige, neuartige Technologien können Kosten gesenkt und somit Wettbewerbsvorteile geschaffen werden.</a:t>
          </a:r>
          <a:endParaRPr lang="en-US"/>
        </a:p>
      </dgm:t>
    </dgm:pt>
    <dgm:pt modelId="{0C4B0FB9-12E8-4296-829A-4FA279943A33}" type="parTrans" cxnId="{B930B9BC-A617-43FC-812D-9409DA2D7293}">
      <dgm:prSet/>
      <dgm:spPr/>
      <dgm:t>
        <a:bodyPr/>
        <a:lstStyle/>
        <a:p>
          <a:endParaRPr lang="en-US"/>
        </a:p>
      </dgm:t>
    </dgm:pt>
    <dgm:pt modelId="{FCB76EF3-1BBE-4559-9AAC-FD9EACAE13B4}" type="sibTrans" cxnId="{B930B9BC-A617-43FC-812D-9409DA2D7293}">
      <dgm:prSet/>
      <dgm:spPr/>
      <dgm:t>
        <a:bodyPr/>
        <a:lstStyle/>
        <a:p>
          <a:endParaRPr lang="en-US"/>
        </a:p>
      </dgm:t>
    </dgm:pt>
    <dgm:pt modelId="{19FBBC12-3FB1-4018-81C7-B1BFD4BFAF8A}" type="pres">
      <dgm:prSet presAssocID="{B4469D71-F46C-4F20-98AC-42F9B5038F01}" presName="outerComposite" presStyleCnt="0">
        <dgm:presLayoutVars>
          <dgm:chMax val="5"/>
          <dgm:dir/>
          <dgm:resizeHandles val="exact"/>
        </dgm:presLayoutVars>
      </dgm:prSet>
      <dgm:spPr/>
    </dgm:pt>
    <dgm:pt modelId="{E6740809-C8CA-4CBB-B7A5-E015083E77DB}" type="pres">
      <dgm:prSet presAssocID="{B4469D71-F46C-4F20-98AC-42F9B5038F01}" presName="dummyMaxCanvas" presStyleCnt="0">
        <dgm:presLayoutVars/>
      </dgm:prSet>
      <dgm:spPr/>
    </dgm:pt>
    <dgm:pt modelId="{D59D3153-0386-4429-9DD4-711C05260892}" type="pres">
      <dgm:prSet presAssocID="{B4469D71-F46C-4F20-98AC-42F9B5038F01}" presName="ThreeNodes_1" presStyleLbl="node1" presStyleIdx="0" presStyleCnt="3">
        <dgm:presLayoutVars>
          <dgm:bulletEnabled val="1"/>
        </dgm:presLayoutVars>
      </dgm:prSet>
      <dgm:spPr/>
    </dgm:pt>
    <dgm:pt modelId="{FE52A1F9-DF9C-403D-BFFD-F5D5C948CBC3}" type="pres">
      <dgm:prSet presAssocID="{B4469D71-F46C-4F20-98AC-42F9B5038F01}" presName="ThreeNodes_2" presStyleLbl="node1" presStyleIdx="1" presStyleCnt="3">
        <dgm:presLayoutVars>
          <dgm:bulletEnabled val="1"/>
        </dgm:presLayoutVars>
      </dgm:prSet>
      <dgm:spPr/>
    </dgm:pt>
    <dgm:pt modelId="{D50B4A37-A089-4CCC-8464-325220696D3C}" type="pres">
      <dgm:prSet presAssocID="{B4469D71-F46C-4F20-98AC-42F9B5038F01}" presName="ThreeNodes_3" presStyleLbl="node1" presStyleIdx="2" presStyleCnt="3">
        <dgm:presLayoutVars>
          <dgm:bulletEnabled val="1"/>
        </dgm:presLayoutVars>
      </dgm:prSet>
      <dgm:spPr/>
    </dgm:pt>
    <dgm:pt modelId="{180D386C-BE90-4067-87BC-227F5A5F5268}" type="pres">
      <dgm:prSet presAssocID="{B4469D71-F46C-4F20-98AC-42F9B5038F01}" presName="ThreeConn_1-2" presStyleLbl="fgAccFollowNode1" presStyleIdx="0" presStyleCnt="2">
        <dgm:presLayoutVars>
          <dgm:bulletEnabled val="1"/>
        </dgm:presLayoutVars>
      </dgm:prSet>
      <dgm:spPr/>
    </dgm:pt>
    <dgm:pt modelId="{22113EB6-A4D8-493D-AAFA-EDAD09D6F794}" type="pres">
      <dgm:prSet presAssocID="{B4469D71-F46C-4F20-98AC-42F9B5038F01}" presName="ThreeConn_2-3" presStyleLbl="fgAccFollowNode1" presStyleIdx="1" presStyleCnt="2">
        <dgm:presLayoutVars>
          <dgm:bulletEnabled val="1"/>
        </dgm:presLayoutVars>
      </dgm:prSet>
      <dgm:spPr/>
    </dgm:pt>
    <dgm:pt modelId="{54C1583D-962D-4C6E-8AE5-67B96EEA600A}" type="pres">
      <dgm:prSet presAssocID="{B4469D71-F46C-4F20-98AC-42F9B5038F01}" presName="ThreeNodes_1_text" presStyleLbl="node1" presStyleIdx="2" presStyleCnt="3">
        <dgm:presLayoutVars>
          <dgm:bulletEnabled val="1"/>
        </dgm:presLayoutVars>
      </dgm:prSet>
      <dgm:spPr/>
    </dgm:pt>
    <dgm:pt modelId="{12A8EACB-DBA4-434E-8D81-A7D17A7827AD}" type="pres">
      <dgm:prSet presAssocID="{B4469D71-F46C-4F20-98AC-42F9B5038F01}" presName="ThreeNodes_2_text" presStyleLbl="node1" presStyleIdx="2" presStyleCnt="3">
        <dgm:presLayoutVars>
          <dgm:bulletEnabled val="1"/>
        </dgm:presLayoutVars>
      </dgm:prSet>
      <dgm:spPr/>
    </dgm:pt>
    <dgm:pt modelId="{59C7C13B-7DD3-4C49-B4F7-F64607D4BAA8}" type="pres">
      <dgm:prSet presAssocID="{B4469D71-F46C-4F20-98AC-42F9B5038F01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3EC51A08-2320-4B46-B1B0-8FB7F2E704E5}" type="presOf" srcId="{A4562EFE-EF9A-4BD8-9C1F-8AF0B56FB012}" destId="{12A8EACB-DBA4-434E-8D81-A7D17A7827AD}" srcOrd="1" destOrd="0" presId="urn:microsoft.com/office/officeart/2005/8/layout/vProcess5"/>
    <dgm:cxn modelId="{B6514E2A-7CFA-4400-BC4C-4B01EA97864A}" type="presOf" srcId="{BB7DF4B8-8F2B-4F20-8202-C1C6E309E136}" destId="{54C1583D-962D-4C6E-8AE5-67B96EEA600A}" srcOrd="1" destOrd="0" presId="urn:microsoft.com/office/officeart/2005/8/layout/vProcess5"/>
    <dgm:cxn modelId="{F3F21E71-0A29-48EC-BAC3-1BC24C627E67}" type="presOf" srcId="{FE1DE3C7-5EFD-4F34-BE9A-0D882BEB3611}" destId="{22113EB6-A4D8-493D-AAFA-EDAD09D6F794}" srcOrd="0" destOrd="0" presId="urn:microsoft.com/office/officeart/2005/8/layout/vProcess5"/>
    <dgm:cxn modelId="{B3B14F77-AFC6-417D-BE0B-34246DB3A738}" type="presOf" srcId="{C69A6AC4-41D3-44ED-BC92-3919AC6DCF09}" destId="{D50B4A37-A089-4CCC-8464-325220696D3C}" srcOrd="0" destOrd="0" presId="urn:microsoft.com/office/officeart/2005/8/layout/vProcess5"/>
    <dgm:cxn modelId="{5316BE7C-DDE8-479F-967A-D81233DB78F8}" type="presOf" srcId="{C69A6AC4-41D3-44ED-BC92-3919AC6DCF09}" destId="{59C7C13B-7DD3-4C49-B4F7-F64607D4BAA8}" srcOrd="1" destOrd="0" presId="urn:microsoft.com/office/officeart/2005/8/layout/vProcess5"/>
    <dgm:cxn modelId="{3B55D28D-6DB4-408E-AE46-81B0D0C08359}" type="presOf" srcId="{A4562EFE-EF9A-4BD8-9C1F-8AF0B56FB012}" destId="{FE52A1F9-DF9C-403D-BFFD-F5D5C948CBC3}" srcOrd="0" destOrd="0" presId="urn:microsoft.com/office/officeart/2005/8/layout/vProcess5"/>
    <dgm:cxn modelId="{C3635A99-4299-4C6B-882D-6067B120E7A3}" srcId="{B4469D71-F46C-4F20-98AC-42F9B5038F01}" destId="{BB7DF4B8-8F2B-4F20-8202-C1C6E309E136}" srcOrd="0" destOrd="0" parTransId="{2CC85F22-104F-4D5F-8D79-CE26095DCC92}" sibTransId="{E44233C7-7D89-4BD0-8D0E-450888448893}"/>
    <dgm:cxn modelId="{9D551BA0-65ED-49D2-8A4F-A62B165261E6}" srcId="{B4469D71-F46C-4F20-98AC-42F9B5038F01}" destId="{A4562EFE-EF9A-4BD8-9C1F-8AF0B56FB012}" srcOrd="1" destOrd="0" parTransId="{1F0B91CD-B7DF-482E-820F-94798C657E55}" sibTransId="{FE1DE3C7-5EFD-4F34-BE9A-0D882BEB3611}"/>
    <dgm:cxn modelId="{D354D0BB-5F99-4B27-94E3-71013620EC55}" type="presOf" srcId="{E44233C7-7D89-4BD0-8D0E-450888448893}" destId="{180D386C-BE90-4067-87BC-227F5A5F5268}" srcOrd="0" destOrd="0" presId="urn:microsoft.com/office/officeart/2005/8/layout/vProcess5"/>
    <dgm:cxn modelId="{B930B9BC-A617-43FC-812D-9409DA2D7293}" srcId="{B4469D71-F46C-4F20-98AC-42F9B5038F01}" destId="{C69A6AC4-41D3-44ED-BC92-3919AC6DCF09}" srcOrd="2" destOrd="0" parTransId="{0C4B0FB9-12E8-4296-829A-4FA279943A33}" sibTransId="{FCB76EF3-1BBE-4559-9AAC-FD9EACAE13B4}"/>
    <dgm:cxn modelId="{43D63BCA-9CA1-473C-94DB-85BC251F53FB}" type="presOf" srcId="{B4469D71-F46C-4F20-98AC-42F9B5038F01}" destId="{19FBBC12-3FB1-4018-81C7-B1BFD4BFAF8A}" srcOrd="0" destOrd="0" presId="urn:microsoft.com/office/officeart/2005/8/layout/vProcess5"/>
    <dgm:cxn modelId="{893D01F6-6977-465B-B4B3-F187746754DE}" type="presOf" srcId="{BB7DF4B8-8F2B-4F20-8202-C1C6E309E136}" destId="{D59D3153-0386-4429-9DD4-711C05260892}" srcOrd="0" destOrd="0" presId="urn:microsoft.com/office/officeart/2005/8/layout/vProcess5"/>
    <dgm:cxn modelId="{202C6853-0122-444C-ABD2-202FBF6FCE8F}" type="presParOf" srcId="{19FBBC12-3FB1-4018-81C7-B1BFD4BFAF8A}" destId="{E6740809-C8CA-4CBB-B7A5-E015083E77DB}" srcOrd="0" destOrd="0" presId="urn:microsoft.com/office/officeart/2005/8/layout/vProcess5"/>
    <dgm:cxn modelId="{1E1B2D40-B549-43EB-AFA6-012ECFFB9206}" type="presParOf" srcId="{19FBBC12-3FB1-4018-81C7-B1BFD4BFAF8A}" destId="{D59D3153-0386-4429-9DD4-711C05260892}" srcOrd="1" destOrd="0" presId="urn:microsoft.com/office/officeart/2005/8/layout/vProcess5"/>
    <dgm:cxn modelId="{93BF4158-C937-4E41-9E61-9F1C1DCADAC0}" type="presParOf" srcId="{19FBBC12-3FB1-4018-81C7-B1BFD4BFAF8A}" destId="{FE52A1F9-DF9C-403D-BFFD-F5D5C948CBC3}" srcOrd="2" destOrd="0" presId="urn:microsoft.com/office/officeart/2005/8/layout/vProcess5"/>
    <dgm:cxn modelId="{B1D52EEB-2223-4044-9A38-74236862C093}" type="presParOf" srcId="{19FBBC12-3FB1-4018-81C7-B1BFD4BFAF8A}" destId="{D50B4A37-A089-4CCC-8464-325220696D3C}" srcOrd="3" destOrd="0" presId="urn:microsoft.com/office/officeart/2005/8/layout/vProcess5"/>
    <dgm:cxn modelId="{D84E4E38-6CD8-44A5-BE58-BC14AC62BD1A}" type="presParOf" srcId="{19FBBC12-3FB1-4018-81C7-B1BFD4BFAF8A}" destId="{180D386C-BE90-4067-87BC-227F5A5F5268}" srcOrd="4" destOrd="0" presId="urn:microsoft.com/office/officeart/2005/8/layout/vProcess5"/>
    <dgm:cxn modelId="{4F0EE9D7-E977-47B9-8A5E-51188CF02AEE}" type="presParOf" srcId="{19FBBC12-3FB1-4018-81C7-B1BFD4BFAF8A}" destId="{22113EB6-A4D8-493D-AAFA-EDAD09D6F794}" srcOrd="5" destOrd="0" presId="urn:microsoft.com/office/officeart/2005/8/layout/vProcess5"/>
    <dgm:cxn modelId="{1FA121C5-978D-4D03-9F05-D1679F100052}" type="presParOf" srcId="{19FBBC12-3FB1-4018-81C7-B1BFD4BFAF8A}" destId="{54C1583D-962D-4C6E-8AE5-67B96EEA600A}" srcOrd="6" destOrd="0" presId="urn:microsoft.com/office/officeart/2005/8/layout/vProcess5"/>
    <dgm:cxn modelId="{F25805BB-C29C-4037-83D6-2B97D45A7059}" type="presParOf" srcId="{19FBBC12-3FB1-4018-81C7-B1BFD4BFAF8A}" destId="{12A8EACB-DBA4-434E-8D81-A7D17A7827AD}" srcOrd="7" destOrd="0" presId="urn:microsoft.com/office/officeart/2005/8/layout/vProcess5"/>
    <dgm:cxn modelId="{59D7A6F9-7D23-480B-94DD-CF2F42B10114}" type="presParOf" srcId="{19FBBC12-3FB1-4018-81C7-B1BFD4BFAF8A}" destId="{59C7C13B-7DD3-4C49-B4F7-F64607D4BAA8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FFB3B44-052A-4C8E-B2BB-680107C5BE61}">
      <dsp:nvSpPr>
        <dsp:cNvPr id="0" name=""/>
        <dsp:cNvSpPr/>
      </dsp:nvSpPr>
      <dsp:spPr>
        <a:xfrm>
          <a:off x="1302691" y="144098"/>
          <a:ext cx="1944000" cy="1944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B1149C-D76A-4F31-9CC8-37F5F8D81B5F}">
      <dsp:nvSpPr>
        <dsp:cNvPr id="0" name=""/>
        <dsp:cNvSpPr/>
      </dsp:nvSpPr>
      <dsp:spPr>
        <a:xfrm>
          <a:off x="114691" y="2558584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300" b="1" kern="1200"/>
            <a:t>Nachhaltigkeit als übergeordnetes Ziel</a:t>
          </a:r>
          <a:endParaRPr lang="en-US" sz="1300" kern="1200"/>
        </a:p>
      </dsp:txBody>
      <dsp:txXfrm>
        <a:off x="114691" y="2558584"/>
        <a:ext cx="4320000" cy="720000"/>
      </dsp:txXfrm>
    </dsp:sp>
    <dsp:sp modelId="{4AC34786-E421-4D46-AF7E-B29E1E2255A9}">
      <dsp:nvSpPr>
        <dsp:cNvPr id="0" name=""/>
        <dsp:cNvSpPr/>
      </dsp:nvSpPr>
      <dsp:spPr>
        <a:xfrm>
          <a:off x="6378691" y="144098"/>
          <a:ext cx="1944000" cy="1944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450203-46A5-48C3-A45C-3E2763399022}">
      <dsp:nvSpPr>
        <dsp:cNvPr id="0" name=""/>
        <dsp:cNvSpPr/>
      </dsp:nvSpPr>
      <dsp:spPr>
        <a:xfrm>
          <a:off x="5190691" y="2558584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300" kern="1200"/>
            <a:t>Die Vision des Unternehmens: Durch „Kreislaufwirtschaft“ bis 2050 für die Produktion neuer Reifen zu 100% nachhaltige Materialien zu verwenden</a:t>
          </a:r>
          <a:endParaRPr lang="en-US" sz="1300" kern="1200"/>
        </a:p>
      </dsp:txBody>
      <dsp:txXfrm>
        <a:off x="5190691" y="2558584"/>
        <a:ext cx="432000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1C51A0-8EA3-4885-9502-92D05F51ABCD}">
      <dsp:nvSpPr>
        <dsp:cNvPr id="0" name=""/>
        <dsp:cNvSpPr/>
      </dsp:nvSpPr>
      <dsp:spPr>
        <a:xfrm>
          <a:off x="0" y="852586"/>
          <a:ext cx="6391275" cy="1574006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3666720-2983-48FA-B1E8-A8DD65A5918B}">
      <dsp:nvSpPr>
        <dsp:cNvPr id="0" name=""/>
        <dsp:cNvSpPr/>
      </dsp:nvSpPr>
      <dsp:spPr>
        <a:xfrm>
          <a:off x="476136" y="1206738"/>
          <a:ext cx="865703" cy="86570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7BCFA1-658E-4BB7-8C28-CDBC1F67D078}">
      <dsp:nvSpPr>
        <dsp:cNvPr id="0" name=""/>
        <dsp:cNvSpPr/>
      </dsp:nvSpPr>
      <dsp:spPr>
        <a:xfrm>
          <a:off x="1817977" y="852586"/>
          <a:ext cx="4573297" cy="15740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582" tIns="166582" rIns="166582" bIns="166582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400" kern="1200"/>
            <a:t>Da die Technologie der Strategie und der Vision des Unternehmens entspricht und deren Umsetzung unterstützt, empfehle ich die nächstmögliche Einführung.</a:t>
          </a:r>
          <a:endParaRPr lang="en-US" sz="1400" kern="1200"/>
        </a:p>
      </dsp:txBody>
      <dsp:txXfrm>
        <a:off x="1817977" y="852586"/>
        <a:ext cx="4573297" cy="1574006"/>
      </dsp:txXfrm>
    </dsp:sp>
    <dsp:sp modelId="{8027318B-6659-4CCA-9523-1EA87617E5B4}">
      <dsp:nvSpPr>
        <dsp:cNvPr id="0" name=""/>
        <dsp:cNvSpPr/>
      </dsp:nvSpPr>
      <dsp:spPr>
        <a:xfrm>
          <a:off x="0" y="2820094"/>
          <a:ext cx="6391275" cy="1574006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BD5445C-DB0E-4F1E-A935-A5EBB9BAE4A5}">
      <dsp:nvSpPr>
        <dsp:cNvPr id="0" name=""/>
        <dsp:cNvSpPr/>
      </dsp:nvSpPr>
      <dsp:spPr>
        <a:xfrm>
          <a:off x="476136" y="3174245"/>
          <a:ext cx="865703" cy="86570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82A62B-2DC4-4E1A-9601-86EAE86352A8}">
      <dsp:nvSpPr>
        <dsp:cNvPr id="0" name=""/>
        <dsp:cNvSpPr/>
      </dsp:nvSpPr>
      <dsp:spPr>
        <a:xfrm>
          <a:off x="1817977" y="2820094"/>
          <a:ext cx="4573297" cy="15740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582" tIns="166582" rIns="166582" bIns="166582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400" kern="1200"/>
            <a:t>Im Hinblick auf die steigenden Preise für Reifen macht es zudem Sinn, den Angebotspreis um die zusätzliche Gewinnmarge zu senken und hierdurch die Nachfrage und somit den eigenen Marktanteil zu erhöhen.</a:t>
          </a:r>
          <a:endParaRPr lang="en-US" sz="1400" kern="1200"/>
        </a:p>
      </dsp:txBody>
      <dsp:txXfrm>
        <a:off x="1817977" y="2820094"/>
        <a:ext cx="4573297" cy="157400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59D3153-0386-4429-9DD4-711C05260892}">
      <dsp:nvSpPr>
        <dsp:cNvPr id="0" name=""/>
        <dsp:cNvSpPr/>
      </dsp:nvSpPr>
      <dsp:spPr>
        <a:xfrm>
          <a:off x="0" y="0"/>
          <a:ext cx="8181575" cy="102680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900" b="0" i="0" kern="1200"/>
            <a:t>Durch anhaltende globale Krisen (Krieg, Pandemie) prognostizieren Experten weiterhin eine Rezession im Bereich der Automobilbranche.</a:t>
          </a:r>
          <a:endParaRPr lang="en-US" sz="1900" kern="1200"/>
        </a:p>
      </dsp:txBody>
      <dsp:txXfrm>
        <a:off x="30074" y="30074"/>
        <a:ext cx="7073573" cy="966656"/>
      </dsp:txXfrm>
    </dsp:sp>
    <dsp:sp modelId="{FE52A1F9-DF9C-403D-BFFD-F5D5C948CBC3}">
      <dsp:nvSpPr>
        <dsp:cNvPr id="0" name=""/>
        <dsp:cNvSpPr/>
      </dsp:nvSpPr>
      <dsp:spPr>
        <a:xfrm>
          <a:off x="721903" y="1197939"/>
          <a:ext cx="8181575" cy="102680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900" b="0" i="0" kern="1200"/>
            <a:t>Um weiterhin Abnehmer finden zu können, müssen die eigenen Preise an die derzeitige Situation angepasst werden.</a:t>
          </a:r>
          <a:endParaRPr lang="en-US" sz="1900" kern="1200"/>
        </a:p>
      </dsp:txBody>
      <dsp:txXfrm>
        <a:off x="751977" y="1228013"/>
        <a:ext cx="6732100" cy="966656"/>
      </dsp:txXfrm>
    </dsp:sp>
    <dsp:sp modelId="{D50B4A37-A089-4CCC-8464-325220696D3C}">
      <dsp:nvSpPr>
        <dsp:cNvPr id="0" name=""/>
        <dsp:cNvSpPr/>
      </dsp:nvSpPr>
      <dsp:spPr>
        <a:xfrm>
          <a:off x="1443807" y="2395878"/>
          <a:ext cx="8181575" cy="102680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900" b="0" i="0" kern="1200"/>
            <a:t>Nur durch einzigartige, neuartige Technologien können Kosten gesenkt und somit Wettbewerbsvorteile geschaffen werden.</a:t>
          </a:r>
          <a:endParaRPr lang="en-US" sz="1900" kern="1200"/>
        </a:p>
      </dsp:txBody>
      <dsp:txXfrm>
        <a:off x="1473881" y="2425952"/>
        <a:ext cx="6732100" cy="966656"/>
      </dsp:txXfrm>
    </dsp:sp>
    <dsp:sp modelId="{180D386C-BE90-4067-87BC-227F5A5F5268}">
      <dsp:nvSpPr>
        <dsp:cNvPr id="0" name=""/>
        <dsp:cNvSpPr/>
      </dsp:nvSpPr>
      <dsp:spPr>
        <a:xfrm>
          <a:off x="7514152" y="778660"/>
          <a:ext cx="667423" cy="667423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000" kern="1200"/>
        </a:p>
      </dsp:txBody>
      <dsp:txXfrm>
        <a:off x="7664322" y="778660"/>
        <a:ext cx="367083" cy="502236"/>
      </dsp:txXfrm>
    </dsp:sp>
    <dsp:sp modelId="{22113EB6-A4D8-493D-AAFA-EDAD09D6F794}">
      <dsp:nvSpPr>
        <dsp:cNvPr id="0" name=""/>
        <dsp:cNvSpPr/>
      </dsp:nvSpPr>
      <dsp:spPr>
        <a:xfrm>
          <a:off x="8236056" y="1969754"/>
          <a:ext cx="667423" cy="667423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000" kern="1200"/>
        </a:p>
      </dsp:txBody>
      <dsp:txXfrm>
        <a:off x="8386226" y="1969754"/>
        <a:ext cx="367083" cy="50223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4/12/2022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4/12/2022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4/12/2022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4/12/2022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4/12/2022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4/12/2022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4/12/2022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4/12/2022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4/12/2022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4/12/2022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 und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4/12/2022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Zita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4/12/2022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nskar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4/12/2022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p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4/12/2022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Bildsp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4/12/2022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4/12/2022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4/12/2022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4/12/2022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72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9">
            <a:extLst>
              <a:ext uri="{FF2B5EF4-FFF2-40B4-BE49-F238E27FC236}">
                <a16:creationId xmlns:a16="http://schemas.microsoft.com/office/drawing/2014/main" id="{2B109C5B-3B98-48EB-A942-8D11CEA374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93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Freeform 5">
            <a:extLst>
              <a:ext uri="{FF2B5EF4-FFF2-40B4-BE49-F238E27FC236}">
                <a16:creationId xmlns:a16="http://schemas.microsoft.com/office/drawing/2014/main" id="{A9C389E4-003E-40C9-AC9E-ED821C16F5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</p:sp>
      <p:sp>
        <p:nvSpPr>
          <p:cNvPr id="18" name="Rectangle 13">
            <a:extLst>
              <a:ext uri="{FF2B5EF4-FFF2-40B4-BE49-F238E27FC236}">
                <a16:creationId xmlns:a16="http://schemas.microsoft.com/office/drawing/2014/main" id="{6C042684-2705-40BD-9104-A6B24CE1CA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440CE64-2A9A-45AB-9610-403F58FC39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74825" y="1143000"/>
            <a:ext cx="6268246" cy="3134032"/>
          </a:xfrm>
        </p:spPr>
        <p:txBody>
          <a:bodyPr>
            <a:normAutofit/>
          </a:bodyPr>
          <a:lstStyle/>
          <a:p>
            <a:r>
              <a:rPr lang="de-DE" sz="6600" dirty="0">
                <a:solidFill>
                  <a:srgbClr val="EBEBEB"/>
                </a:solidFill>
              </a:rPr>
              <a:t>Der Reifen der Zukunft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C650C8FF-B363-4C10-92B8-E98A6A40CC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74825" y="4473677"/>
            <a:ext cx="6268246" cy="1268144"/>
          </a:xfrm>
        </p:spPr>
        <p:txBody>
          <a:bodyPr>
            <a:normAutofit/>
          </a:bodyPr>
          <a:lstStyle/>
          <a:p>
            <a:r>
              <a:rPr lang="de-DE" sz="2000"/>
              <a:t>Jannis Meister</a:t>
            </a:r>
          </a:p>
          <a:p>
            <a:endParaRPr lang="de-DE" sz="2000"/>
          </a:p>
        </p:txBody>
      </p:sp>
      <p:pic>
        <p:nvPicPr>
          <p:cNvPr id="5" name="Grafik 4" descr="Ein Bild, das Text, schließen, Kameraobjektiv enthält.&#10;&#10;Automatisch generierte Beschreibung">
            <a:extLst>
              <a:ext uri="{FF2B5EF4-FFF2-40B4-BE49-F238E27FC236}">
                <a16:creationId xmlns:a16="http://schemas.microsoft.com/office/drawing/2014/main" id="{F63841E4-B0D8-4793-B0C8-E509EDD75F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764" y="1905433"/>
            <a:ext cx="3531062" cy="3044018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577783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F70C2B8F-6B1B-46D5-86E6-40F36C695F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9" name="Freeform 5">
            <a:extLst>
              <a:ext uri="{FF2B5EF4-FFF2-40B4-BE49-F238E27FC236}">
                <a16:creationId xmlns:a16="http://schemas.microsoft.com/office/drawing/2014/main" id="{DB521824-592C-476A-AB0A-CA0C6D1F34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4698352" y="1826078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A2749EFA-8EE4-4EB8-9424-8E593B9320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950898" y="638067"/>
            <a:ext cx="6053670" cy="5581866"/>
          </a:xfrm>
          <a:custGeom>
            <a:avLst/>
            <a:gdLst>
              <a:gd name="connsiteX0" fmla="*/ 6053670 w 6053670"/>
              <a:gd name="connsiteY0" fmla="*/ 1098 h 5581866"/>
              <a:gd name="connsiteX1" fmla="*/ 6053670 w 6053670"/>
              <a:gd name="connsiteY1" fmla="*/ 514028 h 5581866"/>
              <a:gd name="connsiteX2" fmla="*/ 6053670 w 6053670"/>
              <a:gd name="connsiteY2" fmla="*/ 1254558 h 5581866"/>
              <a:gd name="connsiteX3" fmla="*/ 6053670 w 6053670"/>
              <a:gd name="connsiteY3" fmla="*/ 5581866 h 5581866"/>
              <a:gd name="connsiteX4" fmla="*/ 0 w 6053670"/>
              <a:gd name="connsiteY4" fmla="*/ 5581866 h 5581866"/>
              <a:gd name="connsiteX5" fmla="*/ 0 w 6053670"/>
              <a:gd name="connsiteY5" fmla="*/ 1249853 h 5581866"/>
              <a:gd name="connsiteX6" fmla="*/ 0 w 6053670"/>
              <a:gd name="connsiteY6" fmla="*/ 514028 h 5581866"/>
              <a:gd name="connsiteX7" fmla="*/ 0 w 6053670"/>
              <a:gd name="connsiteY7" fmla="*/ 0 h 5581866"/>
              <a:gd name="connsiteX8" fmla="*/ 35717 w 6053670"/>
              <a:gd name="connsiteY8" fmla="*/ 5488 h 5581866"/>
              <a:gd name="connsiteX9" fmla="*/ 140445 w 6053670"/>
              <a:gd name="connsiteY9" fmla="*/ 21641 h 5581866"/>
              <a:gd name="connsiteX10" fmla="*/ 216722 w 6053670"/>
              <a:gd name="connsiteY10" fmla="*/ 32932 h 5581866"/>
              <a:gd name="connsiteX11" fmla="*/ 307527 w 6053670"/>
              <a:gd name="connsiteY11" fmla="*/ 44850 h 5581866"/>
              <a:gd name="connsiteX12" fmla="*/ 415282 w 6053670"/>
              <a:gd name="connsiteY12" fmla="*/ 59121 h 5581866"/>
              <a:gd name="connsiteX13" fmla="*/ 534539 w 6053670"/>
              <a:gd name="connsiteY13" fmla="*/ 74175 h 5581866"/>
              <a:gd name="connsiteX14" fmla="*/ 668931 w 6053670"/>
              <a:gd name="connsiteY14" fmla="*/ 90014 h 5581866"/>
              <a:gd name="connsiteX15" fmla="*/ 815430 w 6053670"/>
              <a:gd name="connsiteY15" fmla="*/ 106794 h 5581866"/>
              <a:gd name="connsiteX16" fmla="*/ 974641 w 6053670"/>
              <a:gd name="connsiteY16" fmla="*/ 123574 h 5581866"/>
              <a:gd name="connsiteX17" fmla="*/ 1144144 w 6053670"/>
              <a:gd name="connsiteY17" fmla="*/ 140667 h 5581866"/>
              <a:gd name="connsiteX18" fmla="*/ 1326965 w 6053670"/>
              <a:gd name="connsiteY18" fmla="*/ 156506 h 5581866"/>
              <a:gd name="connsiteX19" fmla="*/ 1518261 w 6053670"/>
              <a:gd name="connsiteY19" fmla="*/ 171717 h 5581866"/>
              <a:gd name="connsiteX20" fmla="*/ 1720453 w 6053670"/>
              <a:gd name="connsiteY20" fmla="*/ 185518 h 5581866"/>
              <a:gd name="connsiteX21" fmla="*/ 1931121 w 6053670"/>
              <a:gd name="connsiteY21" fmla="*/ 198690 h 5581866"/>
              <a:gd name="connsiteX22" fmla="*/ 2150869 w 6053670"/>
              <a:gd name="connsiteY22" fmla="*/ 211079 h 5581866"/>
              <a:gd name="connsiteX23" fmla="*/ 2263467 w 6053670"/>
              <a:gd name="connsiteY23" fmla="*/ 215470 h 5581866"/>
              <a:gd name="connsiteX24" fmla="*/ 2378487 w 6053670"/>
              <a:gd name="connsiteY24" fmla="*/ 220332 h 5581866"/>
              <a:gd name="connsiteX25" fmla="*/ 2495323 w 6053670"/>
              <a:gd name="connsiteY25" fmla="*/ 224879 h 5581866"/>
              <a:gd name="connsiteX26" fmla="*/ 2612764 w 6053670"/>
              <a:gd name="connsiteY26" fmla="*/ 227859 h 5581866"/>
              <a:gd name="connsiteX27" fmla="*/ 2732627 w 6053670"/>
              <a:gd name="connsiteY27" fmla="*/ 230525 h 5581866"/>
              <a:gd name="connsiteX28" fmla="*/ 2853700 w 6053670"/>
              <a:gd name="connsiteY28" fmla="*/ 233348 h 5581866"/>
              <a:gd name="connsiteX29" fmla="*/ 2977195 w 6053670"/>
              <a:gd name="connsiteY29" fmla="*/ 235229 h 5581866"/>
              <a:gd name="connsiteX30" fmla="*/ 3101900 w 6053670"/>
              <a:gd name="connsiteY30" fmla="*/ 235229 h 5581866"/>
              <a:gd name="connsiteX31" fmla="*/ 3227817 w 6053670"/>
              <a:gd name="connsiteY31" fmla="*/ 236170 h 5581866"/>
              <a:gd name="connsiteX32" fmla="*/ 3354944 w 6053670"/>
              <a:gd name="connsiteY32" fmla="*/ 235229 h 5581866"/>
              <a:gd name="connsiteX33" fmla="*/ 3483887 w 6053670"/>
              <a:gd name="connsiteY33" fmla="*/ 233348 h 5581866"/>
              <a:gd name="connsiteX34" fmla="*/ 3612830 w 6053670"/>
              <a:gd name="connsiteY34" fmla="*/ 231623 h 5581866"/>
              <a:gd name="connsiteX35" fmla="*/ 3743589 w 6053670"/>
              <a:gd name="connsiteY35" fmla="*/ 227859 h 5581866"/>
              <a:gd name="connsiteX36" fmla="*/ 3875559 w 6053670"/>
              <a:gd name="connsiteY36" fmla="*/ 223938 h 5581866"/>
              <a:gd name="connsiteX37" fmla="*/ 4007529 w 6053670"/>
              <a:gd name="connsiteY37" fmla="*/ 219391 h 5581866"/>
              <a:gd name="connsiteX38" fmla="*/ 4140710 w 6053670"/>
              <a:gd name="connsiteY38" fmla="*/ 212961 h 5581866"/>
              <a:gd name="connsiteX39" fmla="*/ 4275102 w 6053670"/>
              <a:gd name="connsiteY39" fmla="*/ 205277 h 5581866"/>
              <a:gd name="connsiteX40" fmla="*/ 4410098 w 6053670"/>
              <a:gd name="connsiteY40" fmla="*/ 197907 h 5581866"/>
              <a:gd name="connsiteX41" fmla="*/ 4545096 w 6053670"/>
              <a:gd name="connsiteY41" fmla="*/ 188498 h 5581866"/>
              <a:gd name="connsiteX42" fmla="*/ 4681909 w 6053670"/>
              <a:gd name="connsiteY42" fmla="*/ 177207 h 5581866"/>
              <a:gd name="connsiteX43" fmla="*/ 4816905 w 6053670"/>
              <a:gd name="connsiteY43" fmla="*/ 165916 h 5581866"/>
              <a:gd name="connsiteX44" fmla="*/ 4954323 w 6053670"/>
              <a:gd name="connsiteY44" fmla="*/ 152899 h 5581866"/>
              <a:gd name="connsiteX45" fmla="*/ 5092347 w 6053670"/>
              <a:gd name="connsiteY45" fmla="*/ 138629 h 5581866"/>
              <a:gd name="connsiteX46" fmla="*/ 5228555 w 6053670"/>
              <a:gd name="connsiteY46" fmla="*/ 123574 h 5581866"/>
              <a:gd name="connsiteX47" fmla="*/ 5366578 w 6053670"/>
              <a:gd name="connsiteY47" fmla="*/ 106010 h 5581866"/>
              <a:gd name="connsiteX48" fmla="*/ 5503997 w 6053670"/>
              <a:gd name="connsiteY48" fmla="*/ 87192 h 5581866"/>
              <a:gd name="connsiteX49" fmla="*/ 5642020 w 6053670"/>
              <a:gd name="connsiteY49" fmla="*/ 68530 h 5581866"/>
              <a:gd name="connsiteX50" fmla="*/ 5779438 w 6053670"/>
              <a:gd name="connsiteY50" fmla="*/ 46733 h 5581866"/>
              <a:gd name="connsiteX51" fmla="*/ 5916251 w 6053670"/>
              <a:gd name="connsiteY51" fmla="*/ 24464 h 5581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5581866">
                <a:moveTo>
                  <a:pt x="6053670" y="1098"/>
                </a:moveTo>
                <a:lnTo>
                  <a:pt x="6053670" y="514028"/>
                </a:lnTo>
                <a:lnTo>
                  <a:pt x="6053670" y="1254558"/>
                </a:lnTo>
                <a:lnTo>
                  <a:pt x="6053670" y="5581866"/>
                </a:lnTo>
                <a:lnTo>
                  <a:pt x="0" y="5581866"/>
                </a:lnTo>
                <a:lnTo>
                  <a:pt x="0" y="1249853"/>
                </a:lnTo>
                <a:lnTo>
                  <a:pt x="0" y="514028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0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89" y="227859"/>
                </a:lnTo>
                <a:lnTo>
                  <a:pt x="3875559" y="223938"/>
                </a:lnTo>
                <a:lnTo>
                  <a:pt x="4007529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</p:sp>
      <p:sp>
        <p:nvSpPr>
          <p:cNvPr id="33" name="Freeform 5">
            <a:extLst>
              <a:ext uri="{FF2B5EF4-FFF2-40B4-BE49-F238E27FC236}">
                <a16:creationId xmlns:a16="http://schemas.microsoft.com/office/drawing/2014/main" id="{B5C860C9-D4F9-4350-80DA-0D1CD36C77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605D55C1-61DD-4FC4-8B9B-D0DFAE83F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098" y="629265"/>
            <a:ext cx="5132438" cy="1622322"/>
          </a:xfrm>
        </p:spPr>
        <p:txBody>
          <a:bodyPr>
            <a:normAutofit/>
          </a:bodyPr>
          <a:lstStyle/>
          <a:p>
            <a:r>
              <a:rPr lang="de-DE">
                <a:solidFill>
                  <a:srgbClr val="EBEBEB"/>
                </a:solidFill>
              </a:rPr>
              <a:t>Die Ausgangssituation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53A7F6F1-BF9A-4E88-A170-BD1D3FE723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4836" y="1952963"/>
            <a:ext cx="4828707" cy="2969654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538A90C8-AE0E-4EBA-9AF8-EEDB206020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03109468-92D4-479F-B119-6A8144F8F0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9098" y="2418735"/>
            <a:ext cx="5132439" cy="3811742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de-DE" dirty="0">
                <a:solidFill>
                  <a:srgbClr val="FFFFFF"/>
                </a:solidFill>
              </a:rPr>
              <a:t>Continental wurde 1871 gegründet und produziert als internationales Unternehmen sichere, effiziente und leistungsorientierte Reifen für Pkw, Nutzfahrzeuge und Zweiradfahrzeuge.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de-DE" dirty="0">
                <a:solidFill>
                  <a:srgbClr val="FFFFFF"/>
                </a:solidFill>
              </a:rPr>
              <a:t>Das Unternehmen erwirtschaftete in den letzten Jahren aufgrund verschiedenster Faktoren Verluste, zudem wurden eine Vielzahl an Arbeitsplätzen gestrichen.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de-DE" dirty="0">
                <a:solidFill>
                  <a:srgbClr val="FFFFFF"/>
                </a:solidFill>
              </a:rPr>
              <a:t>Durch die Entwicklung und Integration neuester Technologien möchte Continental seine Produkte nun weiterentwickeln, um weiterhin trotz hoher Konkurrenz rentabel wirtschaften zu können.</a:t>
            </a:r>
          </a:p>
          <a:p>
            <a:pPr marL="0" indent="0">
              <a:lnSpc>
                <a:spcPct val="90000"/>
              </a:lnSpc>
              <a:buNone/>
            </a:pPr>
            <a:endParaRPr lang="de-DE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25999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91000"/>
                <a:satMod val="164000"/>
                <a:lumMod val="74000"/>
              </a:schemeClr>
              <a:schemeClr val="bg2">
                <a:hueMod val="124000"/>
                <a:satMod val="140000"/>
                <a:lumMod val="14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314C310-850D-4491-AA52-C75BEA68B6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4EC3799-3F52-48CE-85CC-83AED368E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3FC2939-BF10-4CBC-904B-74A17D4B9C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266B6D5D-11B6-40A6-9CEF-F0B0D104C5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9BC0AEA0-2673-43FC-8ED9-CEFCB10CBB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247" y="1085549"/>
            <a:ext cx="3430947" cy="4686903"/>
          </a:xfrm>
        </p:spPr>
        <p:txBody>
          <a:bodyPr anchor="ctr">
            <a:normAutofit/>
          </a:bodyPr>
          <a:lstStyle/>
          <a:p>
            <a:pPr algn="r"/>
            <a:r>
              <a:rPr lang="de-DE">
                <a:solidFill>
                  <a:schemeClr val="tx1"/>
                </a:solidFill>
              </a:rPr>
              <a:t>Der Business-Case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89E20C7-BB50-4317-93C7-90C8ED80B2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930986"/>
            <a:ext cx="0" cy="3200400"/>
          </a:xfrm>
          <a:prstGeom prst="line">
            <a:avLst/>
          </a:prstGeom>
          <a:ln w="15875" cap="sq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FBDDF79-DF16-4337-8441-3EFE5D9FAE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41399" y="1085549"/>
            <a:ext cx="5579707" cy="4686903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de-DE" dirty="0">
                <a:solidFill>
                  <a:schemeClr val="tx1"/>
                </a:solidFill>
              </a:rPr>
              <a:t>Im Inhouse Consulting wird die Verwendung von recycelten PET-Flaschen zur Reifenherstellung diskutiert.</a:t>
            </a:r>
          </a:p>
          <a:p>
            <a:pPr marL="0" indent="0">
              <a:buNone/>
            </a:pPr>
            <a:r>
              <a:rPr lang="de-DE" dirty="0">
                <a:solidFill>
                  <a:schemeClr val="tx1"/>
                </a:solidFill>
              </a:rPr>
              <a:t>Im kommenden soll erörtert werden, welche Auswirkungen dieser Schritt für das Unternehmen hätte und ob sich dieses Projekt lohnen würde.</a:t>
            </a:r>
          </a:p>
          <a:p>
            <a:pPr marL="0" indent="0">
              <a:buNone/>
            </a:pPr>
            <a:r>
              <a:rPr lang="de-DE" dirty="0">
                <a:solidFill>
                  <a:schemeClr val="tx1"/>
                </a:solidFill>
              </a:rPr>
              <a:t>Das übergeordnete Ziel ist, die Profitabilität und den Gewinn der nächsten Perioden zu steigern und gleichzeitig die Nachhaltigkeit der eigenen Produkte enorm zu erhöhen.</a:t>
            </a:r>
          </a:p>
          <a:p>
            <a:pPr marL="0" indent="0">
              <a:buNone/>
            </a:pPr>
            <a:r>
              <a:rPr lang="de-DE" dirty="0">
                <a:solidFill>
                  <a:schemeClr val="tx1"/>
                </a:solidFill>
              </a:rPr>
              <a:t> </a:t>
            </a:r>
          </a:p>
          <a:p>
            <a:pPr marL="0" indent="0">
              <a:buNone/>
            </a:pPr>
            <a:endParaRPr lang="de-DE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18145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E0488BA-180E-40D8-8350-4B17917955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CNC-Drehmaschinenbearbeitung">
            <a:extLst>
              <a:ext uri="{FF2B5EF4-FFF2-40B4-BE49-F238E27FC236}">
                <a16:creationId xmlns:a16="http://schemas.microsoft.com/office/drawing/2014/main" id="{597166F6-0E52-06C2-D2F4-6C3690F3B17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40000"/>
          </a:blip>
          <a:srcRect t="15730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8EDD4F54-A146-4019-9707-BDEBF43D25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>
            <a:normAutofit/>
          </a:bodyPr>
          <a:lstStyle/>
          <a:p>
            <a:r>
              <a:rPr lang="de-DE">
                <a:solidFill>
                  <a:schemeClr val="tx1"/>
                </a:solidFill>
              </a:rPr>
              <a:t>Allgemeine Informationen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9362E07-16B1-45C5-B46C-942713A625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>
                <a:solidFill>
                  <a:schemeClr val="tx1"/>
                </a:solidFill>
              </a:rPr>
              <a:t>Durch eine neue Technologie zur Herstellung von recyceltem Polyestergarn lassen sich Reifen zu 100% aus recyceltem Material herstellen.</a:t>
            </a:r>
          </a:p>
          <a:p>
            <a:pPr marL="0" indent="0">
              <a:buNone/>
            </a:pPr>
            <a:endParaRPr lang="de-DE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de-DE">
                <a:solidFill>
                  <a:schemeClr val="tx1"/>
                </a:solidFill>
                <a:sym typeface="Wingdings" panose="05000000000000000000" pitchFamily="2" charset="2"/>
              </a:rPr>
              <a:t> Continental wird in der Lage sein, wiederaufbereitetes Polyethylenterephthalat (PET) für den Bau von Continental-Reifenkarkassen zu nutzen und damit die Verwendung von herkömmlichem, neuem PET vollständig zu ersetzen.</a:t>
            </a:r>
            <a:endParaRPr lang="de-DE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43534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E0488BA-180E-40D8-8350-4B17917955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Mobilgerät mit Apps">
            <a:extLst>
              <a:ext uri="{FF2B5EF4-FFF2-40B4-BE49-F238E27FC236}">
                <a16:creationId xmlns:a16="http://schemas.microsoft.com/office/drawing/2014/main" id="{533E47D9-E76F-BA5F-5BF6-888848D9056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40000"/>
          </a:blip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6CF1BF7B-B61E-48A2-AB64-7D0668F9F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>
            <a:normAutofit/>
          </a:bodyPr>
          <a:lstStyle/>
          <a:p>
            <a:r>
              <a:rPr lang="de-DE">
                <a:solidFill>
                  <a:schemeClr val="tx1"/>
                </a:solidFill>
              </a:rPr>
              <a:t>Besonderheit der Anwendung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D0464AD-978A-4097-A83D-AE2BF519C5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dirty="0">
                <a:solidFill>
                  <a:schemeClr val="tx1"/>
                </a:solidFill>
              </a:rPr>
              <a:t>Continental hat gemeinsam mit dem Faserspezialisten und Textilhersteller OTIZ eine spezielle Technologie entwickelt, die aus recyceltem PET hochwertiges Polyestergarn macht, ohne die bisher im Recyclingprozess erforderlichen chemischen Schritte</a:t>
            </a:r>
          </a:p>
          <a:p>
            <a:pPr marL="0" indent="0">
              <a:buNone/>
            </a:pPr>
            <a:endParaRPr lang="de-DE" dirty="0">
              <a:solidFill>
                <a:schemeClr val="tx1"/>
              </a:solidFill>
            </a:endParaRPr>
          </a:p>
          <a:p>
            <a:pPr>
              <a:buFont typeface="Wingdings" panose="05000000000000000000" pitchFamily="2" charset="2"/>
              <a:buChar char="à"/>
            </a:pPr>
            <a:r>
              <a:rPr lang="de-DE" dirty="0">
                <a:solidFill>
                  <a:schemeClr val="tx1"/>
                </a:solidFill>
                <a:sym typeface="Wingdings" panose="05000000000000000000" pitchFamily="2" charset="2"/>
              </a:rPr>
              <a:t>Mehr als 60 recycelte Kunststoffflaschen liefern das für einen kompletten Satz neuer Reifen benötigte Polyester, ohne die Qualität des Endprodukts zu beeinträchtigen</a:t>
            </a:r>
          </a:p>
          <a:p>
            <a:pPr>
              <a:buFont typeface="Wingdings" panose="05000000000000000000" pitchFamily="2" charset="2"/>
              <a:buChar char="à"/>
            </a:pPr>
            <a:endParaRPr lang="de-DE" dirty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de-DE" dirty="0">
                <a:solidFill>
                  <a:schemeClr val="tx1"/>
                </a:solidFill>
                <a:sym typeface="Wingdings" panose="05000000000000000000" pitchFamily="2" charset="2"/>
              </a:rPr>
              <a:t>Lohnt sich die Produktion jedoch mit dieser Technologie?</a:t>
            </a:r>
          </a:p>
        </p:txBody>
      </p:sp>
    </p:spTree>
    <p:extLst>
      <p:ext uri="{BB962C8B-B14F-4D97-AF65-F5344CB8AC3E}">
        <p14:creationId xmlns:p14="http://schemas.microsoft.com/office/powerpoint/2010/main" val="20955328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9">
            <a:extLst>
              <a:ext uri="{FF2B5EF4-FFF2-40B4-BE49-F238E27FC236}">
                <a16:creationId xmlns:a16="http://schemas.microsoft.com/office/drawing/2014/main" id="{F70C2B8F-6B1B-46D5-86E6-40F36C695F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" name="Freeform 5">
            <a:extLst>
              <a:ext uri="{FF2B5EF4-FFF2-40B4-BE49-F238E27FC236}">
                <a16:creationId xmlns:a16="http://schemas.microsoft.com/office/drawing/2014/main" id="{DB521824-592C-476A-AB0A-CA0C6D1F34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4698352" y="1826078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</p:sp>
      <p:sp>
        <p:nvSpPr>
          <p:cNvPr id="26" name="Freeform: Shape 13">
            <a:extLst>
              <a:ext uri="{FF2B5EF4-FFF2-40B4-BE49-F238E27FC236}">
                <a16:creationId xmlns:a16="http://schemas.microsoft.com/office/drawing/2014/main" id="{A2749EFA-8EE4-4EB8-9424-8E593B9320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950898" y="638067"/>
            <a:ext cx="6053670" cy="5581866"/>
          </a:xfrm>
          <a:custGeom>
            <a:avLst/>
            <a:gdLst>
              <a:gd name="connsiteX0" fmla="*/ 6053670 w 6053670"/>
              <a:gd name="connsiteY0" fmla="*/ 1098 h 5581866"/>
              <a:gd name="connsiteX1" fmla="*/ 6053670 w 6053670"/>
              <a:gd name="connsiteY1" fmla="*/ 514028 h 5581866"/>
              <a:gd name="connsiteX2" fmla="*/ 6053670 w 6053670"/>
              <a:gd name="connsiteY2" fmla="*/ 1254558 h 5581866"/>
              <a:gd name="connsiteX3" fmla="*/ 6053670 w 6053670"/>
              <a:gd name="connsiteY3" fmla="*/ 5581866 h 5581866"/>
              <a:gd name="connsiteX4" fmla="*/ 0 w 6053670"/>
              <a:gd name="connsiteY4" fmla="*/ 5581866 h 5581866"/>
              <a:gd name="connsiteX5" fmla="*/ 0 w 6053670"/>
              <a:gd name="connsiteY5" fmla="*/ 1249853 h 5581866"/>
              <a:gd name="connsiteX6" fmla="*/ 0 w 6053670"/>
              <a:gd name="connsiteY6" fmla="*/ 514028 h 5581866"/>
              <a:gd name="connsiteX7" fmla="*/ 0 w 6053670"/>
              <a:gd name="connsiteY7" fmla="*/ 0 h 5581866"/>
              <a:gd name="connsiteX8" fmla="*/ 35717 w 6053670"/>
              <a:gd name="connsiteY8" fmla="*/ 5488 h 5581866"/>
              <a:gd name="connsiteX9" fmla="*/ 140445 w 6053670"/>
              <a:gd name="connsiteY9" fmla="*/ 21641 h 5581866"/>
              <a:gd name="connsiteX10" fmla="*/ 216722 w 6053670"/>
              <a:gd name="connsiteY10" fmla="*/ 32932 h 5581866"/>
              <a:gd name="connsiteX11" fmla="*/ 307527 w 6053670"/>
              <a:gd name="connsiteY11" fmla="*/ 44850 h 5581866"/>
              <a:gd name="connsiteX12" fmla="*/ 415282 w 6053670"/>
              <a:gd name="connsiteY12" fmla="*/ 59121 h 5581866"/>
              <a:gd name="connsiteX13" fmla="*/ 534539 w 6053670"/>
              <a:gd name="connsiteY13" fmla="*/ 74175 h 5581866"/>
              <a:gd name="connsiteX14" fmla="*/ 668931 w 6053670"/>
              <a:gd name="connsiteY14" fmla="*/ 90014 h 5581866"/>
              <a:gd name="connsiteX15" fmla="*/ 815430 w 6053670"/>
              <a:gd name="connsiteY15" fmla="*/ 106794 h 5581866"/>
              <a:gd name="connsiteX16" fmla="*/ 974641 w 6053670"/>
              <a:gd name="connsiteY16" fmla="*/ 123574 h 5581866"/>
              <a:gd name="connsiteX17" fmla="*/ 1144144 w 6053670"/>
              <a:gd name="connsiteY17" fmla="*/ 140667 h 5581866"/>
              <a:gd name="connsiteX18" fmla="*/ 1326965 w 6053670"/>
              <a:gd name="connsiteY18" fmla="*/ 156506 h 5581866"/>
              <a:gd name="connsiteX19" fmla="*/ 1518261 w 6053670"/>
              <a:gd name="connsiteY19" fmla="*/ 171717 h 5581866"/>
              <a:gd name="connsiteX20" fmla="*/ 1720453 w 6053670"/>
              <a:gd name="connsiteY20" fmla="*/ 185518 h 5581866"/>
              <a:gd name="connsiteX21" fmla="*/ 1931121 w 6053670"/>
              <a:gd name="connsiteY21" fmla="*/ 198690 h 5581866"/>
              <a:gd name="connsiteX22" fmla="*/ 2150869 w 6053670"/>
              <a:gd name="connsiteY22" fmla="*/ 211079 h 5581866"/>
              <a:gd name="connsiteX23" fmla="*/ 2263467 w 6053670"/>
              <a:gd name="connsiteY23" fmla="*/ 215470 h 5581866"/>
              <a:gd name="connsiteX24" fmla="*/ 2378487 w 6053670"/>
              <a:gd name="connsiteY24" fmla="*/ 220332 h 5581866"/>
              <a:gd name="connsiteX25" fmla="*/ 2495323 w 6053670"/>
              <a:gd name="connsiteY25" fmla="*/ 224879 h 5581866"/>
              <a:gd name="connsiteX26" fmla="*/ 2612764 w 6053670"/>
              <a:gd name="connsiteY26" fmla="*/ 227859 h 5581866"/>
              <a:gd name="connsiteX27" fmla="*/ 2732627 w 6053670"/>
              <a:gd name="connsiteY27" fmla="*/ 230525 h 5581866"/>
              <a:gd name="connsiteX28" fmla="*/ 2853700 w 6053670"/>
              <a:gd name="connsiteY28" fmla="*/ 233348 h 5581866"/>
              <a:gd name="connsiteX29" fmla="*/ 2977195 w 6053670"/>
              <a:gd name="connsiteY29" fmla="*/ 235229 h 5581866"/>
              <a:gd name="connsiteX30" fmla="*/ 3101900 w 6053670"/>
              <a:gd name="connsiteY30" fmla="*/ 235229 h 5581866"/>
              <a:gd name="connsiteX31" fmla="*/ 3227817 w 6053670"/>
              <a:gd name="connsiteY31" fmla="*/ 236170 h 5581866"/>
              <a:gd name="connsiteX32" fmla="*/ 3354944 w 6053670"/>
              <a:gd name="connsiteY32" fmla="*/ 235229 h 5581866"/>
              <a:gd name="connsiteX33" fmla="*/ 3483887 w 6053670"/>
              <a:gd name="connsiteY33" fmla="*/ 233348 h 5581866"/>
              <a:gd name="connsiteX34" fmla="*/ 3612830 w 6053670"/>
              <a:gd name="connsiteY34" fmla="*/ 231623 h 5581866"/>
              <a:gd name="connsiteX35" fmla="*/ 3743589 w 6053670"/>
              <a:gd name="connsiteY35" fmla="*/ 227859 h 5581866"/>
              <a:gd name="connsiteX36" fmla="*/ 3875559 w 6053670"/>
              <a:gd name="connsiteY36" fmla="*/ 223938 h 5581866"/>
              <a:gd name="connsiteX37" fmla="*/ 4007529 w 6053670"/>
              <a:gd name="connsiteY37" fmla="*/ 219391 h 5581866"/>
              <a:gd name="connsiteX38" fmla="*/ 4140710 w 6053670"/>
              <a:gd name="connsiteY38" fmla="*/ 212961 h 5581866"/>
              <a:gd name="connsiteX39" fmla="*/ 4275102 w 6053670"/>
              <a:gd name="connsiteY39" fmla="*/ 205277 h 5581866"/>
              <a:gd name="connsiteX40" fmla="*/ 4410098 w 6053670"/>
              <a:gd name="connsiteY40" fmla="*/ 197907 h 5581866"/>
              <a:gd name="connsiteX41" fmla="*/ 4545096 w 6053670"/>
              <a:gd name="connsiteY41" fmla="*/ 188498 h 5581866"/>
              <a:gd name="connsiteX42" fmla="*/ 4681909 w 6053670"/>
              <a:gd name="connsiteY42" fmla="*/ 177207 h 5581866"/>
              <a:gd name="connsiteX43" fmla="*/ 4816905 w 6053670"/>
              <a:gd name="connsiteY43" fmla="*/ 165916 h 5581866"/>
              <a:gd name="connsiteX44" fmla="*/ 4954323 w 6053670"/>
              <a:gd name="connsiteY44" fmla="*/ 152899 h 5581866"/>
              <a:gd name="connsiteX45" fmla="*/ 5092347 w 6053670"/>
              <a:gd name="connsiteY45" fmla="*/ 138629 h 5581866"/>
              <a:gd name="connsiteX46" fmla="*/ 5228555 w 6053670"/>
              <a:gd name="connsiteY46" fmla="*/ 123574 h 5581866"/>
              <a:gd name="connsiteX47" fmla="*/ 5366578 w 6053670"/>
              <a:gd name="connsiteY47" fmla="*/ 106010 h 5581866"/>
              <a:gd name="connsiteX48" fmla="*/ 5503997 w 6053670"/>
              <a:gd name="connsiteY48" fmla="*/ 87192 h 5581866"/>
              <a:gd name="connsiteX49" fmla="*/ 5642020 w 6053670"/>
              <a:gd name="connsiteY49" fmla="*/ 68530 h 5581866"/>
              <a:gd name="connsiteX50" fmla="*/ 5779438 w 6053670"/>
              <a:gd name="connsiteY50" fmla="*/ 46733 h 5581866"/>
              <a:gd name="connsiteX51" fmla="*/ 5916251 w 6053670"/>
              <a:gd name="connsiteY51" fmla="*/ 24464 h 5581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5581866">
                <a:moveTo>
                  <a:pt x="6053670" y="1098"/>
                </a:moveTo>
                <a:lnTo>
                  <a:pt x="6053670" y="514028"/>
                </a:lnTo>
                <a:lnTo>
                  <a:pt x="6053670" y="1254558"/>
                </a:lnTo>
                <a:lnTo>
                  <a:pt x="6053670" y="5581866"/>
                </a:lnTo>
                <a:lnTo>
                  <a:pt x="0" y="5581866"/>
                </a:lnTo>
                <a:lnTo>
                  <a:pt x="0" y="1249853"/>
                </a:lnTo>
                <a:lnTo>
                  <a:pt x="0" y="514028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0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89" y="227859"/>
                </a:lnTo>
                <a:lnTo>
                  <a:pt x="3875559" y="223938"/>
                </a:lnTo>
                <a:lnTo>
                  <a:pt x="4007529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</p:sp>
      <p:sp>
        <p:nvSpPr>
          <p:cNvPr id="27" name="Freeform 5">
            <a:extLst>
              <a:ext uri="{FF2B5EF4-FFF2-40B4-BE49-F238E27FC236}">
                <a16:creationId xmlns:a16="http://schemas.microsoft.com/office/drawing/2014/main" id="{B5C860C9-D4F9-4350-80DA-0D1CD36C77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46E2703-0784-4059-9518-3311DBC676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098" y="629265"/>
            <a:ext cx="5132438" cy="162232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de-DE" sz="2800">
                <a:solidFill>
                  <a:srgbClr val="EBEBEB"/>
                </a:solidFill>
              </a:rPr>
              <a:t>Status-Quo/Aktuelle Probleme für potenzielle Kunden und Unternehmen</a:t>
            </a:r>
          </a:p>
        </p:txBody>
      </p:sp>
      <p:pic>
        <p:nvPicPr>
          <p:cNvPr id="5" name="Grafik 4" descr="Ein Bild, das Text, Zahnrad enthält.&#10;&#10;Automatisch generierte Beschreibung">
            <a:extLst>
              <a:ext uri="{FF2B5EF4-FFF2-40B4-BE49-F238E27FC236}">
                <a16:creationId xmlns:a16="http://schemas.microsoft.com/office/drawing/2014/main" id="{063A6A20-6EF5-4090-B157-A9AE4CCF28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4836" y="1596334"/>
            <a:ext cx="4828707" cy="3682912"/>
          </a:xfrm>
          <a:prstGeom prst="rect">
            <a:avLst/>
          </a:prstGeom>
        </p:spPr>
      </p:pic>
      <p:sp>
        <p:nvSpPr>
          <p:cNvPr id="28" name="Rectangle 17">
            <a:extLst>
              <a:ext uri="{FF2B5EF4-FFF2-40B4-BE49-F238E27FC236}">
                <a16:creationId xmlns:a16="http://schemas.microsoft.com/office/drawing/2014/main" id="{538A90C8-AE0E-4EBA-9AF8-EEDB206020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8AEA9F9-E1CD-4B42-8B63-619C221BC3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9098" y="2418735"/>
            <a:ext cx="5132439" cy="3811742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de-DE" b="1">
                <a:solidFill>
                  <a:srgbClr val="FFFFFF"/>
                </a:solidFill>
              </a:rPr>
              <a:t>Stark ansteigende Reifenpreise…</a:t>
            </a:r>
          </a:p>
          <a:p>
            <a:r>
              <a:rPr lang="de-DE">
                <a:solidFill>
                  <a:srgbClr val="FFFFFF"/>
                </a:solidFill>
              </a:rPr>
              <a:t>…durch Anstieg der Energie –und Rohstoffpreise</a:t>
            </a:r>
          </a:p>
          <a:p>
            <a:r>
              <a:rPr lang="de-DE">
                <a:solidFill>
                  <a:srgbClr val="FFFFFF"/>
                </a:solidFill>
              </a:rPr>
              <a:t>…durch hohe Transport –und Logistikkosten</a:t>
            </a:r>
          </a:p>
          <a:p>
            <a:endParaRPr lang="de-DE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de-DE">
                <a:solidFill>
                  <a:srgbClr val="FFFFFF"/>
                </a:solidFill>
              </a:rPr>
              <a:t>Die Preise mancher Hersteller sind alleine im Jahr 2022 schon um 15% gestiegen.</a:t>
            </a:r>
          </a:p>
          <a:p>
            <a:pPr marL="0" indent="0">
              <a:buNone/>
            </a:pPr>
            <a:endParaRPr lang="de-DE">
              <a:solidFill>
                <a:srgbClr val="FFFFFF"/>
              </a:solidFill>
            </a:endParaRPr>
          </a:p>
          <a:p>
            <a:pPr marL="0" indent="0">
              <a:buNone/>
            </a:pPr>
            <a:endParaRPr lang="de-DE">
              <a:solidFill>
                <a:srgbClr val="FFFFFF"/>
              </a:solidFill>
            </a:endParaRPr>
          </a:p>
          <a:p>
            <a:endParaRPr lang="de-DE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06851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6E0488BA-180E-40D8-8350-4B17917955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 descr="Rot angemalte Reifen">
            <a:extLst>
              <a:ext uri="{FF2B5EF4-FFF2-40B4-BE49-F238E27FC236}">
                <a16:creationId xmlns:a16="http://schemas.microsoft.com/office/drawing/2014/main" id="{DDBE19D8-3041-D245-A432-083D79C6EF0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40000"/>
          </a:blip>
          <a:srcRect b="15730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53C83C8A-31EB-4831-ACC3-9A09607ED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>
            <a:normAutofit/>
          </a:bodyPr>
          <a:lstStyle/>
          <a:p>
            <a:r>
              <a:rPr lang="de-DE">
                <a:solidFill>
                  <a:schemeClr val="tx1"/>
                </a:solidFill>
              </a:rPr>
              <a:t>Nutzen für den Anwender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4BE1246-36DA-4B49-A86C-2475A3113F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b="1" dirty="0">
                <a:solidFill>
                  <a:schemeClr val="tx1"/>
                </a:solidFill>
              </a:rPr>
              <a:t>Aus PET recycelte Reifen…</a:t>
            </a:r>
          </a:p>
          <a:p>
            <a:r>
              <a:rPr lang="de-DE" dirty="0">
                <a:solidFill>
                  <a:schemeClr val="tx1"/>
                </a:solidFill>
              </a:rPr>
              <a:t>…fahren ab dem ersten Meter umweltfreundlich</a:t>
            </a:r>
          </a:p>
          <a:p>
            <a:r>
              <a:rPr lang="de-DE" dirty="0">
                <a:solidFill>
                  <a:schemeClr val="tx1"/>
                </a:solidFill>
              </a:rPr>
              <a:t>…verlängern die Produktlaufzeit und sparen somit Kosten</a:t>
            </a:r>
          </a:p>
          <a:p>
            <a:r>
              <a:rPr lang="de-DE" dirty="0">
                <a:solidFill>
                  <a:schemeClr val="tx1"/>
                </a:solidFill>
              </a:rPr>
              <a:t>…erhöhen die Nachhaltigkeit enorm (Geringerer Energieverbrauch bei Herstellung, Verringerung der Abhängigkeit zu fossilen Brennstoffen)</a:t>
            </a:r>
          </a:p>
          <a:p>
            <a:r>
              <a:rPr lang="de-DE" dirty="0">
                <a:solidFill>
                  <a:schemeClr val="tx1"/>
                </a:solidFill>
              </a:rPr>
              <a:t>…fördern die Beseitigung von Müll aus der Umwelt</a:t>
            </a:r>
          </a:p>
          <a:p>
            <a:endParaRPr lang="de-DE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13814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5">
            <a:extLst>
              <a:ext uri="{FF2B5EF4-FFF2-40B4-BE49-F238E27FC236}">
                <a16:creationId xmlns:a16="http://schemas.microsoft.com/office/drawing/2014/main" id="{052F6DBF-1805-4FD9-AFA3-C8642175FC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794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</p:sp>
      <p:pic>
        <p:nvPicPr>
          <p:cNvPr id="5" name="Grafik 4" descr="Ein Bild, das draußen enthält.&#10;&#10;Automatisch generierte Beschreibung">
            <a:extLst>
              <a:ext uri="{FF2B5EF4-FFF2-40B4-BE49-F238E27FC236}">
                <a16:creationId xmlns:a16="http://schemas.microsoft.com/office/drawing/2014/main" id="{267B26AF-1E0B-4DC7-875E-57F92C15E5D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rcRect t="11753" r="-1" b="-1"/>
          <a:stretch/>
        </p:blipFill>
        <p:spPr>
          <a:xfrm>
            <a:off x="474132" y="462116"/>
            <a:ext cx="11243735" cy="5921751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CC79B2C4-EF9C-492F-BC64-5300A7A2F2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599BEDA-CEC9-4E6C-B05D-1353D0F165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1143000" y="1295400"/>
            <a:ext cx="9982200" cy="4267200"/>
          </a:xfrm>
          <a:prstGeom prst="rect">
            <a:avLst/>
          </a:prstGeom>
          <a:solidFill>
            <a:srgbClr val="000001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EA66633-10D3-417A-94FE-3F9F42936F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1447801"/>
            <a:ext cx="8620967" cy="85513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de-DE" sz="2500">
                <a:solidFill>
                  <a:srgbClr val="FFFFFF"/>
                </a:solidFill>
              </a:rPr>
              <a:t>Zusammenhang der Nachhaltigkeit mit aktuellen Megatrends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6097650-40CB-4C61-9EB2-938D751D31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27200" y="2446868"/>
            <a:ext cx="8254999" cy="2971800"/>
          </a:xfrm>
        </p:spPr>
        <p:txBody>
          <a:bodyPr anchor="t">
            <a:normAutofit/>
          </a:bodyPr>
          <a:lstStyle/>
          <a:p>
            <a:r>
              <a:rPr lang="de-DE" sz="1600">
                <a:solidFill>
                  <a:srgbClr val="FFFFFF"/>
                </a:solidFill>
              </a:rPr>
              <a:t>Durch deutlich längere Produktlaufzeit werden nicht nur Kosten gespart, sondern auch Müll verhindert</a:t>
            </a:r>
          </a:p>
          <a:p>
            <a:r>
              <a:rPr lang="de-DE" sz="1600">
                <a:solidFill>
                  <a:srgbClr val="FFFFFF"/>
                </a:solidFill>
              </a:rPr>
              <a:t>Grundstoff für Autoreifen – Naturkautschuk – treibt das Roden von Regenwäldern voran, hier könnte der PET Reifen entgegenwirken</a:t>
            </a:r>
          </a:p>
          <a:p>
            <a:r>
              <a:rPr lang="de-DE" sz="1600">
                <a:solidFill>
                  <a:srgbClr val="FFFFFF"/>
                </a:solidFill>
              </a:rPr>
              <a:t>Autoreifen tragen erheblich zum Mikroplastik-Problem bei </a:t>
            </a:r>
            <a:r>
              <a:rPr lang="de-DE" sz="1600">
                <a:solidFill>
                  <a:srgbClr val="FFFFFF"/>
                </a:solidFill>
                <a:sym typeface="Wingdings" panose="05000000000000000000" pitchFamily="2" charset="2"/>
              </a:rPr>
              <a:t> Durch Antrieb beim Fahren landen jährlich rund 200000 Tonnen Mikroplastik in den Weltmeeren  Bei PET-Reifen wären es laut aktuellen Forschungsberichten wohl nur ein Bruchteil</a:t>
            </a:r>
            <a:endParaRPr lang="de-DE" sz="16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76863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643780CE-2BE5-46F6-97B2-60DF30217E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61A87A49-68E6-459E-A5A6-46229FF421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171964" y="-140866"/>
            <a:ext cx="6053670" cy="7139732"/>
          </a:xfrm>
          <a:custGeom>
            <a:avLst/>
            <a:gdLst>
              <a:gd name="connsiteX0" fmla="*/ 6053670 w 6053670"/>
              <a:gd name="connsiteY0" fmla="*/ 1098 h 7139732"/>
              <a:gd name="connsiteX1" fmla="*/ 6053670 w 6053670"/>
              <a:gd name="connsiteY1" fmla="*/ 1084479 h 7139732"/>
              <a:gd name="connsiteX2" fmla="*/ 6053670 w 6053670"/>
              <a:gd name="connsiteY2" fmla="*/ 1254558 h 7139732"/>
              <a:gd name="connsiteX3" fmla="*/ 6053670 w 6053670"/>
              <a:gd name="connsiteY3" fmla="*/ 7139732 h 7139732"/>
              <a:gd name="connsiteX4" fmla="*/ 0 w 6053670"/>
              <a:gd name="connsiteY4" fmla="*/ 7139732 h 7139732"/>
              <a:gd name="connsiteX5" fmla="*/ 0 w 6053670"/>
              <a:gd name="connsiteY5" fmla="*/ 1249853 h 7139732"/>
              <a:gd name="connsiteX6" fmla="*/ 0 w 6053670"/>
              <a:gd name="connsiteY6" fmla="*/ 1084479 h 7139732"/>
              <a:gd name="connsiteX7" fmla="*/ 0 w 6053670"/>
              <a:gd name="connsiteY7" fmla="*/ 0 h 7139732"/>
              <a:gd name="connsiteX8" fmla="*/ 35717 w 6053670"/>
              <a:gd name="connsiteY8" fmla="*/ 5488 h 7139732"/>
              <a:gd name="connsiteX9" fmla="*/ 140445 w 6053670"/>
              <a:gd name="connsiteY9" fmla="*/ 21641 h 7139732"/>
              <a:gd name="connsiteX10" fmla="*/ 216722 w 6053670"/>
              <a:gd name="connsiteY10" fmla="*/ 32932 h 7139732"/>
              <a:gd name="connsiteX11" fmla="*/ 307527 w 6053670"/>
              <a:gd name="connsiteY11" fmla="*/ 44850 h 7139732"/>
              <a:gd name="connsiteX12" fmla="*/ 415282 w 6053670"/>
              <a:gd name="connsiteY12" fmla="*/ 59121 h 7139732"/>
              <a:gd name="connsiteX13" fmla="*/ 534539 w 6053670"/>
              <a:gd name="connsiteY13" fmla="*/ 74175 h 7139732"/>
              <a:gd name="connsiteX14" fmla="*/ 668931 w 6053670"/>
              <a:gd name="connsiteY14" fmla="*/ 90014 h 7139732"/>
              <a:gd name="connsiteX15" fmla="*/ 815430 w 6053670"/>
              <a:gd name="connsiteY15" fmla="*/ 106794 h 7139732"/>
              <a:gd name="connsiteX16" fmla="*/ 974641 w 6053670"/>
              <a:gd name="connsiteY16" fmla="*/ 123574 h 7139732"/>
              <a:gd name="connsiteX17" fmla="*/ 1144144 w 6053670"/>
              <a:gd name="connsiteY17" fmla="*/ 140667 h 7139732"/>
              <a:gd name="connsiteX18" fmla="*/ 1326965 w 6053670"/>
              <a:gd name="connsiteY18" fmla="*/ 156506 h 7139732"/>
              <a:gd name="connsiteX19" fmla="*/ 1518261 w 6053670"/>
              <a:gd name="connsiteY19" fmla="*/ 171717 h 7139732"/>
              <a:gd name="connsiteX20" fmla="*/ 1720453 w 6053670"/>
              <a:gd name="connsiteY20" fmla="*/ 185518 h 7139732"/>
              <a:gd name="connsiteX21" fmla="*/ 1931121 w 6053670"/>
              <a:gd name="connsiteY21" fmla="*/ 198690 h 7139732"/>
              <a:gd name="connsiteX22" fmla="*/ 2150869 w 6053670"/>
              <a:gd name="connsiteY22" fmla="*/ 211079 h 7139732"/>
              <a:gd name="connsiteX23" fmla="*/ 2263467 w 6053670"/>
              <a:gd name="connsiteY23" fmla="*/ 215470 h 7139732"/>
              <a:gd name="connsiteX24" fmla="*/ 2378487 w 6053670"/>
              <a:gd name="connsiteY24" fmla="*/ 220332 h 7139732"/>
              <a:gd name="connsiteX25" fmla="*/ 2495323 w 6053670"/>
              <a:gd name="connsiteY25" fmla="*/ 224879 h 7139732"/>
              <a:gd name="connsiteX26" fmla="*/ 2612764 w 6053670"/>
              <a:gd name="connsiteY26" fmla="*/ 227859 h 7139732"/>
              <a:gd name="connsiteX27" fmla="*/ 2732627 w 6053670"/>
              <a:gd name="connsiteY27" fmla="*/ 230525 h 7139732"/>
              <a:gd name="connsiteX28" fmla="*/ 2853700 w 6053670"/>
              <a:gd name="connsiteY28" fmla="*/ 233348 h 7139732"/>
              <a:gd name="connsiteX29" fmla="*/ 2977195 w 6053670"/>
              <a:gd name="connsiteY29" fmla="*/ 235229 h 7139732"/>
              <a:gd name="connsiteX30" fmla="*/ 3101901 w 6053670"/>
              <a:gd name="connsiteY30" fmla="*/ 235229 h 7139732"/>
              <a:gd name="connsiteX31" fmla="*/ 3227817 w 6053670"/>
              <a:gd name="connsiteY31" fmla="*/ 236170 h 7139732"/>
              <a:gd name="connsiteX32" fmla="*/ 3354944 w 6053670"/>
              <a:gd name="connsiteY32" fmla="*/ 235229 h 7139732"/>
              <a:gd name="connsiteX33" fmla="*/ 3483887 w 6053670"/>
              <a:gd name="connsiteY33" fmla="*/ 233348 h 7139732"/>
              <a:gd name="connsiteX34" fmla="*/ 3612830 w 6053670"/>
              <a:gd name="connsiteY34" fmla="*/ 231623 h 7139732"/>
              <a:gd name="connsiteX35" fmla="*/ 3743590 w 6053670"/>
              <a:gd name="connsiteY35" fmla="*/ 227859 h 7139732"/>
              <a:gd name="connsiteX36" fmla="*/ 3875560 w 6053670"/>
              <a:gd name="connsiteY36" fmla="*/ 223938 h 7139732"/>
              <a:gd name="connsiteX37" fmla="*/ 4007530 w 6053670"/>
              <a:gd name="connsiteY37" fmla="*/ 219391 h 7139732"/>
              <a:gd name="connsiteX38" fmla="*/ 4140710 w 6053670"/>
              <a:gd name="connsiteY38" fmla="*/ 212961 h 7139732"/>
              <a:gd name="connsiteX39" fmla="*/ 4275102 w 6053670"/>
              <a:gd name="connsiteY39" fmla="*/ 205277 h 7139732"/>
              <a:gd name="connsiteX40" fmla="*/ 4410098 w 6053670"/>
              <a:gd name="connsiteY40" fmla="*/ 197907 h 7139732"/>
              <a:gd name="connsiteX41" fmla="*/ 4545096 w 6053670"/>
              <a:gd name="connsiteY41" fmla="*/ 188498 h 7139732"/>
              <a:gd name="connsiteX42" fmla="*/ 4681909 w 6053670"/>
              <a:gd name="connsiteY42" fmla="*/ 177207 h 7139732"/>
              <a:gd name="connsiteX43" fmla="*/ 4816905 w 6053670"/>
              <a:gd name="connsiteY43" fmla="*/ 165916 h 7139732"/>
              <a:gd name="connsiteX44" fmla="*/ 4954323 w 6053670"/>
              <a:gd name="connsiteY44" fmla="*/ 152899 h 7139732"/>
              <a:gd name="connsiteX45" fmla="*/ 5092347 w 6053670"/>
              <a:gd name="connsiteY45" fmla="*/ 138629 h 7139732"/>
              <a:gd name="connsiteX46" fmla="*/ 5228555 w 6053670"/>
              <a:gd name="connsiteY46" fmla="*/ 123574 h 7139732"/>
              <a:gd name="connsiteX47" fmla="*/ 5366578 w 6053670"/>
              <a:gd name="connsiteY47" fmla="*/ 106010 h 7139732"/>
              <a:gd name="connsiteX48" fmla="*/ 5503997 w 6053670"/>
              <a:gd name="connsiteY48" fmla="*/ 87192 h 7139732"/>
              <a:gd name="connsiteX49" fmla="*/ 5642020 w 6053670"/>
              <a:gd name="connsiteY49" fmla="*/ 68530 h 7139732"/>
              <a:gd name="connsiteX50" fmla="*/ 5779438 w 6053670"/>
              <a:gd name="connsiteY50" fmla="*/ 46733 h 7139732"/>
              <a:gd name="connsiteX51" fmla="*/ 5916251 w 6053670"/>
              <a:gd name="connsiteY51" fmla="*/ 24464 h 7139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7139732">
                <a:moveTo>
                  <a:pt x="6053670" y="1098"/>
                </a:moveTo>
                <a:lnTo>
                  <a:pt x="6053670" y="1084479"/>
                </a:lnTo>
                <a:lnTo>
                  <a:pt x="6053670" y="1254558"/>
                </a:lnTo>
                <a:lnTo>
                  <a:pt x="6053670" y="7139732"/>
                </a:lnTo>
                <a:lnTo>
                  <a:pt x="0" y="7139732"/>
                </a:lnTo>
                <a:lnTo>
                  <a:pt x="0" y="1249853"/>
                </a:lnTo>
                <a:lnTo>
                  <a:pt x="0" y="1084479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1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90" y="227859"/>
                </a:lnTo>
                <a:lnTo>
                  <a:pt x="3875560" y="223938"/>
                </a:lnTo>
                <a:lnTo>
                  <a:pt x="4007530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</p:sp>
      <p:sp>
        <p:nvSpPr>
          <p:cNvPr id="38" name="Freeform 5">
            <a:extLst>
              <a:ext uri="{FF2B5EF4-FFF2-40B4-BE49-F238E27FC236}">
                <a16:creationId xmlns:a16="http://schemas.microsoft.com/office/drawing/2014/main" id="{F6ACD5FC-CAFE-48EB-B765-60EED2E0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3933719-0C0C-4D11-AFC5-9F3343E38C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973668"/>
            <a:ext cx="2942210" cy="102023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de-DE" sz="3100">
                <a:solidFill>
                  <a:srgbClr val="EBEBEB"/>
                </a:solidFill>
              </a:rPr>
              <a:t>Der finanzielle Aspekt</a:t>
            </a:r>
          </a:p>
        </p:txBody>
      </p:sp>
      <p:pic>
        <p:nvPicPr>
          <p:cNvPr id="6" name="Grafik 5" descr="Ein Bild, das Text enthält.&#10;&#10;Automatisch generierte Beschreibung">
            <a:extLst>
              <a:ext uri="{FF2B5EF4-FFF2-40B4-BE49-F238E27FC236}">
                <a16:creationId xmlns:a16="http://schemas.microsoft.com/office/drawing/2014/main" id="{7FCBF2A9-697E-4A36-A661-A9AF300708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4607" y="2366408"/>
            <a:ext cx="6391533" cy="2125184"/>
          </a:xfrm>
          <a:prstGeom prst="rect">
            <a:avLst/>
          </a:prstGeom>
        </p:spPr>
      </p:pic>
      <p:sp>
        <p:nvSpPr>
          <p:cNvPr id="40" name="Rectangle 39">
            <a:extLst>
              <a:ext uri="{FF2B5EF4-FFF2-40B4-BE49-F238E27FC236}">
                <a16:creationId xmlns:a16="http://schemas.microsoft.com/office/drawing/2014/main" id="{9F33B405-D785-4738-B1C0-6A0AA5E982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4233DC0E-DE6C-4FB6-A529-51B162641A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11000"/>
                </a:schemeClr>
              </a:gs>
              <a:gs pos="75000">
                <a:schemeClr val="accent5">
                  <a:alpha val="0"/>
                </a:schemeClr>
              </a:gs>
              <a:gs pos="36000">
                <a:schemeClr val="accent5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3870477F-E451-4BC3-863F-0E2FC5728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8000"/>
                </a:schemeClr>
              </a:gs>
              <a:gs pos="72000">
                <a:schemeClr val="accent5">
                  <a:alpha val="0"/>
                </a:schemeClr>
              </a:gs>
              <a:gs pos="36000">
                <a:schemeClr val="accent5"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179C291-F0AD-4854-9CAD-7166A9C698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5" y="2120900"/>
            <a:ext cx="3133726" cy="38989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dirty="0">
                <a:solidFill>
                  <a:srgbClr val="FFFFFF"/>
                </a:solidFill>
              </a:rPr>
              <a:t>Veranschaulichung anhand eines klassischen, häufig nachgefragten Autoreifens (</a:t>
            </a:r>
            <a:r>
              <a:rPr lang="de-DE" dirty="0" err="1">
                <a:solidFill>
                  <a:srgbClr val="FFFFFF"/>
                </a:solidFill>
              </a:rPr>
              <a:t>WinterContact</a:t>
            </a:r>
            <a:r>
              <a:rPr lang="de-DE" dirty="0">
                <a:solidFill>
                  <a:srgbClr val="FFFFFF"/>
                </a:solidFill>
              </a:rPr>
              <a:t> TS 810 S*)</a:t>
            </a:r>
          </a:p>
          <a:p>
            <a:pPr marL="0" indent="0">
              <a:buNone/>
            </a:pPr>
            <a:endParaRPr lang="de-DE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de-DE" dirty="0">
                <a:solidFill>
                  <a:srgbClr val="FFFFFF"/>
                </a:solidFill>
              </a:rPr>
              <a:t>Selbstkosten: ~28€/Reifen</a:t>
            </a:r>
          </a:p>
          <a:p>
            <a:pPr marL="0" indent="0">
              <a:buNone/>
            </a:pPr>
            <a:r>
              <a:rPr lang="de-DE" dirty="0">
                <a:solidFill>
                  <a:srgbClr val="FFFFFF"/>
                </a:solidFill>
              </a:rPr>
              <a:t>Gewinnmarge: ~30€/Reifen</a:t>
            </a:r>
          </a:p>
        </p:txBody>
      </p:sp>
      <p:sp>
        <p:nvSpPr>
          <p:cNvPr id="46" name="Freeform 5">
            <a:extLst>
              <a:ext uri="{FF2B5EF4-FFF2-40B4-BE49-F238E27FC236}">
                <a16:creationId xmlns:a16="http://schemas.microsoft.com/office/drawing/2014/main" id="{B4A81DE1-E2BC-4A31-99EE-71350421B0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3140485" y="1826078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0854892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324E43EB-867C-4B35-9A5C-E435157C7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7C0F5DA-B59F-4F13-8BB8-FFD8F2C57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" name="Freeform 5">
            <a:extLst>
              <a:ext uri="{FF2B5EF4-FFF2-40B4-BE49-F238E27FC236}">
                <a16:creationId xmlns:a16="http://schemas.microsoft.com/office/drawing/2014/main" id="{9CEA1DEC-CC9E-4776-9E08-048A15BFA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3140485" y="1826078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9CE399CF-F4B8-4832-A8CB-B93F6B1EF4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171964" y="-140866"/>
            <a:ext cx="6053670" cy="7139732"/>
          </a:xfrm>
          <a:custGeom>
            <a:avLst/>
            <a:gdLst>
              <a:gd name="connsiteX0" fmla="*/ 6053670 w 6053670"/>
              <a:gd name="connsiteY0" fmla="*/ 1098 h 7139732"/>
              <a:gd name="connsiteX1" fmla="*/ 6053670 w 6053670"/>
              <a:gd name="connsiteY1" fmla="*/ 1084479 h 7139732"/>
              <a:gd name="connsiteX2" fmla="*/ 6053670 w 6053670"/>
              <a:gd name="connsiteY2" fmla="*/ 1254558 h 7139732"/>
              <a:gd name="connsiteX3" fmla="*/ 6053670 w 6053670"/>
              <a:gd name="connsiteY3" fmla="*/ 7139732 h 7139732"/>
              <a:gd name="connsiteX4" fmla="*/ 0 w 6053670"/>
              <a:gd name="connsiteY4" fmla="*/ 7139732 h 7139732"/>
              <a:gd name="connsiteX5" fmla="*/ 0 w 6053670"/>
              <a:gd name="connsiteY5" fmla="*/ 1249853 h 7139732"/>
              <a:gd name="connsiteX6" fmla="*/ 0 w 6053670"/>
              <a:gd name="connsiteY6" fmla="*/ 1084479 h 7139732"/>
              <a:gd name="connsiteX7" fmla="*/ 0 w 6053670"/>
              <a:gd name="connsiteY7" fmla="*/ 0 h 7139732"/>
              <a:gd name="connsiteX8" fmla="*/ 35717 w 6053670"/>
              <a:gd name="connsiteY8" fmla="*/ 5488 h 7139732"/>
              <a:gd name="connsiteX9" fmla="*/ 140445 w 6053670"/>
              <a:gd name="connsiteY9" fmla="*/ 21641 h 7139732"/>
              <a:gd name="connsiteX10" fmla="*/ 216722 w 6053670"/>
              <a:gd name="connsiteY10" fmla="*/ 32932 h 7139732"/>
              <a:gd name="connsiteX11" fmla="*/ 307527 w 6053670"/>
              <a:gd name="connsiteY11" fmla="*/ 44850 h 7139732"/>
              <a:gd name="connsiteX12" fmla="*/ 415282 w 6053670"/>
              <a:gd name="connsiteY12" fmla="*/ 59121 h 7139732"/>
              <a:gd name="connsiteX13" fmla="*/ 534539 w 6053670"/>
              <a:gd name="connsiteY13" fmla="*/ 74175 h 7139732"/>
              <a:gd name="connsiteX14" fmla="*/ 668931 w 6053670"/>
              <a:gd name="connsiteY14" fmla="*/ 90014 h 7139732"/>
              <a:gd name="connsiteX15" fmla="*/ 815430 w 6053670"/>
              <a:gd name="connsiteY15" fmla="*/ 106794 h 7139732"/>
              <a:gd name="connsiteX16" fmla="*/ 974641 w 6053670"/>
              <a:gd name="connsiteY16" fmla="*/ 123574 h 7139732"/>
              <a:gd name="connsiteX17" fmla="*/ 1144144 w 6053670"/>
              <a:gd name="connsiteY17" fmla="*/ 140667 h 7139732"/>
              <a:gd name="connsiteX18" fmla="*/ 1326965 w 6053670"/>
              <a:gd name="connsiteY18" fmla="*/ 156506 h 7139732"/>
              <a:gd name="connsiteX19" fmla="*/ 1518261 w 6053670"/>
              <a:gd name="connsiteY19" fmla="*/ 171717 h 7139732"/>
              <a:gd name="connsiteX20" fmla="*/ 1720453 w 6053670"/>
              <a:gd name="connsiteY20" fmla="*/ 185518 h 7139732"/>
              <a:gd name="connsiteX21" fmla="*/ 1931121 w 6053670"/>
              <a:gd name="connsiteY21" fmla="*/ 198690 h 7139732"/>
              <a:gd name="connsiteX22" fmla="*/ 2150869 w 6053670"/>
              <a:gd name="connsiteY22" fmla="*/ 211079 h 7139732"/>
              <a:gd name="connsiteX23" fmla="*/ 2263467 w 6053670"/>
              <a:gd name="connsiteY23" fmla="*/ 215470 h 7139732"/>
              <a:gd name="connsiteX24" fmla="*/ 2378487 w 6053670"/>
              <a:gd name="connsiteY24" fmla="*/ 220332 h 7139732"/>
              <a:gd name="connsiteX25" fmla="*/ 2495323 w 6053670"/>
              <a:gd name="connsiteY25" fmla="*/ 224879 h 7139732"/>
              <a:gd name="connsiteX26" fmla="*/ 2612764 w 6053670"/>
              <a:gd name="connsiteY26" fmla="*/ 227859 h 7139732"/>
              <a:gd name="connsiteX27" fmla="*/ 2732627 w 6053670"/>
              <a:gd name="connsiteY27" fmla="*/ 230525 h 7139732"/>
              <a:gd name="connsiteX28" fmla="*/ 2853700 w 6053670"/>
              <a:gd name="connsiteY28" fmla="*/ 233348 h 7139732"/>
              <a:gd name="connsiteX29" fmla="*/ 2977195 w 6053670"/>
              <a:gd name="connsiteY29" fmla="*/ 235229 h 7139732"/>
              <a:gd name="connsiteX30" fmla="*/ 3101901 w 6053670"/>
              <a:gd name="connsiteY30" fmla="*/ 235229 h 7139732"/>
              <a:gd name="connsiteX31" fmla="*/ 3227817 w 6053670"/>
              <a:gd name="connsiteY31" fmla="*/ 236170 h 7139732"/>
              <a:gd name="connsiteX32" fmla="*/ 3354944 w 6053670"/>
              <a:gd name="connsiteY32" fmla="*/ 235229 h 7139732"/>
              <a:gd name="connsiteX33" fmla="*/ 3483887 w 6053670"/>
              <a:gd name="connsiteY33" fmla="*/ 233348 h 7139732"/>
              <a:gd name="connsiteX34" fmla="*/ 3612830 w 6053670"/>
              <a:gd name="connsiteY34" fmla="*/ 231623 h 7139732"/>
              <a:gd name="connsiteX35" fmla="*/ 3743590 w 6053670"/>
              <a:gd name="connsiteY35" fmla="*/ 227859 h 7139732"/>
              <a:gd name="connsiteX36" fmla="*/ 3875560 w 6053670"/>
              <a:gd name="connsiteY36" fmla="*/ 223938 h 7139732"/>
              <a:gd name="connsiteX37" fmla="*/ 4007530 w 6053670"/>
              <a:gd name="connsiteY37" fmla="*/ 219391 h 7139732"/>
              <a:gd name="connsiteX38" fmla="*/ 4140710 w 6053670"/>
              <a:gd name="connsiteY38" fmla="*/ 212961 h 7139732"/>
              <a:gd name="connsiteX39" fmla="*/ 4275102 w 6053670"/>
              <a:gd name="connsiteY39" fmla="*/ 205277 h 7139732"/>
              <a:gd name="connsiteX40" fmla="*/ 4410098 w 6053670"/>
              <a:gd name="connsiteY40" fmla="*/ 197907 h 7139732"/>
              <a:gd name="connsiteX41" fmla="*/ 4545096 w 6053670"/>
              <a:gd name="connsiteY41" fmla="*/ 188498 h 7139732"/>
              <a:gd name="connsiteX42" fmla="*/ 4681909 w 6053670"/>
              <a:gd name="connsiteY42" fmla="*/ 177207 h 7139732"/>
              <a:gd name="connsiteX43" fmla="*/ 4816905 w 6053670"/>
              <a:gd name="connsiteY43" fmla="*/ 165916 h 7139732"/>
              <a:gd name="connsiteX44" fmla="*/ 4954323 w 6053670"/>
              <a:gd name="connsiteY44" fmla="*/ 152899 h 7139732"/>
              <a:gd name="connsiteX45" fmla="*/ 5092347 w 6053670"/>
              <a:gd name="connsiteY45" fmla="*/ 138629 h 7139732"/>
              <a:gd name="connsiteX46" fmla="*/ 5228555 w 6053670"/>
              <a:gd name="connsiteY46" fmla="*/ 123574 h 7139732"/>
              <a:gd name="connsiteX47" fmla="*/ 5366578 w 6053670"/>
              <a:gd name="connsiteY47" fmla="*/ 106010 h 7139732"/>
              <a:gd name="connsiteX48" fmla="*/ 5503997 w 6053670"/>
              <a:gd name="connsiteY48" fmla="*/ 87192 h 7139732"/>
              <a:gd name="connsiteX49" fmla="*/ 5642020 w 6053670"/>
              <a:gd name="connsiteY49" fmla="*/ 68530 h 7139732"/>
              <a:gd name="connsiteX50" fmla="*/ 5779438 w 6053670"/>
              <a:gd name="connsiteY50" fmla="*/ 46733 h 7139732"/>
              <a:gd name="connsiteX51" fmla="*/ 5916251 w 6053670"/>
              <a:gd name="connsiteY51" fmla="*/ 24464 h 7139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7139732">
                <a:moveTo>
                  <a:pt x="6053670" y="1098"/>
                </a:moveTo>
                <a:lnTo>
                  <a:pt x="6053670" y="1084479"/>
                </a:lnTo>
                <a:lnTo>
                  <a:pt x="6053670" y="1254558"/>
                </a:lnTo>
                <a:lnTo>
                  <a:pt x="6053670" y="7139732"/>
                </a:lnTo>
                <a:lnTo>
                  <a:pt x="0" y="7139732"/>
                </a:lnTo>
                <a:lnTo>
                  <a:pt x="0" y="1249853"/>
                </a:lnTo>
                <a:lnTo>
                  <a:pt x="0" y="1084479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1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90" y="227859"/>
                </a:lnTo>
                <a:lnTo>
                  <a:pt x="3875560" y="223938"/>
                </a:lnTo>
                <a:lnTo>
                  <a:pt x="4007530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25" name="Freeform 5">
            <a:extLst>
              <a:ext uri="{FF2B5EF4-FFF2-40B4-BE49-F238E27FC236}">
                <a16:creationId xmlns:a16="http://schemas.microsoft.com/office/drawing/2014/main" id="{1F23E73A-FDC8-462C-83C1-3AA896144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4AFBA95-DC32-4AA6-99D0-9B2968650D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4087" y="1130603"/>
            <a:ext cx="3342442" cy="4596794"/>
          </a:xfrm>
        </p:spPr>
        <p:txBody>
          <a:bodyPr anchor="ctr">
            <a:normAutofit/>
          </a:bodyPr>
          <a:lstStyle/>
          <a:p>
            <a:r>
              <a:rPr lang="de-DE" sz="3000">
                <a:solidFill>
                  <a:srgbClr val="EBEBEB"/>
                </a:solidFill>
              </a:rPr>
              <a:t>Der finanzielle Aspekt (Materialkosten)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DB4D8B1-E3A0-4420-8EE1-A64B67D6E0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0077" y="437513"/>
            <a:ext cx="5502614" cy="5954325"/>
          </a:xfrm>
        </p:spPr>
        <p:txBody>
          <a:bodyPr anchor="ctr">
            <a:normAutofit/>
          </a:bodyPr>
          <a:lstStyle/>
          <a:p>
            <a:r>
              <a:rPr lang="de-DE" sz="2000"/>
              <a:t>Der klassische, herkömmliche Autoreifen enthält in etwa 400g Polyestergarn, welches traditionell aus so genanntem Virgin PET, einem aus Erdöl hergestellten Polyestergarn, gewonnen wird</a:t>
            </a:r>
          </a:p>
          <a:p>
            <a:pPr marL="0" indent="0">
              <a:buNone/>
            </a:pPr>
            <a:r>
              <a:rPr lang="de-DE" sz="2000"/>
              <a:t>Kosten/400g: ~2,50 €</a:t>
            </a:r>
          </a:p>
          <a:p>
            <a:endParaRPr lang="de-DE" sz="2000"/>
          </a:p>
          <a:p>
            <a:r>
              <a:rPr lang="de-DE" sz="2000"/>
              <a:t>Durch die PET-Technologie kann mithilfe von 60 recycelten Kunststoffflaschen die gleiche Menge deutlich günstiger gewonnen werden</a:t>
            </a:r>
          </a:p>
          <a:p>
            <a:pPr marL="0" indent="0">
              <a:buNone/>
            </a:pPr>
            <a:r>
              <a:rPr lang="de-DE" sz="2000"/>
              <a:t>Kosten/400g: ~0,50€</a:t>
            </a:r>
          </a:p>
          <a:p>
            <a:pPr marL="0" indent="0">
              <a:buNone/>
            </a:pPr>
            <a:r>
              <a:rPr lang="de-DE" sz="2000">
                <a:sym typeface="Wingdings" panose="05000000000000000000" pitchFamily="2" charset="2"/>
              </a:rPr>
              <a:t> </a:t>
            </a:r>
            <a:r>
              <a:rPr lang="de-DE" sz="2000" b="1">
                <a:sym typeface="Wingdings" panose="05000000000000000000" pitchFamily="2" charset="2"/>
              </a:rPr>
              <a:t>Kosten für Polyestergarn um 2€/Reifen gesenkt (-450%)</a:t>
            </a:r>
            <a:endParaRPr lang="de-DE" sz="2000" b="1"/>
          </a:p>
        </p:txBody>
      </p:sp>
    </p:spTree>
    <p:extLst>
      <p:ext uri="{BB962C8B-B14F-4D97-AF65-F5344CB8AC3E}">
        <p14:creationId xmlns:p14="http://schemas.microsoft.com/office/powerpoint/2010/main" val="2686912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324E43EB-867C-4B35-9A5C-E435157C7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7C0F5DA-B59F-4F13-8BB8-FFD8F2C57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" name="Freeform 5">
            <a:extLst>
              <a:ext uri="{FF2B5EF4-FFF2-40B4-BE49-F238E27FC236}">
                <a16:creationId xmlns:a16="http://schemas.microsoft.com/office/drawing/2014/main" id="{9CEA1DEC-CC9E-4776-9E08-048A15BFA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3140485" y="1826078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9CE399CF-F4B8-4832-A8CB-B93F6B1EF4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171964" y="-140866"/>
            <a:ext cx="6053670" cy="7139732"/>
          </a:xfrm>
          <a:custGeom>
            <a:avLst/>
            <a:gdLst>
              <a:gd name="connsiteX0" fmla="*/ 6053670 w 6053670"/>
              <a:gd name="connsiteY0" fmla="*/ 1098 h 7139732"/>
              <a:gd name="connsiteX1" fmla="*/ 6053670 w 6053670"/>
              <a:gd name="connsiteY1" fmla="*/ 1084479 h 7139732"/>
              <a:gd name="connsiteX2" fmla="*/ 6053670 w 6053670"/>
              <a:gd name="connsiteY2" fmla="*/ 1254558 h 7139732"/>
              <a:gd name="connsiteX3" fmla="*/ 6053670 w 6053670"/>
              <a:gd name="connsiteY3" fmla="*/ 7139732 h 7139732"/>
              <a:gd name="connsiteX4" fmla="*/ 0 w 6053670"/>
              <a:gd name="connsiteY4" fmla="*/ 7139732 h 7139732"/>
              <a:gd name="connsiteX5" fmla="*/ 0 w 6053670"/>
              <a:gd name="connsiteY5" fmla="*/ 1249853 h 7139732"/>
              <a:gd name="connsiteX6" fmla="*/ 0 w 6053670"/>
              <a:gd name="connsiteY6" fmla="*/ 1084479 h 7139732"/>
              <a:gd name="connsiteX7" fmla="*/ 0 w 6053670"/>
              <a:gd name="connsiteY7" fmla="*/ 0 h 7139732"/>
              <a:gd name="connsiteX8" fmla="*/ 35717 w 6053670"/>
              <a:gd name="connsiteY8" fmla="*/ 5488 h 7139732"/>
              <a:gd name="connsiteX9" fmla="*/ 140445 w 6053670"/>
              <a:gd name="connsiteY9" fmla="*/ 21641 h 7139732"/>
              <a:gd name="connsiteX10" fmla="*/ 216722 w 6053670"/>
              <a:gd name="connsiteY10" fmla="*/ 32932 h 7139732"/>
              <a:gd name="connsiteX11" fmla="*/ 307527 w 6053670"/>
              <a:gd name="connsiteY11" fmla="*/ 44850 h 7139732"/>
              <a:gd name="connsiteX12" fmla="*/ 415282 w 6053670"/>
              <a:gd name="connsiteY12" fmla="*/ 59121 h 7139732"/>
              <a:gd name="connsiteX13" fmla="*/ 534539 w 6053670"/>
              <a:gd name="connsiteY13" fmla="*/ 74175 h 7139732"/>
              <a:gd name="connsiteX14" fmla="*/ 668931 w 6053670"/>
              <a:gd name="connsiteY14" fmla="*/ 90014 h 7139732"/>
              <a:gd name="connsiteX15" fmla="*/ 815430 w 6053670"/>
              <a:gd name="connsiteY15" fmla="*/ 106794 h 7139732"/>
              <a:gd name="connsiteX16" fmla="*/ 974641 w 6053670"/>
              <a:gd name="connsiteY16" fmla="*/ 123574 h 7139732"/>
              <a:gd name="connsiteX17" fmla="*/ 1144144 w 6053670"/>
              <a:gd name="connsiteY17" fmla="*/ 140667 h 7139732"/>
              <a:gd name="connsiteX18" fmla="*/ 1326965 w 6053670"/>
              <a:gd name="connsiteY18" fmla="*/ 156506 h 7139732"/>
              <a:gd name="connsiteX19" fmla="*/ 1518261 w 6053670"/>
              <a:gd name="connsiteY19" fmla="*/ 171717 h 7139732"/>
              <a:gd name="connsiteX20" fmla="*/ 1720453 w 6053670"/>
              <a:gd name="connsiteY20" fmla="*/ 185518 h 7139732"/>
              <a:gd name="connsiteX21" fmla="*/ 1931121 w 6053670"/>
              <a:gd name="connsiteY21" fmla="*/ 198690 h 7139732"/>
              <a:gd name="connsiteX22" fmla="*/ 2150869 w 6053670"/>
              <a:gd name="connsiteY22" fmla="*/ 211079 h 7139732"/>
              <a:gd name="connsiteX23" fmla="*/ 2263467 w 6053670"/>
              <a:gd name="connsiteY23" fmla="*/ 215470 h 7139732"/>
              <a:gd name="connsiteX24" fmla="*/ 2378487 w 6053670"/>
              <a:gd name="connsiteY24" fmla="*/ 220332 h 7139732"/>
              <a:gd name="connsiteX25" fmla="*/ 2495323 w 6053670"/>
              <a:gd name="connsiteY25" fmla="*/ 224879 h 7139732"/>
              <a:gd name="connsiteX26" fmla="*/ 2612764 w 6053670"/>
              <a:gd name="connsiteY26" fmla="*/ 227859 h 7139732"/>
              <a:gd name="connsiteX27" fmla="*/ 2732627 w 6053670"/>
              <a:gd name="connsiteY27" fmla="*/ 230525 h 7139732"/>
              <a:gd name="connsiteX28" fmla="*/ 2853700 w 6053670"/>
              <a:gd name="connsiteY28" fmla="*/ 233348 h 7139732"/>
              <a:gd name="connsiteX29" fmla="*/ 2977195 w 6053670"/>
              <a:gd name="connsiteY29" fmla="*/ 235229 h 7139732"/>
              <a:gd name="connsiteX30" fmla="*/ 3101901 w 6053670"/>
              <a:gd name="connsiteY30" fmla="*/ 235229 h 7139732"/>
              <a:gd name="connsiteX31" fmla="*/ 3227817 w 6053670"/>
              <a:gd name="connsiteY31" fmla="*/ 236170 h 7139732"/>
              <a:gd name="connsiteX32" fmla="*/ 3354944 w 6053670"/>
              <a:gd name="connsiteY32" fmla="*/ 235229 h 7139732"/>
              <a:gd name="connsiteX33" fmla="*/ 3483887 w 6053670"/>
              <a:gd name="connsiteY33" fmla="*/ 233348 h 7139732"/>
              <a:gd name="connsiteX34" fmla="*/ 3612830 w 6053670"/>
              <a:gd name="connsiteY34" fmla="*/ 231623 h 7139732"/>
              <a:gd name="connsiteX35" fmla="*/ 3743590 w 6053670"/>
              <a:gd name="connsiteY35" fmla="*/ 227859 h 7139732"/>
              <a:gd name="connsiteX36" fmla="*/ 3875560 w 6053670"/>
              <a:gd name="connsiteY36" fmla="*/ 223938 h 7139732"/>
              <a:gd name="connsiteX37" fmla="*/ 4007530 w 6053670"/>
              <a:gd name="connsiteY37" fmla="*/ 219391 h 7139732"/>
              <a:gd name="connsiteX38" fmla="*/ 4140710 w 6053670"/>
              <a:gd name="connsiteY38" fmla="*/ 212961 h 7139732"/>
              <a:gd name="connsiteX39" fmla="*/ 4275102 w 6053670"/>
              <a:gd name="connsiteY39" fmla="*/ 205277 h 7139732"/>
              <a:gd name="connsiteX40" fmla="*/ 4410098 w 6053670"/>
              <a:gd name="connsiteY40" fmla="*/ 197907 h 7139732"/>
              <a:gd name="connsiteX41" fmla="*/ 4545096 w 6053670"/>
              <a:gd name="connsiteY41" fmla="*/ 188498 h 7139732"/>
              <a:gd name="connsiteX42" fmla="*/ 4681909 w 6053670"/>
              <a:gd name="connsiteY42" fmla="*/ 177207 h 7139732"/>
              <a:gd name="connsiteX43" fmla="*/ 4816905 w 6053670"/>
              <a:gd name="connsiteY43" fmla="*/ 165916 h 7139732"/>
              <a:gd name="connsiteX44" fmla="*/ 4954323 w 6053670"/>
              <a:gd name="connsiteY44" fmla="*/ 152899 h 7139732"/>
              <a:gd name="connsiteX45" fmla="*/ 5092347 w 6053670"/>
              <a:gd name="connsiteY45" fmla="*/ 138629 h 7139732"/>
              <a:gd name="connsiteX46" fmla="*/ 5228555 w 6053670"/>
              <a:gd name="connsiteY46" fmla="*/ 123574 h 7139732"/>
              <a:gd name="connsiteX47" fmla="*/ 5366578 w 6053670"/>
              <a:gd name="connsiteY47" fmla="*/ 106010 h 7139732"/>
              <a:gd name="connsiteX48" fmla="*/ 5503997 w 6053670"/>
              <a:gd name="connsiteY48" fmla="*/ 87192 h 7139732"/>
              <a:gd name="connsiteX49" fmla="*/ 5642020 w 6053670"/>
              <a:gd name="connsiteY49" fmla="*/ 68530 h 7139732"/>
              <a:gd name="connsiteX50" fmla="*/ 5779438 w 6053670"/>
              <a:gd name="connsiteY50" fmla="*/ 46733 h 7139732"/>
              <a:gd name="connsiteX51" fmla="*/ 5916251 w 6053670"/>
              <a:gd name="connsiteY51" fmla="*/ 24464 h 7139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7139732">
                <a:moveTo>
                  <a:pt x="6053670" y="1098"/>
                </a:moveTo>
                <a:lnTo>
                  <a:pt x="6053670" y="1084479"/>
                </a:lnTo>
                <a:lnTo>
                  <a:pt x="6053670" y="1254558"/>
                </a:lnTo>
                <a:lnTo>
                  <a:pt x="6053670" y="7139732"/>
                </a:lnTo>
                <a:lnTo>
                  <a:pt x="0" y="7139732"/>
                </a:lnTo>
                <a:lnTo>
                  <a:pt x="0" y="1249853"/>
                </a:lnTo>
                <a:lnTo>
                  <a:pt x="0" y="1084479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1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90" y="227859"/>
                </a:lnTo>
                <a:lnTo>
                  <a:pt x="3875560" y="223938"/>
                </a:lnTo>
                <a:lnTo>
                  <a:pt x="4007530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29" name="Freeform 5">
            <a:extLst>
              <a:ext uri="{FF2B5EF4-FFF2-40B4-BE49-F238E27FC236}">
                <a16:creationId xmlns:a16="http://schemas.microsoft.com/office/drawing/2014/main" id="{1F23E73A-FDC8-462C-83C1-3AA896144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67D1999-E6E4-4051-ACC5-D4E8983A9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4087" y="1130603"/>
            <a:ext cx="3342442" cy="4596794"/>
          </a:xfrm>
        </p:spPr>
        <p:txBody>
          <a:bodyPr anchor="ctr">
            <a:normAutofit/>
          </a:bodyPr>
          <a:lstStyle/>
          <a:p>
            <a:r>
              <a:rPr lang="de-DE" sz="2500" dirty="0">
                <a:solidFill>
                  <a:srgbClr val="EBEBEB"/>
                </a:solidFill>
              </a:rPr>
              <a:t>Der finanzielle Aspekt (Produktionskosten)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286D548-5835-4B4D-9C5D-231857D7ED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0077" y="437513"/>
            <a:ext cx="5502614" cy="5954325"/>
          </a:xfrm>
        </p:spPr>
        <p:txBody>
          <a:bodyPr anchor="ctr">
            <a:normAutofit/>
          </a:bodyPr>
          <a:lstStyle/>
          <a:p>
            <a:r>
              <a:rPr lang="de-DE" sz="2000" dirty="0"/>
              <a:t>Bei den Selbstkosten eines herkömmlichen Autoreifens fallen rund 70% für die Produktion an </a:t>
            </a:r>
            <a:r>
              <a:rPr lang="de-DE" sz="2000" dirty="0">
                <a:sym typeface="Wingdings" panose="05000000000000000000" pitchFamily="2" charset="2"/>
              </a:rPr>
              <a:t> Im Falle des „</a:t>
            </a:r>
            <a:r>
              <a:rPr lang="de-DE" sz="2000" dirty="0" err="1">
                <a:sym typeface="Wingdings" panose="05000000000000000000" pitchFamily="2" charset="2"/>
              </a:rPr>
              <a:t>WinterContact</a:t>
            </a:r>
            <a:r>
              <a:rPr lang="de-DE" sz="2000" dirty="0">
                <a:sym typeface="Wingdings" panose="05000000000000000000" pitchFamily="2" charset="2"/>
              </a:rPr>
              <a:t> TS 810 S*“ entspräche dies 19,6€ </a:t>
            </a:r>
          </a:p>
          <a:p>
            <a:r>
              <a:rPr lang="de-DE" sz="2000" dirty="0">
                <a:sym typeface="Wingdings" panose="05000000000000000000" pitchFamily="2" charset="2"/>
              </a:rPr>
              <a:t>Da bei der Herstellung des PET-Reifens wird das Flaschenmaterial ohne weitere chemische Reaktionsschritte in den Kreislauf der Reifenkunststoffe zurückgeführt  Produktionskosten lassen sich hierdurch voraussichtlich um rund 15% senken  Dies entspräche 16,66€, die zur Produktion eines PET-Reifens anfallen</a:t>
            </a:r>
          </a:p>
          <a:p>
            <a:pPr marL="0" indent="0">
              <a:buNone/>
            </a:pPr>
            <a:endParaRPr lang="de-DE" sz="20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de-DE" sz="2000" dirty="0">
                <a:sym typeface="Wingdings" panose="05000000000000000000" pitchFamily="2" charset="2"/>
              </a:rPr>
              <a:t> Einsparung weiterer Kosten pro Reifen möglich</a:t>
            </a:r>
          </a:p>
        </p:txBody>
      </p:sp>
    </p:spTree>
    <p:extLst>
      <p:ext uri="{BB962C8B-B14F-4D97-AF65-F5344CB8AC3E}">
        <p14:creationId xmlns:p14="http://schemas.microsoft.com/office/powerpoint/2010/main" val="30397314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F43A9C3-DBC3-4157-8FFD-9404716A39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>
            <a:normAutofit/>
          </a:bodyPr>
          <a:lstStyle/>
          <a:p>
            <a:r>
              <a:rPr lang="de-DE">
                <a:solidFill>
                  <a:srgbClr val="EBEBEB"/>
                </a:solidFill>
              </a:rPr>
              <a:t>Die neue Gewinnmarge pro Reifen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8EBAD6A9-F142-4C48-BA16-C18D73C232C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199" r="3951" b="1"/>
          <a:stretch/>
        </p:blipFill>
        <p:spPr>
          <a:xfrm>
            <a:off x="1151467" y="2775951"/>
            <a:ext cx="4345024" cy="3067163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F879DF0-342E-4610-A9A9-9EFE8C765A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0954" y="2603500"/>
            <a:ext cx="5211979" cy="341630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de-DE" b="1" dirty="0"/>
              <a:t>Ursprüngliche Gewinnmarge </a:t>
            </a:r>
            <a:r>
              <a:rPr lang="de-DE" dirty="0"/>
              <a:t>(</a:t>
            </a:r>
            <a:r>
              <a:rPr lang="de-DE" dirty="0" err="1"/>
              <a:t>WinterContact</a:t>
            </a:r>
            <a:r>
              <a:rPr lang="de-DE" dirty="0"/>
              <a:t> TS 810 S*): ~30€/Reifen</a:t>
            </a:r>
          </a:p>
          <a:p>
            <a:pPr marL="0" indent="0">
              <a:buNone/>
            </a:pPr>
            <a:r>
              <a:rPr lang="de-DE" dirty="0"/>
              <a:t>Durch PET-Reifen wurden Selbstkosten um 4,94€ gesenkt </a:t>
            </a:r>
            <a:r>
              <a:rPr lang="de-DE" dirty="0">
                <a:sym typeface="Wingdings" panose="05000000000000000000" pitchFamily="2" charset="2"/>
              </a:rPr>
              <a:t> Bei gleichem Verkaufspreis erhöht sich Gewinnmarge um jenen Betrag.</a:t>
            </a:r>
          </a:p>
          <a:p>
            <a:pPr marL="0" indent="0">
              <a:buNone/>
            </a:pPr>
            <a:r>
              <a:rPr lang="de-DE" b="1" dirty="0">
                <a:sym typeface="Wingdings" panose="05000000000000000000" pitchFamily="2" charset="2"/>
              </a:rPr>
              <a:t>Neue Gewinnmarge</a:t>
            </a:r>
            <a:r>
              <a:rPr lang="de-DE" dirty="0">
                <a:sym typeface="Wingdings" panose="05000000000000000000" pitchFamily="2" charset="2"/>
              </a:rPr>
              <a:t>: 34,94€/Reifen</a:t>
            </a:r>
          </a:p>
          <a:p>
            <a:pPr marL="0" indent="0">
              <a:buNone/>
            </a:pPr>
            <a:endParaRPr lang="de-DE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de-DE" b="1" dirty="0">
                <a:sym typeface="Wingdings" panose="05000000000000000000" pitchFamily="2" charset="2"/>
              </a:rPr>
              <a:t>Erhöhung der Gewinnmarge um ~16%</a:t>
            </a:r>
            <a:endParaRPr lang="de-DE" b="1" dirty="0"/>
          </a:p>
        </p:txBody>
      </p:sp>
    </p:spTree>
    <p:extLst>
      <p:ext uri="{BB962C8B-B14F-4D97-AF65-F5344CB8AC3E}">
        <p14:creationId xmlns:p14="http://schemas.microsoft.com/office/powerpoint/2010/main" val="10940311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2F448CB3-7B4F-45D7-B7C0-DF553DF614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C5305EA-7A88-413D-BE8A-47A02476F0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FCA94DB5-FE56-4A3D-BC48-31B559519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012C3AB7-E26C-4ADA-8BF5-638CE20C48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>
            <a:normAutofit/>
          </a:bodyPr>
          <a:lstStyle/>
          <a:p>
            <a:r>
              <a:rPr lang="de-DE">
                <a:solidFill>
                  <a:srgbClr val="FFFFFF"/>
                </a:solidFill>
              </a:rPr>
              <a:t>Strategische Relevanz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9ED434F-8767-46CC-B26B-5AF62FF01E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graphicFrame>
        <p:nvGraphicFramePr>
          <p:cNvPr id="5" name="Inhaltsplatzhalter 2">
            <a:extLst>
              <a:ext uri="{FF2B5EF4-FFF2-40B4-BE49-F238E27FC236}">
                <a16:creationId xmlns:a16="http://schemas.microsoft.com/office/drawing/2014/main" id="{AF6EF668-1496-585F-4E6A-52010CD278E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19171630"/>
              </p:ext>
            </p:extLst>
          </p:nvPr>
        </p:nvGraphicFramePr>
        <p:xfrm>
          <a:off x="1286934" y="2324100"/>
          <a:ext cx="9625383" cy="34226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5255306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681CD4F-E23A-4817-9CD8-50BCBCAE8E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>
            <a:normAutofit/>
          </a:bodyPr>
          <a:lstStyle/>
          <a:p>
            <a:r>
              <a:rPr lang="de-DE">
                <a:solidFill>
                  <a:srgbClr val="EBEBEB"/>
                </a:solidFill>
              </a:rPr>
              <a:t>Strategische Relevanz</a:t>
            </a:r>
          </a:p>
        </p:txBody>
      </p:sp>
      <p:pic>
        <p:nvPicPr>
          <p:cNvPr id="5" name="Grafik 4" descr="Ein Bild, das Outdoorobjekt enthält.&#10;&#10;Automatisch generierte Beschreibung">
            <a:extLst>
              <a:ext uri="{FF2B5EF4-FFF2-40B4-BE49-F238E27FC236}">
                <a16:creationId xmlns:a16="http://schemas.microsoft.com/office/drawing/2014/main" id="{DA385E1E-5635-489C-9CF0-7D8AA6887D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5074" y="2775951"/>
            <a:ext cx="3857809" cy="3067163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63F9E61-8DA9-4121-A470-4DCD9995C8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0954" y="2603500"/>
            <a:ext cx="5211979" cy="341630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de-DE"/>
              <a:t>Das Unternehmen möchte sich natürlich wirtschaftlich in Zukunft weiterhin als Marktführer der Automotive-Branche etablieren, und zudem als Vorreiter im Bereich der Nachhaltigkeit agieren.</a:t>
            </a:r>
          </a:p>
          <a:p>
            <a:pPr marL="0" indent="0">
              <a:buNone/>
            </a:pPr>
            <a:r>
              <a:rPr lang="de-DE"/>
              <a:t>Diese beiden übergeordneten Ziele können durch den PET-Reifen verfolgt werden, sie schließen sich keineswegs aus.</a:t>
            </a:r>
          </a:p>
          <a:p>
            <a:pPr marL="0" indent="0">
              <a:buNone/>
            </a:pPr>
            <a:r>
              <a:rPr lang="de-DE" b="1"/>
              <a:t>Die Einführung der Technologie zur nachhaltigen Reifenentwicklung ist also von strategischer Relevanz.</a:t>
            </a:r>
            <a:endParaRPr lang="de-DE" b="1" dirty="0"/>
          </a:p>
        </p:txBody>
      </p:sp>
    </p:spTree>
    <p:extLst>
      <p:ext uri="{BB962C8B-B14F-4D97-AF65-F5344CB8AC3E}">
        <p14:creationId xmlns:p14="http://schemas.microsoft.com/office/powerpoint/2010/main" val="6647716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8">
            <a:extLst>
              <a:ext uri="{FF2B5EF4-FFF2-40B4-BE49-F238E27FC236}">
                <a16:creationId xmlns:a16="http://schemas.microsoft.com/office/drawing/2014/main" id="{08BCF048-8940-4354-B9EC-5AD74E283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024C14A-78BD-44B0-82BE-6A0D0A2706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809F3D29-EDB1-4F1C-A0E0-36F28CE171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282F4AB-C7B8-4A86-9927-AA106AA27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2">
              <a:extLst>
                <a:ext uri="{FF2B5EF4-FFF2-40B4-BE49-F238E27FC236}">
                  <a16:creationId xmlns:a16="http://schemas.microsoft.com/office/drawing/2014/main" id="{60B26874-5AFA-4D1E-94A9-53AF9790D7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A1DA6C95-40F8-4305-89F6-17F6167C0B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A2FA2D29-AEEE-4FFA-B233-94FBE84C9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6DA5143E-FA8E-4EC1-99F7-35AE5AD4E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292583F1-FDFC-4E09-8CC2-4B24FF393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973667"/>
            <a:ext cx="2942210" cy="4833745"/>
          </a:xfrm>
        </p:spPr>
        <p:txBody>
          <a:bodyPr>
            <a:normAutofit/>
          </a:bodyPr>
          <a:lstStyle/>
          <a:p>
            <a:r>
              <a:rPr lang="de-DE" sz="1700">
                <a:solidFill>
                  <a:srgbClr val="EBEBEB"/>
                </a:solidFill>
              </a:rPr>
              <a:t>Handlungsempfehlung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C28BCC9-4093-4FD5-83EB-7EC297F513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graphicFrame>
        <p:nvGraphicFramePr>
          <p:cNvPr id="20" name="Inhaltsplatzhalter 2">
            <a:extLst>
              <a:ext uri="{FF2B5EF4-FFF2-40B4-BE49-F238E27FC236}">
                <a16:creationId xmlns:a16="http://schemas.microsoft.com/office/drawing/2014/main" id="{D5837AF4-6584-0BF8-8AAC-CDD9B95E4F4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44738509"/>
              </p:ext>
            </p:extLst>
          </p:nvPr>
        </p:nvGraphicFramePr>
        <p:xfrm>
          <a:off x="5194300" y="808038"/>
          <a:ext cx="6391275" cy="52466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5421035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2F448CB3-7B4F-45D7-B7C0-DF553DF614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C5305EA-7A88-413D-BE8A-47A02476F0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FCA94DB5-FE56-4A3D-BC48-31B559519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A708B509-C9A4-4AD5-AB59-C1AE959A4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>
            <a:normAutofit/>
          </a:bodyPr>
          <a:lstStyle/>
          <a:p>
            <a:r>
              <a:rPr lang="de-DE">
                <a:solidFill>
                  <a:srgbClr val="FFFFFF"/>
                </a:solidFill>
              </a:rPr>
              <a:t>Zukunftsausblick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9ED434F-8767-46CC-B26B-5AF62FF01E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graphicFrame>
        <p:nvGraphicFramePr>
          <p:cNvPr id="5" name="Inhaltsplatzhalter 2">
            <a:extLst>
              <a:ext uri="{FF2B5EF4-FFF2-40B4-BE49-F238E27FC236}">
                <a16:creationId xmlns:a16="http://schemas.microsoft.com/office/drawing/2014/main" id="{910B7F88-F14E-25DC-3722-8C0B85654DC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02877455"/>
              </p:ext>
            </p:extLst>
          </p:nvPr>
        </p:nvGraphicFramePr>
        <p:xfrm>
          <a:off x="1286934" y="2324100"/>
          <a:ext cx="9625383" cy="34226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4974796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-Sitzungssaal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0</TotalTime>
  <Words>859</Words>
  <Application>Microsoft Office PowerPoint</Application>
  <PresentationFormat>Breitbild</PresentationFormat>
  <Paragraphs>75</Paragraphs>
  <Slides>16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16</vt:i4>
      </vt:variant>
    </vt:vector>
  </HeadingPairs>
  <TitlesOfParts>
    <vt:vector size="21" baseType="lpstr">
      <vt:lpstr>Arial</vt:lpstr>
      <vt:lpstr>Century Gothic</vt:lpstr>
      <vt:lpstr>Wingdings</vt:lpstr>
      <vt:lpstr>Wingdings 3</vt:lpstr>
      <vt:lpstr>Ion-Sitzungssaal</vt:lpstr>
      <vt:lpstr>Der Reifen der Zukunft</vt:lpstr>
      <vt:lpstr>Die Ausgangssituation</vt:lpstr>
      <vt:lpstr>Der Business-Case</vt:lpstr>
      <vt:lpstr>Allgemeine Informationen</vt:lpstr>
      <vt:lpstr>Besonderheit der Anwendung</vt:lpstr>
      <vt:lpstr>Status-Quo/Aktuelle Probleme für potenzielle Kunden und Unternehmen</vt:lpstr>
      <vt:lpstr>Nutzen für den Anwender</vt:lpstr>
      <vt:lpstr>Zusammenhang der Nachhaltigkeit mit aktuellen Megatrends</vt:lpstr>
      <vt:lpstr>Der finanzielle Aspekt</vt:lpstr>
      <vt:lpstr>Der finanzielle Aspekt (Materialkosten)</vt:lpstr>
      <vt:lpstr>Der finanzielle Aspekt (Produktionskosten)</vt:lpstr>
      <vt:lpstr>Die neue Gewinnmarge pro Reifen</vt:lpstr>
      <vt:lpstr>Strategische Relevanz</vt:lpstr>
      <vt:lpstr>Strategische Relevanz</vt:lpstr>
      <vt:lpstr>Handlungsempfehlung</vt:lpstr>
      <vt:lpstr>Zukunftsausblick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hhhhhnnnnm</dc:title>
  <dc:creator>Jannis Meister</dc:creator>
  <cp:lastModifiedBy>Jannis Meister</cp:lastModifiedBy>
  <cp:revision>33</cp:revision>
  <dcterms:created xsi:type="dcterms:W3CDTF">2022-03-28T15:22:53Z</dcterms:created>
  <dcterms:modified xsi:type="dcterms:W3CDTF">2022-04-12T04:05:30Z</dcterms:modified>
</cp:coreProperties>
</file>