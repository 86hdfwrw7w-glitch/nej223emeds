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7" r:id="rId2"/>
    <p:sldId id="265" r:id="rId3"/>
    <p:sldId id="266" r:id="rId4"/>
  </p:sldIdLst>
  <p:sldSz cx="12192000" cy="6858000"/>
  <p:notesSz cx="6858000" cy="9144000"/>
  <p:custDataLst>
    <p:tags r:id="rId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30"/>
    <p:restoredTop sz="94626"/>
  </p:normalViewPr>
  <p:slideViewPr>
    <p:cSldViewPr snapToGrid="0">
      <p:cViewPr>
        <p:scale>
          <a:sx n="111" d="100"/>
          <a:sy n="111" d="100"/>
        </p:scale>
        <p:origin x="36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60564-4628-F943-B15C-C18927DFD743}" type="datetimeFigureOut">
              <a:rPr lang="de-DE" smtClean="0"/>
              <a:t>22.06.25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CB1000-5101-9C4E-BF7A-1E815173CD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3335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B1000-5101-9C4E-BF7A-1E815173CDA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9702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CB1000-5101-9C4E-BF7A-1E815173CDA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8583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14A975-B3D9-74DB-9A64-745DA9F80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E4FBD68-F11E-ACE0-4587-61B942A5D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8789ED-F208-09D1-8FEA-E2F9D3DE8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C7CCC-25F0-7947-91BE-98819CED3503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272B83-D7E2-DD9F-6740-E0AB7EBC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8CAFDC-99B4-70DB-1C00-33B500982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7E2BA-789D-2A40-8E6A-EFF5C694A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7512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862FE8-47CC-7B7B-B1C2-090842FB8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0193B2-65A1-706D-0E7B-32463CD8F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23B6E9-31B0-2CD9-96EB-E3E535CCA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C7CCC-25F0-7947-91BE-98819CED3503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18B966-C3F9-1206-FEA0-CB70277A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4A3D12-1C4D-7788-1397-8832EDBA6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7E2BA-789D-2A40-8E6A-EFF5C694A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50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F0D16F-5462-549A-515C-DE41D39F2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B22C86-020B-629E-5EBD-349CBFB61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60F20E-6C35-1703-F59D-B145747F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C7CCC-25F0-7947-91BE-98819CED3503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F64863-C75A-D9B0-0005-4A9AB1BA5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B6D254-2543-EAB4-3537-B2E94F59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7E2BA-789D-2A40-8E6A-EFF5C694A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451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AF9163-70E1-32F4-5100-EFAE1B88A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9E009E-49D2-2DAE-3A95-6EF9AF5C1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19CDF5-A044-FFF5-1984-294F3B11B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444A74-0FF0-CBF0-1AB7-5462949A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C7CCC-25F0-7947-91BE-98819CED3503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4F61B2-AAA5-A6A0-C16F-D5E0B3F8C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3C2E4D-888D-5900-9111-6BA942769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7E2BA-789D-2A40-8E6A-EFF5C694A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5072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F0E2FF-F69D-244F-2B8A-9BB446EB7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D8183B-C18F-0256-F869-D860CD3F4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9FB6DB-2844-CD8D-814A-23D03E03D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5694BF9-1083-D6B8-2287-99955733D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0EF9BEE-11CC-5981-A3FD-C389289437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11BD848-A9A2-CEAD-A232-03C5F5823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C7CCC-25F0-7947-91BE-98819CED3503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18F749D-B5A1-191B-A9CB-AA827CE04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017911C-271C-ED4D-B4CC-DCC4734F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7E2BA-789D-2A40-8E6A-EFF5C694A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0338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1D8975-7919-26A5-B861-116D41C10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CE628B-E1CA-9B56-0A59-566437406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C7CCC-25F0-7947-91BE-98819CED3503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DB363FE-3ACD-BDE7-B9F7-7DFCF51D0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6BB1C3-B741-889C-CA75-AFF70EEC5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7E2BA-789D-2A40-8E6A-EFF5C694A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0124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162B96D-AF85-DE10-BC53-FCA16486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C7CCC-25F0-7947-91BE-98819CED3503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E2F1EAB-EFAE-ECFA-BB45-2903BFEC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A13987-D807-FB89-E9CC-074474628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7E2BA-789D-2A40-8E6A-EFF5C694A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2710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C1B055-2E11-D86E-D934-90CF7F618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AE8A2F-EBBD-AA4F-7A78-667A8685D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F5693FC-D350-B336-E91B-7D8F3503A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F7C85B-D9C4-EED6-BD39-A15C40C3E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C7CCC-25F0-7947-91BE-98819CED3503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9285879-F21F-66A9-62B5-7753B907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19014BD-73E4-35F1-3EFB-3CDCAA7B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7E2BA-789D-2A40-8E6A-EFF5C694A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536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DBCA02-1628-6104-F923-CE1080AB0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0097E45-C358-CFA8-3E12-531C8A7230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F49323F-6296-F230-4D0A-0F125AA5D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CDB7FF-6F00-902C-23F7-E6AB98BFB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C7CCC-25F0-7947-91BE-98819CED3503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FCD8E5D-C428-D63F-838D-6796EED17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0326B30-8F3B-4410-F127-C9DF48CA4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7E2BA-789D-2A40-8E6A-EFF5C694A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030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ACDDF5-1F52-3CEB-4F78-09FAC42F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895A859-EA51-9735-5F93-EAF3BCBF3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0D098D-925F-7A66-E1B4-51F6E72A1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C7CCC-25F0-7947-91BE-98819CED3503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3D2246-E9D0-C899-A79C-C1C0DF73C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5BA8B1-1D44-45DA-2B01-E43A835E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7E2BA-789D-2A40-8E6A-EFF5C694A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2040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44B5575-F071-BAD3-DA78-22D6132054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C68E8A9-0BFF-C21E-E85C-D1E35F384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25D37E-291E-E484-4288-EC3E33D3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C7CCC-25F0-7947-91BE-98819CED3503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7A2C6F-0555-13DF-9BE7-1CA214043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398E98-3721-3077-423C-989EFBEA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7E2BA-789D-2A40-8E6A-EFF5C694A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2000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9D40C17-8264-0B42-0F6D-13063FBE09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6015388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7772400" imgH="10058400" progId="TCLayout.ActiveDocument.1">
                  <p:embed/>
                </p:oleObj>
              </mc:Choice>
              <mc:Fallback>
                <p:oleObj name="think-cell Foli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A803E94-1DB8-A821-853D-D1FC4A502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6E5D81-9079-1863-6EAA-365A0B3F4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70B4CB-1EFC-42C4-63F9-64F5AA7D4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C7CCC-25F0-7947-91BE-98819CED3503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81D3AC-CD0F-668B-A759-6764814AD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FE61B6-E19F-C027-3541-12C0A7B77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C7E2BA-789D-2A40-8E6A-EFF5C694A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641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emf"/><Relationship Id="rId10" Type="http://schemas.openxmlformats.org/officeDocument/2006/relationships/image" Target="../media/image7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2.emf"/><Relationship Id="rId10" Type="http://schemas.openxmlformats.org/officeDocument/2006/relationships/image" Target="../media/image13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835A2-1F1D-9B40-D611-A795F530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18E7B29-1381-ACB9-7D29-A911C0E036F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229506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4BD493-80E5-1427-A6C4-77AF4E1072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bject 3">
            <a:extLst>
              <a:ext uri="{FF2B5EF4-FFF2-40B4-BE49-F238E27FC236}">
                <a16:creationId xmlns:a16="http://schemas.microsoft.com/office/drawing/2014/main" id="{DAB84871-C566-FA08-15AE-A3DB8D8DE22D}"/>
              </a:ext>
            </a:extLst>
          </p:cNvPr>
          <p:cNvSpPr txBox="1"/>
          <p:nvPr/>
        </p:nvSpPr>
        <p:spPr>
          <a:xfrm>
            <a:off x="10599207" y="6551362"/>
            <a:ext cx="1075268" cy="139141"/>
          </a:xfrm>
          <a:prstGeom prst="rect">
            <a:avLst/>
          </a:prstGeom>
        </p:spPr>
        <p:txBody>
          <a:bodyPr vert="horz" wrap="square" lIns="0" tIns="15875" rIns="0" bIns="0" rtlCol="0" anchor="ctr">
            <a:spAutoFit/>
          </a:bodyPr>
          <a:lstStyle/>
          <a:p>
            <a:pPr marL="12700" algn="r">
              <a:spcBef>
                <a:spcPts val="125"/>
              </a:spcBef>
            </a:pPr>
            <a:r>
              <a:rPr lang="en-US" sz="8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23/06/2025</a:t>
            </a:r>
          </a:p>
        </p:txBody>
      </p:sp>
      <p:sp>
        <p:nvSpPr>
          <p:cNvPr id="6" name="object 29">
            <a:extLst>
              <a:ext uri="{FF2B5EF4-FFF2-40B4-BE49-F238E27FC236}">
                <a16:creationId xmlns:a16="http://schemas.microsoft.com/office/drawing/2014/main" id="{CEC6B842-4B7C-87B5-B34B-C47841E1B8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112" y="446324"/>
            <a:ext cx="11160000" cy="349702"/>
          </a:xfrm>
          <a:prstGeom prst="rect">
            <a:avLst/>
          </a:prstGeom>
          <a:ln>
            <a:noFill/>
          </a:ln>
        </p:spPr>
        <p:txBody>
          <a:bodyPr vert="horz" wrap="square" lIns="36000" tIns="36000" rIns="36000" bIns="36000" rtlCol="0" anchor="ctr">
            <a:spAutoFit/>
          </a:bodyPr>
          <a:lstStyle/>
          <a:p>
            <a:pPr marL="14604">
              <a:lnSpc>
                <a:spcPct val="100000"/>
              </a:lnSpc>
              <a:spcBef>
                <a:spcPts val="125"/>
              </a:spcBef>
            </a:pPr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Long-List Potential Buyers</a:t>
            </a:r>
            <a:endParaRPr lang="en-US" sz="1800" b="1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5047543B-60C1-9A0E-4309-7F9447812DF2}"/>
              </a:ext>
            </a:extLst>
          </p:cNvPr>
          <p:cNvSpPr/>
          <p:nvPr/>
        </p:nvSpPr>
        <p:spPr>
          <a:xfrm>
            <a:off x="533112" y="765175"/>
            <a:ext cx="11160125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0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52C6DAB-96E3-5C2F-E527-BFBBC56FE456}"/>
              </a:ext>
            </a:extLst>
          </p:cNvPr>
          <p:cNvSpPr txBox="1"/>
          <p:nvPr/>
        </p:nvSpPr>
        <p:spPr>
          <a:xfrm>
            <a:off x="4583205" y="806426"/>
            <a:ext cx="2736000" cy="216000"/>
          </a:xfrm>
          <a:prstGeom prst="rect">
            <a:avLst/>
          </a:prstGeom>
          <a:solidFill>
            <a:schemeClr val="tx2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lang="en-US" sz="10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93058D8-07AA-4EE1-FFBD-A4F1ECBF4CBB}"/>
              </a:ext>
            </a:extLst>
          </p:cNvPr>
          <p:cNvSpPr txBox="1"/>
          <p:nvPr/>
        </p:nvSpPr>
        <p:spPr>
          <a:xfrm>
            <a:off x="7373237" y="806426"/>
            <a:ext cx="4320000" cy="216000"/>
          </a:xfrm>
          <a:prstGeom prst="rect">
            <a:avLst/>
          </a:prstGeom>
          <a:solidFill>
            <a:schemeClr val="tx2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Reasons</a:t>
            </a:r>
            <a:endParaRPr lang="en-US" sz="10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6746DF46-44EB-F604-6BF4-F945FA1CB00F}"/>
              </a:ext>
            </a:extLst>
          </p:cNvPr>
          <p:cNvSpPr/>
          <p:nvPr/>
        </p:nvSpPr>
        <p:spPr>
          <a:xfrm>
            <a:off x="533112" y="1888683"/>
            <a:ext cx="11160000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 anchor="ctr"/>
          <a:lstStyle/>
          <a:p>
            <a:endParaRPr lang="en-US" sz="100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A872367-554A-907A-6D64-FA17CBBFB670}"/>
              </a:ext>
            </a:extLst>
          </p:cNvPr>
          <p:cNvSpPr/>
          <p:nvPr/>
        </p:nvSpPr>
        <p:spPr>
          <a:xfrm>
            <a:off x="4583205" y="1066693"/>
            <a:ext cx="2736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>
                <a:solidFill>
                  <a:schemeClr val="tx2"/>
                </a:solidFill>
              </a:rPr>
              <a:t>A </a:t>
            </a:r>
            <a:r>
              <a:rPr lang="de-DE" sz="1000" dirty="0" err="1">
                <a:solidFill>
                  <a:schemeClr val="tx2"/>
                </a:solidFill>
              </a:rPr>
              <a:t>family-owned</a:t>
            </a:r>
            <a:r>
              <a:rPr lang="de-DE" sz="1000" dirty="0">
                <a:solidFill>
                  <a:schemeClr val="tx2"/>
                </a:solidFill>
              </a:rPr>
              <a:t> German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firm </a:t>
            </a:r>
            <a:r>
              <a:rPr lang="de-DE" sz="1000" dirty="0" err="1">
                <a:solidFill>
                  <a:schemeClr val="tx2"/>
                </a:solidFill>
              </a:rPr>
              <a:t>focused</a:t>
            </a:r>
            <a:r>
              <a:rPr lang="de-DE" sz="1000" dirty="0">
                <a:solidFill>
                  <a:schemeClr val="tx2"/>
                </a:solidFill>
              </a:rPr>
              <a:t> on </a:t>
            </a:r>
            <a:r>
              <a:rPr lang="de-DE" sz="1000" dirty="0" err="1">
                <a:solidFill>
                  <a:schemeClr val="tx2"/>
                </a:solidFill>
              </a:rPr>
              <a:t>general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cargo</a:t>
            </a:r>
            <a:r>
              <a:rPr lang="de-DE" sz="1000" dirty="0">
                <a:solidFill>
                  <a:schemeClr val="tx2"/>
                </a:solidFill>
              </a:rPr>
              <a:t> and LTL/FTL </a:t>
            </a:r>
            <a:r>
              <a:rPr lang="de-DE" sz="1000" dirty="0" err="1">
                <a:solidFill>
                  <a:schemeClr val="tx2"/>
                </a:solidFill>
              </a:rPr>
              <a:t>transport</a:t>
            </a:r>
            <a:r>
              <a:rPr lang="de-DE" sz="1000" dirty="0">
                <a:solidFill>
                  <a:schemeClr val="tx2"/>
                </a:solidFill>
              </a:rPr>
              <a:t>. With a strong regional </a:t>
            </a:r>
            <a:r>
              <a:rPr lang="de-DE" sz="1000" dirty="0" err="1">
                <a:solidFill>
                  <a:schemeClr val="tx2"/>
                </a:solidFill>
              </a:rPr>
              <a:t>presence</a:t>
            </a:r>
            <a:r>
              <a:rPr lang="de-DE" sz="1000" dirty="0">
                <a:solidFill>
                  <a:schemeClr val="tx2"/>
                </a:solidFill>
              </a:rPr>
              <a:t>, Riedle </a:t>
            </a:r>
            <a:r>
              <a:rPr lang="de-DE" sz="1000" dirty="0" err="1">
                <a:solidFill>
                  <a:schemeClr val="tx2"/>
                </a:solidFill>
              </a:rPr>
              <a:t>serves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various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industries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aims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to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grow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its</a:t>
            </a:r>
            <a:r>
              <a:rPr lang="de-DE" sz="1000" dirty="0">
                <a:solidFill>
                  <a:schemeClr val="tx2"/>
                </a:solidFill>
              </a:rPr>
              <a:t> network.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2FC53E0-AF6A-F78A-F818-509EF46F2DE2}"/>
              </a:ext>
            </a:extLst>
          </p:cNvPr>
          <p:cNvSpPr/>
          <p:nvPr/>
        </p:nvSpPr>
        <p:spPr>
          <a:xfrm>
            <a:off x="7373237" y="1066693"/>
            <a:ext cx="43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Regional </a:t>
            </a:r>
            <a:r>
              <a:rPr lang="de-DE" sz="1000" dirty="0" err="1">
                <a:solidFill>
                  <a:schemeClr val="tx2"/>
                </a:solidFill>
              </a:rPr>
              <a:t>proximity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enables</a:t>
            </a:r>
            <a:r>
              <a:rPr lang="de-DE" sz="1000" dirty="0">
                <a:solidFill>
                  <a:schemeClr val="tx2"/>
                </a:solidFill>
              </a:rPr>
              <a:t> immediate </a:t>
            </a:r>
            <a:r>
              <a:rPr lang="de-DE" sz="1000" dirty="0" err="1">
                <a:solidFill>
                  <a:schemeClr val="tx2"/>
                </a:solidFill>
              </a:rPr>
              <a:t>customer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base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expansion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higher</a:t>
            </a:r>
            <a:r>
              <a:rPr lang="de-DE" sz="1000" dirty="0">
                <a:solidFill>
                  <a:schemeClr val="tx2"/>
                </a:solidFill>
              </a:rPr>
              <a:t> network </a:t>
            </a:r>
            <a:r>
              <a:rPr lang="de-DE" sz="1000" dirty="0" err="1">
                <a:solidFill>
                  <a:schemeClr val="tx2"/>
                </a:solidFill>
              </a:rPr>
              <a:t>density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Service </a:t>
            </a:r>
            <a:r>
              <a:rPr lang="de-DE" sz="1000" dirty="0" err="1">
                <a:solidFill>
                  <a:schemeClr val="tx2"/>
                </a:solidFill>
              </a:rPr>
              <a:t>portfolios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align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contract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specialized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transpor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>
                <a:solidFill>
                  <a:schemeClr val="tx2"/>
                </a:solidFill>
              </a:rPr>
              <a:t>Synergies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fleet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dispatch</a:t>
            </a:r>
            <a:r>
              <a:rPr lang="de-DE" sz="1000" dirty="0">
                <a:solidFill>
                  <a:schemeClr val="tx2"/>
                </a:solidFill>
              </a:rPr>
              <a:t>, and </a:t>
            </a:r>
            <a:r>
              <a:rPr lang="de-DE" sz="1000" dirty="0" err="1">
                <a:solidFill>
                  <a:schemeClr val="tx2"/>
                </a:solidFill>
              </a:rPr>
              <a:t>routing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offer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clear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efficiency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gains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Mid-</a:t>
            </a:r>
            <a:r>
              <a:rPr lang="de-DE" sz="1000" dirty="0" err="1">
                <a:solidFill>
                  <a:schemeClr val="tx2"/>
                </a:solidFill>
              </a:rPr>
              <a:t>sized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family</a:t>
            </a:r>
            <a:r>
              <a:rPr lang="de-DE" sz="1000" dirty="0">
                <a:solidFill>
                  <a:schemeClr val="tx2"/>
                </a:solidFill>
              </a:rPr>
              <a:t>-run </a:t>
            </a:r>
            <a:r>
              <a:rPr lang="de-DE" sz="1000" dirty="0" err="1">
                <a:solidFill>
                  <a:schemeClr val="tx2"/>
                </a:solidFill>
              </a:rPr>
              <a:t>structures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ensure</a:t>
            </a:r>
            <a:r>
              <a:rPr lang="de-DE" sz="1000" dirty="0">
                <a:solidFill>
                  <a:schemeClr val="tx2"/>
                </a:solidFill>
              </a:rPr>
              <a:t> smooth </a:t>
            </a:r>
            <a:r>
              <a:rPr lang="de-DE" sz="1000" dirty="0" err="1">
                <a:solidFill>
                  <a:schemeClr val="tx2"/>
                </a:solidFill>
              </a:rPr>
              <a:t>cultural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integration</a:t>
            </a:r>
            <a:endParaRPr lang="de-DE" sz="1000" dirty="0">
              <a:solidFill>
                <a:schemeClr val="tx2"/>
              </a:solidFill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618CBFB5-4D7E-8EFE-690C-11D4B981261C}"/>
              </a:ext>
            </a:extLst>
          </p:cNvPr>
          <p:cNvSpPr/>
          <p:nvPr/>
        </p:nvSpPr>
        <p:spPr>
          <a:xfrm>
            <a:off x="7373237" y="1990673"/>
            <a:ext cx="43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Strong </a:t>
            </a:r>
            <a:r>
              <a:rPr lang="de-DE" sz="1000" dirty="0" err="1">
                <a:solidFill>
                  <a:schemeClr val="tx2"/>
                </a:solidFill>
              </a:rPr>
              <a:t>overlap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contract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transport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enables</a:t>
            </a:r>
            <a:r>
              <a:rPr lang="de-DE" sz="1000" dirty="0">
                <a:solidFill>
                  <a:schemeClr val="tx2"/>
                </a:solidFill>
              </a:rPr>
              <a:t> high </a:t>
            </a:r>
            <a:r>
              <a:rPr lang="de-DE" sz="1000" dirty="0" err="1">
                <a:solidFill>
                  <a:schemeClr val="tx2"/>
                </a:solidFill>
              </a:rPr>
              <a:t>integration</a:t>
            </a:r>
            <a:r>
              <a:rPr lang="de-DE" sz="1000" dirty="0">
                <a:solidFill>
                  <a:schemeClr val="tx2"/>
                </a:solidFill>
              </a:rPr>
              <a:t> potential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Geographic fit </a:t>
            </a:r>
            <a:r>
              <a:rPr lang="de-DE" sz="1000" dirty="0" err="1">
                <a:solidFill>
                  <a:schemeClr val="tx2"/>
                </a:solidFill>
              </a:rPr>
              <a:t>allows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for</a:t>
            </a:r>
            <a:r>
              <a:rPr lang="de-DE" sz="1000" dirty="0">
                <a:solidFill>
                  <a:schemeClr val="tx2"/>
                </a:solidFill>
              </a:rPr>
              <a:t> network </a:t>
            </a:r>
            <a:r>
              <a:rPr lang="de-DE" sz="1000" dirty="0" err="1">
                <a:solidFill>
                  <a:schemeClr val="tx2"/>
                </a:solidFill>
              </a:rPr>
              <a:t>densification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key</a:t>
            </a:r>
            <a:r>
              <a:rPr lang="de-DE" sz="1000" dirty="0">
                <a:solidFill>
                  <a:schemeClr val="tx2"/>
                </a:solidFill>
              </a:rPr>
              <a:t> German </a:t>
            </a:r>
            <a:r>
              <a:rPr lang="de-DE" sz="1000" dirty="0" err="1">
                <a:solidFill>
                  <a:schemeClr val="tx2"/>
                </a:solidFill>
              </a:rPr>
              <a:t>regions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Mid-</a:t>
            </a:r>
            <a:r>
              <a:rPr lang="de-DE" sz="1000" dirty="0" err="1">
                <a:solidFill>
                  <a:schemeClr val="tx2"/>
                </a:solidFill>
              </a:rPr>
              <a:t>sized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structures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ensure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cultural</a:t>
            </a:r>
            <a:r>
              <a:rPr lang="de-DE" sz="1000" dirty="0">
                <a:solidFill>
                  <a:schemeClr val="tx2"/>
                </a:solidFill>
              </a:rPr>
              <a:t> and operational </a:t>
            </a:r>
            <a:r>
              <a:rPr lang="de-DE" sz="1000" dirty="0" err="1">
                <a:solidFill>
                  <a:schemeClr val="tx2"/>
                </a:solidFill>
              </a:rPr>
              <a:t>compatibility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Schuon </a:t>
            </a:r>
            <a:r>
              <a:rPr lang="de-DE" sz="1000" dirty="0" err="1">
                <a:solidFill>
                  <a:schemeClr val="tx2"/>
                </a:solidFill>
              </a:rPr>
              <a:t>strengthens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Rudolph’s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scale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flexibility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core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segments</a:t>
            </a:r>
            <a:endParaRPr lang="de-DE" sz="1000" dirty="0">
              <a:solidFill>
                <a:schemeClr val="tx2"/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AA5C19B2-1356-1C27-4CC2-75F61F36972E}"/>
              </a:ext>
            </a:extLst>
          </p:cNvPr>
          <p:cNvSpPr/>
          <p:nvPr/>
        </p:nvSpPr>
        <p:spPr>
          <a:xfrm>
            <a:off x="7373237" y="2914653"/>
            <a:ext cx="43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Both </a:t>
            </a:r>
            <a:r>
              <a:rPr lang="de-DE" sz="1000" dirty="0" err="1">
                <a:solidFill>
                  <a:schemeClr val="tx2"/>
                </a:solidFill>
              </a:rPr>
              <a:t>focus</a:t>
            </a:r>
            <a:r>
              <a:rPr lang="de-DE" sz="1000" dirty="0">
                <a:solidFill>
                  <a:schemeClr val="tx2"/>
                </a:solidFill>
              </a:rPr>
              <a:t> on </a:t>
            </a:r>
            <a:r>
              <a:rPr lang="de-DE" sz="1000" dirty="0" err="1">
                <a:solidFill>
                  <a:schemeClr val="tx2"/>
                </a:solidFill>
              </a:rPr>
              <a:t>part-load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general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cargo</a:t>
            </a:r>
            <a:r>
              <a:rPr lang="de-DE" sz="1000" dirty="0">
                <a:solidFill>
                  <a:schemeClr val="tx2"/>
                </a:solidFill>
              </a:rPr>
              <a:t> in Southern Germany, </a:t>
            </a:r>
            <a:r>
              <a:rPr lang="de-DE" sz="1000" dirty="0" err="1">
                <a:solidFill>
                  <a:schemeClr val="tx2"/>
                </a:solidFill>
              </a:rPr>
              <a:t>enabling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synergies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Schuon </a:t>
            </a:r>
            <a:r>
              <a:rPr lang="de-DE" sz="1000" dirty="0" err="1">
                <a:solidFill>
                  <a:schemeClr val="tx2"/>
                </a:solidFill>
              </a:rPr>
              <a:t>expands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Kunzendorf’s</a:t>
            </a:r>
            <a:r>
              <a:rPr lang="de-DE" sz="1000" dirty="0">
                <a:solidFill>
                  <a:schemeClr val="tx2"/>
                </a:solidFill>
              </a:rPr>
              <a:t> regional </a:t>
            </a:r>
            <a:r>
              <a:rPr lang="de-DE" sz="1000" dirty="0" err="1">
                <a:solidFill>
                  <a:schemeClr val="tx2"/>
                </a:solidFill>
              </a:rPr>
              <a:t>coverage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customer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base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Strong </a:t>
            </a:r>
            <a:r>
              <a:rPr lang="de-DE" sz="1000" dirty="0" err="1">
                <a:solidFill>
                  <a:schemeClr val="tx2"/>
                </a:solidFill>
              </a:rPr>
              <a:t>cultural</a:t>
            </a:r>
            <a:r>
              <a:rPr lang="de-DE" sz="1000" dirty="0">
                <a:solidFill>
                  <a:schemeClr val="tx2"/>
                </a:solidFill>
              </a:rPr>
              <a:t> fit </a:t>
            </a:r>
            <a:r>
              <a:rPr lang="de-DE" sz="1000" dirty="0" err="1">
                <a:solidFill>
                  <a:schemeClr val="tx2"/>
                </a:solidFill>
              </a:rPr>
              <a:t>as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mid-sized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family</a:t>
            </a:r>
            <a:r>
              <a:rPr lang="de-DE" sz="1000" dirty="0">
                <a:solidFill>
                  <a:schemeClr val="tx2"/>
                </a:solidFill>
              </a:rPr>
              <a:t>-run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firms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>
                <a:solidFill>
                  <a:schemeClr val="tx2"/>
                </a:solidFill>
              </a:rPr>
              <a:t>Combined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fleet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staff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increase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capacity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flexibility</a:t>
            </a:r>
            <a:endParaRPr lang="de-DE" sz="1000" dirty="0">
              <a:solidFill>
                <a:schemeClr val="tx2"/>
              </a:solidFill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A591F991-8197-84FF-DFCC-181900C50B52}"/>
              </a:ext>
            </a:extLst>
          </p:cNvPr>
          <p:cNvSpPr/>
          <p:nvPr/>
        </p:nvSpPr>
        <p:spPr>
          <a:xfrm>
            <a:off x="4583205" y="1990673"/>
            <a:ext cx="2736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>
                <a:solidFill>
                  <a:schemeClr val="tx2"/>
                </a:solidFill>
              </a:rPr>
              <a:t>A </a:t>
            </a:r>
            <a:r>
              <a:rPr lang="de-DE" sz="1000" dirty="0" err="1">
                <a:solidFill>
                  <a:schemeClr val="tx2"/>
                </a:solidFill>
              </a:rPr>
              <a:t>family</a:t>
            </a:r>
            <a:r>
              <a:rPr lang="de-DE" sz="1000" dirty="0">
                <a:solidFill>
                  <a:schemeClr val="tx2"/>
                </a:solidFill>
              </a:rPr>
              <a:t>-run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provider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offering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contract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transport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services</a:t>
            </a:r>
            <a:r>
              <a:rPr lang="de-DE" sz="1000" dirty="0">
                <a:solidFill>
                  <a:schemeClr val="tx2"/>
                </a:solidFill>
              </a:rPr>
              <a:t>. </a:t>
            </a:r>
            <a:r>
              <a:rPr lang="de-DE" sz="1000" dirty="0" err="1">
                <a:solidFill>
                  <a:schemeClr val="tx2"/>
                </a:solidFill>
              </a:rPr>
              <a:t>Active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across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industries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the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company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emphasizes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long</a:t>
            </a:r>
            <a:r>
              <a:rPr lang="de-DE" sz="1000" dirty="0">
                <a:solidFill>
                  <a:schemeClr val="tx2"/>
                </a:solidFill>
              </a:rPr>
              <a:t>-term </a:t>
            </a:r>
            <a:r>
              <a:rPr lang="de-DE" sz="1000" dirty="0" err="1">
                <a:solidFill>
                  <a:schemeClr val="tx2"/>
                </a:solidFill>
              </a:rPr>
              <a:t>partnerships</a:t>
            </a:r>
            <a:r>
              <a:rPr lang="de-DE" sz="1000" dirty="0">
                <a:solidFill>
                  <a:schemeClr val="tx2"/>
                </a:solidFill>
              </a:rPr>
              <a:t> and national/international </a:t>
            </a:r>
            <a:r>
              <a:rPr lang="de-DE" sz="1000" dirty="0" err="1">
                <a:solidFill>
                  <a:schemeClr val="tx2"/>
                </a:solidFill>
              </a:rPr>
              <a:t>operations</a:t>
            </a:r>
            <a:r>
              <a:rPr lang="de-DE" sz="10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A942695C-323A-1E6F-4433-8B1B7223073F}"/>
              </a:ext>
            </a:extLst>
          </p:cNvPr>
          <p:cNvSpPr/>
          <p:nvPr/>
        </p:nvSpPr>
        <p:spPr>
          <a:xfrm>
            <a:off x="4583205" y="2914653"/>
            <a:ext cx="2736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>
                <a:solidFill>
                  <a:schemeClr val="tx2"/>
                </a:solidFill>
              </a:rPr>
              <a:t>A </a:t>
            </a:r>
            <a:r>
              <a:rPr lang="de-DE" sz="1000" dirty="0" err="1">
                <a:solidFill>
                  <a:schemeClr val="tx2"/>
                </a:solidFill>
              </a:rPr>
              <a:t>mid-sized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family-owned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firm in Southern Germany, </a:t>
            </a:r>
            <a:r>
              <a:rPr lang="de-DE" sz="1000" dirty="0" err="1">
                <a:solidFill>
                  <a:schemeClr val="tx2"/>
                </a:solidFill>
              </a:rPr>
              <a:t>focused</a:t>
            </a:r>
            <a:r>
              <a:rPr lang="de-DE" sz="1000" dirty="0">
                <a:solidFill>
                  <a:schemeClr val="tx2"/>
                </a:solidFill>
              </a:rPr>
              <a:t> on </a:t>
            </a:r>
            <a:r>
              <a:rPr lang="de-DE" sz="1000" dirty="0" err="1">
                <a:solidFill>
                  <a:schemeClr val="tx2"/>
                </a:solidFill>
              </a:rPr>
              <a:t>part-load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general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cargo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regional </a:t>
            </a:r>
            <a:r>
              <a:rPr lang="de-DE" sz="1000" dirty="0" err="1">
                <a:solidFill>
                  <a:schemeClr val="tx2"/>
                </a:solidFill>
              </a:rPr>
              <a:t>strength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customer-oriented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service</a:t>
            </a:r>
            <a:r>
              <a:rPr lang="de-DE" sz="10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49" name="object 4">
            <a:extLst>
              <a:ext uri="{FF2B5EF4-FFF2-40B4-BE49-F238E27FC236}">
                <a16:creationId xmlns:a16="http://schemas.microsoft.com/office/drawing/2014/main" id="{27F969FC-3CA9-8A8F-45A6-CE8DA6FD3CC0}"/>
              </a:ext>
            </a:extLst>
          </p:cNvPr>
          <p:cNvSpPr/>
          <p:nvPr/>
        </p:nvSpPr>
        <p:spPr>
          <a:xfrm>
            <a:off x="533112" y="2812663"/>
            <a:ext cx="11160000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 anchor="ctr"/>
          <a:lstStyle/>
          <a:p>
            <a:endParaRPr lang="en-US" sz="100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object 4">
            <a:extLst>
              <a:ext uri="{FF2B5EF4-FFF2-40B4-BE49-F238E27FC236}">
                <a16:creationId xmlns:a16="http://schemas.microsoft.com/office/drawing/2014/main" id="{26650B9D-98D2-8AF9-682C-9B7FABE2C043}"/>
              </a:ext>
            </a:extLst>
          </p:cNvPr>
          <p:cNvSpPr/>
          <p:nvPr/>
        </p:nvSpPr>
        <p:spPr>
          <a:xfrm>
            <a:off x="533112" y="3733588"/>
            <a:ext cx="11160000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 anchor="ctr"/>
          <a:lstStyle/>
          <a:p>
            <a:endParaRPr lang="en-US" sz="100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object 4">
            <a:extLst>
              <a:ext uri="{FF2B5EF4-FFF2-40B4-BE49-F238E27FC236}">
                <a16:creationId xmlns:a16="http://schemas.microsoft.com/office/drawing/2014/main" id="{CF50054E-A4CB-CDAF-4C2B-DBE8146859F0}"/>
              </a:ext>
            </a:extLst>
          </p:cNvPr>
          <p:cNvSpPr/>
          <p:nvPr/>
        </p:nvSpPr>
        <p:spPr>
          <a:xfrm>
            <a:off x="533112" y="4651458"/>
            <a:ext cx="11160000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 anchor="ctr"/>
          <a:lstStyle/>
          <a:p>
            <a:endParaRPr lang="en-US" sz="100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bject 4">
            <a:extLst>
              <a:ext uri="{FF2B5EF4-FFF2-40B4-BE49-F238E27FC236}">
                <a16:creationId xmlns:a16="http://schemas.microsoft.com/office/drawing/2014/main" id="{735A63DD-E75C-13F4-9457-483DD348266A}"/>
              </a:ext>
            </a:extLst>
          </p:cNvPr>
          <p:cNvSpPr/>
          <p:nvPr/>
        </p:nvSpPr>
        <p:spPr>
          <a:xfrm>
            <a:off x="533112" y="5584603"/>
            <a:ext cx="11160000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 anchor="ctr"/>
          <a:lstStyle/>
          <a:p>
            <a:endParaRPr lang="en-US" sz="100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9" name="Grafik 4098" descr="Ein Bild, das Flugzeug, Spielzeugauto, Maßstabsmodell, Platane Flugzeug Hobel enthält.&#10;&#10;KI-generierte Inhalte können fehlerhaft sein.">
            <a:extLst>
              <a:ext uri="{FF2B5EF4-FFF2-40B4-BE49-F238E27FC236}">
                <a16:creationId xmlns:a16="http://schemas.microsoft.com/office/drawing/2014/main" id="{FC2ECE32-2D01-CD82-1886-420EC17A45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23" y="2825159"/>
            <a:ext cx="1323976" cy="894578"/>
          </a:xfrm>
          <a:prstGeom prst="rect">
            <a:avLst/>
          </a:prstGeom>
        </p:spPr>
      </p:pic>
      <p:pic>
        <p:nvPicPr>
          <p:cNvPr id="4107" name="Grafik 4106" descr="Ein Bild, das Schrift, Screenshot, Grafiken, Logo enthält.&#10;&#10;KI-generierte Inhalte können fehlerhaft sein.">
            <a:extLst>
              <a:ext uri="{FF2B5EF4-FFF2-40B4-BE49-F238E27FC236}">
                <a16:creationId xmlns:a16="http://schemas.microsoft.com/office/drawing/2014/main" id="{7131EF82-D502-A571-F1AE-4227B759CC7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6102" b="31513"/>
          <a:stretch>
            <a:fillRect/>
          </a:stretch>
        </p:blipFill>
        <p:spPr>
          <a:xfrm>
            <a:off x="771123" y="2069135"/>
            <a:ext cx="1323976" cy="556006"/>
          </a:xfrm>
          <a:prstGeom prst="rect">
            <a:avLst/>
          </a:prstGeom>
        </p:spPr>
      </p:pic>
      <p:pic>
        <p:nvPicPr>
          <p:cNvPr id="4111" name="Grafik 4110" descr="Ein Bild, das Text, Grafiken, Schrift, Grafikdesign enthält.&#10;&#10;KI-generierte Inhalte können fehlerhaft sein.">
            <a:extLst>
              <a:ext uri="{FF2B5EF4-FFF2-40B4-BE49-F238E27FC236}">
                <a16:creationId xmlns:a16="http://schemas.microsoft.com/office/drawing/2014/main" id="{FFBA3E2F-07A2-E1A4-1287-2C3D4A82C2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123" y="1234814"/>
            <a:ext cx="1323976" cy="383760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55E38408-562F-83F1-01B7-A2EF3DD97946}"/>
              </a:ext>
            </a:extLst>
          </p:cNvPr>
          <p:cNvSpPr/>
          <p:nvPr/>
        </p:nvSpPr>
        <p:spPr>
          <a:xfrm>
            <a:off x="7373237" y="4750392"/>
            <a:ext cx="43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>
                <a:solidFill>
                  <a:schemeClr val="tx2"/>
                </a:solidFill>
              </a:rPr>
              <a:t>Proven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interest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mid-sized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firms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aligns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Schuon’s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profile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Schuon </a:t>
            </a:r>
            <a:r>
              <a:rPr lang="de-DE" sz="1000" dirty="0" err="1">
                <a:solidFill>
                  <a:schemeClr val="tx2"/>
                </a:solidFill>
              </a:rPr>
              <a:t>enhances</a:t>
            </a:r>
            <a:r>
              <a:rPr lang="de-DE" sz="1000" dirty="0">
                <a:solidFill>
                  <a:schemeClr val="tx2"/>
                </a:solidFill>
              </a:rPr>
              <a:t> regional network and </a:t>
            </a:r>
            <a:r>
              <a:rPr lang="de-DE" sz="1000" dirty="0" err="1">
                <a:solidFill>
                  <a:schemeClr val="tx2"/>
                </a:solidFill>
              </a:rPr>
              <a:t>densifies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customer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base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High </a:t>
            </a:r>
            <a:r>
              <a:rPr lang="de-DE" sz="1000" dirty="0" err="1">
                <a:solidFill>
                  <a:schemeClr val="tx2"/>
                </a:solidFill>
              </a:rPr>
              <a:t>compatibility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contract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general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cargo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services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Integration </a:t>
            </a:r>
            <a:r>
              <a:rPr lang="de-DE" sz="1000" dirty="0" err="1">
                <a:solidFill>
                  <a:schemeClr val="tx2"/>
                </a:solidFill>
              </a:rPr>
              <a:t>supports</a:t>
            </a:r>
            <a:r>
              <a:rPr lang="de-DE" sz="1000" dirty="0">
                <a:solidFill>
                  <a:schemeClr val="tx2"/>
                </a:solidFill>
              </a:rPr>
              <a:t> Rhenus’ </a:t>
            </a:r>
            <a:r>
              <a:rPr lang="de-DE" sz="1000" dirty="0" err="1">
                <a:solidFill>
                  <a:schemeClr val="tx2"/>
                </a:solidFill>
              </a:rPr>
              <a:t>growth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service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scalability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goals</a:t>
            </a:r>
            <a:endParaRPr lang="de-DE" sz="1000" dirty="0">
              <a:solidFill>
                <a:schemeClr val="tx2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F29079D-9E0A-E51D-75BC-8CD19D8CA916}"/>
              </a:ext>
            </a:extLst>
          </p:cNvPr>
          <p:cNvSpPr/>
          <p:nvPr/>
        </p:nvSpPr>
        <p:spPr>
          <a:xfrm>
            <a:off x="7373237" y="5697036"/>
            <a:ext cx="43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Strong Southern Germany </a:t>
            </a:r>
            <a:r>
              <a:rPr lang="de-DE" sz="1000" dirty="0" err="1">
                <a:solidFill>
                  <a:schemeClr val="tx2"/>
                </a:solidFill>
              </a:rPr>
              <a:t>footprint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strengthens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DACHSER’s</a:t>
            </a:r>
            <a:r>
              <a:rPr lang="de-DE" sz="1000" dirty="0">
                <a:solidFill>
                  <a:schemeClr val="tx2"/>
                </a:solidFill>
              </a:rPr>
              <a:t> regional </a:t>
            </a:r>
            <a:r>
              <a:rPr lang="de-DE" sz="1000" dirty="0" err="1">
                <a:solidFill>
                  <a:schemeClr val="tx2"/>
                </a:solidFill>
              </a:rPr>
              <a:t>density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High </a:t>
            </a:r>
            <a:r>
              <a:rPr lang="de-DE" sz="1000" dirty="0" err="1">
                <a:solidFill>
                  <a:schemeClr val="tx2"/>
                </a:solidFill>
              </a:rPr>
              <a:t>business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model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compatibility</a:t>
            </a:r>
            <a:r>
              <a:rPr lang="de-DE" sz="1000" dirty="0">
                <a:solidFill>
                  <a:schemeClr val="tx2"/>
                </a:solidFill>
              </a:rPr>
              <a:t> in LTL and </a:t>
            </a:r>
            <a:r>
              <a:rPr lang="de-DE" sz="1000" dirty="0" err="1">
                <a:solidFill>
                  <a:schemeClr val="tx2"/>
                </a:solidFill>
              </a:rPr>
              <a:t>contract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>
                <a:solidFill>
                  <a:schemeClr val="tx2"/>
                </a:solidFill>
              </a:rPr>
              <a:t>Complementary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customer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base</a:t>
            </a:r>
            <a:r>
              <a:rPr lang="de-DE" sz="1000" dirty="0">
                <a:solidFill>
                  <a:schemeClr val="tx2"/>
                </a:solidFill>
              </a:rPr>
              <a:t> in FMCG and </a:t>
            </a:r>
            <a:r>
              <a:rPr lang="de-DE" sz="1000" dirty="0" err="1">
                <a:solidFill>
                  <a:schemeClr val="tx2"/>
                </a:solidFill>
              </a:rPr>
              <a:t>industrial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sectors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>
                <a:solidFill>
                  <a:schemeClr val="tx2"/>
                </a:solidFill>
              </a:rPr>
              <a:t>Scalable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assets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enable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efficient</a:t>
            </a:r>
            <a:r>
              <a:rPr lang="de-DE" sz="1000" dirty="0">
                <a:solidFill>
                  <a:schemeClr val="tx2"/>
                </a:solidFill>
              </a:rPr>
              <a:t> network </a:t>
            </a:r>
            <a:r>
              <a:rPr lang="de-DE" sz="1000" dirty="0" err="1">
                <a:solidFill>
                  <a:schemeClr val="tx2"/>
                </a:solidFill>
              </a:rPr>
              <a:t>integration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growth</a:t>
            </a:r>
            <a:endParaRPr lang="de-DE" sz="1000" dirty="0">
              <a:solidFill>
                <a:schemeClr val="tx2"/>
              </a:solidFill>
            </a:endParaRPr>
          </a:p>
        </p:txBody>
      </p:sp>
      <p:pic>
        <p:nvPicPr>
          <p:cNvPr id="26" name="Grafik 25" descr="Ein Bild, das Schrift, Grafiken, Screenshot, Logo enthält.&#10;&#10;KI-generierte Inhalte können fehlerhaft sein.">
            <a:extLst>
              <a:ext uri="{FF2B5EF4-FFF2-40B4-BE49-F238E27FC236}">
                <a16:creationId xmlns:a16="http://schemas.microsoft.com/office/drawing/2014/main" id="{916088C4-98E0-34B6-CB48-09F05DCA7E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111" y="5706105"/>
            <a:ext cx="1440000" cy="712259"/>
          </a:xfrm>
          <a:prstGeom prst="rect">
            <a:avLst/>
          </a:prstGeom>
        </p:spPr>
      </p:pic>
      <p:pic>
        <p:nvPicPr>
          <p:cNvPr id="27" name="Grafik 26" descr="Ein Bild, das Schrift, Tex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92F06024-39ED-2437-8DC2-BE0EFF19A7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111" y="4993286"/>
            <a:ext cx="1440000" cy="268880"/>
          </a:xfrm>
          <a:prstGeom prst="rect">
            <a:avLst/>
          </a:prstGeom>
        </p:spPr>
      </p:pic>
      <p:sp>
        <p:nvSpPr>
          <p:cNvPr id="34" name="Rechteck 33">
            <a:extLst>
              <a:ext uri="{FF2B5EF4-FFF2-40B4-BE49-F238E27FC236}">
                <a16:creationId xmlns:a16="http://schemas.microsoft.com/office/drawing/2014/main" id="{8B753578-E2FB-10E7-230F-D64A68059169}"/>
              </a:ext>
            </a:extLst>
          </p:cNvPr>
          <p:cNvSpPr/>
          <p:nvPr/>
        </p:nvSpPr>
        <p:spPr>
          <a:xfrm>
            <a:off x="4583205" y="4750392"/>
            <a:ext cx="2736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>
                <a:solidFill>
                  <a:schemeClr val="tx2"/>
                </a:solidFill>
              </a:rPr>
              <a:t>International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provider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based</a:t>
            </a:r>
            <a:r>
              <a:rPr lang="de-DE" sz="1000" dirty="0">
                <a:solidFill>
                  <a:schemeClr val="tx2"/>
                </a:solidFill>
              </a:rPr>
              <a:t> in Germany, </a:t>
            </a:r>
            <a:r>
              <a:rPr lang="de-DE" sz="1000" dirty="0" err="1">
                <a:solidFill>
                  <a:schemeClr val="tx2"/>
                </a:solidFill>
              </a:rPr>
              <a:t>active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contract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transport</a:t>
            </a:r>
            <a:r>
              <a:rPr lang="de-DE" sz="1000" dirty="0">
                <a:solidFill>
                  <a:schemeClr val="tx2"/>
                </a:solidFill>
              </a:rPr>
              <a:t>, and </a:t>
            </a:r>
            <a:r>
              <a:rPr lang="de-DE" sz="1000" dirty="0" err="1">
                <a:solidFill>
                  <a:schemeClr val="tx2"/>
                </a:solidFill>
              </a:rPr>
              <a:t>warehousing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a </a:t>
            </a:r>
            <a:r>
              <a:rPr lang="de-DE" sz="1000" dirty="0" err="1">
                <a:solidFill>
                  <a:schemeClr val="tx2"/>
                </a:solidFill>
              </a:rPr>
              <a:t>focus</a:t>
            </a:r>
            <a:r>
              <a:rPr lang="de-DE" sz="1000" dirty="0">
                <a:solidFill>
                  <a:schemeClr val="tx2"/>
                </a:solidFill>
              </a:rPr>
              <a:t> on </a:t>
            </a:r>
            <a:r>
              <a:rPr lang="de-DE" sz="1000" dirty="0" err="1">
                <a:solidFill>
                  <a:schemeClr val="tx2"/>
                </a:solidFill>
              </a:rPr>
              <a:t>strategic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acquisitions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to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expand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its</a:t>
            </a:r>
            <a:r>
              <a:rPr lang="de-DE" sz="1000" dirty="0">
                <a:solidFill>
                  <a:schemeClr val="tx2"/>
                </a:solidFill>
              </a:rPr>
              <a:t> network.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D18E7C5-BC38-043D-F37A-AF2DDD1D2795}"/>
              </a:ext>
            </a:extLst>
          </p:cNvPr>
          <p:cNvSpPr/>
          <p:nvPr/>
        </p:nvSpPr>
        <p:spPr>
          <a:xfrm>
            <a:off x="4583205" y="5697036"/>
            <a:ext cx="2736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>
                <a:solidFill>
                  <a:schemeClr val="tx2"/>
                </a:solidFill>
              </a:rPr>
              <a:t>Family-</a:t>
            </a:r>
            <a:r>
              <a:rPr lang="de-DE" sz="1000" dirty="0" err="1">
                <a:solidFill>
                  <a:schemeClr val="tx2"/>
                </a:solidFill>
              </a:rPr>
              <a:t>owned</a:t>
            </a:r>
            <a:r>
              <a:rPr lang="de-DE" sz="1000" dirty="0">
                <a:solidFill>
                  <a:schemeClr val="tx2"/>
                </a:solidFill>
              </a:rPr>
              <a:t> German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provider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a strong European </a:t>
            </a:r>
            <a:r>
              <a:rPr lang="de-DE" sz="1000" dirty="0" err="1">
                <a:solidFill>
                  <a:schemeClr val="tx2"/>
                </a:solidFill>
              </a:rPr>
              <a:t>presence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focused</a:t>
            </a:r>
            <a:r>
              <a:rPr lang="de-DE" sz="1000" dirty="0">
                <a:solidFill>
                  <a:schemeClr val="tx2"/>
                </a:solidFill>
              </a:rPr>
              <a:t> on </a:t>
            </a:r>
            <a:r>
              <a:rPr lang="de-DE" sz="1000" dirty="0" err="1">
                <a:solidFill>
                  <a:schemeClr val="tx2"/>
                </a:solidFill>
              </a:rPr>
              <a:t>groupage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contract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, and </a:t>
            </a:r>
            <a:r>
              <a:rPr lang="de-DE" sz="1000" dirty="0" err="1">
                <a:solidFill>
                  <a:schemeClr val="tx2"/>
                </a:solidFill>
              </a:rPr>
              <a:t>sector-specific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supply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chains</a:t>
            </a:r>
            <a:r>
              <a:rPr lang="de-DE" sz="10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AC892A92-8B2D-57D0-91FE-CF1845C0905C}"/>
              </a:ext>
            </a:extLst>
          </p:cNvPr>
          <p:cNvSpPr/>
          <p:nvPr/>
        </p:nvSpPr>
        <p:spPr>
          <a:xfrm>
            <a:off x="7373112" y="3832523"/>
            <a:ext cx="43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>
                <a:solidFill>
                  <a:schemeClr val="tx2"/>
                </a:solidFill>
              </a:rPr>
              <a:t>Enhances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FIEGE’s</a:t>
            </a:r>
            <a:r>
              <a:rPr lang="de-DE" sz="1000" dirty="0">
                <a:solidFill>
                  <a:schemeClr val="tx2"/>
                </a:solidFill>
              </a:rPr>
              <a:t> Southern Germany </a:t>
            </a:r>
            <a:r>
              <a:rPr lang="de-DE" sz="1000" dirty="0" err="1">
                <a:solidFill>
                  <a:schemeClr val="tx2"/>
                </a:solidFill>
              </a:rPr>
              <a:t>footprint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closes</a:t>
            </a:r>
            <a:r>
              <a:rPr lang="de-DE" sz="1000" dirty="0">
                <a:solidFill>
                  <a:schemeClr val="tx2"/>
                </a:solidFill>
              </a:rPr>
              <a:t> regional </a:t>
            </a:r>
            <a:r>
              <a:rPr lang="de-DE" sz="1000" dirty="0" err="1">
                <a:solidFill>
                  <a:schemeClr val="tx2"/>
                </a:solidFill>
              </a:rPr>
              <a:t>gaps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Strong operational fit in </a:t>
            </a:r>
            <a:r>
              <a:rPr lang="de-DE" sz="1000" dirty="0" err="1">
                <a:solidFill>
                  <a:schemeClr val="tx2"/>
                </a:solidFill>
              </a:rPr>
              <a:t>contract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transport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>
                <a:solidFill>
                  <a:schemeClr val="tx2"/>
                </a:solidFill>
              </a:rPr>
              <a:t>Aligned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sector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focus</a:t>
            </a:r>
            <a:r>
              <a:rPr lang="de-DE" sz="1000" dirty="0">
                <a:solidFill>
                  <a:schemeClr val="tx2"/>
                </a:solidFill>
              </a:rPr>
              <a:t> in FMCG and </a:t>
            </a:r>
            <a:r>
              <a:rPr lang="de-DE" sz="1000" dirty="0" err="1">
                <a:solidFill>
                  <a:schemeClr val="tx2"/>
                </a:solidFill>
              </a:rPr>
              <a:t>industrial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clients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>
                <a:solidFill>
                  <a:schemeClr val="tx2"/>
                </a:solidFill>
              </a:rPr>
              <a:t>Scalable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platform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fleet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infrastructure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for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growth</a:t>
            </a:r>
            <a:endParaRPr lang="de-DE" sz="1000" dirty="0">
              <a:solidFill>
                <a:schemeClr val="tx2"/>
              </a:solidFill>
            </a:endParaRPr>
          </a:p>
        </p:txBody>
      </p:sp>
      <p:pic>
        <p:nvPicPr>
          <p:cNvPr id="59" name="Picture 12" descr="Angriff auf Postmarkt Berlin - FIEGE startet Last Mile GmbH - hybriLOG">
            <a:extLst>
              <a:ext uri="{FF2B5EF4-FFF2-40B4-BE49-F238E27FC236}">
                <a16:creationId xmlns:a16="http://schemas.microsoft.com/office/drawing/2014/main" id="{AC9E6FEB-F809-A108-919E-C006D0AE2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11" y="3983273"/>
            <a:ext cx="1440000" cy="41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Rechteck 59">
            <a:extLst>
              <a:ext uri="{FF2B5EF4-FFF2-40B4-BE49-F238E27FC236}">
                <a16:creationId xmlns:a16="http://schemas.microsoft.com/office/drawing/2014/main" id="{2FF206C0-40A1-5951-E626-A3B8FB8CFF8D}"/>
              </a:ext>
            </a:extLst>
          </p:cNvPr>
          <p:cNvSpPr/>
          <p:nvPr/>
        </p:nvSpPr>
        <p:spPr>
          <a:xfrm>
            <a:off x="4583205" y="3832523"/>
            <a:ext cx="2736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 err="1">
                <a:solidFill>
                  <a:schemeClr val="tx2"/>
                </a:solidFill>
              </a:rPr>
              <a:t>Privately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owned</a:t>
            </a:r>
            <a:r>
              <a:rPr lang="de-DE" sz="1000" dirty="0">
                <a:solidFill>
                  <a:schemeClr val="tx2"/>
                </a:solidFill>
              </a:rPr>
              <a:t> German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provider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specializing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contract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warehousing</a:t>
            </a:r>
            <a:r>
              <a:rPr lang="de-DE" sz="1000" dirty="0">
                <a:solidFill>
                  <a:schemeClr val="tx2"/>
                </a:solidFill>
              </a:rPr>
              <a:t>, and </a:t>
            </a:r>
            <a:r>
              <a:rPr lang="de-DE" sz="1000" dirty="0" err="1">
                <a:solidFill>
                  <a:schemeClr val="tx2"/>
                </a:solidFill>
              </a:rPr>
              <a:t>customized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supply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chain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solutions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across</a:t>
            </a:r>
            <a:r>
              <a:rPr lang="de-DE" sz="1000" dirty="0">
                <a:solidFill>
                  <a:schemeClr val="tx2"/>
                </a:solidFill>
              </a:rPr>
              <a:t> Europe.</a:t>
            </a:r>
          </a:p>
        </p:txBody>
      </p:sp>
      <p:sp>
        <p:nvSpPr>
          <p:cNvPr id="61" name="object 3">
            <a:extLst>
              <a:ext uri="{FF2B5EF4-FFF2-40B4-BE49-F238E27FC236}">
                <a16:creationId xmlns:a16="http://schemas.microsoft.com/office/drawing/2014/main" id="{A80E4567-B791-AE2B-DEEF-323A9CF4103D}"/>
              </a:ext>
            </a:extLst>
          </p:cNvPr>
          <p:cNvSpPr txBox="1"/>
          <p:nvPr/>
        </p:nvSpPr>
        <p:spPr>
          <a:xfrm>
            <a:off x="533112" y="6551362"/>
            <a:ext cx="1075268" cy="139141"/>
          </a:xfrm>
          <a:prstGeom prst="rect">
            <a:avLst/>
          </a:prstGeom>
        </p:spPr>
        <p:txBody>
          <a:bodyPr vert="horz" wrap="square" lIns="0" tIns="15875" rIns="0" bIns="0" rtlCol="0" anchor="ctr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sz="8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1/3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39999264-DD9A-E55D-C9BF-826DEAFB2FA7}"/>
              </a:ext>
            </a:extLst>
          </p:cNvPr>
          <p:cNvSpPr/>
          <p:nvPr/>
        </p:nvSpPr>
        <p:spPr>
          <a:xfrm>
            <a:off x="2378158" y="3832523"/>
            <a:ext cx="216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dirty="0">
                <a:solidFill>
                  <a:schemeClr val="tx2"/>
                </a:solidFill>
              </a:rPr>
              <a:t>2 – Strategic </a:t>
            </a:r>
            <a:r>
              <a:rPr lang="de-DE" sz="1000" dirty="0">
                <a:solidFill>
                  <a:schemeClr val="tx2"/>
                </a:solidFill>
              </a:rPr>
              <a:t>(Horizontal Integration)</a:t>
            </a:r>
          </a:p>
        </p:txBody>
      </p:sp>
      <p:sp>
        <p:nvSpPr>
          <p:cNvPr id="4097" name="Rechteck 4096">
            <a:extLst>
              <a:ext uri="{FF2B5EF4-FFF2-40B4-BE49-F238E27FC236}">
                <a16:creationId xmlns:a16="http://schemas.microsoft.com/office/drawing/2014/main" id="{8A2FF884-EAB2-38DF-93F3-B7D05CBCE9CB}"/>
              </a:ext>
            </a:extLst>
          </p:cNvPr>
          <p:cNvSpPr/>
          <p:nvPr/>
        </p:nvSpPr>
        <p:spPr>
          <a:xfrm>
            <a:off x="2378158" y="1101221"/>
            <a:ext cx="216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dirty="0">
                <a:solidFill>
                  <a:schemeClr val="tx2"/>
                </a:solidFill>
              </a:rPr>
              <a:t>1 – Strategic </a:t>
            </a:r>
            <a:r>
              <a:rPr lang="de-DE" sz="1000" dirty="0">
                <a:solidFill>
                  <a:schemeClr val="tx2"/>
                </a:solidFill>
              </a:rPr>
              <a:t>(</a:t>
            </a:r>
            <a:r>
              <a:rPr lang="de-DE" sz="1000" dirty="0" err="1">
                <a:solidFill>
                  <a:schemeClr val="tx2"/>
                </a:solidFill>
              </a:rPr>
              <a:t>Direct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Competitor</a:t>
            </a:r>
            <a:r>
              <a:rPr lang="de-DE" sz="1000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4100" name="Rechteck 4099">
            <a:extLst>
              <a:ext uri="{FF2B5EF4-FFF2-40B4-BE49-F238E27FC236}">
                <a16:creationId xmlns:a16="http://schemas.microsoft.com/office/drawing/2014/main" id="{A881EA8B-E3A2-FE04-FBCA-E518A7EF46C2}"/>
              </a:ext>
            </a:extLst>
          </p:cNvPr>
          <p:cNvSpPr/>
          <p:nvPr/>
        </p:nvSpPr>
        <p:spPr>
          <a:xfrm>
            <a:off x="2378158" y="1990378"/>
            <a:ext cx="216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dirty="0">
                <a:solidFill>
                  <a:schemeClr val="tx2"/>
                </a:solidFill>
              </a:rPr>
              <a:t>1 – Strategic </a:t>
            </a:r>
            <a:r>
              <a:rPr lang="de-DE" sz="1000" dirty="0">
                <a:solidFill>
                  <a:schemeClr val="tx2"/>
                </a:solidFill>
              </a:rPr>
              <a:t>(</a:t>
            </a:r>
            <a:r>
              <a:rPr lang="de-DE" sz="1000" dirty="0" err="1">
                <a:solidFill>
                  <a:schemeClr val="tx2"/>
                </a:solidFill>
              </a:rPr>
              <a:t>Direct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Competitor</a:t>
            </a:r>
            <a:r>
              <a:rPr lang="de-DE" sz="1000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4101" name="Rechteck 4100">
            <a:extLst>
              <a:ext uri="{FF2B5EF4-FFF2-40B4-BE49-F238E27FC236}">
                <a16:creationId xmlns:a16="http://schemas.microsoft.com/office/drawing/2014/main" id="{84C94EAF-CF4B-AE2F-2EDC-6FD2FE0993B5}"/>
              </a:ext>
            </a:extLst>
          </p:cNvPr>
          <p:cNvSpPr/>
          <p:nvPr/>
        </p:nvSpPr>
        <p:spPr>
          <a:xfrm>
            <a:off x="2378158" y="2913126"/>
            <a:ext cx="216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dirty="0">
                <a:solidFill>
                  <a:schemeClr val="tx2"/>
                </a:solidFill>
              </a:rPr>
              <a:t>1 – Strategic </a:t>
            </a:r>
            <a:r>
              <a:rPr lang="de-DE" sz="1000" dirty="0">
                <a:solidFill>
                  <a:schemeClr val="tx2"/>
                </a:solidFill>
              </a:rPr>
              <a:t>(</a:t>
            </a:r>
            <a:r>
              <a:rPr lang="de-DE" sz="1000" dirty="0" err="1">
                <a:solidFill>
                  <a:schemeClr val="tx2"/>
                </a:solidFill>
              </a:rPr>
              <a:t>Direct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Competitor</a:t>
            </a:r>
            <a:r>
              <a:rPr lang="de-DE" sz="1000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4102" name="Rechteck 4101">
            <a:extLst>
              <a:ext uri="{FF2B5EF4-FFF2-40B4-BE49-F238E27FC236}">
                <a16:creationId xmlns:a16="http://schemas.microsoft.com/office/drawing/2014/main" id="{DD5D3D0C-3D0A-B912-C0CF-CDD8B24E93F1}"/>
              </a:ext>
            </a:extLst>
          </p:cNvPr>
          <p:cNvSpPr/>
          <p:nvPr/>
        </p:nvSpPr>
        <p:spPr>
          <a:xfrm>
            <a:off x="2378158" y="4758031"/>
            <a:ext cx="216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dirty="0">
                <a:solidFill>
                  <a:schemeClr val="tx2"/>
                </a:solidFill>
              </a:rPr>
              <a:t>2 – Strategic </a:t>
            </a:r>
            <a:r>
              <a:rPr lang="de-DE" sz="1000" dirty="0">
                <a:solidFill>
                  <a:schemeClr val="tx2"/>
                </a:solidFill>
              </a:rPr>
              <a:t>(Horizontal Integration)</a:t>
            </a:r>
          </a:p>
        </p:txBody>
      </p:sp>
      <p:sp>
        <p:nvSpPr>
          <p:cNvPr id="4104" name="Rechteck 4103">
            <a:extLst>
              <a:ext uri="{FF2B5EF4-FFF2-40B4-BE49-F238E27FC236}">
                <a16:creationId xmlns:a16="http://schemas.microsoft.com/office/drawing/2014/main" id="{00A86B6B-DA3E-D00D-2183-D80D57041BD9}"/>
              </a:ext>
            </a:extLst>
          </p:cNvPr>
          <p:cNvSpPr/>
          <p:nvPr/>
        </p:nvSpPr>
        <p:spPr>
          <a:xfrm>
            <a:off x="2378158" y="5686589"/>
            <a:ext cx="216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dirty="0">
                <a:solidFill>
                  <a:schemeClr val="tx2"/>
                </a:solidFill>
              </a:rPr>
              <a:t>2 – Strategic </a:t>
            </a:r>
            <a:r>
              <a:rPr lang="de-DE" sz="1000" dirty="0">
                <a:solidFill>
                  <a:schemeClr val="tx2"/>
                </a:solidFill>
              </a:rPr>
              <a:t>(Horizontal Integration)</a:t>
            </a:r>
          </a:p>
        </p:txBody>
      </p:sp>
      <p:sp>
        <p:nvSpPr>
          <p:cNvPr id="4105" name="Textfeld 4104">
            <a:extLst>
              <a:ext uri="{FF2B5EF4-FFF2-40B4-BE49-F238E27FC236}">
                <a16:creationId xmlns:a16="http://schemas.microsoft.com/office/drawing/2014/main" id="{3D2E0DF9-0486-7732-B055-E1DC58FDFB8C}"/>
              </a:ext>
            </a:extLst>
          </p:cNvPr>
          <p:cNvSpPr txBox="1"/>
          <p:nvPr/>
        </p:nvSpPr>
        <p:spPr>
          <a:xfrm>
            <a:off x="533111" y="806426"/>
            <a:ext cx="1800000" cy="216000"/>
          </a:xfrm>
          <a:prstGeom prst="rect">
            <a:avLst/>
          </a:prstGeom>
          <a:solidFill>
            <a:schemeClr val="tx2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endParaRPr lang="en-US" sz="10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6" name="Textfeld 4105">
            <a:extLst>
              <a:ext uri="{FF2B5EF4-FFF2-40B4-BE49-F238E27FC236}">
                <a16:creationId xmlns:a16="http://schemas.microsoft.com/office/drawing/2014/main" id="{134C5281-70E0-4F87-A63E-485A3EC536F5}"/>
              </a:ext>
            </a:extLst>
          </p:cNvPr>
          <p:cNvSpPr txBox="1"/>
          <p:nvPr/>
        </p:nvSpPr>
        <p:spPr>
          <a:xfrm>
            <a:off x="2378158" y="806426"/>
            <a:ext cx="2160000" cy="216000"/>
          </a:xfrm>
          <a:prstGeom prst="rect">
            <a:avLst/>
          </a:prstGeom>
          <a:solidFill>
            <a:schemeClr val="tx2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Category</a:t>
            </a:r>
          </a:p>
        </p:txBody>
      </p:sp>
    </p:spTree>
    <p:extLst>
      <p:ext uri="{BB962C8B-B14F-4D97-AF65-F5344CB8AC3E}">
        <p14:creationId xmlns:p14="http://schemas.microsoft.com/office/powerpoint/2010/main" val="2842620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29D02-DC6C-B99E-A2CE-AD316310A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3AFD4B2-909E-B09F-9780-9F7B177697B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664903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18E00D-AEAB-7076-AD3A-8ABD0F6F2A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" name="Rechteck 1024">
            <a:extLst>
              <a:ext uri="{FF2B5EF4-FFF2-40B4-BE49-F238E27FC236}">
                <a16:creationId xmlns:a16="http://schemas.microsoft.com/office/drawing/2014/main" id="{5B390B2C-3541-B43A-E384-D591455B76D8}"/>
              </a:ext>
            </a:extLst>
          </p:cNvPr>
          <p:cNvSpPr/>
          <p:nvPr/>
        </p:nvSpPr>
        <p:spPr>
          <a:xfrm>
            <a:off x="2378158" y="3832523"/>
            <a:ext cx="216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dirty="0">
                <a:solidFill>
                  <a:schemeClr val="tx2"/>
                </a:solidFill>
              </a:rPr>
              <a:t>4 – Financial</a:t>
            </a:r>
            <a:r>
              <a:rPr lang="de-DE" sz="1000" dirty="0">
                <a:solidFill>
                  <a:schemeClr val="tx2"/>
                </a:solidFill>
              </a:rPr>
              <a:t> (Private Equity)</a:t>
            </a:r>
          </a:p>
        </p:txBody>
      </p:sp>
      <p:sp>
        <p:nvSpPr>
          <p:cNvPr id="1032" name="Rechteck 1031">
            <a:extLst>
              <a:ext uri="{FF2B5EF4-FFF2-40B4-BE49-F238E27FC236}">
                <a16:creationId xmlns:a16="http://schemas.microsoft.com/office/drawing/2014/main" id="{9197351C-47A1-CCF5-BB7E-2C81E14C6678}"/>
              </a:ext>
            </a:extLst>
          </p:cNvPr>
          <p:cNvSpPr/>
          <p:nvPr/>
        </p:nvSpPr>
        <p:spPr>
          <a:xfrm>
            <a:off x="7373237" y="4758031"/>
            <a:ext cx="43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Focus on </a:t>
            </a:r>
            <a:r>
              <a:rPr lang="de-DE" sz="1000" dirty="0" err="1">
                <a:solidFill>
                  <a:schemeClr val="tx2"/>
                </a:solidFill>
              </a:rPr>
              <a:t>lower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mid</a:t>
            </a:r>
            <a:r>
              <a:rPr lang="de-DE" sz="1000" dirty="0">
                <a:solidFill>
                  <a:schemeClr val="tx2"/>
                </a:solidFill>
              </a:rPr>
              <a:t>-market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firms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proven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buy</a:t>
            </a:r>
            <a:r>
              <a:rPr lang="de-DE" sz="1000" dirty="0">
                <a:solidFill>
                  <a:schemeClr val="tx2"/>
                </a:solidFill>
              </a:rPr>
              <a:t>-in in Europe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Strong operational </a:t>
            </a:r>
            <a:r>
              <a:rPr lang="de-DE" sz="1000" dirty="0" err="1">
                <a:solidFill>
                  <a:schemeClr val="tx2"/>
                </a:solidFill>
              </a:rPr>
              <a:t>playbook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suited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for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scalable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targets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Targets </a:t>
            </a:r>
            <a:r>
              <a:rPr lang="de-DE" sz="1000" dirty="0" err="1">
                <a:solidFill>
                  <a:schemeClr val="tx2"/>
                </a:solidFill>
              </a:rPr>
              <a:t>add-ons</a:t>
            </a:r>
            <a:r>
              <a:rPr lang="de-DE" sz="1000" dirty="0">
                <a:solidFill>
                  <a:schemeClr val="tx2"/>
                </a:solidFill>
              </a:rPr>
              <a:t> and regional </a:t>
            </a:r>
            <a:r>
              <a:rPr lang="de-DE" sz="1000" dirty="0" err="1">
                <a:solidFill>
                  <a:schemeClr val="tx2"/>
                </a:solidFill>
              </a:rPr>
              <a:t>growth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fragmented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sectors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Flexible </a:t>
            </a:r>
            <a:r>
              <a:rPr lang="de-DE" sz="1000" dirty="0" err="1">
                <a:solidFill>
                  <a:schemeClr val="tx2"/>
                </a:solidFill>
              </a:rPr>
              <a:t>investment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structure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global support </a:t>
            </a:r>
            <a:r>
              <a:rPr lang="de-DE" sz="1000" dirty="0" err="1">
                <a:solidFill>
                  <a:schemeClr val="tx2"/>
                </a:solidFill>
              </a:rPr>
              <a:t>capabilities</a:t>
            </a:r>
            <a:endParaRPr lang="de-DE" sz="1000" dirty="0">
              <a:solidFill>
                <a:schemeClr val="tx2"/>
              </a:solidFill>
            </a:endParaRPr>
          </a:p>
        </p:txBody>
      </p:sp>
      <p:sp>
        <p:nvSpPr>
          <p:cNvPr id="1033" name="Rechteck 1032">
            <a:extLst>
              <a:ext uri="{FF2B5EF4-FFF2-40B4-BE49-F238E27FC236}">
                <a16:creationId xmlns:a16="http://schemas.microsoft.com/office/drawing/2014/main" id="{D9534991-122F-610C-7F5B-0E529E488E65}"/>
              </a:ext>
            </a:extLst>
          </p:cNvPr>
          <p:cNvSpPr/>
          <p:nvPr/>
        </p:nvSpPr>
        <p:spPr>
          <a:xfrm>
            <a:off x="7373237" y="5686589"/>
            <a:ext cx="43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Strong </a:t>
            </a:r>
            <a:r>
              <a:rPr lang="de-DE" sz="1000" dirty="0" err="1">
                <a:solidFill>
                  <a:schemeClr val="tx2"/>
                </a:solidFill>
              </a:rPr>
              <a:t>experience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mid-sized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acquisitions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Focus on </a:t>
            </a:r>
            <a:r>
              <a:rPr lang="de-DE" sz="1000" dirty="0" err="1">
                <a:solidFill>
                  <a:schemeClr val="tx2"/>
                </a:solidFill>
              </a:rPr>
              <a:t>scalable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growth-ready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businesses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Schuon </a:t>
            </a:r>
            <a:r>
              <a:rPr lang="de-DE" sz="1000" dirty="0" err="1">
                <a:solidFill>
                  <a:schemeClr val="tx2"/>
                </a:solidFill>
              </a:rPr>
              <a:t>fits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its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and regional </a:t>
            </a:r>
            <a:r>
              <a:rPr lang="de-DE" sz="1000" dirty="0" err="1">
                <a:solidFill>
                  <a:schemeClr val="tx2"/>
                </a:solidFill>
              </a:rPr>
              <a:t>strategy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Clear potential </a:t>
            </a:r>
            <a:r>
              <a:rPr lang="de-DE" sz="1000" dirty="0" err="1">
                <a:solidFill>
                  <a:schemeClr val="tx2"/>
                </a:solidFill>
              </a:rPr>
              <a:t>for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add</a:t>
            </a:r>
            <a:r>
              <a:rPr lang="de-DE" sz="1000" dirty="0">
                <a:solidFill>
                  <a:schemeClr val="tx2"/>
                </a:solidFill>
              </a:rPr>
              <a:t>-on </a:t>
            </a:r>
            <a:r>
              <a:rPr lang="de-DE" sz="1000" dirty="0" err="1">
                <a:solidFill>
                  <a:schemeClr val="tx2"/>
                </a:solidFill>
              </a:rPr>
              <a:t>acquisitions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scaling</a:t>
            </a:r>
            <a:endParaRPr lang="de-DE" sz="1000" dirty="0">
              <a:solidFill>
                <a:schemeClr val="tx2"/>
              </a:solidFill>
            </a:endParaRPr>
          </a:p>
        </p:txBody>
      </p:sp>
      <p:sp>
        <p:nvSpPr>
          <p:cNvPr id="1034" name="Rechteck 1033">
            <a:extLst>
              <a:ext uri="{FF2B5EF4-FFF2-40B4-BE49-F238E27FC236}">
                <a16:creationId xmlns:a16="http://schemas.microsoft.com/office/drawing/2014/main" id="{4B2C6F34-D11E-5C9F-EF63-9BE35386717D}"/>
              </a:ext>
            </a:extLst>
          </p:cNvPr>
          <p:cNvSpPr/>
          <p:nvPr/>
        </p:nvSpPr>
        <p:spPr>
          <a:xfrm>
            <a:off x="7373237" y="3832523"/>
            <a:ext cx="43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Focus on SME </a:t>
            </a:r>
            <a:r>
              <a:rPr lang="de-DE" sz="1000" dirty="0" err="1">
                <a:solidFill>
                  <a:schemeClr val="tx2"/>
                </a:solidFill>
              </a:rPr>
              <a:t>growth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financing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aligns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Schuon’s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size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Experience in </a:t>
            </a:r>
            <a:r>
              <a:rPr lang="de-DE" sz="1000" dirty="0" err="1">
                <a:solidFill>
                  <a:schemeClr val="tx2"/>
                </a:solidFill>
              </a:rPr>
              <a:t>supporting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industrial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firms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Flexible </a:t>
            </a:r>
            <a:r>
              <a:rPr lang="de-DE" sz="1000" dirty="0" err="1">
                <a:solidFill>
                  <a:schemeClr val="tx2"/>
                </a:solidFill>
              </a:rPr>
              <a:t>minority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structures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suit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founder-led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businesses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Strong </a:t>
            </a:r>
            <a:r>
              <a:rPr lang="de-DE" sz="1000" dirty="0" err="1">
                <a:solidFill>
                  <a:schemeClr val="tx2"/>
                </a:solidFill>
              </a:rPr>
              <a:t>presence</a:t>
            </a:r>
            <a:r>
              <a:rPr lang="de-DE" sz="1000" dirty="0">
                <a:solidFill>
                  <a:schemeClr val="tx2"/>
                </a:solidFill>
              </a:rPr>
              <a:t> in German-</a:t>
            </a:r>
            <a:r>
              <a:rPr lang="de-DE" sz="1000" dirty="0" err="1">
                <a:solidFill>
                  <a:schemeClr val="tx2"/>
                </a:solidFill>
              </a:rPr>
              <a:t>speaking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neighboring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markets</a:t>
            </a:r>
            <a:endParaRPr lang="de-DE" sz="1000" dirty="0">
              <a:solidFill>
                <a:schemeClr val="tx2"/>
              </a:solidFill>
            </a:endParaRPr>
          </a:p>
        </p:txBody>
      </p:sp>
      <p:sp>
        <p:nvSpPr>
          <p:cNvPr id="1039" name="Rechteck 1038">
            <a:extLst>
              <a:ext uri="{FF2B5EF4-FFF2-40B4-BE49-F238E27FC236}">
                <a16:creationId xmlns:a16="http://schemas.microsoft.com/office/drawing/2014/main" id="{0ADC0084-B332-4A65-D253-5CB7921197C9}"/>
              </a:ext>
            </a:extLst>
          </p:cNvPr>
          <p:cNvSpPr/>
          <p:nvPr/>
        </p:nvSpPr>
        <p:spPr>
          <a:xfrm>
            <a:off x="4583205" y="3832523"/>
            <a:ext cx="273685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 err="1">
                <a:solidFill>
                  <a:schemeClr val="tx2"/>
                </a:solidFill>
              </a:rPr>
              <a:t>Siparex</a:t>
            </a:r>
            <a:r>
              <a:rPr lang="de-DE" sz="1000" dirty="0">
                <a:solidFill>
                  <a:schemeClr val="tx2"/>
                </a:solidFill>
              </a:rPr>
              <a:t> Mezzanine </a:t>
            </a:r>
            <a:r>
              <a:rPr lang="de-DE" sz="1000" dirty="0" err="1">
                <a:solidFill>
                  <a:schemeClr val="tx2"/>
                </a:solidFill>
              </a:rPr>
              <a:t>is</a:t>
            </a:r>
            <a:r>
              <a:rPr lang="de-DE" sz="1000" dirty="0">
                <a:solidFill>
                  <a:schemeClr val="tx2"/>
                </a:solidFill>
              </a:rPr>
              <a:t> a France-</a:t>
            </a:r>
            <a:r>
              <a:rPr lang="de-DE" sz="1000" dirty="0" err="1">
                <a:solidFill>
                  <a:schemeClr val="tx2"/>
                </a:solidFill>
              </a:rPr>
              <a:t>based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investor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specializing</a:t>
            </a:r>
            <a:r>
              <a:rPr lang="de-DE" sz="1000" dirty="0">
                <a:solidFill>
                  <a:schemeClr val="tx2"/>
                </a:solidFill>
              </a:rPr>
              <a:t> in flexible </a:t>
            </a:r>
            <a:r>
              <a:rPr lang="de-DE" sz="1000" dirty="0" err="1">
                <a:solidFill>
                  <a:schemeClr val="tx2"/>
                </a:solidFill>
              </a:rPr>
              <a:t>mezzanine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minority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deals</a:t>
            </a:r>
            <a:r>
              <a:rPr lang="de-DE" sz="1000" dirty="0">
                <a:solidFill>
                  <a:schemeClr val="tx2"/>
                </a:solidFill>
              </a:rPr>
              <a:t>. Strong </a:t>
            </a:r>
            <a:r>
              <a:rPr lang="de-DE" sz="1000" dirty="0" err="1">
                <a:solidFill>
                  <a:schemeClr val="tx2"/>
                </a:solidFill>
              </a:rPr>
              <a:t>presence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the</a:t>
            </a:r>
            <a:r>
              <a:rPr lang="de-DE" sz="1000" dirty="0">
                <a:solidFill>
                  <a:schemeClr val="tx2"/>
                </a:solidFill>
              </a:rPr>
              <a:t> DACH </a:t>
            </a:r>
            <a:r>
              <a:rPr lang="de-DE" sz="1000" dirty="0" err="1">
                <a:solidFill>
                  <a:schemeClr val="tx2"/>
                </a:solidFill>
              </a:rPr>
              <a:t>region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experience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industrial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sectors</a:t>
            </a:r>
            <a:r>
              <a:rPr lang="de-DE" sz="10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040" name="Rechteck 1039">
            <a:extLst>
              <a:ext uri="{FF2B5EF4-FFF2-40B4-BE49-F238E27FC236}">
                <a16:creationId xmlns:a16="http://schemas.microsoft.com/office/drawing/2014/main" id="{2B54E855-C583-F34D-433E-B233070F044F}"/>
              </a:ext>
            </a:extLst>
          </p:cNvPr>
          <p:cNvSpPr/>
          <p:nvPr/>
        </p:nvSpPr>
        <p:spPr>
          <a:xfrm>
            <a:off x="4583205" y="4758031"/>
            <a:ext cx="273685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>
                <a:solidFill>
                  <a:schemeClr val="tx2"/>
                </a:solidFill>
              </a:rPr>
              <a:t>Platinum Equity Small Cap Fund </a:t>
            </a:r>
            <a:r>
              <a:rPr lang="de-DE" sz="1000" dirty="0" err="1">
                <a:solidFill>
                  <a:schemeClr val="tx2"/>
                </a:solidFill>
              </a:rPr>
              <a:t>targets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lower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mid</a:t>
            </a:r>
            <a:r>
              <a:rPr lang="de-DE" sz="1000" dirty="0">
                <a:solidFill>
                  <a:schemeClr val="tx2"/>
                </a:solidFill>
              </a:rPr>
              <a:t>-market </a:t>
            </a:r>
            <a:r>
              <a:rPr lang="de-DE" sz="1000" dirty="0" err="1">
                <a:solidFill>
                  <a:schemeClr val="tx2"/>
                </a:solidFill>
              </a:rPr>
              <a:t>firms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a </a:t>
            </a:r>
            <a:r>
              <a:rPr lang="de-DE" sz="1000" dirty="0" err="1">
                <a:solidFill>
                  <a:schemeClr val="tx2"/>
                </a:solidFill>
              </a:rPr>
              <a:t>focus</a:t>
            </a:r>
            <a:r>
              <a:rPr lang="de-DE" sz="1000" dirty="0">
                <a:solidFill>
                  <a:schemeClr val="tx2"/>
                </a:solidFill>
              </a:rPr>
              <a:t> on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industry</a:t>
            </a:r>
            <a:r>
              <a:rPr lang="de-DE" sz="1000" dirty="0">
                <a:solidFill>
                  <a:schemeClr val="tx2"/>
                </a:solidFill>
              </a:rPr>
              <a:t>. </a:t>
            </a:r>
            <a:r>
              <a:rPr lang="de-DE" sz="1000" dirty="0" err="1">
                <a:solidFill>
                  <a:schemeClr val="tx2"/>
                </a:solidFill>
              </a:rPr>
              <a:t>It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drives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scalable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growth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through</a:t>
            </a:r>
            <a:r>
              <a:rPr lang="de-DE" sz="1000" dirty="0">
                <a:solidFill>
                  <a:schemeClr val="tx2"/>
                </a:solidFill>
              </a:rPr>
              <a:t> operational </a:t>
            </a:r>
            <a:r>
              <a:rPr lang="de-DE" sz="1000" dirty="0" err="1">
                <a:solidFill>
                  <a:schemeClr val="tx2"/>
                </a:solidFill>
              </a:rPr>
              <a:t>improvements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add</a:t>
            </a:r>
            <a:r>
              <a:rPr lang="de-DE" sz="1000" dirty="0">
                <a:solidFill>
                  <a:schemeClr val="tx2"/>
                </a:solidFill>
              </a:rPr>
              <a:t>-on </a:t>
            </a:r>
            <a:r>
              <a:rPr lang="de-DE" sz="1000" dirty="0" err="1">
                <a:solidFill>
                  <a:schemeClr val="tx2"/>
                </a:solidFill>
              </a:rPr>
              <a:t>acquisitions</a:t>
            </a:r>
            <a:r>
              <a:rPr lang="de-DE" sz="10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041" name="Rechteck 1040">
            <a:extLst>
              <a:ext uri="{FF2B5EF4-FFF2-40B4-BE49-F238E27FC236}">
                <a16:creationId xmlns:a16="http://schemas.microsoft.com/office/drawing/2014/main" id="{41F0CC3B-4418-1304-DE02-3A9A45839BD8}"/>
              </a:ext>
            </a:extLst>
          </p:cNvPr>
          <p:cNvSpPr/>
          <p:nvPr/>
        </p:nvSpPr>
        <p:spPr>
          <a:xfrm>
            <a:off x="4583205" y="5686589"/>
            <a:ext cx="273685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>
                <a:solidFill>
                  <a:schemeClr val="tx2"/>
                </a:solidFill>
              </a:rPr>
              <a:t>AUCTUS </a:t>
            </a:r>
            <a:r>
              <a:rPr lang="de-DE" sz="1000" dirty="0" err="1">
                <a:solidFill>
                  <a:schemeClr val="tx2"/>
                </a:solidFill>
              </a:rPr>
              <a:t>is</a:t>
            </a:r>
            <a:r>
              <a:rPr lang="de-DE" sz="1000" dirty="0">
                <a:solidFill>
                  <a:schemeClr val="tx2"/>
                </a:solidFill>
              </a:rPr>
              <a:t> a Munich-</a:t>
            </a:r>
            <a:r>
              <a:rPr lang="de-DE" sz="1000" dirty="0" err="1">
                <a:solidFill>
                  <a:schemeClr val="tx2"/>
                </a:solidFill>
              </a:rPr>
              <a:t>based</a:t>
            </a:r>
            <a:r>
              <a:rPr lang="de-DE" sz="1000" dirty="0">
                <a:solidFill>
                  <a:schemeClr val="tx2"/>
                </a:solidFill>
              </a:rPr>
              <a:t> private </a:t>
            </a:r>
            <a:r>
              <a:rPr lang="de-DE" sz="1000" dirty="0" err="1">
                <a:solidFill>
                  <a:schemeClr val="tx2"/>
                </a:solidFill>
              </a:rPr>
              <a:t>equity</a:t>
            </a:r>
            <a:r>
              <a:rPr lang="de-DE" sz="1000" dirty="0">
                <a:solidFill>
                  <a:schemeClr val="tx2"/>
                </a:solidFill>
              </a:rPr>
              <a:t> firm </a:t>
            </a:r>
            <a:r>
              <a:rPr lang="de-DE" sz="1000" dirty="0" err="1">
                <a:solidFill>
                  <a:schemeClr val="tx2"/>
                </a:solidFill>
              </a:rPr>
              <a:t>specializing</a:t>
            </a:r>
            <a:r>
              <a:rPr lang="de-DE" sz="1000" dirty="0">
                <a:solidFill>
                  <a:schemeClr val="tx2"/>
                </a:solidFill>
              </a:rPr>
              <a:t> in profitable </a:t>
            </a:r>
            <a:r>
              <a:rPr lang="de-DE" sz="1000" dirty="0" err="1">
                <a:solidFill>
                  <a:schemeClr val="tx2"/>
                </a:solidFill>
              </a:rPr>
              <a:t>mid-sized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companies</a:t>
            </a:r>
            <a:r>
              <a:rPr lang="de-DE" sz="1000" dirty="0">
                <a:solidFill>
                  <a:schemeClr val="tx2"/>
                </a:solidFill>
              </a:rPr>
              <a:t>. </a:t>
            </a:r>
            <a:r>
              <a:rPr lang="de-DE" sz="1000" dirty="0" err="1">
                <a:solidFill>
                  <a:schemeClr val="tx2"/>
                </a:solidFill>
              </a:rPr>
              <a:t>Known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for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its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entrepreneurial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mindset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buy</a:t>
            </a:r>
            <a:r>
              <a:rPr lang="de-DE" sz="1000" dirty="0">
                <a:solidFill>
                  <a:schemeClr val="tx2"/>
                </a:solidFill>
              </a:rPr>
              <a:t>-and-</a:t>
            </a:r>
            <a:r>
              <a:rPr lang="de-DE" sz="1000" dirty="0" err="1">
                <a:solidFill>
                  <a:schemeClr val="tx2"/>
                </a:solidFill>
              </a:rPr>
              <a:t>build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focus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including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the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sector</a:t>
            </a:r>
            <a:r>
              <a:rPr lang="de-DE" sz="1000" dirty="0">
                <a:solidFill>
                  <a:schemeClr val="tx2"/>
                </a:solidFill>
              </a:rPr>
              <a:t>.</a:t>
            </a:r>
          </a:p>
        </p:txBody>
      </p:sp>
      <p:pic>
        <p:nvPicPr>
          <p:cNvPr id="1043" name="Grafik 1042" descr="Ein Bild, das Schrift, Grafiken, Text, Grafikdesign enthält.&#10;&#10;KI-generierte Inhalte können fehlerhaft sein.">
            <a:extLst>
              <a:ext uri="{FF2B5EF4-FFF2-40B4-BE49-F238E27FC236}">
                <a16:creationId xmlns:a16="http://schemas.microsoft.com/office/drawing/2014/main" id="{1799947C-E656-D6A2-5435-E9588F6AC8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111" y="3874031"/>
            <a:ext cx="1440000" cy="545935"/>
          </a:xfrm>
          <a:prstGeom prst="rect">
            <a:avLst/>
          </a:prstGeom>
        </p:spPr>
      </p:pic>
      <p:pic>
        <p:nvPicPr>
          <p:cNvPr id="1045" name="Grafik 1044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22E9199A-BAE3-AAE9-DFA4-9DB129C7D3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111" y="4939742"/>
            <a:ext cx="1440000" cy="332308"/>
          </a:xfrm>
          <a:prstGeom prst="rect">
            <a:avLst/>
          </a:prstGeom>
        </p:spPr>
      </p:pic>
      <p:pic>
        <p:nvPicPr>
          <p:cNvPr id="1047" name="Grafik 1046" descr="Ein Bild, das Grafiken, Screenshot, Schwarz, Grafikdesign enthält.&#10;&#10;KI-generierte Inhalte können fehlerhaft sein.">
            <a:extLst>
              <a:ext uri="{FF2B5EF4-FFF2-40B4-BE49-F238E27FC236}">
                <a16:creationId xmlns:a16="http://schemas.microsoft.com/office/drawing/2014/main" id="{7E14C363-04D6-F26A-969E-7E84182D5B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111" y="5929377"/>
            <a:ext cx="1440000" cy="233093"/>
          </a:xfrm>
          <a:prstGeom prst="rect">
            <a:avLst/>
          </a:prstGeom>
        </p:spPr>
      </p:pic>
      <p:sp>
        <p:nvSpPr>
          <p:cNvPr id="1052" name="Rechteck 1051">
            <a:extLst>
              <a:ext uri="{FF2B5EF4-FFF2-40B4-BE49-F238E27FC236}">
                <a16:creationId xmlns:a16="http://schemas.microsoft.com/office/drawing/2014/main" id="{ABC01793-3647-EC68-F050-B0FCA4BBEE18}"/>
              </a:ext>
            </a:extLst>
          </p:cNvPr>
          <p:cNvSpPr/>
          <p:nvPr/>
        </p:nvSpPr>
        <p:spPr>
          <a:xfrm>
            <a:off x="7373237" y="1101221"/>
            <a:ext cx="43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Ownership </a:t>
            </a:r>
            <a:r>
              <a:rPr lang="de-DE" sz="1000" dirty="0" err="1">
                <a:solidFill>
                  <a:schemeClr val="tx2"/>
                </a:solidFill>
              </a:rPr>
              <a:t>of</a:t>
            </a:r>
            <a:r>
              <a:rPr lang="de-DE" sz="1000" dirty="0">
                <a:solidFill>
                  <a:schemeClr val="tx2"/>
                </a:solidFill>
              </a:rPr>
              <a:t> Schuon </a:t>
            </a:r>
            <a:r>
              <a:rPr lang="de-DE" sz="1000" dirty="0" err="1">
                <a:solidFill>
                  <a:schemeClr val="tx2"/>
                </a:solidFill>
              </a:rPr>
              <a:t>reduces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Bosch’s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dependency</a:t>
            </a:r>
            <a:r>
              <a:rPr lang="de-DE" sz="1000" dirty="0">
                <a:solidFill>
                  <a:schemeClr val="tx2"/>
                </a:solidFill>
              </a:rPr>
              <a:t> on </a:t>
            </a:r>
            <a:r>
              <a:rPr lang="de-DE" sz="1000" dirty="0" err="1">
                <a:solidFill>
                  <a:schemeClr val="tx2"/>
                </a:solidFill>
              </a:rPr>
              <a:t>third</a:t>
            </a:r>
            <a:r>
              <a:rPr lang="de-DE" sz="1000" dirty="0">
                <a:solidFill>
                  <a:schemeClr val="tx2"/>
                </a:solidFill>
              </a:rPr>
              <a:t>-party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Schuon </a:t>
            </a:r>
            <a:r>
              <a:rPr lang="de-DE" sz="1000" dirty="0" err="1">
                <a:solidFill>
                  <a:schemeClr val="tx2"/>
                </a:solidFill>
              </a:rPr>
              <a:t>optimizes</a:t>
            </a:r>
            <a:r>
              <a:rPr lang="de-DE" sz="1000" dirty="0">
                <a:solidFill>
                  <a:schemeClr val="tx2"/>
                </a:solidFill>
              </a:rPr>
              <a:t> spare </a:t>
            </a:r>
            <a:r>
              <a:rPr lang="de-DE" sz="1000" dirty="0" err="1">
                <a:solidFill>
                  <a:schemeClr val="tx2"/>
                </a:solidFill>
              </a:rPr>
              <a:t>parts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component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distribution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Strong fit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Bosch’s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industrial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automotive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supply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chains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>
                <a:solidFill>
                  <a:schemeClr val="tx2"/>
                </a:solidFill>
              </a:rPr>
              <a:t>Enables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cost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savings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faster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more</a:t>
            </a:r>
            <a:r>
              <a:rPr lang="de-DE" sz="1000" dirty="0">
                <a:solidFill>
                  <a:schemeClr val="tx2"/>
                </a:solidFill>
              </a:rPr>
              <a:t> resilient </a:t>
            </a:r>
            <a:r>
              <a:rPr lang="de-DE" sz="1000" dirty="0" err="1">
                <a:solidFill>
                  <a:schemeClr val="tx2"/>
                </a:solidFill>
              </a:rPr>
              <a:t>deliveries</a:t>
            </a:r>
            <a:endParaRPr lang="de-DE" sz="1000" dirty="0">
              <a:solidFill>
                <a:schemeClr val="tx2"/>
              </a:solidFill>
            </a:endParaRPr>
          </a:p>
        </p:txBody>
      </p:sp>
      <p:sp>
        <p:nvSpPr>
          <p:cNvPr id="1053" name="Rechteck 1052">
            <a:extLst>
              <a:ext uri="{FF2B5EF4-FFF2-40B4-BE49-F238E27FC236}">
                <a16:creationId xmlns:a16="http://schemas.microsoft.com/office/drawing/2014/main" id="{B9FF89F9-E78E-BDB8-B63B-24B715BB82E8}"/>
              </a:ext>
            </a:extLst>
          </p:cNvPr>
          <p:cNvSpPr/>
          <p:nvPr/>
        </p:nvSpPr>
        <p:spPr>
          <a:xfrm>
            <a:off x="7373237" y="1990378"/>
            <a:ext cx="43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>
                <a:solidFill>
                  <a:schemeClr val="tx2"/>
                </a:solidFill>
              </a:rPr>
              <a:t>Existing</a:t>
            </a:r>
            <a:r>
              <a:rPr lang="de-DE" sz="1000" dirty="0">
                <a:solidFill>
                  <a:schemeClr val="tx2"/>
                </a:solidFill>
              </a:rPr>
              <a:t> supplier </a:t>
            </a:r>
            <a:r>
              <a:rPr lang="de-DE" sz="1000" dirty="0" err="1">
                <a:solidFill>
                  <a:schemeClr val="tx2"/>
                </a:solidFill>
              </a:rPr>
              <a:t>relationship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makes</a:t>
            </a:r>
            <a:r>
              <a:rPr lang="de-DE" sz="1000" dirty="0">
                <a:solidFill>
                  <a:schemeClr val="tx2"/>
                </a:solidFill>
              </a:rPr>
              <a:t> Schuon a </a:t>
            </a:r>
            <a:r>
              <a:rPr lang="de-DE" sz="1000" dirty="0" err="1">
                <a:solidFill>
                  <a:schemeClr val="tx2"/>
                </a:solidFill>
              </a:rPr>
              <a:t>logical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integration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target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Ownership </a:t>
            </a:r>
            <a:r>
              <a:rPr lang="de-DE" sz="1000" dirty="0" err="1">
                <a:solidFill>
                  <a:schemeClr val="tx2"/>
                </a:solidFill>
              </a:rPr>
              <a:t>improves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control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over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pre</a:t>
            </a:r>
            <a:r>
              <a:rPr lang="de-DE" sz="1000" dirty="0">
                <a:solidFill>
                  <a:schemeClr val="tx2"/>
                </a:solidFill>
              </a:rPr>
              <a:t>- and post-</a:t>
            </a:r>
            <a:r>
              <a:rPr lang="de-DE" sz="1000" dirty="0" err="1">
                <a:solidFill>
                  <a:schemeClr val="tx2"/>
                </a:solidFill>
              </a:rPr>
              <a:t>air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cargo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transport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Closes </a:t>
            </a:r>
            <a:r>
              <a:rPr lang="de-DE" sz="1000" dirty="0" err="1">
                <a:solidFill>
                  <a:schemeClr val="tx2"/>
                </a:solidFill>
              </a:rPr>
              <a:t>gap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between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air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road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for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better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reliability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Supports Lufthansa </a:t>
            </a:r>
            <a:r>
              <a:rPr lang="de-DE" sz="1000" dirty="0" err="1">
                <a:solidFill>
                  <a:schemeClr val="tx2"/>
                </a:solidFill>
              </a:rPr>
              <a:t>Cargo’s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scalable</a:t>
            </a:r>
            <a:r>
              <a:rPr lang="de-DE" sz="1000" dirty="0">
                <a:solidFill>
                  <a:schemeClr val="tx2"/>
                </a:solidFill>
              </a:rPr>
              <a:t> European </a:t>
            </a:r>
            <a:r>
              <a:rPr lang="de-DE" sz="1000" dirty="0" err="1">
                <a:solidFill>
                  <a:schemeClr val="tx2"/>
                </a:solidFill>
              </a:rPr>
              <a:t>distribution</a:t>
            </a:r>
            <a:r>
              <a:rPr lang="de-DE" sz="1000" dirty="0">
                <a:solidFill>
                  <a:schemeClr val="tx2"/>
                </a:solidFill>
              </a:rPr>
              <a:t> network</a:t>
            </a:r>
          </a:p>
        </p:txBody>
      </p:sp>
      <p:sp>
        <p:nvSpPr>
          <p:cNvPr id="1054" name="Rechteck 1053">
            <a:extLst>
              <a:ext uri="{FF2B5EF4-FFF2-40B4-BE49-F238E27FC236}">
                <a16:creationId xmlns:a16="http://schemas.microsoft.com/office/drawing/2014/main" id="{9B40AF58-7586-AE9D-F4C1-03A2BE932EB6}"/>
              </a:ext>
            </a:extLst>
          </p:cNvPr>
          <p:cNvSpPr/>
          <p:nvPr/>
        </p:nvSpPr>
        <p:spPr>
          <a:xfrm>
            <a:off x="7373237" y="2913126"/>
            <a:ext cx="43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Schuon </a:t>
            </a:r>
            <a:r>
              <a:rPr lang="de-DE" sz="1000" dirty="0" err="1">
                <a:solidFill>
                  <a:schemeClr val="tx2"/>
                </a:solidFill>
              </a:rPr>
              <a:t>secures</a:t>
            </a:r>
            <a:r>
              <a:rPr lang="de-DE" sz="1000" dirty="0">
                <a:solidFill>
                  <a:schemeClr val="tx2"/>
                </a:solidFill>
              </a:rPr>
              <a:t> reliable </a:t>
            </a:r>
            <a:r>
              <a:rPr lang="de-DE" sz="1000" dirty="0" err="1">
                <a:solidFill>
                  <a:schemeClr val="tx2"/>
                </a:solidFill>
              </a:rPr>
              <a:t>capacity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Daimler’s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key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supply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chains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Ownership </a:t>
            </a:r>
            <a:r>
              <a:rPr lang="de-DE" sz="1000" dirty="0" err="1">
                <a:solidFill>
                  <a:schemeClr val="tx2"/>
                </a:solidFill>
              </a:rPr>
              <a:t>enables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control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optimization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of</a:t>
            </a:r>
            <a:r>
              <a:rPr lang="de-DE" sz="1000" dirty="0">
                <a:solidFill>
                  <a:schemeClr val="tx2"/>
                </a:solidFill>
              </a:rPr>
              <a:t> just-in-time </a:t>
            </a:r>
            <a:r>
              <a:rPr lang="de-DE" sz="1000" dirty="0" err="1">
                <a:solidFill>
                  <a:schemeClr val="tx2"/>
                </a:solidFill>
              </a:rPr>
              <a:t>transport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 err="1">
                <a:solidFill>
                  <a:schemeClr val="tx2"/>
                </a:solidFill>
              </a:rPr>
              <a:t>Existing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collaboration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ensures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low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integration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risk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In-house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boosts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efficiency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supply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chain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resilience</a:t>
            </a:r>
            <a:endParaRPr lang="de-DE" sz="1000" dirty="0">
              <a:solidFill>
                <a:schemeClr val="tx2"/>
              </a:solidFill>
            </a:endParaRPr>
          </a:p>
        </p:txBody>
      </p:sp>
      <p:sp>
        <p:nvSpPr>
          <p:cNvPr id="1055" name="Rechteck 1054">
            <a:extLst>
              <a:ext uri="{FF2B5EF4-FFF2-40B4-BE49-F238E27FC236}">
                <a16:creationId xmlns:a16="http://schemas.microsoft.com/office/drawing/2014/main" id="{6C874554-7E17-CF17-D488-67734EC8FB4D}"/>
              </a:ext>
            </a:extLst>
          </p:cNvPr>
          <p:cNvSpPr/>
          <p:nvPr/>
        </p:nvSpPr>
        <p:spPr>
          <a:xfrm>
            <a:off x="4583205" y="1101221"/>
            <a:ext cx="2736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>
                <a:solidFill>
                  <a:schemeClr val="tx2"/>
                </a:solidFill>
              </a:rPr>
              <a:t>A global </a:t>
            </a:r>
            <a:r>
              <a:rPr lang="de-DE" sz="1000" dirty="0" err="1">
                <a:solidFill>
                  <a:schemeClr val="tx2"/>
                </a:solidFill>
              </a:rPr>
              <a:t>tech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company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based</a:t>
            </a:r>
            <a:r>
              <a:rPr lang="de-DE" sz="1000" dirty="0">
                <a:solidFill>
                  <a:schemeClr val="tx2"/>
                </a:solidFill>
              </a:rPr>
              <a:t> in Germany, </a:t>
            </a:r>
            <a:r>
              <a:rPr lang="de-DE" sz="1000" dirty="0" err="1">
                <a:solidFill>
                  <a:schemeClr val="tx2"/>
                </a:solidFill>
              </a:rPr>
              <a:t>active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mobility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industry</a:t>
            </a:r>
            <a:r>
              <a:rPr lang="de-DE" sz="1000" dirty="0">
                <a:solidFill>
                  <a:schemeClr val="tx2"/>
                </a:solidFill>
              </a:rPr>
              <a:t>. </a:t>
            </a:r>
            <a:r>
              <a:rPr lang="de-DE" sz="1000" dirty="0" err="1">
                <a:solidFill>
                  <a:schemeClr val="tx2"/>
                </a:solidFill>
              </a:rPr>
              <a:t>Its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supply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chains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drive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interest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efficiency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especially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for</a:t>
            </a:r>
            <a:r>
              <a:rPr lang="de-DE" sz="1000" dirty="0">
                <a:solidFill>
                  <a:schemeClr val="tx2"/>
                </a:solidFill>
              </a:rPr>
              <a:t> spare </a:t>
            </a:r>
            <a:r>
              <a:rPr lang="de-DE" sz="1000" dirty="0" err="1">
                <a:solidFill>
                  <a:schemeClr val="tx2"/>
                </a:solidFill>
              </a:rPr>
              <a:t>parts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transport</a:t>
            </a:r>
            <a:r>
              <a:rPr lang="de-DE" sz="10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056" name="Rechteck 1055">
            <a:extLst>
              <a:ext uri="{FF2B5EF4-FFF2-40B4-BE49-F238E27FC236}">
                <a16:creationId xmlns:a16="http://schemas.microsoft.com/office/drawing/2014/main" id="{4B233747-54A2-0BBE-FBF6-8F2712DEC5D9}"/>
              </a:ext>
            </a:extLst>
          </p:cNvPr>
          <p:cNvSpPr/>
          <p:nvPr/>
        </p:nvSpPr>
        <p:spPr>
          <a:xfrm>
            <a:off x="4583205" y="1990378"/>
            <a:ext cx="2736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>
                <a:solidFill>
                  <a:schemeClr val="tx2"/>
                </a:solidFill>
              </a:rPr>
              <a:t>The </a:t>
            </a:r>
            <a:r>
              <a:rPr lang="de-DE" sz="1000" dirty="0" err="1">
                <a:solidFill>
                  <a:schemeClr val="tx2"/>
                </a:solidFill>
              </a:rPr>
              <a:t>air</a:t>
            </a:r>
            <a:r>
              <a:rPr lang="de-DE" sz="1000" dirty="0">
                <a:solidFill>
                  <a:schemeClr val="tx2"/>
                </a:solidFill>
              </a:rPr>
              <a:t> freight </a:t>
            </a:r>
            <a:r>
              <a:rPr lang="de-DE" sz="1000" dirty="0" err="1">
                <a:solidFill>
                  <a:schemeClr val="tx2"/>
                </a:solidFill>
              </a:rPr>
              <a:t>unit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of</a:t>
            </a:r>
            <a:r>
              <a:rPr lang="de-DE" sz="1000" dirty="0">
                <a:solidFill>
                  <a:schemeClr val="tx2"/>
                </a:solidFill>
              </a:rPr>
              <a:t> Lufthansa, </a:t>
            </a:r>
            <a:r>
              <a:rPr lang="de-DE" sz="1000" dirty="0" err="1">
                <a:solidFill>
                  <a:schemeClr val="tx2"/>
                </a:solidFill>
              </a:rPr>
              <a:t>operating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globally</a:t>
            </a:r>
            <a:r>
              <a:rPr lang="de-DE" sz="1000" dirty="0">
                <a:solidFill>
                  <a:schemeClr val="tx2"/>
                </a:solidFill>
              </a:rPr>
              <a:t>. </a:t>
            </a:r>
            <a:r>
              <a:rPr lang="de-DE" sz="1000" dirty="0" err="1">
                <a:solidFill>
                  <a:schemeClr val="tx2"/>
                </a:solidFill>
              </a:rPr>
              <a:t>It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relies</a:t>
            </a:r>
            <a:r>
              <a:rPr lang="de-DE" sz="1000" dirty="0">
                <a:solidFill>
                  <a:schemeClr val="tx2"/>
                </a:solidFill>
              </a:rPr>
              <a:t> on </a:t>
            </a:r>
            <a:r>
              <a:rPr lang="de-DE" sz="1000" dirty="0" err="1">
                <a:solidFill>
                  <a:schemeClr val="tx2"/>
                </a:solidFill>
              </a:rPr>
              <a:t>ground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partners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to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secure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stable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pre</a:t>
            </a:r>
            <a:r>
              <a:rPr lang="de-DE" sz="1000" dirty="0">
                <a:solidFill>
                  <a:schemeClr val="tx2"/>
                </a:solidFill>
              </a:rPr>
              <a:t>- and post-</a:t>
            </a:r>
            <a:r>
              <a:rPr lang="de-DE" sz="1000" dirty="0" err="1">
                <a:solidFill>
                  <a:schemeClr val="tx2"/>
                </a:solidFill>
              </a:rPr>
              <a:t>air</a:t>
            </a:r>
            <a:r>
              <a:rPr lang="de-DE" sz="1000" dirty="0">
                <a:solidFill>
                  <a:schemeClr val="tx2"/>
                </a:solidFill>
              </a:rPr>
              <a:t> freight </a:t>
            </a:r>
            <a:r>
              <a:rPr lang="de-DE" sz="1000" dirty="0" err="1">
                <a:solidFill>
                  <a:schemeClr val="tx2"/>
                </a:solidFill>
              </a:rPr>
              <a:t>connections</a:t>
            </a:r>
            <a:r>
              <a:rPr lang="de-DE" sz="10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057" name="Rechteck 1056">
            <a:extLst>
              <a:ext uri="{FF2B5EF4-FFF2-40B4-BE49-F238E27FC236}">
                <a16:creationId xmlns:a16="http://schemas.microsoft.com/office/drawing/2014/main" id="{3A4C8CAB-5E74-6FCE-5861-FF65DA3C3E60}"/>
              </a:ext>
            </a:extLst>
          </p:cNvPr>
          <p:cNvSpPr/>
          <p:nvPr/>
        </p:nvSpPr>
        <p:spPr>
          <a:xfrm>
            <a:off x="4583205" y="2913126"/>
            <a:ext cx="2736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>
                <a:solidFill>
                  <a:schemeClr val="tx2"/>
                </a:solidFill>
              </a:rPr>
              <a:t>A </a:t>
            </a:r>
            <a:r>
              <a:rPr lang="de-DE" sz="1000" dirty="0" err="1">
                <a:solidFill>
                  <a:schemeClr val="tx2"/>
                </a:solidFill>
              </a:rPr>
              <a:t>leading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truck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manufacturer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complex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supply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chains</a:t>
            </a:r>
            <a:r>
              <a:rPr lang="de-DE" sz="1000" dirty="0">
                <a:solidFill>
                  <a:schemeClr val="tx2"/>
                </a:solidFill>
              </a:rPr>
              <a:t>. The </a:t>
            </a:r>
            <a:r>
              <a:rPr lang="de-DE" sz="1000" dirty="0" err="1">
                <a:solidFill>
                  <a:schemeClr val="tx2"/>
                </a:solidFill>
              </a:rPr>
              <a:t>company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seeks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greater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control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to</a:t>
            </a:r>
            <a:r>
              <a:rPr lang="de-DE" sz="1000" dirty="0">
                <a:solidFill>
                  <a:schemeClr val="tx2"/>
                </a:solidFill>
              </a:rPr>
              <a:t> boost </a:t>
            </a:r>
            <a:r>
              <a:rPr lang="de-DE" sz="1000" dirty="0" err="1">
                <a:solidFill>
                  <a:schemeClr val="tx2"/>
                </a:solidFill>
              </a:rPr>
              <a:t>efficiency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reduce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risks</a:t>
            </a:r>
            <a:r>
              <a:rPr lang="de-DE" sz="10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058" name="Rechteck 1057">
            <a:extLst>
              <a:ext uri="{FF2B5EF4-FFF2-40B4-BE49-F238E27FC236}">
                <a16:creationId xmlns:a16="http://schemas.microsoft.com/office/drawing/2014/main" id="{E5D9D10D-1DD0-5EDE-40CD-1184C2CC6814}"/>
              </a:ext>
            </a:extLst>
          </p:cNvPr>
          <p:cNvSpPr/>
          <p:nvPr/>
        </p:nvSpPr>
        <p:spPr>
          <a:xfrm>
            <a:off x="2378158" y="1101221"/>
            <a:ext cx="216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dirty="0">
                <a:solidFill>
                  <a:schemeClr val="tx2"/>
                </a:solidFill>
              </a:rPr>
              <a:t>3 – Strategic </a:t>
            </a:r>
            <a:r>
              <a:rPr lang="de-DE" sz="1000" dirty="0">
                <a:solidFill>
                  <a:schemeClr val="tx2"/>
                </a:solidFill>
              </a:rPr>
              <a:t>(</a:t>
            </a:r>
            <a:r>
              <a:rPr lang="de-DE" sz="1000" dirty="0" err="1">
                <a:solidFill>
                  <a:schemeClr val="tx2"/>
                </a:solidFill>
              </a:rPr>
              <a:t>Vertical</a:t>
            </a:r>
            <a:r>
              <a:rPr lang="de-DE" sz="1000" dirty="0">
                <a:solidFill>
                  <a:schemeClr val="tx2"/>
                </a:solidFill>
              </a:rPr>
              <a:t> Integration)</a:t>
            </a:r>
          </a:p>
        </p:txBody>
      </p:sp>
      <p:pic>
        <p:nvPicPr>
          <p:cNvPr id="1060" name="Grafik 1059" descr="Ein Bild, das Dunkelheit, Schwarz, Schwarzweiß, Nacht enthält.&#10;&#10;KI-generierte Inhalte können fehlerhaft sein.">
            <a:extLst>
              <a:ext uri="{FF2B5EF4-FFF2-40B4-BE49-F238E27FC236}">
                <a16:creationId xmlns:a16="http://schemas.microsoft.com/office/drawing/2014/main" id="{19C5A1BE-ADFC-F7F0-BA73-60164E68F3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778" y="2848770"/>
            <a:ext cx="1610666" cy="805334"/>
          </a:xfrm>
          <a:prstGeom prst="rect">
            <a:avLst/>
          </a:prstGeom>
        </p:spPr>
      </p:pic>
      <p:pic>
        <p:nvPicPr>
          <p:cNvPr id="1061" name="Grafik 1060" descr="Ein Bild, das Schrift, Text, Logo, Grafiken enthält.&#10;&#10;KI-generierte Inhalte können fehlerhaft sein.">
            <a:extLst>
              <a:ext uri="{FF2B5EF4-FFF2-40B4-BE49-F238E27FC236}">
                <a16:creationId xmlns:a16="http://schemas.microsoft.com/office/drawing/2014/main" id="{1D5FDEBE-3099-78B5-878C-B14097C817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123" y="2079468"/>
            <a:ext cx="1323976" cy="513540"/>
          </a:xfrm>
          <a:prstGeom prst="rect">
            <a:avLst/>
          </a:prstGeom>
        </p:spPr>
      </p:pic>
      <p:pic>
        <p:nvPicPr>
          <p:cNvPr id="1062" name="Grafik 1061" descr="Ein Bild, das Schrift, Logo, Grafiken, Text enthält.&#10;&#10;KI-generierte Inhalte können fehlerhaft sein.">
            <a:extLst>
              <a:ext uri="{FF2B5EF4-FFF2-40B4-BE49-F238E27FC236}">
                <a16:creationId xmlns:a16="http://schemas.microsoft.com/office/drawing/2014/main" id="{4C64914D-DAE2-4EC4-5487-2BE2830D21E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123" y="1159233"/>
            <a:ext cx="1323976" cy="661988"/>
          </a:xfrm>
          <a:prstGeom prst="rect">
            <a:avLst/>
          </a:prstGeom>
        </p:spPr>
      </p:pic>
      <p:sp>
        <p:nvSpPr>
          <p:cNvPr id="1065" name="object 3">
            <a:extLst>
              <a:ext uri="{FF2B5EF4-FFF2-40B4-BE49-F238E27FC236}">
                <a16:creationId xmlns:a16="http://schemas.microsoft.com/office/drawing/2014/main" id="{3CCDBE00-104A-6A66-B0D3-E984E990578E}"/>
              </a:ext>
            </a:extLst>
          </p:cNvPr>
          <p:cNvSpPr txBox="1"/>
          <p:nvPr/>
        </p:nvSpPr>
        <p:spPr>
          <a:xfrm>
            <a:off x="10599207" y="6535974"/>
            <a:ext cx="1075268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r">
              <a:spcBef>
                <a:spcPts val="125"/>
              </a:spcBef>
            </a:pPr>
            <a:r>
              <a:rPr lang="en-US" sz="8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23/06/2025</a:t>
            </a:r>
          </a:p>
        </p:txBody>
      </p:sp>
      <p:sp>
        <p:nvSpPr>
          <p:cNvPr id="1066" name="object 29">
            <a:extLst>
              <a:ext uri="{FF2B5EF4-FFF2-40B4-BE49-F238E27FC236}">
                <a16:creationId xmlns:a16="http://schemas.microsoft.com/office/drawing/2014/main" id="{38E8ACDB-360E-B725-83EE-DEC440DC722C}"/>
              </a:ext>
            </a:extLst>
          </p:cNvPr>
          <p:cNvSpPr txBox="1">
            <a:spLocks/>
          </p:cNvSpPr>
          <p:nvPr/>
        </p:nvSpPr>
        <p:spPr>
          <a:xfrm>
            <a:off x="533112" y="446324"/>
            <a:ext cx="11160000" cy="349702"/>
          </a:xfrm>
          <a:prstGeom prst="rect">
            <a:avLst/>
          </a:prstGeom>
          <a:ln>
            <a:noFill/>
          </a:ln>
        </p:spPr>
        <p:txBody>
          <a:bodyPr vert="horz" wrap="square" lIns="36000" tIns="36000" rIns="36000" bIns="360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604">
              <a:lnSpc>
                <a:spcPct val="100000"/>
              </a:lnSpc>
              <a:spcBef>
                <a:spcPts val="125"/>
              </a:spcBef>
            </a:pPr>
            <a:r>
              <a:rPr lang="en-US" sz="1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Long-List Potential Buyers</a:t>
            </a:r>
            <a:endParaRPr lang="en-US" sz="18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7" name="object 4">
            <a:extLst>
              <a:ext uri="{FF2B5EF4-FFF2-40B4-BE49-F238E27FC236}">
                <a16:creationId xmlns:a16="http://schemas.microsoft.com/office/drawing/2014/main" id="{539406C9-A69A-BC21-7617-DF143C8F97C9}"/>
              </a:ext>
            </a:extLst>
          </p:cNvPr>
          <p:cNvSpPr/>
          <p:nvPr/>
        </p:nvSpPr>
        <p:spPr>
          <a:xfrm>
            <a:off x="533112" y="765175"/>
            <a:ext cx="11160125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sz="100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8" name="Textfeld 1067">
            <a:extLst>
              <a:ext uri="{FF2B5EF4-FFF2-40B4-BE49-F238E27FC236}">
                <a16:creationId xmlns:a16="http://schemas.microsoft.com/office/drawing/2014/main" id="{26416FDC-7D30-E1E1-B6A7-1CA462C1AC34}"/>
              </a:ext>
            </a:extLst>
          </p:cNvPr>
          <p:cNvSpPr txBox="1"/>
          <p:nvPr/>
        </p:nvSpPr>
        <p:spPr>
          <a:xfrm>
            <a:off x="533111" y="806426"/>
            <a:ext cx="1800000" cy="216000"/>
          </a:xfrm>
          <a:prstGeom prst="rect">
            <a:avLst/>
          </a:prstGeom>
          <a:solidFill>
            <a:schemeClr val="tx2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endParaRPr lang="en-US" sz="10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9" name="Textfeld 1068">
            <a:extLst>
              <a:ext uri="{FF2B5EF4-FFF2-40B4-BE49-F238E27FC236}">
                <a16:creationId xmlns:a16="http://schemas.microsoft.com/office/drawing/2014/main" id="{DFFB8823-1CDF-15EE-E0A7-6AE9E72D30A4}"/>
              </a:ext>
            </a:extLst>
          </p:cNvPr>
          <p:cNvSpPr txBox="1"/>
          <p:nvPr/>
        </p:nvSpPr>
        <p:spPr>
          <a:xfrm>
            <a:off x="4583205" y="806426"/>
            <a:ext cx="2736000" cy="216000"/>
          </a:xfrm>
          <a:prstGeom prst="rect">
            <a:avLst/>
          </a:prstGeom>
          <a:solidFill>
            <a:schemeClr val="tx2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lang="en-US" sz="10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0" name="Textfeld 1069">
            <a:extLst>
              <a:ext uri="{FF2B5EF4-FFF2-40B4-BE49-F238E27FC236}">
                <a16:creationId xmlns:a16="http://schemas.microsoft.com/office/drawing/2014/main" id="{BBBDD51F-7007-3AEA-18CF-0544F2DECE3A}"/>
              </a:ext>
            </a:extLst>
          </p:cNvPr>
          <p:cNvSpPr txBox="1"/>
          <p:nvPr/>
        </p:nvSpPr>
        <p:spPr>
          <a:xfrm>
            <a:off x="7373237" y="806426"/>
            <a:ext cx="4320000" cy="216000"/>
          </a:xfrm>
          <a:prstGeom prst="rect">
            <a:avLst/>
          </a:prstGeom>
          <a:solidFill>
            <a:schemeClr val="tx2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Reasons</a:t>
            </a:r>
            <a:endParaRPr lang="en-US" sz="10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1" name="object 4">
            <a:extLst>
              <a:ext uri="{FF2B5EF4-FFF2-40B4-BE49-F238E27FC236}">
                <a16:creationId xmlns:a16="http://schemas.microsoft.com/office/drawing/2014/main" id="{A9D01782-2BA7-F192-635D-EC110CE65345}"/>
              </a:ext>
            </a:extLst>
          </p:cNvPr>
          <p:cNvSpPr/>
          <p:nvPr/>
        </p:nvSpPr>
        <p:spPr>
          <a:xfrm>
            <a:off x="533112" y="1888683"/>
            <a:ext cx="11160000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sz="100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2" name="Textfeld 1071">
            <a:extLst>
              <a:ext uri="{FF2B5EF4-FFF2-40B4-BE49-F238E27FC236}">
                <a16:creationId xmlns:a16="http://schemas.microsoft.com/office/drawing/2014/main" id="{83311F21-8BAB-E7D5-4CE5-53077CAEE80D}"/>
              </a:ext>
            </a:extLst>
          </p:cNvPr>
          <p:cNvSpPr txBox="1"/>
          <p:nvPr/>
        </p:nvSpPr>
        <p:spPr>
          <a:xfrm>
            <a:off x="2378158" y="806426"/>
            <a:ext cx="2160000" cy="216000"/>
          </a:xfrm>
          <a:prstGeom prst="rect">
            <a:avLst/>
          </a:prstGeom>
          <a:solidFill>
            <a:schemeClr val="tx2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1074" name="object 4">
            <a:extLst>
              <a:ext uri="{FF2B5EF4-FFF2-40B4-BE49-F238E27FC236}">
                <a16:creationId xmlns:a16="http://schemas.microsoft.com/office/drawing/2014/main" id="{82D4EDDA-5A8D-8AB9-F610-615614CF1F9E}"/>
              </a:ext>
            </a:extLst>
          </p:cNvPr>
          <p:cNvSpPr/>
          <p:nvPr/>
        </p:nvSpPr>
        <p:spPr>
          <a:xfrm>
            <a:off x="533112" y="2812663"/>
            <a:ext cx="11160000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sz="100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5" name="object 4">
            <a:extLst>
              <a:ext uri="{FF2B5EF4-FFF2-40B4-BE49-F238E27FC236}">
                <a16:creationId xmlns:a16="http://schemas.microsoft.com/office/drawing/2014/main" id="{09947955-FF93-0996-770F-F93031E2E70B}"/>
              </a:ext>
            </a:extLst>
          </p:cNvPr>
          <p:cNvSpPr/>
          <p:nvPr/>
        </p:nvSpPr>
        <p:spPr>
          <a:xfrm>
            <a:off x="533112" y="3733588"/>
            <a:ext cx="11160000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sz="100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6" name="object 4">
            <a:extLst>
              <a:ext uri="{FF2B5EF4-FFF2-40B4-BE49-F238E27FC236}">
                <a16:creationId xmlns:a16="http://schemas.microsoft.com/office/drawing/2014/main" id="{05F27212-DDE6-807F-A84A-3A20A9A3644B}"/>
              </a:ext>
            </a:extLst>
          </p:cNvPr>
          <p:cNvSpPr/>
          <p:nvPr/>
        </p:nvSpPr>
        <p:spPr>
          <a:xfrm>
            <a:off x="533112" y="4651458"/>
            <a:ext cx="11160000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sz="100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7" name="object 4">
            <a:extLst>
              <a:ext uri="{FF2B5EF4-FFF2-40B4-BE49-F238E27FC236}">
                <a16:creationId xmlns:a16="http://schemas.microsoft.com/office/drawing/2014/main" id="{0B9D6D21-E9B5-6458-E01F-D00607464B4B}"/>
              </a:ext>
            </a:extLst>
          </p:cNvPr>
          <p:cNvSpPr/>
          <p:nvPr/>
        </p:nvSpPr>
        <p:spPr>
          <a:xfrm>
            <a:off x="533112" y="5584603"/>
            <a:ext cx="11160000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sz="100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8" name="object 3">
            <a:extLst>
              <a:ext uri="{FF2B5EF4-FFF2-40B4-BE49-F238E27FC236}">
                <a16:creationId xmlns:a16="http://schemas.microsoft.com/office/drawing/2014/main" id="{439BE5F2-5069-BE70-396B-6A82D1FF410D}"/>
              </a:ext>
            </a:extLst>
          </p:cNvPr>
          <p:cNvSpPr txBox="1"/>
          <p:nvPr/>
        </p:nvSpPr>
        <p:spPr>
          <a:xfrm>
            <a:off x="533112" y="6551362"/>
            <a:ext cx="1075268" cy="139141"/>
          </a:xfrm>
          <a:prstGeom prst="rect">
            <a:avLst/>
          </a:prstGeom>
        </p:spPr>
        <p:txBody>
          <a:bodyPr vert="horz" wrap="square" lIns="0" tIns="15875" rIns="0" bIns="0" rtlCol="0" anchor="ctr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8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/3</a:t>
            </a:r>
          </a:p>
        </p:txBody>
      </p:sp>
      <p:sp>
        <p:nvSpPr>
          <p:cNvPr id="1079" name="Rechteck 1078">
            <a:extLst>
              <a:ext uri="{FF2B5EF4-FFF2-40B4-BE49-F238E27FC236}">
                <a16:creationId xmlns:a16="http://schemas.microsoft.com/office/drawing/2014/main" id="{D74D584C-3358-F69A-89D7-99606C52B28C}"/>
              </a:ext>
            </a:extLst>
          </p:cNvPr>
          <p:cNvSpPr/>
          <p:nvPr/>
        </p:nvSpPr>
        <p:spPr>
          <a:xfrm>
            <a:off x="2378158" y="1990378"/>
            <a:ext cx="216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dirty="0">
                <a:solidFill>
                  <a:schemeClr val="tx2"/>
                </a:solidFill>
              </a:rPr>
              <a:t>3 – Strategic </a:t>
            </a:r>
            <a:r>
              <a:rPr lang="de-DE" sz="1000" dirty="0">
                <a:solidFill>
                  <a:schemeClr val="tx2"/>
                </a:solidFill>
              </a:rPr>
              <a:t>(</a:t>
            </a:r>
            <a:r>
              <a:rPr lang="de-DE" sz="1000" dirty="0" err="1">
                <a:solidFill>
                  <a:schemeClr val="tx2"/>
                </a:solidFill>
              </a:rPr>
              <a:t>Vertical</a:t>
            </a:r>
            <a:r>
              <a:rPr lang="de-DE" sz="1000" dirty="0">
                <a:solidFill>
                  <a:schemeClr val="tx2"/>
                </a:solidFill>
              </a:rPr>
              <a:t> Integration)</a:t>
            </a:r>
          </a:p>
        </p:txBody>
      </p:sp>
      <p:sp>
        <p:nvSpPr>
          <p:cNvPr id="1080" name="Rechteck 1079">
            <a:extLst>
              <a:ext uri="{FF2B5EF4-FFF2-40B4-BE49-F238E27FC236}">
                <a16:creationId xmlns:a16="http://schemas.microsoft.com/office/drawing/2014/main" id="{FE26E01D-E917-175A-22D4-6583F2B70C60}"/>
              </a:ext>
            </a:extLst>
          </p:cNvPr>
          <p:cNvSpPr/>
          <p:nvPr/>
        </p:nvSpPr>
        <p:spPr>
          <a:xfrm>
            <a:off x="2378158" y="2913126"/>
            <a:ext cx="216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dirty="0">
                <a:solidFill>
                  <a:schemeClr val="tx2"/>
                </a:solidFill>
              </a:rPr>
              <a:t>3 – Strategic </a:t>
            </a:r>
            <a:r>
              <a:rPr lang="de-DE" sz="1000" dirty="0">
                <a:solidFill>
                  <a:schemeClr val="tx2"/>
                </a:solidFill>
              </a:rPr>
              <a:t>(</a:t>
            </a:r>
            <a:r>
              <a:rPr lang="de-DE" sz="1000" dirty="0" err="1">
                <a:solidFill>
                  <a:schemeClr val="tx2"/>
                </a:solidFill>
              </a:rPr>
              <a:t>Vertical</a:t>
            </a:r>
            <a:r>
              <a:rPr lang="de-DE" sz="1000" dirty="0">
                <a:solidFill>
                  <a:schemeClr val="tx2"/>
                </a:solidFill>
              </a:rPr>
              <a:t> Integration)</a:t>
            </a:r>
          </a:p>
        </p:txBody>
      </p:sp>
      <p:sp>
        <p:nvSpPr>
          <p:cNvPr id="1081" name="Rechteck 1080">
            <a:extLst>
              <a:ext uri="{FF2B5EF4-FFF2-40B4-BE49-F238E27FC236}">
                <a16:creationId xmlns:a16="http://schemas.microsoft.com/office/drawing/2014/main" id="{4F07FCFD-B0A4-B969-73CB-75376612A94B}"/>
              </a:ext>
            </a:extLst>
          </p:cNvPr>
          <p:cNvSpPr/>
          <p:nvPr/>
        </p:nvSpPr>
        <p:spPr>
          <a:xfrm>
            <a:off x="2378158" y="4758031"/>
            <a:ext cx="216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dirty="0">
                <a:solidFill>
                  <a:schemeClr val="tx2"/>
                </a:solidFill>
              </a:rPr>
              <a:t>4 – Financial </a:t>
            </a:r>
            <a:r>
              <a:rPr lang="de-DE" sz="1000" dirty="0">
                <a:solidFill>
                  <a:schemeClr val="tx2"/>
                </a:solidFill>
              </a:rPr>
              <a:t>(Private Equity)</a:t>
            </a:r>
          </a:p>
        </p:txBody>
      </p:sp>
      <p:sp>
        <p:nvSpPr>
          <p:cNvPr id="1082" name="Rechteck 1081">
            <a:extLst>
              <a:ext uri="{FF2B5EF4-FFF2-40B4-BE49-F238E27FC236}">
                <a16:creationId xmlns:a16="http://schemas.microsoft.com/office/drawing/2014/main" id="{17460F25-0DC4-4D16-959C-0D75588697E6}"/>
              </a:ext>
            </a:extLst>
          </p:cNvPr>
          <p:cNvSpPr/>
          <p:nvPr/>
        </p:nvSpPr>
        <p:spPr>
          <a:xfrm>
            <a:off x="2378158" y="5686589"/>
            <a:ext cx="216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dirty="0">
                <a:solidFill>
                  <a:schemeClr val="tx2"/>
                </a:solidFill>
              </a:rPr>
              <a:t>4 – Financial</a:t>
            </a:r>
            <a:r>
              <a:rPr lang="de-DE" sz="1000" dirty="0">
                <a:solidFill>
                  <a:schemeClr val="tx2"/>
                </a:solidFill>
              </a:rPr>
              <a:t> (Private Equity)</a:t>
            </a:r>
          </a:p>
        </p:txBody>
      </p:sp>
    </p:spTree>
    <p:extLst>
      <p:ext uri="{BB962C8B-B14F-4D97-AF65-F5344CB8AC3E}">
        <p14:creationId xmlns:p14="http://schemas.microsoft.com/office/powerpoint/2010/main" val="1710068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EF56-262B-EA9D-B680-9F7536CA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3A5DE6-DA75-2DEA-BDF7-69C1775F13C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50957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7772400" imgH="10058400" progId="TCLayout.ActiveDocument.1">
                  <p:embed/>
                </p:oleObj>
              </mc:Choice>
              <mc:Fallback>
                <p:oleObj name="think-cell Folie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FB19AE-D02D-603F-EA59-123DD223C8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bject 3">
            <a:extLst>
              <a:ext uri="{FF2B5EF4-FFF2-40B4-BE49-F238E27FC236}">
                <a16:creationId xmlns:a16="http://schemas.microsoft.com/office/drawing/2014/main" id="{D9207B89-E66E-CCF5-5257-B47277BA7E5C}"/>
              </a:ext>
            </a:extLst>
          </p:cNvPr>
          <p:cNvSpPr txBox="1"/>
          <p:nvPr/>
        </p:nvSpPr>
        <p:spPr>
          <a:xfrm>
            <a:off x="10599207" y="6535974"/>
            <a:ext cx="1075268" cy="139141"/>
          </a:xfrm>
          <a:prstGeom prst="rect">
            <a:avLst/>
          </a:prstGeom>
        </p:spPr>
        <p:txBody>
          <a:bodyPr vert="horz" wrap="square" lIns="0" tIns="15875" rIns="0" bIns="0" rtlCol="0" anchor="ctr">
            <a:spAutoFit/>
          </a:bodyPr>
          <a:lstStyle/>
          <a:p>
            <a:pPr marL="12700" algn="r">
              <a:spcBef>
                <a:spcPts val="125"/>
              </a:spcBef>
            </a:pPr>
            <a:r>
              <a:rPr lang="en-US" sz="8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23/06/2025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661DC73-4F02-4842-2DCF-BF49FFFFF36D}"/>
              </a:ext>
            </a:extLst>
          </p:cNvPr>
          <p:cNvSpPr/>
          <p:nvPr/>
        </p:nvSpPr>
        <p:spPr>
          <a:xfrm>
            <a:off x="514350" y="6486525"/>
            <a:ext cx="11160125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endParaRPr lang="en-US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2804DCDD-EB81-A9F3-E018-FFE47B92A94C}"/>
              </a:ext>
            </a:extLst>
          </p:cNvPr>
          <p:cNvSpPr/>
          <p:nvPr/>
        </p:nvSpPr>
        <p:spPr>
          <a:xfrm>
            <a:off x="7373237" y="1095555"/>
            <a:ext cx="43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Strong track </a:t>
            </a:r>
            <a:r>
              <a:rPr lang="de-DE" sz="1000" dirty="0" err="1">
                <a:solidFill>
                  <a:schemeClr val="tx2"/>
                </a:solidFill>
              </a:rPr>
              <a:t>record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scaling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mid-sized</a:t>
            </a:r>
            <a:r>
              <a:rPr lang="de-DE" sz="1000" dirty="0">
                <a:solidFill>
                  <a:schemeClr val="tx2"/>
                </a:solidFill>
              </a:rPr>
              <a:t> German </a:t>
            </a:r>
            <a:r>
              <a:rPr lang="de-DE" sz="1000" dirty="0" err="1">
                <a:solidFill>
                  <a:schemeClr val="tx2"/>
                </a:solidFill>
              </a:rPr>
              <a:t>firms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matches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Schuon’s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profile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Long-term </a:t>
            </a:r>
            <a:r>
              <a:rPr lang="de-DE" sz="1000" dirty="0" err="1">
                <a:solidFill>
                  <a:schemeClr val="tx2"/>
                </a:solidFill>
              </a:rPr>
              <a:t>horizon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fits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Schuon’s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family</a:t>
            </a:r>
            <a:r>
              <a:rPr lang="de-DE" sz="1000" dirty="0">
                <a:solidFill>
                  <a:schemeClr val="tx2"/>
                </a:solidFill>
              </a:rPr>
              <a:t>-business </a:t>
            </a:r>
            <a:r>
              <a:rPr lang="de-DE" sz="1000" dirty="0" err="1">
                <a:solidFill>
                  <a:schemeClr val="tx2"/>
                </a:solidFill>
              </a:rPr>
              <a:t>culture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Financial and operational support </a:t>
            </a:r>
            <a:r>
              <a:rPr lang="de-DE" sz="1000" dirty="0" err="1">
                <a:solidFill>
                  <a:schemeClr val="tx2"/>
                </a:solidFill>
              </a:rPr>
              <a:t>enables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scalable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growth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Strategic </a:t>
            </a:r>
            <a:r>
              <a:rPr lang="de-DE" sz="1000" dirty="0" err="1">
                <a:solidFill>
                  <a:schemeClr val="tx2"/>
                </a:solidFill>
              </a:rPr>
              <a:t>focus</a:t>
            </a:r>
            <a:r>
              <a:rPr lang="de-DE" sz="1000" dirty="0">
                <a:solidFill>
                  <a:schemeClr val="tx2"/>
                </a:solidFill>
              </a:rPr>
              <a:t> on </a:t>
            </a:r>
            <a:r>
              <a:rPr lang="de-DE" sz="1000" dirty="0" err="1">
                <a:solidFill>
                  <a:schemeClr val="tx2"/>
                </a:solidFill>
              </a:rPr>
              <a:t>service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industries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aligns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Schuon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F0F1B10B-1497-3339-D8F4-6F3525891437}"/>
              </a:ext>
            </a:extLst>
          </p:cNvPr>
          <p:cNvSpPr/>
          <p:nvPr/>
        </p:nvSpPr>
        <p:spPr>
          <a:xfrm>
            <a:off x="7373237" y="1990673"/>
            <a:ext cx="43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Focus on </a:t>
            </a:r>
            <a:r>
              <a:rPr lang="de-DE" sz="1000" dirty="0" err="1">
                <a:solidFill>
                  <a:schemeClr val="tx2"/>
                </a:solidFill>
              </a:rPr>
              <a:t>sustainable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fits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Schuon’s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long</a:t>
            </a:r>
            <a:r>
              <a:rPr lang="de-DE" sz="1000" dirty="0">
                <a:solidFill>
                  <a:schemeClr val="tx2"/>
                </a:solidFill>
              </a:rPr>
              <a:t>-term </a:t>
            </a:r>
            <a:r>
              <a:rPr lang="de-DE" sz="1000" dirty="0" err="1">
                <a:solidFill>
                  <a:schemeClr val="tx2"/>
                </a:solidFill>
              </a:rPr>
              <a:t>direction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Family-</a:t>
            </a:r>
            <a:r>
              <a:rPr lang="de-DE" sz="1000" dirty="0" err="1">
                <a:solidFill>
                  <a:schemeClr val="tx2"/>
                </a:solidFill>
              </a:rPr>
              <a:t>backed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capital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suits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Schuon’s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value-driven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culture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Regional </a:t>
            </a:r>
            <a:r>
              <a:rPr lang="de-DE" sz="1000" dirty="0" err="1">
                <a:solidFill>
                  <a:schemeClr val="tx2"/>
                </a:solidFill>
              </a:rPr>
              <a:t>development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mindset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complements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Schuon’s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legacy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Supports </a:t>
            </a:r>
            <a:r>
              <a:rPr lang="de-DE" sz="1000" dirty="0" err="1">
                <a:solidFill>
                  <a:schemeClr val="tx2"/>
                </a:solidFill>
              </a:rPr>
              <a:t>innovation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growth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without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exit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pressure</a:t>
            </a:r>
            <a:endParaRPr lang="de-DE" sz="1000" dirty="0">
              <a:solidFill>
                <a:schemeClr val="tx2"/>
              </a:solidFill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1DFA403C-861D-F9D8-766D-B187A7237C3B}"/>
              </a:ext>
            </a:extLst>
          </p:cNvPr>
          <p:cNvSpPr/>
          <p:nvPr/>
        </p:nvSpPr>
        <p:spPr>
          <a:xfrm>
            <a:off x="7373237" y="2869325"/>
            <a:ext cx="43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Interest in </a:t>
            </a:r>
            <a:r>
              <a:rPr lang="de-DE" sz="1000" dirty="0" err="1">
                <a:solidFill>
                  <a:schemeClr val="tx2"/>
                </a:solidFill>
              </a:rPr>
              <a:t>stable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assets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fits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Schuon’s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business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model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Strategic </a:t>
            </a:r>
            <a:r>
              <a:rPr lang="de-DE" sz="1000" dirty="0" err="1">
                <a:solidFill>
                  <a:schemeClr val="tx2"/>
                </a:solidFill>
              </a:rPr>
              <a:t>mindset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ensures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long</a:t>
            </a:r>
            <a:r>
              <a:rPr lang="de-DE" sz="1000" dirty="0">
                <a:solidFill>
                  <a:schemeClr val="tx2"/>
                </a:solidFill>
              </a:rPr>
              <a:t>-term </a:t>
            </a:r>
            <a:r>
              <a:rPr lang="de-DE" sz="1000" dirty="0" err="1">
                <a:solidFill>
                  <a:schemeClr val="tx2"/>
                </a:solidFill>
              </a:rPr>
              <a:t>backing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Family </a:t>
            </a:r>
            <a:r>
              <a:rPr lang="de-DE" sz="1000" dirty="0" err="1">
                <a:solidFill>
                  <a:schemeClr val="tx2"/>
                </a:solidFill>
              </a:rPr>
              <a:t>office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structure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aligns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Schuon’s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scale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culture</a:t>
            </a:r>
            <a:endParaRPr lang="de-DE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00" dirty="0">
                <a:solidFill>
                  <a:schemeClr val="tx2"/>
                </a:solidFill>
              </a:rPr>
              <a:t>Potential </a:t>
            </a:r>
            <a:r>
              <a:rPr lang="de-DE" sz="1000" dirty="0" err="1">
                <a:solidFill>
                  <a:schemeClr val="tx2"/>
                </a:solidFill>
              </a:rPr>
              <a:t>to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grow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portfolio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reliable </a:t>
            </a:r>
            <a:r>
              <a:rPr lang="de-DE" sz="1000" dirty="0" err="1">
                <a:solidFill>
                  <a:schemeClr val="tx2"/>
                </a:solidFill>
              </a:rPr>
              <a:t>operator</a:t>
            </a:r>
            <a:endParaRPr lang="de-DE" sz="1000" dirty="0">
              <a:solidFill>
                <a:schemeClr val="tx2"/>
              </a:solidFill>
            </a:endParaRPr>
          </a:p>
        </p:txBody>
      </p:sp>
      <p:pic>
        <p:nvPicPr>
          <p:cNvPr id="31" name="Grafik 30" descr="Ein Bild, das Screenshot, Grafiken, Logo, Schrift enthält.&#10;&#10;KI-generierte Inhalte können fehlerhaft sein.">
            <a:extLst>
              <a:ext uri="{FF2B5EF4-FFF2-40B4-BE49-F238E27FC236}">
                <a16:creationId xmlns:a16="http://schemas.microsoft.com/office/drawing/2014/main" id="{936EFE7C-872D-0BAC-F51E-EF038E0F6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793" y="2493453"/>
            <a:ext cx="1398636" cy="1398636"/>
          </a:xfrm>
          <a:prstGeom prst="rect">
            <a:avLst/>
          </a:prstGeom>
        </p:spPr>
      </p:pic>
      <p:pic>
        <p:nvPicPr>
          <p:cNvPr id="33" name="Grafik 32" descr="Ein Bild, das Schrift, Grafiken, Logo, Screenshot enthält.&#10;&#10;KI-generierte Inhalte können fehlerhaft sein.">
            <a:extLst>
              <a:ext uri="{FF2B5EF4-FFF2-40B4-BE49-F238E27FC236}">
                <a16:creationId xmlns:a16="http://schemas.microsoft.com/office/drawing/2014/main" id="{870C6E1D-044D-E0DA-A0FE-D6D6F8F0F0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793" y="2110036"/>
            <a:ext cx="1398636" cy="375508"/>
          </a:xfrm>
          <a:prstGeom prst="rect">
            <a:avLst/>
          </a:prstGeom>
        </p:spPr>
      </p:pic>
      <p:pic>
        <p:nvPicPr>
          <p:cNvPr id="35" name="Grafik 34" descr="Ein Bild, das Schwarz, Dunkelheit, Screenshot, Schwarzweiß enthält.&#10;&#10;KI-generierte Inhalte können fehlerhaft sein.">
            <a:extLst>
              <a:ext uri="{FF2B5EF4-FFF2-40B4-BE49-F238E27FC236}">
                <a16:creationId xmlns:a16="http://schemas.microsoft.com/office/drawing/2014/main" id="{FDF12D33-6C93-2538-A177-C66DE2ECB1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234" y="512171"/>
            <a:ext cx="2023754" cy="1904710"/>
          </a:xfrm>
          <a:prstGeom prst="rect">
            <a:avLst/>
          </a:prstGeom>
        </p:spPr>
      </p:pic>
      <p:sp>
        <p:nvSpPr>
          <p:cNvPr id="49" name="Rechteck 48">
            <a:extLst>
              <a:ext uri="{FF2B5EF4-FFF2-40B4-BE49-F238E27FC236}">
                <a16:creationId xmlns:a16="http://schemas.microsoft.com/office/drawing/2014/main" id="{9FD01F90-AF22-BC4D-2AC0-77D27EC83429}"/>
              </a:ext>
            </a:extLst>
          </p:cNvPr>
          <p:cNvSpPr/>
          <p:nvPr/>
        </p:nvSpPr>
        <p:spPr>
          <a:xfrm>
            <a:off x="4583205" y="1095555"/>
            <a:ext cx="2736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>
                <a:solidFill>
                  <a:schemeClr val="tx2"/>
                </a:solidFill>
              </a:rPr>
              <a:t>German </a:t>
            </a:r>
            <a:r>
              <a:rPr lang="de-DE" sz="1000" dirty="0" err="1">
                <a:solidFill>
                  <a:schemeClr val="tx2"/>
                </a:solidFill>
              </a:rPr>
              <a:t>family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office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focused</a:t>
            </a:r>
            <a:r>
              <a:rPr lang="de-DE" sz="1000" dirty="0">
                <a:solidFill>
                  <a:schemeClr val="tx2"/>
                </a:solidFill>
              </a:rPr>
              <a:t> on </a:t>
            </a:r>
            <a:r>
              <a:rPr lang="de-DE" sz="1000" dirty="0" err="1">
                <a:solidFill>
                  <a:schemeClr val="tx2"/>
                </a:solidFill>
              </a:rPr>
              <a:t>mid-sized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companies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a </a:t>
            </a:r>
            <a:r>
              <a:rPr lang="de-DE" sz="1000" dirty="0" err="1">
                <a:solidFill>
                  <a:schemeClr val="tx2"/>
                </a:solidFill>
              </a:rPr>
              <a:t>long</a:t>
            </a:r>
            <a:r>
              <a:rPr lang="de-DE" sz="1000" dirty="0">
                <a:solidFill>
                  <a:schemeClr val="tx2"/>
                </a:solidFill>
              </a:rPr>
              <a:t>-term, </a:t>
            </a:r>
            <a:r>
              <a:rPr lang="de-DE" sz="1000" dirty="0" err="1">
                <a:solidFill>
                  <a:schemeClr val="tx2"/>
                </a:solidFill>
              </a:rPr>
              <a:t>entrepreneurial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investment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approach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experience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service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industries</a:t>
            </a:r>
            <a:r>
              <a:rPr lang="de-DE" sz="10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457A4790-FDC2-5D33-00E6-7249C398C91D}"/>
              </a:ext>
            </a:extLst>
          </p:cNvPr>
          <p:cNvSpPr/>
          <p:nvPr/>
        </p:nvSpPr>
        <p:spPr>
          <a:xfrm>
            <a:off x="4583205" y="1990673"/>
            <a:ext cx="2736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>
                <a:solidFill>
                  <a:schemeClr val="tx2"/>
                </a:solidFill>
              </a:rPr>
              <a:t>Value-</a:t>
            </a:r>
            <a:r>
              <a:rPr lang="de-DE" sz="1000" dirty="0" err="1">
                <a:solidFill>
                  <a:schemeClr val="tx2"/>
                </a:solidFill>
              </a:rPr>
              <a:t>driven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family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office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strategic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interest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sustainable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development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supporting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long</a:t>
            </a:r>
            <a:r>
              <a:rPr lang="de-DE" sz="1000" dirty="0">
                <a:solidFill>
                  <a:schemeClr val="tx2"/>
                </a:solidFill>
              </a:rPr>
              <a:t>-term </a:t>
            </a:r>
            <a:r>
              <a:rPr lang="de-DE" sz="1000" dirty="0" err="1">
                <a:solidFill>
                  <a:schemeClr val="tx2"/>
                </a:solidFill>
              </a:rPr>
              <a:t>growth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without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short</a:t>
            </a:r>
            <a:r>
              <a:rPr lang="de-DE" sz="1000" dirty="0">
                <a:solidFill>
                  <a:schemeClr val="tx2"/>
                </a:solidFill>
              </a:rPr>
              <a:t>-term </a:t>
            </a:r>
            <a:r>
              <a:rPr lang="de-DE" sz="1000" dirty="0" err="1">
                <a:solidFill>
                  <a:schemeClr val="tx2"/>
                </a:solidFill>
              </a:rPr>
              <a:t>pressure</a:t>
            </a:r>
            <a:r>
              <a:rPr lang="de-DE" sz="10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AC854F7-A576-E1D9-2896-61752847C00C}"/>
              </a:ext>
            </a:extLst>
          </p:cNvPr>
          <p:cNvSpPr/>
          <p:nvPr/>
        </p:nvSpPr>
        <p:spPr>
          <a:xfrm>
            <a:off x="4583205" y="2869325"/>
            <a:ext cx="2736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dirty="0">
                <a:solidFill>
                  <a:schemeClr val="tx2"/>
                </a:solidFill>
              </a:rPr>
              <a:t>Family-</a:t>
            </a:r>
            <a:r>
              <a:rPr lang="de-DE" sz="1000" dirty="0" err="1">
                <a:solidFill>
                  <a:schemeClr val="tx2"/>
                </a:solidFill>
              </a:rPr>
              <a:t>backed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investor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seeking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stable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scalable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assets</a:t>
            </a:r>
            <a:r>
              <a:rPr lang="de-DE" sz="1000" dirty="0">
                <a:solidFill>
                  <a:schemeClr val="tx2"/>
                </a:solidFill>
              </a:rPr>
              <a:t> in </a:t>
            </a:r>
            <a:r>
              <a:rPr lang="de-DE" sz="1000" dirty="0" err="1">
                <a:solidFill>
                  <a:schemeClr val="tx2"/>
                </a:solidFill>
              </a:rPr>
              <a:t>logistics</a:t>
            </a:r>
            <a:r>
              <a:rPr lang="de-DE" sz="1000" dirty="0">
                <a:solidFill>
                  <a:schemeClr val="tx2"/>
                </a:solidFill>
              </a:rPr>
              <a:t> and </a:t>
            </a:r>
            <a:r>
              <a:rPr lang="de-DE" sz="1000" dirty="0" err="1">
                <a:solidFill>
                  <a:schemeClr val="tx2"/>
                </a:solidFill>
              </a:rPr>
              <a:t>industry</a:t>
            </a:r>
            <a:r>
              <a:rPr lang="de-DE" sz="1000" dirty="0">
                <a:solidFill>
                  <a:schemeClr val="tx2"/>
                </a:solidFill>
              </a:rPr>
              <a:t>, </a:t>
            </a:r>
            <a:r>
              <a:rPr lang="de-DE" sz="1000" dirty="0" err="1">
                <a:solidFill>
                  <a:schemeClr val="tx2"/>
                </a:solidFill>
              </a:rPr>
              <a:t>aligned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with</a:t>
            </a:r>
            <a:r>
              <a:rPr lang="de-DE" sz="1000" dirty="0">
                <a:solidFill>
                  <a:schemeClr val="tx2"/>
                </a:solidFill>
              </a:rPr>
              <a:t> </a:t>
            </a:r>
            <a:r>
              <a:rPr lang="de-DE" sz="1000" dirty="0" err="1">
                <a:solidFill>
                  <a:schemeClr val="tx2"/>
                </a:solidFill>
              </a:rPr>
              <a:t>cultural</a:t>
            </a:r>
            <a:r>
              <a:rPr lang="de-DE" sz="1000" dirty="0">
                <a:solidFill>
                  <a:schemeClr val="tx2"/>
                </a:solidFill>
              </a:rPr>
              <a:t> and operational </a:t>
            </a:r>
            <a:r>
              <a:rPr lang="de-DE" sz="1000" dirty="0" err="1">
                <a:solidFill>
                  <a:schemeClr val="tx2"/>
                </a:solidFill>
              </a:rPr>
              <a:t>continuity</a:t>
            </a:r>
            <a:r>
              <a:rPr lang="de-DE" sz="10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54" name="object 29">
            <a:extLst>
              <a:ext uri="{FF2B5EF4-FFF2-40B4-BE49-F238E27FC236}">
                <a16:creationId xmlns:a16="http://schemas.microsoft.com/office/drawing/2014/main" id="{F41B58DB-C0B7-E7E4-9D02-45AF272B6B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112" y="446324"/>
            <a:ext cx="11160000" cy="349702"/>
          </a:xfrm>
          <a:prstGeom prst="rect">
            <a:avLst/>
          </a:prstGeom>
          <a:ln>
            <a:noFill/>
          </a:ln>
        </p:spPr>
        <p:txBody>
          <a:bodyPr vert="horz" wrap="square" lIns="36000" tIns="36000" rIns="36000" bIns="36000" rtlCol="0" anchor="ctr">
            <a:spAutoFit/>
          </a:bodyPr>
          <a:lstStyle/>
          <a:p>
            <a:pPr marL="14604">
              <a:lnSpc>
                <a:spcPct val="100000"/>
              </a:lnSpc>
              <a:spcBef>
                <a:spcPts val="125"/>
              </a:spcBef>
            </a:pPr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Long-List Potential Buyers</a:t>
            </a:r>
            <a:endParaRPr lang="en-US" sz="1800" b="1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object 4">
            <a:extLst>
              <a:ext uri="{FF2B5EF4-FFF2-40B4-BE49-F238E27FC236}">
                <a16:creationId xmlns:a16="http://schemas.microsoft.com/office/drawing/2014/main" id="{D24085EC-2D2F-A3BF-5771-E4185E4DFC49}"/>
              </a:ext>
            </a:extLst>
          </p:cNvPr>
          <p:cNvSpPr/>
          <p:nvPr/>
        </p:nvSpPr>
        <p:spPr>
          <a:xfrm>
            <a:off x="533112" y="765175"/>
            <a:ext cx="11160125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0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2EF15B04-62E9-D9BF-38D1-FD0141F8A6B1}"/>
              </a:ext>
            </a:extLst>
          </p:cNvPr>
          <p:cNvSpPr txBox="1"/>
          <p:nvPr/>
        </p:nvSpPr>
        <p:spPr>
          <a:xfrm>
            <a:off x="4583205" y="806426"/>
            <a:ext cx="2736000" cy="216000"/>
          </a:xfrm>
          <a:prstGeom prst="rect">
            <a:avLst/>
          </a:prstGeom>
          <a:solidFill>
            <a:schemeClr val="tx2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lang="en-US" sz="10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5FD9F4EF-F0A2-7AF4-88A0-0E3995594D02}"/>
              </a:ext>
            </a:extLst>
          </p:cNvPr>
          <p:cNvSpPr txBox="1"/>
          <p:nvPr/>
        </p:nvSpPr>
        <p:spPr>
          <a:xfrm>
            <a:off x="7373237" y="806426"/>
            <a:ext cx="4320000" cy="216000"/>
          </a:xfrm>
          <a:prstGeom prst="rect">
            <a:avLst/>
          </a:prstGeom>
          <a:solidFill>
            <a:schemeClr val="tx2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Reasons</a:t>
            </a:r>
            <a:endParaRPr lang="en-US" sz="10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object 4">
            <a:extLst>
              <a:ext uri="{FF2B5EF4-FFF2-40B4-BE49-F238E27FC236}">
                <a16:creationId xmlns:a16="http://schemas.microsoft.com/office/drawing/2014/main" id="{440DD8E7-3684-43D0-515E-F412CDF387A1}"/>
              </a:ext>
            </a:extLst>
          </p:cNvPr>
          <p:cNvSpPr/>
          <p:nvPr/>
        </p:nvSpPr>
        <p:spPr>
          <a:xfrm>
            <a:off x="533112" y="1888683"/>
            <a:ext cx="11160000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 anchor="ctr"/>
          <a:lstStyle/>
          <a:p>
            <a:endParaRPr lang="en-US" sz="100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object 4">
            <a:extLst>
              <a:ext uri="{FF2B5EF4-FFF2-40B4-BE49-F238E27FC236}">
                <a16:creationId xmlns:a16="http://schemas.microsoft.com/office/drawing/2014/main" id="{8396E5D2-978B-45F1-4817-BEECCA73B1F7}"/>
              </a:ext>
            </a:extLst>
          </p:cNvPr>
          <p:cNvSpPr/>
          <p:nvPr/>
        </p:nvSpPr>
        <p:spPr>
          <a:xfrm>
            <a:off x="533112" y="2812663"/>
            <a:ext cx="11160000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 anchor="ctr"/>
          <a:lstStyle/>
          <a:p>
            <a:endParaRPr lang="en-US" sz="100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object 3">
            <a:extLst>
              <a:ext uri="{FF2B5EF4-FFF2-40B4-BE49-F238E27FC236}">
                <a16:creationId xmlns:a16="http://schemas.microsoft.com/office/drawing/2014/main" id="{29AD8E6D-D6BF-CF11-7315-C1728C3DED87}"/>
              </a:ext>
            </a:extLst>
          </p:cNvPr>
          <p:cNvSpPr txBox="1"/>
          <p:nvPr/>
        </p:nvSpPr>
        <p:spPr>
          <a:xfrm>
            <a:off x="533112" y="6551362"/>
            <a:ext cx="1075268" cy="139141"/>
          </a:xfrm>
          <a:prstGeom prst="rect">
            <a:avLst/>
          </a:prstGeom>
        </p:spPr>
        <p:txBody>
          <a:bodyPr vert="horz" wrap="square" lIns="0" tIns="15875" rIns="0" bIns="0" rtlCol="0" anchor="ctr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sz="8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3/3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A0A38D52-3FCC-EC44-6272-9DF31942FD6A}"/>
              </a:ext>
            </a:extLst>
          </p:cNvPr>
          <p:cNvSpPr/>
          <p:nvPr/>
        </p:nvSpPr>
        <p:spPr>
          <a:xfrm>
            <a:off x="2378157" y="1101221"/>
            <a:ext cx="216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dirty="0">
                <a:solidFill>
                  <a:schemeClr val="tx2"/>
                </a:solidFill>
              </a:rPr>
              <a:t>5 – Financial </a:t>
            </a:r>
            <a:r>
              <a:rPr lang="de-DE" sz="1000" dirty="0">
                <a:solidFill>
                  <a:schemeClr val="tx2"/>
                </a:solidFill>
              </a:rPr>
              <a:t>(Family Offices)</a:t>
            </a: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5FE040C2-95EA-49C2-6BEF-9C100B852F0A}"/>
              </a:ext>
            </a:extLst>
          </p:cNvPr>
          <p:cNvSpPr/>
          <p:nvPr/>
        </p:nvSpPr>
        <p:spPr>
          <a:xfrm>
            <a:off x="2378157" y="1990378"/>
            <a:ext cx="216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dirty="0">
                <a:solidFill>
                  <a:schemeClr val="tx2"/>
                </a:solidFill>
              </a:rPr>
              <a:t>5 – Financial </a:t>
            </a:r>
            <a:r>
              <a:rPr lang="de-DE" sz="1000" dirty="0">
                <a:solidFill>
                  <a:schemeClr val="tx2"/>
                </a:solidFill>
              </a:rPr>
              <a:t>(Family Offices)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1F77272A-30CF-6E65-017F-6935748E9B90}"/>
              </a:ext>
            </a:extLst>
          </p:cNvPr>
          <p:cNvSpPr/>
          <p:nvPr/>
        </p:nvSpPr>
        <p:spPr>
          <a:xfrm>
            <a:off x="2378157" y="2913126"/>
            <a:ext cx="216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dirty="0">
                <a:solidFill>
                  <a:schemeClr val="tx2"/>
                </a:solidFill>
              </a:rPr>
              <a:t>5 – Financial </a:t>
            </a:r>
            <a:r>
              <a:rPr lang="de-DE" sz="1000" dirty="0">
                <a:solidFill>
                  <a:schemeClr val="tx2"/>
                </a:solidFill>
              </a:rPr>
              <a:t>(Family Offices)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CCAA770E-6704-2347-629A-376CA772576D}"/>
              </a:ext>
            </a:extLst>
          </p:cNvPr>
          <p:cNvSpPr txBox="1"/>
          <p:nvPr/>
        </p:nvSpPr>
        <p:spPr>
          <a:xfrm>
            <a:off x="533111" y="806426"/>
            <a:ext cx="1800000" cy="216000"/>
          </a:xfrm>
          <a:prstGeom prst="rect">
            <a:avLst/>
          </a:prstGeom>
          <a:solidFill>
            <a:schemeClr val="tx2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endParaRPr lang="en-US" sz="10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03C1D6AA-04EF-D1E4-BCF9-94DC49004627}"/>
              </a:ext>
            </a:extLst>
          </p:cNvPr>
          <p:cNvSpPr txBox="1"/>
          <p:nvPr/>
        </p:nvSpPr>
        <p:spPr>
          <a:xfrm>
            <a:off x="2378158" y="806426"/>
            <a:ext cx="2160000" cy="216000"/>
          </a:xfrm>
          <a:prstGeom prst="rect">
            <a:avLst/>
          </a:prstGeom>
          <a:solidFill>
            <a:schemeClr val="tx2"/>
          </a:solidFill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Category</a:t>
            </a:r>
          </a:p>
        </p:txBody>
      </p:sp>
    </p:spTree>
    <p:extLst>
      <p:ext uri="{BB962C8B-B14F-4D97-AF65-F5344CB8AC3E}">
        <p14:creationId xmlns:p14="http://schemas.microsoft.com/office/powerpoint/2010/main" val="20630659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998</Words>
  <Application>Microsoft Macintosh PowerPoint</Application>
  <PresentationFormat>Breitbild</PresentationFormat>
  <Paragraphs>113</Paragraphs>
  <Slides>3</Slides>
  <Notes>2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think-cell Folie</vt:lpstr>
      <vt:lpstr>Long-List Potential Buyers</vt:lpstr>
      <vt:lpstr>PowerPoint-Präsentation</vt:lpstr>
      <vt:lpstr>Long-List Potential Buyers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Seidenberg, Aaron</dc:creator>
  <cp:lastModifiedBy>Mia Schramek</cp:lastModifiedBy>
  <cp:revision>31</cp:revision>
  <dcterms:created xsi:type="dcterms:W3CDTF">2024-07-25T16:11:48Z</dcterms:created>
  <dcterms:modified xsi:type="dcterms:W3CDTF">2025-06-22T09:04:40Z</dcterms:modified>
</cp:coreProperties>
</file>