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7" r:id="rId2"/>
    <p:sldId id="26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D00"/>
    <a:srgbClr val="00DE00"/>
    <a:srgbClr val="01D700"/>
    <a:srgbClr val="00F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ACF3B-3C1A-46CA-BF39-62A33A4019F7}" v="1798" dt="2022-10-05T20:40:21.801"/>
    <p1510:client id="{276EA40F-C9CA-4D9F-B6CD-70FD7F658B27}" v="2450" dt="2022-10-05T20:17:28.673"/>
    <p1510:client id="{875270D6-E979-4D8F-A73B-C654DE125003}" v="12" dt="2022-10-05T19:33:26.694"/>
    <p1510:client id="{B623E2AA-CD08-7148-920C-B553EE454B47}" v="1781" dt="2022-10-05T19:17:12.801"/>
    <p1510:client id="{DF6D1760-B2D8-4FA6-B5B3-201AC31DE4DE}" v="45" dt="2022-10-05T19:31:03.009"/>
    <p1510:client id="{FC393B9B-0603-4533-A8F4-37D94AC4FB08}" v="1176" dt="2022-10-06T05:20:49.6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99"/>
    <p:restoredTop sz="94650"/>
  </p:normalViewPr>
  <p:slideViewPr>
    <p:cSldViewPr snapToGrid="0">
      <p:cViewPr>
        <p:scale>
          <a:sx n="68" d="100"/>
          <a:sy n="68" d="100"/>
        </p:scale>
        <p:origin x="1960" y="13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23BC0-A6AF-44DF-B2B0-BD44C73386AA}" type="datetimeFigureOut">
              <a:rPr lang="de-DE" smtClean="0"/>
              <a:t>06.10.22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2BC2DD-51CA-4039-A3C3-44312B6C0DA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2811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C2DD-51CA-4039-A3C3-44312B6C0DA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7542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C2DD-51CA-4039-A3C3-44312B6C0DA9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7623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2149B-E3EB-5B1A-2D6C-A4C30C882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45ED4-EEE5-0453-D44B-5F7740D15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FC6B5-01D8-D844-D919-2FB18AA7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DF18-FE3A-40AA-A4E5-64547F59AC08}" type="datetime1">
              <a:rPr lang="de-DE" smtClean="0"/>
              <a:t>06.10.22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AE90B-6237-9631-46AA-2FE4DF378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67865-CE36-A2A2-3575-475746181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568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4366-A4B4-2F03-649E-E6D0A4C31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C9199-9DF0-7B39-6F28-876847FC9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CB3E9-3CFA-F979-EE4C-E2236AB2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DD711-2956-4290-B266-E18207570973}" type="datetime1">
              <a:rPr lang="de-DE" smtClean="0"/>
              <a:t>06.10.22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0964B-7C5C-17BC-A417-83DD71535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BE557-0FDF-CFC4-3365-3991F4E6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68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40DB-FE2D-4A3B-AA83-CEBE59F21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77A2E-4D1D-9CE6-AFB0-1D4255E59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00027-EA15-7081-E153-DA9306D45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CC198-00FA-4ED5-81B3-9E558430A184}" type="datetime1">
              <a:rPr lang="de-DE" smtClean="0"/>
              <a:t>06.10.22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E5CD9-47F0-9AE7-5E51-FB4F5997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A102D-75EB-BD00-0125-401335193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3611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7A7E-54ED-E7C5-C780-9EBBCC3C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CF9C7-13AF-4686-8001-2E1182739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00529-6D18-B616-A60B-A5E3CE262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8E231-C398-D365-5AE8-C617B71D7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D5E3B-5C54-4D4B-ABB8-6C1B6461E5CA}" type="datetime1">
              <a:rPr lang="de-DE" smtClean="0"/>
              <a:t>06.10.22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191EB-503A-81B6-A8E1-0EEDDA7B6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833B0-F5CE-0571-C388-194118C7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1652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B8AF-EB2E-1721-D83A-0AF9A9E4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75442-C941-5804-32B7-7141D4C28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30CBC-494E-2918-1978-BE783C101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D324B0-F923-F7E8-A094-E41F5708A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048C3D-4285-4C02-9A75-883A8FF2C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2A11A9-241F-AEAE-0AC8-F0CA8652D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5CF50-1C36-4407-8E27-383CDF5E9E04}" type="datetime1">
              <a:rPr lang="de-DE" smtClean="0"/>
              <a:t>06.10.22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3E3DF-32D7-8E9D-E7F3-8A8B924D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05E17-1355-2C91-53CD-F92A8D31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3626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B2BF1-C629-9597-0CD1-D5CF79EE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85D0F6-E966-B3AD-77DE-050C52656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BE2BA-B185-494B-9586-13FE273FC853}" type="datetime1">
              <a:rPr lang="de-DE" smtClean="0"/>
              <a:t>06.10.22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A619A-0BD6-7BE7-2EF2-86E97C16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D2FB4-B486-F16B-6948-AA9D82C7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6860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A03976-AE93-19CB-55AC-2EC0CCC7F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6BC6E-1FF3-4C45-8B92-7FC1C09B719F}" type="datetime1">
              <a:rPr lang="de-DE" smtClean="0"/>
              <a:t>06.10.22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81F43C-BBB6-AB49-DC7D-BC9594490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B5FB3-EC6B-3806-19F0-8912FE771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5970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FBF62-8BA9-220A-6CBC-C2C1A9F6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DC8B1-17FA-7400-7792-5E635657B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A63BB-3BEB-4421-404A-B18DC10FF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28450-7DD4-D941-13D5-A7A92B262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162FC-175C-4258-9C5A-4146E1E5A2FE}" type="datetime1">
              <a:rPr lang="de-DE" smtClean="0"/>
              <a:t>06.10.22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EEC48-5960-E677-800D-F7B03A856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66240-7172-CCAD-380C-9585B6AA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042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29C73-CEE9-BEF4-D927-40008610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91E80-31A3-E1EF-AD6F-D47AC99F0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01B20-C6EF-6036-4487-6587FF410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9A4C2-B187-FD0C-7102-294B7DA33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45D0-5D1D-400B-950D-B2FB40583E2F}" type="datetime1">
              <a:rPr lang="de-DE" smtClean="0"/>
              <a:t>06.10.22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168A9-ACBA-6CC9-76B6-C01BF8D9C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FB36F-4108-E8AE-38FC-B188AF89D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001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87C5-6542-61A4-1C4A-42B799083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FF338-3EA9-EF9C-DCDE-7B116AED1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937D5-1425-19D4-952A-4E62DA4B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1B3C-AA44-40DB-8275-B26E881265BD}" type="datetime1">
              <a:rPr lang="de-DE" smtClean="0"/>
              <a:t>06.10.22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D8FCB-BD2C-3080-5DBA-37D29AA9D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AF1D3-6ADF-0BB2-C275-41B2A38A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107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BE17C7-A9B3-3A1D-9303-B55593C53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0B199-2F80-C1DC-2C61-B360FDEBD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856D9-6049-95DF-FB7C-4328274C2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2F275-1097-4BDF-B256-ECEB809FC5B9}" type="datetime1">
              <a:rPr lang="de-DE" smtClean="0"/>
              <a:t>06.10.22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0E878-DD60-803E-DF3D-D2B93357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DBD55-50AE-71D5-0A71-BD1E9A96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7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08ABE8-6F28-B450-6FBD-F2996C81F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BF307-E15E-6A9E-2F43-AF18D2652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06A0B-A977-06E8-D9BF-92BB57D9E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A6458-BDED-428A-96AB-DCB9A023510A}" type="datetime1">
              <a:rPr lang="de-DE" smtClean="0"/>
              <a:t>06.10.22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DDDDA-A510-F4A6-CFFF-13E03B86B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0880-0810-B204-72E8-F7D4A25B5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907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822B8D-BFBC-3C3B-873D-C80A7704D6AA}"/>
              </a:ext>
            </a:extLst>
          </p:cNvPr>
          <p:cNvGrpSpPr/>
          <p:nvPr/>
        </p:nvGrpSpPr>
        <p:grpSpPr>
          <a:xfrm>
            <a:off x="-3047" y="1"/>
            <a:ext cx="10506979" cy="6858000"/>
            <a:chOff x="-3047" y="10"/>
            <a:chExt cx="11356846" cy="6857990"/>
          </a:xfrm>
        </p:grpSpPr>
        <p:pic>
          <p:nvPicPr>
            <p:cNvPr id="1028" name="Picture 4" descr="Selbstständig machen - erste Schritte">
              <a:extLst>
                <a:ext uri="{FF2B5EF4-FFF2-40B4-BE49-F238E27FC236}">
                  <a16:creationId xmlns:a16="http://schemas.microsoft.com/office/drawing/2014/main" id="{48AD8426-2334-90C3-8671-66AABA7CDB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07"/>
            <a:stretch/>
          </p:blipFill>
          <p:spPr bwMode="auto">
            <a:xfrm>
              <a:off x="-3047" y="10"/>
              <a:ext cx="9669642" cy="68579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41F0C64-9E21-2C90-9E36-A75934D7C162}"/>
                </a:ext>
              </a:extLst>
            </p:cNvPr>
            <p:cNvSpPr/>
            <p:nvPr/>
          </p:nvSpPr>
          <p:spPr>
            <a:xfrm>
              <a:off x="-3047" y="6264285"/>
              <a:ext cx="11356846" cy="5937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pic>
        <p:nvPicPr>
          <p:cNvPr id="25" name="Picture 2" descr="Taxfix Improves Deliverability, Conversions, and Scalability… | Braze">
            <a:extLst>
              <a:ext uri="{FF2B5EF4-FFF2-40B4-BE49-F238E27FC236}">
                <a16:creationId xmlns:a16="http://schemas.microsoft.com/office/drawing/2014/main" id="{FF057C04-B7D4-0B4D-A0EB-BB74C63FF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6978" y="124511"/>
            <a:ext cx="1460499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85EDE1B-F39D-A33F-7465-9C2017FFAE8C}"/>
              </a:ext>
            </a:extLst>
          </p:cNvPr>
          <p:cNvSpPr txBox="1"/>
          <p:nvPr/>
        </p:nvSpPr>
        <p:spPr>
          <a:xfrm>
            <a:off x="9029700" y="629960"/>
            <a:ext cx="31592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/>
              <a:t>Why is it worthwhile to explore </a:t>
            </a:r>
            <a:r>
              <a:rPr lang="en-GB" b="1" dirty="0"/>
              <a:t>tax advice for the self-employed in Germany in more depth?</a:t>
            </a:r>
            <a:r>
              <a:rPr lang="en-DE" b="1" dirty="0"/>
              <a:t>  </a:t>
            </a:r>
          </a:p>
        </p:txBody>
      </p:sp>
      <p:sp>
        <p:nvSpPr>
          <p:cNvPr id="27" name="Date Placeholder 6">
            <a:extLst>
              <a:ext uri="{FF2B5EF4-FFF2-40B4-BE49-F238E27FC236}">
                <a16:creationId xmlns:a16="http://schemas.microsoft.com/office/drawing/2014/main" id="{6DB6CB29-3A6B-5A6C-474F-CED25D69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E065E80-791E-4009-8E59-F88D5FB2CC11}" type="datetime1">
              <a:rPr lang="de-DE" smtClean="0"/>
              <a:t>06.10.22</a:t>
            </a:fld>
            <a:endParaRPr lang="de-DE" dirty="0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80C7AB23-5D9B-B426-7CCC-547F6796B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Joel Herrmann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81F6ACD5-88A2-9483-8ECE-0AD55843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B06635D-16E7-498F-9F40-65FB7786E600}" type="slidenum">
              <a:rPr lang="de-DE" smtClean="0"/>
              <a:t>1</a:t>
            </a:fld>
            <a:endParaRPr lang="de-DE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80108-1292-84C3-8F0A-FCFC9649C4AC}"/>
              </a:ext>
            </a:extLst>
          </p:cNvPr>
          <p:cNvSpPr txBox="1"/>
          <p:nvPr/>
        </p:nvSpPr>
        <p:spPr>
          <a:xfrm>
            <a:off x="9029700" y="2175913"/>
            <a:ext cx="31592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DD00"/>
              </a:buClr>
              <a:buFont typeface="Arial" panose="020B0604020202020204" pitchFamily="34" charset="0"/>
              <a:buChar char="•"/>
            </a:pPr>
            <a:r>
              <a:rPr lang="en-DE" dirty="0"/>
              <a:t>Four million potential clients</a:t>
            </a:r>
          </a:p>
          <a:p>
            <a:pPr marL="285750" indent="-285750">
              <a:buClr>
                <a:srgbClr val="00DD00"/>
              </a:buClr>
              <a:buFont typeface="Arial" panose="020B0604020202020204" pitchFamily="34" charset="0"/>
              <a:buChar char="•"/>
            </a:pPr>
            <a:r>
              <a:rPr lang="en-DE" dirty="0"/>
              <a:t>160+ million € potential revenue</a:t>
            </a:r>
          </a:p>
          <a:p>
            <a:pPr marL="285750" indent="-285750">
              <a:buClr>
                <a:srgbClr val="00DD00"/>
              </a:buClr>
              <a:buFont typeface="Arial" panose="020B0604020202020204" pitchFamily="34" charset="0"/>
              <a:buChar char="•"/>
            </a:pPr>
            <a:r>
              <a:rPr lang="en-DE" dirty="0"/>
              <a:t>Self-employed germans are obliged to do a tax declaration </a:t>
            </a:r>
          </a:p>
          <a:p>
            <a:pPr marL="285750" indent="-285750">
              <a:buClr>
                <a:srgbClr val="00DD00"/>
              </a:buClr>
              <a:buFont typeface="Arial" panose="020B0604020202020204" pitchFamily="34" charset="0"/>
              <a:buChar char="•"/>
            </a:pPr>
            <a:r>
              <a:rPr lang="en-DE" dirty="0"/>
              <a:t>Possible without one on one video calls</a:t>
            </a:r>
          </a:p>
          <a:p>
            <a:pPr>
              <a:buClr>
                <a:srgbClr val="00DD00"/>
              </a:buClr>
            </a:pPr>
            <a:r>
              <a:rPr lang="en-DE" dirty="0"/>
              <a:t> </a:t>
            </a:r>
          </a:p>
          <a:p>
            <a:pPr>
              <a:buClr>
                <a:srgbClr val="00DD00"/>
              </a:buClr>
            </a:pPr>
            <a:r>
              <a:rPr lang="en-DE" b="1" dirty="0"/>
              <a:t>             Fits to taxfix’s strategy </a:t>
            </a:r>
          </a:p>
          <a:p>
            <a:pPr>
              <a:buClr>
                <a:srgbClr val="00DD00"/>
              </a:buClr>
            </a:pPr>
            <a:r>
              <a:rPr lang="en-DE" b="1" dirty="0"/>
              <a:t>              and business model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E7C91CE7-06B4-F7AE-19A2-68EF96EC13B8}"/>
              </a:ext>
            </a:extLst>
          </p:cNvPr>
          <p:cNvSpPr/>
          <p:nvPr/>
        </p:nvSpPr>
        <p:spPr>
          <a:xfrm>
            <a:off x="9144000" y="4814888"/>
            <a:ext cx="579459" cy="337099"/>
          </a:xfrm>
          <a:prstGeom prst="rightArrow">
            <a:avLst/>
          </a:prstGeom>
          <a:solidFill>
            <a:srgbClr val="00DD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16883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E12C4-411B-E1AF-CCCF-408293051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518" y="870617"/>
            <a:ext cx="3001093" cy="415985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GB" sz="1600" dirty="0"/>
              <a:t>“The number of self-employed people in Germany in 2018 </a:t>
            </a:r>
            <a:r>
              <a:rPr lang="en-GB" sz="1600" dirty="0" err="1"/>
              <a:t>totaled</a:t>
            </a:r>
            <a:r>
              <a:rPr lang="en-GB" sz="1600" dirty="0"/>
              <a:t> over four million. Of these, around 2.23 million are self-employed, i.e. self-employed who run their business without dependent employees.”</a:t>
            </a:r>
            <a:r>
              <a:rPr lang="en-GB" sz="1600" baseline="-25000" dirty="0"/>
              <a:t>1</a:t>
            </a:r>
            <a:endParaRPr lang="en-DE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EA53D0-77AF-77A9-B619-EF96634206FE}"/>
              </a:ext>
            </a:extLst>
          </p:cNvPr>
          <p:cNvSpPr/>
          <p:nvPr/>
        </p:nvSpPr>
        <p:spPr>
          <a:xfrm>
            <a:off x="879369" y="870616"/>
            <a:ext cx="3005150" cy="9261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3D12D-807A-FDA4-E247-9ABB5879D184}"/>
              </a:ext>
            </a:extLst>
          </p:cNvPr>
          <p:cNvSpPr txBox="1"/>
          <p:nvPr/>
        </p:nvSpPr>
        <p:spPr>
          <a:xfrm>
            <a:off x="1434518" y="124511"/>
            <a:ext cx="3732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Action Title zwingend notwendig? </a:t>
            </a:r>
          </a:p>
          <a:p>
            <a:endParaRPr lang="en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1E711A-FC00-FD9F-90C9-DAB32DDA066C}"/>
              </a:ext>
            </a:extLst>
          </p:cNvPr>
          <p:cNvSpPr txBox="1"/>
          <p:nvPr/>
        </p:nvSpPr>
        <p:spPr>
          <a:xfrm>
            <a:off x="1158240" y="870615"/>
            <a:ext cx="272210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200" b="1" dirty="0"/>
              <a:t>Which target market does it serve? </a:t>
            </a:r>
          </a:p>
          <a:p>
            <a:endParaRPr lang="en-D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00C9FF-3E74-4C1D-3DCF-F75B7755DF24}"/>
              </a:ext>
            </a:extLst>
          </p:cNvPr>
          <p:cNvSpPr txBox="1"/>
          <p:nvPr/>
        </p:nvSpPr>
        <p:spPr>
          <a:xfrm>
            <a:off x="234231" y="407075"/>
            <a:ext cx="792480" cy="7451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DE" dirty="0"/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5CD6F812-C473-7023-B53F-CDCA5A095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663" y="548387"/>
            <a:ext cx="783893" cy="78389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6FAFC-C6AE-76FB-4722-DE606E5FD5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609" y="6245860"/>
            <a:ext cx="2743200" cy="365125"/>
          </a:xfrm>
        </p:spPr>
        <p:txBody>
          <a:bodyPr/>
          <a:lstStyle/>
          <a:p>
            <a:fld id="{548DD711-2956-4290-B266-E18207570973}" type="datetime1">
              <a:rPr lang="de-DE" smtClean="0"/>
              <a:t>06.10.22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75C92-5DE4-8681-D7CB-525E02CFF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8009" y="6245860"/>
            <a:ext cx="4114800" cy="365125"/>
          </a:xfrm>
        </p:spPr>
        <p:txBody>
          <a:bodyPr/>
          <a:lstStyle/>
          <a:p>
            <a:r>
              <a:rPr lang="de-DE" dirty="0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7035B-BE90-9661-47A5-1D7A3041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009" y="6245860"/>
            <a:ext cx="2743200" cy="365125"/>
          </a:xfrm>
        </p:spPr>
        <p:txBody>
          <a:bodyPr/>
          <a:lstStyle/>
          <a:p>
            <a:fld id="{0B06635D-16E7-498F-9F40-65FB7786E600}" type="slidenum">
              <a:rPr lang="de-DE" smtClean="0"/>
              <a:t>2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03257C-D135-3606-53E2-A6E2DD94061F}"/>
              </a:ext>
            </a:extLst>
          </p:cNvPr>
          <p:cNvSpPr txBox="1"/>
          <p:nvPr/>
        </p:nvSpPr>
        <p:spPr>
          <a:xfrm>
            <a:off x="1743774" y="6245860"/>
            <a:ext cx="3914664" cy="695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DE" sz="700" dirty="0"/>
              <a:t>1  </a:t>
            </a:r>
            <a:r>
              <a:rPr lang="en-GB" sz="700" dirty="0"/>
              <a:t>https://</a:t>
            </a:r>
            <a:r>
              <a:rPr lang="en-GB" sz="700" dirty="0" err="1"/>
              <a:t>www.bmas.de</a:t>
            </a:r>
            <a:r>
              <a:rPr lang="en-GB" sz="700" dirty="0"/>
              <a:t>/</a:t>
            </a:r>
            <a:r>
              <a:rPr lang="en-GB" sz="700" dirty="0" err="1"/>
              <a:t>SharedDocs</a:t>
            </a:r>
            <a:r>
              <a:rPr lang="en-GB" sz="700" dirty="0"/>
              <a:t>/Downloads/DE/</a:t>
            </a:r>
            <a:r>
              <a:rPr lang="en-GB" sz="700" dirty="0" err="1"/>
              <a:t>Publikationen</a:t>
            </a:r>
            <a:r>
              <a:rPr lang="en-GB" sz="700" dirty="0"/>
              <a:t>/</a:t>
            </a:r>
            <a:r>
              <a:rPr lang="en-GB" sz="700" dirty="0" err="1"/>
              <a:t>Forschungsberichte</a:t>
            </a:r>
            <a:r>
              <a:rPr lang="en-GB" sz="700" dirty="0"/>
              <a:t>/</a:t>
            </a:r>
            <a:r>
              <a:rPr lang="en-GB" sz="700" dirty="0">
                <a:solidFill>
                  <a:schemeClr val="bg1"/>
                </a:solidFill>
              </a:rPr>
              <a:t>fb545-selbststaendige-erwerbstaetigkeit-in-deutschland.pdf%3Bjsessionid=D204D85460F90C7E077584FD26B28A04.delivery1-replication?__blob=</a:t>
            </a:r>
            <a:r>
              <a:rPr lang="en-GB" sz="700" dirty="0" err="1">
                <a:solidFill>
                  <a:schemeClr val="bg1"/>
                </a:solidFill>
              </a:rPr>
              <a:t>publicationFile&amp;v</a:t>
            </a:r>
            <a:r>
              <a:rPr lang="en-GB" sz="700" dirty="0">
                <a:solidFill>
                  <a:schemeClr val="bg1"/>
                </a:solidFill>
              </a:rPr>
              <a:t>=1</a:t>
            </a:r>
            <a:endParaRPr lang="en-DE" sz="700" dirty="0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BC2E4F2-8763-5225-D64C-A1BC3DA7539B}"/>
              </a:ext>
            </a:extLst>
          </p:cNvPr>
          <p:cNvGrpSpPr/>
          <p:nvPr/>
        </p:nvGrpSpPr>
        <p:grpSpPr>
          <a:xfrm>
            <a:off x="7769497" y="1680595"/>
            <a:ext cx="3204592" cy="4387542"/>
            <a:chOff x="8149208" y="1481093"/>
            <a:chExt cx="3105593" cy="4712773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31626EA1-C527-45F6-913E-D5069FED5FA3}"/>
                </a:ext>
              </a:extLst>
            </p:cNvPr>
            <p:cNvSpPr txBox="1">
              <a:spLocks/>
            </p:cNvSpPr>
            <p:nvPr/>
          </p:nvSpPr>
          <p:spPr>
            <a:xfrm>
              <a:off x="8153252" y="1481094"/>
              <a:ext cx="3101549" cy="47127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DE" sz="2200" b="1" dirty="0"/>
                <a:t>What is done well and what could be improved? 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8ACBE4-1C72-40EF-A0C3-0FEB40B9A2A5}"/>
                </a:ext>
              </a:extLst>
            </p:cNvPr>
            <p:cNvSpPr/>
            <p:nvPr/>
          </p:nvSpPr>
          <p:spPr>
            <a:xfrm>
              <a:off x="8149208" y="1481093"/>
              <a:ext cx="3101549" cy="9947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3392D24-E3CD-F19E-F3F9-69B23857BEF5}"/>
              </a:ext>
            </a:extLst>
          </p:cNvPr>
          <p:cNvGrpSpPr/>
          <p:nvPr/>
        </p:nvGrpSpPr>
        <p:grpSpPr>
          <a:xfrm>
            <a:off x="4150360" y="1171135"/>
            <a:ext cx="3353296" cy="4574892"/>
            <a:chOff x="4593282" y="1493319"/>
            <a:chExt cx="3105742" cy="4712772"/>
          </a:xfrm>
        </p:grpSpPr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37FC8CC8-627F-32CB-401C-2646A67BF176}"/>
                </a:ext>
              </a:extLst>
            </p:cNvPr>
            <p:cNvSpPr txBox="1">
              <a:spLocks/>
            </p:cNvSpPr>
            <p:nvPr/>
          </p:nvSpPr>
          <p:spPr>
            <a:xfrm>
              <a:off x="4597475" y="1493319"/>
              <a:ext cx="3101549" cy="47127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DE" sz="4000" b="1" dirty="0"/>
                <a:t>What customer need does it adress? </a:t>
              </a:r>
            </a:p>
            <a:p>
              <a:pPr marL="0" indent="0">
                <a:buNone/>
              </a:pPr>
              <a:endParaRPr lang="en-DE" sz="2000" dirty="0"/>
            </a:p>
            <a:p>
              <a:pPr marL="0" indent="0">
                <a:buNone/>
              </a:pPr>
              <a:endParaRPr lang="en-DE" sz="900" dirty="0"/>
            </a:p>
            <a:p>
              <a:pPr marL="0" indent="0">
                <a:buNone/>
              </a:pPr>
              <a:r>
                <a:rPr lang="en-DE" sz="3300" b="1" dirty="0"/>
                <a:t>Customers face three major problems: </a:t>
              </a:r>
            </a:p>
            <a:p>
              <a:pPr marL="342900" indent="-342900">
                <a:buAutoNum type="arabicPeriod"/>
              </a:pPr>
              <a:endParaRPr lang="en-GB" sz="600" dirty="0"/>
            </a:p>
            <a:p>
              <a:pPr marL="342900" indent="-342900">
                <a:buAutoNum type="arabicPeriod"/>
              </a:pPr>
              <a:r>
                <a:rPr lang="en-GB" sz="2900" dirty="0"/>
                <a:t>Self-employed miss an intuitive and fast way to get their tax declaration done</a:t>
              </a:r>
            </a:p>
            <a:p>
              <a:pPr marL="342900" indent="-342900">
                <a:buAutoNum type="arabicPeriod"/>
              </a:pPr>
              <a:r>
                <a:rPr lang="en-GB" sz="2900" dirty="0"/>
                <a:t>During the self-employment, especially during the initial phase, tax consultants are too expensive</a:t>
              </a:r>
            </a:p>
            <a:p>
              <a:pPr marL="342900" indent="-342900">
                <a:buAutoNum type="arabicPeriod"/>
              </a:pPr>
              <a:r>
                <a:rPr lang="en-GB" sz="2900" dirty="0"/>
                <a:t>In addition, tax consultants need a lot of time which many self-employed people d</a:t>
              </a:r>
              <a:r>
                <a:rPr lang="de-DE" sz="2900" dirty="0" err="1"/>
                <a:t>islike</a:t>
              </a:r>
              <a:endParaRPr lang="en-DE" sz="2900" dirty="0"/>
            </a:p>
            <a:p>
              <a:pPr marL="0" indent="0">
                <a:buNone/>
              </a:pPr>
              <a:r>
                <a:rPr lang="en-DE" sz="2000" dirty="0"/>
                <a:t>       </a:t>
              </a:r>
              <a:endParaRPr lang="en-DE" sz="1300" dirty="0"/>
            </a:p>
            <a:p>
              <a:pPr marL="0" indent="0">
                <a:buNone/>
              </a:pPr>
              <a:r>
                <a:rPr lang="en-DE" sz="2200" dirty="0"/>
                <a:t>          </a:t>
              </a:r>
              <a:r>
                <a:rPr lang="en-DE" sz="3300" b="1" dirty="0"/>
                <a:t>Problems Taxfix can solve!</a:t>
              </a:r>
              <a:endParaRPr lang="en-DE" sz="22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230A599-2BDF-4214-8D24-D46B02443B2C}"/>
                </a:ext>
              </a:extLst>
            </p:cNvPr>
            <p:cNvSpPr/>
            <p:nvPr/>
          </p:nvSpPr>
          <p:spPr>
            <a:xfrm>
              <a:off x="4593282" y="1493515"/>
              <a:ext cx="3105742" cy="9540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16" name="Right Arrow 15">
            <a:extLst>
              <a:ext uri="{FF2B5EF4-FFF2-40B4-BE49-F238E27FC236}">
                <a16:creationId xmlns:a16="http://schemas.microsoft.com/office/drawing/2014/main" id="{ABF3C4E2-A610-6E57-C600-25D4B57B426F}"/>
              </a:ext>
            </a:extLst>
          </p:cNvPr>
          <p:cNvSpPr/>
          <p:nvPr/>
        </p:nvSpPr>
        <p:spPr>
          <a:xfrm>
            <a:off x="4212321" y="5010748"/>
            <a:ext cx="331954" cy="230630"/>
          </a:xfrm>
          <a:prstGeom prst="rightArrow">
            <a:avLst/>
          </a:prstGeom>
          <a:solidFill>
            <a:srgbClr val="00DD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7" name="Picture 2" descr="Taxfix Improves Deliverability, Conversions, and Scalability… | Braze">
            <a:extLst>
              <a:ext uri="{FF2B5EF4-FFF2-40B4-BE49-F238E27FC236}">
                <a16:creationId xmlns:a16="http://schemas.microsoft.com/office/drawing/2014/main" id="{C85F1C64-F76C-5442-9958-DF7F4FCDA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6978" y="124511"/>
            <a:ext cx="1460499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FD8D9EE-67EF-82BE-FFCC-A1CADBF2CD44}"/>
              </a:ext>
            </a:extLst>
          </p:cNvPr>
          <p:cNvSpPr txBox="1"/>
          <p:nvPr/>
        </p:nvSpPr>
        <p:spPr>
          <a:xfrm>
            <a:off x="7812918" y="2701697"/>
            <a:ext cx="32087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According to Trustpilot (1.3/5    ) major improvements are needed in: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4D086E-8A0F-F459-20D0-87BD043BF05C}"/>
              </a:ext>
            </a:extLst>
          </p:cNvPr>
          <p:cNvSpPr txBox="1"/>
          <p:nvPr/>
        </p:nvSpPr>
        <p:spPr>
          <a:xfrm>
            <a:off x="7935190" y="3566100"/>
            <a:ext cx="28690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DD00"/>
              </a:buClr>
              <a:buFont typeface="Arial" panose="020B0604020202020204" pitchFamily="34" charset="0"/>
              <a:buChar char="•"/>
            </a:pPr>
            <a:r>
              <a:rPr lang="en-DE" dirty="0"/>
              <a:t>Ease of use and reliability</a:t>
            </a:r>
          </a:p>
          <a:p>
            <a:pPr marL="742950" lvl="1" indent="-285750">
              <a:buClr>
                <a:srgbClr val="00DD00"/>
              </a:buClr>
              <a:buFont typeface="Arial" panose="020B0604020202020204" pitchFamily="34" charset="0"/>
              <a:buChar char="•"/>
            </a:pPr>
            <a:r>
              <a:rPr lang="en-DE" dirty="0"/>
              <a:t>Fast payback or even sending the payback at all</a:t>
            </a:r>
          </a:p>
          <a:p>
            <a:pPr marL="742950" lvl="1" indent="-285750">
              <a:buClr>
                <a:srgbClr val="00DD00"/>
              </a:buClr>
              <a:buFont typeface="Arial" panose="020B0604020202020204" pitchFamily="34" charset="0"/>
              <a:buChar char="•"/>
            </a:pPr>
            <a:r>
              <a:rPr lang="en-DE" dirty="0"/>
              <a:t>Personal feedback (like promised)</a:t>
            </a:r>
          </a:p>
          <a:p>
            <a:pPr marL="742950" lvl="1" indent="-285750">
              <a:buClr>
                <a:srgbClr val="00DD00"/>
              </a:buClr>
              <a:buFont typeface="Arial" panose="020B0604020202020204" pitchFamily="34" charset="0"/>
              <a:buChar char="•"/>
            </a:pPr>
            <a:r>
              <a:rPr lang="en-GB" dirty="0"/>
              <a:t>I</a:t>
            </a:r>
            <a:r>
              <a:rPr lang="en-DE" dirty="0"/>
              <a:t>ntuitive process</a:t>
            </a:r>
          </a:p>
          <a:p>
            <a:pPr marL="742950" lvl="1" indent="-285750">
              <a:buClr>
                <a:srgbClr val="00DD00"/>
              </a:buClr>
              <a:buFont typeface="Arial" panose="020B0604020202020204" pitchFamily="34" charset="0"/>
              <a:buChar char="•"/>
            </a:pPr>
            <a:r>
              <a:rPr lang="en-GB" dirty="0"/>
              <a:t>R</a:t>
            </a:r>
            <a:r>
              <a:rPr lang="en-DE" dirty="0"/>
              <a:t>easonable prices</a:t>
            </a:r>
          </a:p>
          <a:p>
            <a:pPr marL="742950" lvl="1" indent="-285750">
              <a:buFontTx/>
              <a:buChar char="-"/>
            </a:pPr>
            <a:endParaRPr lang="en-DE" dirty="0"/>
          </a:p>
          <a:p>
            <a:pPr marL="285750" indent="-285750">
              <a:buFontTx/>
              <a:buChar char="-"/>
            </a:pPr>
            <a:endParaRPr lang="en-DE" dirty="0"/>
          </a:p>
        </p:txBody>
      </p:sp>
      <p:sp>
        <p:nvSpPr>
          <p:cNvPr id="22" name="5-point Star 21">
            <a:extLst>
              <a:ext uri="{FF2B5EF4-FFF2-40B4-BE49-F238E27FC236}">
                <a16:creationId xmlns:a16="http://schemas.microsoft.com/office/drawing/2014/main" id="{327D2C95-32AA-0612-A558-DF624AD34822}"/>
              </a:ext>
            </a:extLst>
          </p:cNvPr>
          <p:cNvSpPr/>
          <p:nvPr/>
        </p:nvSpPr>
        <p:spPr>
          <a:xfrm>
            <a:off x="10636955" y="2778748"/>
            <a:ext cx="180000" cy="180000"/>
          </a:xfrm>
          <a:prstGeom prst="star5">
            <a:avLst/>
          </a:prstGeom>
          <a:solidFill>
            <a:srgbClr val="00DD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144753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261</Words>
  <Application>Microsoft Macintosh PowerPoint</Application>
  <PresentationFormat>Widescreen</PresentationFormat>
  <Paragraphs>39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title…we should go with the UK…</dc:title>
  <dc:creator>Jonas Westphal</dc:creator>
  <cp:lastModifiedBy>joel herrmann</cp:lastModifiedBy>
  <cp:revision>24</cp:revision>
  <dcterms:created xsi:type="dcterms:W3CDTF">2022-10-05T18:05:15Z</dcterms:created>
  <dcterms:modified xsi:type="dcterms:W3CDTF">2022-10-06T10:13:06Z</dcterms:modified>
</cp:coreProperties>
</file>