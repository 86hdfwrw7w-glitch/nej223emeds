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5" r:id="rId2"/>
    <p:sldId id="261" r:id="rId3"/>
    <p:sldId id="264" r:id="rId4"/>
    <p:sldId id="263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A6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54C8E1-4464-4C5E-BE89-AD269D4AFEDF}" v="1" dt="2025-11-21T17:12:44.2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2934" autoAdjust="0"/>
  </p:normalViewPr>
  <p:slideViewPr>
    <p:cSldViewPr snapToGrid="0">
      <p:cViewPr varScale="1">
        <p:scale>
          <a:sx n="46" d="100"/>
          <a:sy n="46" d="100"/>
        </p:scale>
        <p:origin x="144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rsch, Svenja" userId="fd5452c0-984d-4cef-a7dd-534b55776c6f" providerId="ADAL" clId="{7CFC2B95-549B-4126-AF7D-75596E5D7808}"/>
    <pc:docChg chg="addSld modSld sldOrd">
      <pc:chgData name="Pirsch, Svenja" userId="fd5452c0-984d-4cef-a7dd-534b55776c6f" providerId="ADAL" clId="{7CFC2B95-549B-4126-AF7D-75596E5D7808}" dt="2025-11-21T17:12:54.509" v="30" actId="20577"/>
      <pc:docMkLst>
        <pc:docMk/>
      </pc:docMkLst>
      <pc:sldChg chg="modSp new mod ord">
        <pc:chgData name="Pirsch, Svenja" userId="fd5452c0-984d-4cef-a7dd-534b55776c6f" providerId="ADAL" clId="{7CFC2B95-549B-4126-AF7D-75596E5D7808}" dt="2025-11-21T17:12:54.509" v="30" actId="20577"/>
        <pc:sldMkLst>
          <pc:docMk/>
          <pc:sldMk cId="4267171549" sldId="265"/>
        </pc:sldMkLst>
        <pc:spChg chg="mod">
          <ac:chgData name="Pirsch, Svenja" userId="fd5452c0-984d-4cef-a7dd-534b55776c6f" providerId="ADAL" clId="{7CFC2B95-549B-4126-AF7D-75596E5D7808}" dt="2025-11-21T17:12:54.509" v="30" actId="20577"/>
          <ac:spMkLst>
            <pc:docMk/>
            <pc:sldMk cId="4267171549" sldId="265"/>
            <ac:spMk id="2" creationId="{0B611B2A-3CF1-058D-E906-D412BE29B4ED}"/>
          </ac:spMkLst>
        </pc:spChg>
        <pc:spChg chg="mod">
          <ac:chgData name="Pirsch, Svenja" userId="fd5452c0-984d-4cef-a7dd-534b55776c6f" providerId="ADAL" clId="{7CFC2B95-549B-4126-AF7D-75596E5D7808}" dt="2025-11-21T17:12:44.242" v="1"/>
          <ac:spMkLst>
            <pc:docMk/>
            <pc:sldMk cId="4267171549" sldId="265"/>
            <ac:spMk id="3" creationId="{941492E5-EDD0-4558-A19F-BE00707012F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7062B-A394-4CF2-AF96-384DDD6FB008}" type="datetimeFigureOut">
              <a:rPr lang="de-DE" smtClean="0"/>
              <a:t>21.11.2025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EDA945-45BE-47D8-9720-72AD031E0E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7035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059B6-A85D-55D4-74E6-DA881FEBE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2690160-3472-CE46-77FD-51FE94C010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F33A8A1-C98D-7F26-D2B8-BA0307C53B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Welche bisherigen Erfahrungen und Erlebnisse haben dich besonders in deiner Entscheidung beeinflusst, jetzt Praxiserfahrungen bei UNITY sammeln zu wollen? Führe uns dazu prägnant durch deinen Werdegang.</a:t>
            </a:r>
          </a:p>
          <a:p>
            <a:endParaRPr lang="de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Warum möchtest du zur UNITY AG? Was sind deine Erwartungen an die gemeinsame Zeit bei uns?</a:t>
            </a:r>
          </a:p>
          <a:p>
            <a:endParaRPr lang="de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Welche deiner Stärken und/oder Leidenschaftsthemen möchtest du bei UNITY einbringen und wie konntest du diese bereits in der Vergangenheit erfolgreich in Projekten einsetzen?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EA39BCF-7940-492A-BCC7-2EDD5835D5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EDA945-45BE-47D8-9720-72AD031E0E4F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5749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11BCB-CB95-061E-FB9D-B3D893654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F321DFE-1EF0-6033-8FD4-436DEA27C5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A84B268-8E92-B4A8-80C0-5CF529C8D2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Welche bisherigen Erfahrungen und Erlebnisse haben dich besonders in deiner Entscheidung beeinflusst, jetzt Praxiserfahrungen bei UNITY sammeln zu wollen? Führe uns dazu prägnant durch deinen Werdegang.</a:t>
            </a:r>
          </a:p>
          <a:p>
            <a:endParaRPr lang="de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Warum möchtest du zur UNITY AG? Was sind deine Erwartungen an die gemeinsame Zeit bei uns?</a:t>
            </a:r>
          </a:p>
          <a:p>
            <a:endParaRPr lang="de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Welche deiner Stärken und/oder Leidenschaftsthemen möchtest du bei UNITY einbringen und wie konntest du diese bereits in der Vergangenheit erfolgreich in Projekten einsetzen?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056BADC-D312-6576-2AF9-19C3100E55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EDA945-45BE-47D8-9720-72AD031E0E4F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87990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6A667-C9AE-BD00-169E-F8AD7FC0D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8833485-8ED5-D3E5-4D5E-F574739772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CCEE796-23FA-37BA-B433-82B90C0F6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Welche bisherigen Erfahrungen und Erlebnisse haben dich besonders in deiner Entscheidung beeinflusst, jetzt Praxiserfahrungen bei UNITY sammeln zu wollen? Führe uns dazu prägnant durch deinen Werdegang.</a:t>
            </a:r>
          </a:p>
          <a:p>
            <a:endParaRPr lang="de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Warum möchtest du zur UNITY AG? Was sind deine Erwartungen an die gemeinsame Zeit bei uns?</a:t>
            </a:r>
          </a:p>
          <a:p>
            <a:endParaRPr lang="de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Welche deiner Stärken und/oder Leidenschaftsthemen möchtest du bei UNITY einbringen und wie konntest du diese bereits in der Vergangenheit erfolgreich in Projekten einsetzen?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427E2B5-308B-CDAB-667A-E61DA73345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EDA945-45BE-47D8-9720-72AD031E0E4F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6942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F47316-8879-5F75-1285-C43F98D66F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5868AE1-2351-123D-4413-C4E64CAD74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D4C635A-475B-0216-9386-32C88BA0F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6C63-DA49-4F5E-A567-FE68EAB7D749}" type="datetimeFigureOut">
              <a:rPr lang="de-DE" smtClean="0"/>
              <a:t>21.11.2025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65FF14D-95A5-CB51-960B-42C720E94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25B989A-C9AE-6447-87D3-0C582820D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94130-3BBE-45CA-9999-1A0D489563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8440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5F4B1E-6B03-06DE-4E9E-2A5706FF5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BE4D38D-D16A-D571-7125-85191F108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DAF523B-3EDB-C9CC-630E-C5D3F5E29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6C63-DA49-4F5E-A567-FE68EAB7D749}" type="datetimeFigureOut">
              <a:rPr lang="de-DE" smtClean="0"/>
              <a:t>21.11.2025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385AC6D-7902-DE63-F2C9-BF02F83B2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506B0B4-CBDD-E88B-7865-A822D84A9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94130-3BBE-45CA-9999-1A0D489563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7315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ABCC7E-89B9-1DF9-4D98-7B80B96C1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1CAAEA0-AB69-59B2-5021-DEF235A9D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2E1631B-2E00-4248-B0BA-9961D5BFB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6C63-DA49-4F5E-A567-FE68EAB7D749}" type="datetimeFigureOut">
              <a:rPr lang="de-DE" smtClean="0"/>
              <a:t>21.11.2025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64F2EC-CA12-C784-98BD-DC08F2467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7346B2D-FB53-6AA4-025A-994D97C39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94130-3BBE-45CA-9999-1A0D489563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0884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B462FC-ADB3-7DFD-7C9A-1914A7244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FABC5B0-4C72-0881-52E9-FD723151EA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46BA67F-A391-424F-D450-A3838D9F03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FBE4D9A-1A93-7675-9C42-23B9AFFF1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6C63-DA49-4F5E-A567-FE68EAB7D749}" type="datetimeFigureOut">
              <a:rPr lang="de-DE" smtClean="0"/>
              <a:t>21.11.2025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A86564E-6267-F682-2190-FF4549029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3777565-37C4-DD20-C0CE-9DDDE3B97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94130-3BBE-45CA-9999-1A0D489563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8466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BFF29A-8F8B-12FA-118C-EA65FB8DA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332B21-D9D0-2ED2-8CA5-3004485B6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0139E70-6EEF-9204-7505-3AFA9E673D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E93D2A6-B2E7-B7EA-A42C-E653DA97A9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D010F0B-642A-722B-8FD4-42FB987A8C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8FC08C6-388E-4A5E-5C86-5A3434A24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6C63-DA49-4F5E-A567-FE68EAB7D749}" type="datetimeFigureOut">
              <a:rPr lang="de-DE" smtClean="0"/>
              <a:t>21.11.2025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E8CEB1E-1A0A-8644-6E15-DFAB60C53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A8D364F-2B39-1AE8-CF3E-9C5DF0E9B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94130-3BBE-45CA-9999-1A0D489563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313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26E371-74B2-6290-04B6-66B2A9F39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93CEA2C-F15C-9A2C-7386-E82B06C3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6C63-DA49-4F5E-A567-FE68EAB7D749}" type="datetimeFigureOut">
              <a:rPr lang="de-DE" smtClean="0"/>
              <a:t>21.11.2025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E8C146C-9AD8-8D48-D42E-0BCE076AF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11A0B59-1486-B364-5624-530413B8C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94130-3BBE-45CA-9999-1A0D489563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463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5F8D19B-51F3-18D2-34EF-B9CFC75A5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6C63-DA49-4F5E-A567-FE68EAB7D749}" type="datetimeFigureOut">
              <a:rPr lang="de-DE" smtClean="0"/>
              <a:t>21.11.2025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09EB62F-94E1-5567-F628-529747AA9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232BC3E-114F-D3D1-439C-58AE8BFFB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94130-3BBE-45CA-9999-1A0D489563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2985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9B62BB-D1D8-AC19-023B-663F2461F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79D726-4D7E-4D45-8469-C134F87E3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6789CCC-B8FC-E4AD-BE01-C047C27D2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0AED33B-26C3-390C-FD72-F578877FA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6C63-DA49-4F5E-A567-FE68EAB7D749}" type="datetimeFigureOut">
              <a:rPr lang="de-DE" smtClean="0"/>
              <a:t>21.11.2025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4CC8F2B-D9FB-C8CF-90B9-AEF088A39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35A7001-57E9-6D39-7E48-7BC31F87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94130-3BBE-45CA-9999-1A0D489563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105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EE408A-5681-05ED-22AC-A1DEC78C1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39C6D3D-1EE6-A7D3-4CC3-B11CF55BEC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D54E5C9-8946-D1E7-D559-D122290C5F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AA6F805-3688-A7BF-A59E-E9042BE4B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6C63-DA49-4F5E-A567-FE68EAB7D749}" type="datetimeFigureOut">
              <a:rPr lang="de-DE" smtClean="0"/>
              <a:t>21.11.2025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DA1B6F5-59FD-1F40-CA10-CF89B9157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9A0158B-2133-C223-AD5A-F45CC29FD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94130-3BBE-45CA-9999-1A0D489563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1594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EC0C94-EE67-E827-883A-C8C24EA5F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DDCECCF-8B1B-7809-91C3-E4E9CF38AB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1A63C0-3FAC-137A-D82C-6CBF1C73C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6C63-DA49-4F5E-A567-FE68EAB7D749}" type="datetimeFigureOut">
              <a:rPr lang="de-DE" smtClean="0"/>
              <a:t>21.11.2025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4E16891-D5AF-0C28-13E0-21C64934E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B159598-08B5-9167-7106-CC83AE5DD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94130-3BBE-45CA-9999-1A0D489563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4768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427BA13-32A9-B227-A526-9FDD60FCC8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611C5B0-D5D5-2E77-CA24-5354F4EF60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9A1794-EA97-C2F7-415D-D439AC7C6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6C63-DA49-4F5E-A567-FE68EAB7D749}" type="datetimeFigureOut">
              <a:rPr lang="de-DE" smtClean="0"/>
              <a:t>21.11.2025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C2BA73-DEC1-6586-AC09-B10FDFED3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E226B14-52D6-A896-0A3E-5F38619EA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94130-3BBE-45CA-9999-1A0D489563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077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6C6070B-D00F-BF7A-4516-BE8826FEB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70B5464-3F51-12DB-5146-78C908B95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C04BC3-B584-EE73-81E2-FDCB89D4D2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1B6C63-DA49-4F5E-A567-FE68EAB7D749}" type="datetimeFigureOut">
              <a:rPr lang="de-DE" smtClean="0"/>
              <a:t>21.11.2025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A8C4D23-DF3C-9ABC-9ED6-79AE875FA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0E4920-D6B5-5917-8A8E-D2D58E1C42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B94130-3BBE-45CA-9999-1A0D48956379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5D21202-1C07-D042-8A7F-688F97D757A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70563" y="6672580"/>
            <a:ext cx="67151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- Confidential -</a:t>
            </a:r>
          </a:p>
        </p:txBody>
      </p:sp>
    </p:spTree>
    <p:extLst>
      <p:ext uri="{BB962C8B-B14F-4D97-AF65-F5344CB8AC3E}">
        <p14:creationId xmlns:p14="http://schemas.microsoft.com/office/powerpoint/2010/main" val="1385754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611B2A-3CF1-058D-E906-D412BE29B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Fragen zu beantworten: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1492E5-EDD0-4558-A19F-BE0070701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Welche bisherigen Erfahrungen und Erlebnisse haben dich besonders in deiner Entscheidung beeinflusst, jetzt Praxiserfahrungen bei UNITY sammeln zu wollen? Führe uns dazu prägnant durch deinen Werdegang.</a:t>
            </a:r>
          </a:p>
          <a:p>
            <a:r>
              <a:rPr lang="de-DE" dirty="0"/>
              <a:t>Warum möchtest du zur UNITY AG? Was sind deine Erwartungen an die gemeinsame Zeit bei uns?</a:t>
            </a:r>
          </a:p>
          <a:p>
            <a:r>
              <a:rPr lang="de-DE" dirty="0"/>
              <a:t>Welche deiner Stärken und/oder Leidenschaftsthemen möchtest du bei UNITY einbringen und wie konntest du diese bereits in der Vergangenheit erfolgreich in Projekten einsetzen?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67171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08FAC-28CC-E272-9B80-A0278F0DD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EB1868-9757-D6AE-00CE-C599425DB6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008"/>
            <a:ext cx="9144000" cy="477837"/>
          </a:xfrm>
          <a:ln>
            <a:noFill/>
          </a:ln>
        </p:spPr>
        <p:txBody>
          <a:bodyPr>
            <a:normAutofit/>
          </a:bodyPr>
          <a:lstStyle/>
          <a:p>
            <a:r>
              <a:rPr lang="de-DE" sz="2400" b="1" dirty="0">
                <a:solidFill>
                  <a:srgbClr val="002060"/>
                </a:solidFill>
              </a:rPr>
              <a:t>Mein Weg zu UNITY voller Herausforderungen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86A8E054-D277-D913-C853-91FEFA5F8170}"/>
              </a:ext>
            </a:extLst>
          </p:cNvPr>
          <p:cNvCxnSpPr/>
          <p:nvPr/>
        </p:nvCxnSpPr>
        <p:spPr>
          <a:xfrm>
            <a:off x="0" y="533400"/>
            <a:ext cx="124333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3B8F3385-5EE2-1E43-230E-571D083AE757}"/>
              </a:ext>
            </a:extLst>
          </p:cNvPr>
          <p:cNvCxnSpPr/>
          <p:nvPr/>
        </p:nvCxnSpPr>
        <p:spPr>
          <a:xfrm>
            <a:off x="63500" y="6453803"/>
            <a:ext cx="124333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hteck 8">
            <a:extLst>
              <a:ext uri="{FF2B5EF4-FFF2-40B4-BE49-F238E27FC236}">
                <a16:creationId xmlns:a16="http://schemas.microsoft.com/office/drawing/2014/main" id="{D68D9B69-D6F2-FBDF-CA69-C67DCEE9DD72}"/>
              </a:ext>
            </a:extLst>
          </p:cNvPr>
          <p:cNvSpPr/>
          <p:nvPr/>
        </p:nvSpPr>
        <p:spPr>
          <a:xfrm>
            <a:off x="4908550" y="6559527"/>
            <a:ext cx="2374900" cy="2898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Svenja Pirsch </a:t>
            </a:r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BF9CCD79-740D-2A28-B71F-B81F8201EBE5}"/>
              </a:ext>
            </a:extLst>
          </p:cNvPr>
          <p:cNvSpPr txBox="1"/>
          <p:nvPr/>
        </p:nvSpPr>
        <p:spPr>
          <a:xfrm>
            <a:off x="342012" y="4756133"/>
            <a:ext cx="5105400" cy="1140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bg1"/>
                </a:solidFill>
              </a:rPr>
              <a:t>Selbstständigkeit im E-Commerce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1"/>
                </a:solidFill>
              </a:rPr>
              <a:t>Verantwortung für die gesamte Wertschöpfungskette übernommen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1"/>
                </a:solidFill>
              </a:rPr>
              <a:t>Digitale Geschäftsmodelle kennengelernt und Leidenschaft für Digitalisierung entwickelt</a:t>
            </a:r>
          </a:p>
        </p:txBody>
      </p:sp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FAD1EEB4-18E8-2EE9-4072-FB706E2F9802}"/>
              </a:ext>
            </a:extLst>
          </p:cNvPr>
          <p:cNvCxnSpPr/>
          <p:nvPr/>
        </p:nvCxnSpPr>
        <p:spPr>
          <a:xfrm>
            <a:off x="6096000" y="836322"/>
            <a:ext cx="0" cy="5060745"/>
          </a:xfrm>
          <a:prstGeom prst="straightConnector1">
            <a:avLst/>
          </a:prstGeom>
          <a:ln w="133350">
            <a:solidFill>
              <a:srgbClr val="2AA6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3B9CD925-7D05-0A0E-ABB5-61D80E54C771}"/>
              </a:ext>
            </a:extLst>
          </p:cNvPr>
          <p:cNvGrpSpPr/>
          <p:nvPr/>
        </p:nvGrpSpPr>
        <p:grpSpPr>
          <a:xfrm>
            <a:off x="299677" y="640090"/>
            <a:ext cx="5147735" cy="1814511"/>
            <a:chOff x="299677" y="640090"/>
            <a:chExt cx="5147735" cy="1814511"/>
          </a:xfrm>
        </p:grpSpPr>
        <p:grpSp>
          <p:nvGrpSpPr>
            <p:cNvPr id="48" name="Gruppieren 47">
              <a:extLst>
                <a:ext uri="{FF2B5EF4-FFF2-40B4-BE49-F238E27FC236}">
                  <a16:creationId xmlns:a16="http://schemas.microsoft.com/office/drawing/2014/main" id="{810A57B7-C59D-8DC5-15AE-951C2E7B6B6E}"/>
                </a:ext>
              </a:extLst>
            </p:cNvPr>
            <p:cNvGrpSpPr/>
            <p:nvPr/>
          </p:nvGrpSpPr>
          <p:grpSpPr>
            <a:xfrm>
              <a:off x="342012" y="739655"/>
              <a:ext cx="5105400" cy="1714946"/>
              <a:chOff x="139702" y="3462518"/>
              <a:chExt cx="11912598" cy="1077552"/>
            </a:xfrm>
          </p:grpSpPr>
          <p:sp>
            <p:nvSpPr>
              <p:cNvPr id="49" name="Rechteck: abgerundete Ecken 48">
                <a:extLst>
                  <a:ext uri="{FF2B5EF4-FFF2-40B4-BE49-F238E27FC236}">
                    <a16:creationId xmlns:a16="http://schemas.microsoft.com/office/drawing/2014/main" id="{CED2A90D-C50E-94FC-35B0-34B7B7E02E44}"/>
                  </a:ext>
                </a:extLst>
              </p:cNvPr>
              <p:cNvSpPr/>
              <p:nvPr/>
            </p:nvSpPr>
            <p:spPr>
              <a:xfrm>
                <a:off x="139702" y="3462518"/>
                <a:ext cx="11912598" cy="1077552"/>
              </a:xfrm>
              <a:prstGeom prst="roundRect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 w="38100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0" name="Textfeld 49">
                <a:extLst>
                  <a:ext uri="{FF2B5EF4-FFF2-40B4-BE49-F238E27FC236}">
                    <a16:creationId xmlns:a16="http://schemas.microsoft.com/office/drawing/2014/main" id="{B60DE96F-7307-C6C5-9576-3AE62D3DE83B}"/>
                  </a:ext>
                </a:extLst>
              </p:cNvPr>
              <p:cNvSpPr txBox="1"/>
              <p:nvPr/>
            </p:nvSpPr>
            <p:spPr>
              <a:xfrm>
                <a:off x="139702" y="3551418"/>
                <a:ext cx="11912598" cy="676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de-DE" sz="1600" b="1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1600" dirty="0">
                    <a:solidFill>
                      <a:schemeClr val="bg1"/>
                    </a:solidFill>
                  </a:rPr>
                  <a:t>Internationale BWL und VWL Grundlagen gelernt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1600" dirty="0">
                    <a:solidFill>
                      <a:schemeClr val="bg1"/>
                    </a:solidFill>
                  </a:rPr>
                  <a:t>Wunsch eigenständig zu Arbeiten und Verantwortung zu übernehmen</a:t>
                </a:r>
              </a:p>
            </p:txBody>
          </p:sp>
        </p:grpSp>
        <p:sp>
          <p:nvSpPr>
            <p:cNvPr id="59" name="Ellipse 58">
              <a:extLst>
                <a:ext uri="{FF2B5EF4-FFF2-40B4-BE49-F238E27FC236}">
                  <a16:creationId xmlns:a16="http://schemas.microsoft.com/office/drawing/2014/main" id="{FB10C616-5F4C-ECB5-073D-975E21E28A7C}"/>
                </a:ext>
              </a:extLst>
            </p:cNvPr>
            <p:cNvSpPr/>
            <p:nvPr/>
          </p:nvSpPr>
          <p:spPr>
            <a:xfrm>
              <a:off x="299677" y="640090"/>
              <a:ext cx="540000" cy="540000"/>
            </a:xfrm>
            <a:prstGeom prst="ellipse">
              <a:avLst/>
            </a:prstGeom>
            <a:solidFill>
              <a:srgbClr val="2AA683"/>
            </a:solidFill>
            <a:ln>
              <a:solidFill>
                <a:srgbClr val="2AA68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000" b="1" dirty="0"/>
                <a:t>1</a:t>
              </a:r>
            </a:p>
          </p:txBody>
        </p:sp>
        <p:sp>
          <p:nvSpPr>
            <p:cNvPr id="60" name="Textfeld 59">
              <a:extLst>
                <a:ext uri="{FF2B5EF4-FFF2-40B4-BE49-F238E27FC236}">
                  <a16:creationId xmlns:a16="http://schemas.microsoft.com/office/drawing/2014/main" id="{4715CD69-178C-2C68-D5F1-11ABD8D7EFFD}"/>
                </a:ext>
              </a:extLst>
            </p:cNvPr>
            <p:cNvSpPr txBox="1"/>
            <p:nvPr/>
          </p:nvSpPr>
          <p:spPr>
            <a:xfrm>
              <a:off x="905524" y="765894"/>
              <a:ext cx="4475931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900" b="1" dirty="0">
                  <a:solidFill>
                    <a:schemeClr val="bg1"/>
                  </a:solidFill>
                </a:rPr>
                <a:t>Jakob-Friedrich-Schöllkopf Schule:</a:t>
              </a:r>
              <a:endParaRPr lang="de-DE" sz="1900" dirty="0"/>
            </a:p>
          </p:txBody>
        </p:sp>
      </p:grpSp>
      <p:grpSp>
        <p:nvGrpSpPr>
          <p:cNvPr id="67" name="Gruppieren 66">
            <a:extLst>
              <a:ext uri="{FF2B5EF4-FFF2-40B4-BE49-F238E27FC236}">
                <a16:creationId xmlns:a16="http://schemas.microsoft.com/office/drawing/2014/main" id="{724C9C2F-D554-141D-4C6B-74A80E3F42BC}"/>
              </a:ext>
            </a:extLst>
          </p:cNvPr>
          <p:cNvGrpSpPr/>
          <p:nvPr/>
        </p:nvGrpSpPr>
        <p:grpSpPr>
          <a:xfrm>
            <a:off x="299677" y="2556819"/>
            <a:ext cx="5147735" cy="1814511"/>
            <a:chOff x="299677" y="640090"/>
            <a:chExt cx="5147735" cy="1814511"/>
          </a:xfrm>
        </p:grpSpPr>
        <p:grpSp>
          <p:nvGrpSpPr>
            <p:cNvPr id="68" name="Gruppieren 67">
              <a:extLst>
                <a:ext uri="{FF2B5EF4-FFF2-40B4-BE49-F238E27FC236}">
                  <a16:creationId xmlns:a16="http://schemas.microsoft.com/office/drawing/2014/main" id="{CD2B1D0E-8DCD-50DF-EC51-3E9E998292D6}"/>
                </a:ext>
              </a:extLst>
            </p:cNvPr>
            <p:cNvGrpSpPr/>
            <p:nvPr/>
          </p:nvGrpSpPr>
          <p:grpSpPr>
            <a:xfrm>
              <a:off x="342012" y="739655"/>
              <a:ext cx="5105400" cy="1714946"/>
              <a:chOff x="139702" y="3462518"/>
              <a:chExt cx="11912598" cy="1077552"/>
            </a:xfrm>
          </p:grpSpPr>
          <p:sp>
            <p:nvSpPr>
              <p:cNvPr id="71" name="Rechteck: abgerundete Ecken 70">
                <a:extLst>
                  <a:ext uri="{FF2B5EF4-FFF2-40B4-BE49-F238E27FC236}">
                    <a16:creationId xmlns:a16="http://schemas.microsoft.com/office/drawing/2014/main" id="{49B207AA-22F1-A896-5237-D6C5E351D302}"/>
                  </a:ext>
                </a:extLst>
              </p:cNvPr>
              <p:cNvSpPr/>
              <p:nvPr/>
            </p:nvSpPr>
            <p:spPr>
              <a:xfrm>
                <a:off x="139702" y="3462518"/>
                <a:ext cx="11912598" cy="1077552"/>
              </a:xfrm>
              <a:prstGeom prst="roundRect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 w="38100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2" name="Textfeld 71">
                <a:extLst>
                  <a:ext uri="{FF2B5EF4-FFF2-40B4-BE49-F238E27FC236}">
                    <a16:creationId xmlns:a16="http://schemas.microsoft.com/office/drawing/2014/main" id="{5E3593EC-F9C7-49C1-78B3-65EE5E0E5AC9}"/>
                  </a:ext>
                </a:extLst>
              </p:cNvPr>
              <p:cNvSpPr txBox="1"/>
              <p:nvPr/>
            </p:nvSpPr>
            <p:spPr>
              <a:xfrm>
                <a:off x="139702" y="3551418"/>
                <a:ext cx="11912598" cy="676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de-DE" sz="1600" b="1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1600" dirty="0">
                    <a:solidFill>
                      <a:schemeClr val="bg1"/>
                    </a:solidFill>
                  </a:rPr>
                  <a:t>Zukunftsorientiertes Studium, um Unternehmen bei der digitalen Transformation zu begleiten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1600" dirty="0">
                    <a:solidFill>
                      <a:schemeClr val="bg1"/>
                    </a:solidFill>
                  </a:rPr>
                  <a:t>Praxiserfahrung sammeln um Theorie zu ergänzen</a:t>
                </a:r>
              </a:p>
            </p:txBody>
          </p:sp>
        </p:grpSp>
        <p:sp>
          <p:nvSpPr>
            <p:cNvPr id="69" name="Ellipse 68">
              <a:extLst>
                <a:ext uri="{FF2B5EF4-FFF2-40B4-BE49-F238E27FC236}">
                  <a16:creationId xmlns:a16="http://schemas.microsoft.com/office/drawing/2014/main" id="{879CDDE0-902D-76B7-87F4-7B3654D50856}"/>
                </a:ext>
              </a:extLst>
            </p:cNvPr>
            <p:cNvSpPr/>
            <p:nvPr/>
          </p:nvSpPr>
          <p:spPr>
            <a:xfrm>
              <a:off x="299677" y="640090"/>
              <a:ext cx="540000" cy="540000"/>
            </a:xfrm>
            <a:prstGeom prst="ellipse">
              <a:avLst/>
            </a:prstGeom>
            <a:solidFill>
              <a:srgbClr val="2AA683"/>
            </a:solidFill>
            <a:ln>
              <a:solidFill>
                <a:srgbClr val="2AA68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000" b="1" dirty="0"/>
                <a:t>3</a:t>
              </a:r>
            </a:p>
          </p:txBody>
        </p:sp>
        <p:sp>
          <p:nvSpPr>
            <p:cNvPr id="70" name="Textfeld 69">
              <a:extLst>
                <a:ext uri="{FF2B5EF4-FFF2-40B4-BE49-F238E27FC236}">
                  <a16:creationId xmlns:a16="http://schemas.microsoft.com/office/drawing/2014/main" id="{8B6EB2A4-EEFD-E870-8977-F52E3B4E3997}"/>
                </a:ext>
              </a:extLst>
            </p:cNvPr>
            <p:cNvSpPr txBox="1"/>
            <p:nvPr/>
          </p:nvSpPr>
          <p:spPr>
            <a:xfrm>
              <a:off x="905524" y="765894"/>
              <a:ext cx="4541888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900" b="1" dirty="0">
                  <a:solidFill>
                    <a:schemeClr val="bg1"/>
                  </a:solidFill>
                </a:rPr>
                <a:t>Digital Business Management Studium:</a:t>
              </a:r>
            </a:p>
          </p:txBody>
        </p:sp>
      </p:grpSp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30531E82-1084-94ED-5B4E-D32A4E4F9AB6}"/>
              </a:ext>
            </a:extLst>
          </p:cNvPr>
          <p:cNvGrpSpPr/>
          <p:nvPr/>
        </p:nvGrpSpPr>
        <p:grpSpPr>
          <a:xfrm>
            <a:off x="299677" y="4473548"/>
            <a:ext cx="5147735" cy="1814511"/>
            <a:chOff x="299677" y="640090"/>
            <a:chExt cx="5147735" cy="1814511"/>
          </a:xfrm>
        </p:grpSpPr>
        <p:grpSp>
          <p:nvGrpSpPr>
            <p:cNvPr id="74" name="Gruppieren 73">
              <a:extLst>
                <a:ext uri="{FF2B5EF4-FFF2-40B4-BE49-F238E27FC236}">
                  <a16:creationId xmlns:a16="http://schemas.microsoft.com/office/drawing/2014/main" id="{B09A947B-1E0B-DCCC-4144-EFBFEADD6490}"/>
                </a:ext>
              </a:extLst>
            </p:cNvPr>
            <p:cNvGrpSpPr/>
            <p:nvPr/>
          </p:nvGrpSpPr>
          <p:grpSpPr>
            <a:xfrm>
              <a:off x="342012" y="739655"/>
              <a:ext cx="5105400" cy="1714946"/>
              <a:chOff x="139702" y="3462518"/>
              <a:chExt cx="11912598" cy="1077552"/>
            </a:xfrm>
          </p:grpSpPr>
          <p:sp>
            <p:nvSpPr>
              <p:cNvPr id="77" name="Rechteck: abgerundete Ecken 76">
                <a:extLst>
                  <a:ext uri="{FF2B5EF4-FFF2-40B4-BE49-F238E27FC236}">
                    <a16:creationId xmlns:a16="http://schemas.microsoft.com/office/drawing/2014/main" id="{F147A8FD-1AC4-15C2-F030-DED35EADB13E}"/>
                  </a:ext>
                </a:extLst>
              </p:cNvPr>
              <p:cNvSpPr/>
              <p:nvPr/>
            </p:nvSpPr>
            <p:spPr>
              <a:xfrm>
                <a:off x="139702" y="3462518"/>
                <a:ext cx="11912598" cy="1077552"/>
              </a:xfrm>
              <a:prstGeom prst="roundRect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 w="38100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8" name="Textfeld 77">
                <a:extLst>
                  <a:ext uri="{FF2B5EF4-FFF2-40B4-BE49-F238E27FC236}">
                    <a16:creationId xmlns:a16="http://schemas.microsoft.com/office/drawing/2014/main" id="{7A19EBDF-DE02-8F06-7B4E-BC06BBA41600}"/>
                  </a:ext>
                </a:extLst>
              </p:cNvPr>
              <p:cNvSpPr txBox="1"/>
              <p:nvPr/>
            </p:nvSpPr>
            <p:spPr>
              <a:xfrm>
                <a:off x="139702" y="3551418"/>
                <a:ext cx="11912598" cy="676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de-DE" sz="1600" b="1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1600" dirty="0">
                    <a:solidFill>
                      <a:schemeClr val="bg1"/>
                    </a:solidFill>
                  </a:rPr>
                  <a:t>Strategiearbeit kennengelernt und Roadmap für die interne KI-</a:t>
                </a:r>
                <a:r>
                  <a:rPr lang="de-DE" sz="1600" dirty="0" err="1">
                    <a:solidFill>
                      <a:schemeClr val="bg1"/>
                    </a:solidFill>
                  </a:rPr>
                  <a:t>Strateie</a:t>
                </a:r>
                <a:r>
                  <a:rPr lang="de-DE" sz="1600" dirty="0">
                    <a:solidFill>
                      <a:schemeClr val="bg1"/>
                    </a:solidFill>
                  </a:rPr>
                  <a:t> entwickelt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1600" dirty="0">
                    <a:solidFill>
                      <a:schemeClr val="bg1"/>
                    </a:solidFill>
                  </a:rPr>
                  <a:t>Neue KI-Tools entwickelt</a:t>
                </a:r>
              </a:p>
            </p:txBody>
          </p:sp>
        </p:grpSp>
        <p:sp>
          <p:nvSpPr>
            <p:cNvPr id="75" name="Ellipse 74">
              <a:extLst>
                <a:ext uri="{FF2B5EF4-FFF2-40B4-BE49-F238E27FC236}">
                  <a16:creationId xmlns:a16="http://schemas.microsoft.com/office/drawing/2014/main" id="{8C0BA84D-CA6E-06DA-F3D2-ECF11F60F21C}"/>
                </a:ext>
              </a:extLst>
            </p:cNvPr>
            <p:cNvSpPr/>
            <p:nvPr/>
          </p:nvSpPr>
          <p:spPr>
            <a:xfrm>
              <a:off x="299677" y="640090"/>
              <a:ext cx="540000" cy="540000"/>
            </a:xfrm>
            <a:prstGeom prst="ellipse">
              <a:avLst/>
            </a:prstGeom>
            <a:solidFill>
              <a:srgbClr val="2AA683"/>
            </a:solidFill>
            <a:ln>
              <a:solidFill>
                <a:srgbClr val="2AA68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000" b="1" dirty="0"/>
                <a:t>5</a:t>
              </a:r>
            </a:p>
          </p:txBody>
        </p: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83906930-9731-1443-81F4-DC42E7D85828}"/>
                </a:ext>
              </a:extLst>
            </p:cNvPr>
            <p:cNvSpPr txBox="1"/>
            <p:nvPr/>
          </p:nvSpPr>
          <p:spPr>
            <a:xfrm>
              <a:off x="905524" y="765894"/>
              <a:ext cx="3827343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900" b="1" dirty="0">
                  <a:solidFill>
                    <a:schemeClr val="bg1"/>
                  </a:solidFill>
                </a:rPr>
                <a:t>Horváth &amp; Partners GmbH:</a:t>
              </a:r>
              <a:endParaRPr lang="de-DE" sz="1900" dirty="0"/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0B46A4E3-8EA6-493A-FACF-89B012AD6189}"/>
              </a:ext>
            </a:extLst>
          </p:cNvPr>
          <p:cNvGrpSpPr/>
          <p:nvPr/>
        </p:nvGrpSpPr>
        <p:grpSpPr>
          <a:xfrm>
            <a:off x="6702253" y="627061"/>
            <a:ext cx="5147735" cy="1814511"/>
            <a:chOff x="299677" y="640090"/>
            <a:chExt cx="5147735" cy="1814511"/>
          </a:xfrm>
        </p:grpSpPr>
        <p:grpSp>
          <p:nvGrpSpPr>
            <p:cNvPr id="98" name="Gruppieren 97">
              <a:extLst>
                <a:ext uri="{FF2B5EF4-FFF2-40B4-BE49-F238E27FC236}">
                  <a16:creationId xmlns:a16="http://schemas.microsoft.com/office/drawing/2014/main" id="{D4E2ACD2-D8C7-EEE0-3F5A-4299AF7FC991}"/>
                </a:ext>
              </a:extLst>
            </p:cNvPr>
            <p:cNvGrpSpPr/>
            <p:nvPr/>
          </p:nvGrpSpPr>
          <p:grpSpPr>
            <a:xfrm>
              <a:off x="342012" y="739655"/>
              <a:ext cx="5105400" cy="1714946"/>
              <a:chOff x="139702" y="3462518"/>
              <a:chExt cx="11912598" cy="1077552"/>
            </a:xfrm>
          </p:grpSpPr>
          <p:sp>
            <p:nvSpPr>
              <p:cNvPr id="101" name="Rechteck: abgerundete Ecken 100">
                <a:extLst>
                  <a:ext uri="{FF2B5EF4-FFF2-40B4-BE49-F238E27FC236}">
                    <a16:creationId xmlns:a16="http://schemas.microsoft.com/office/drawing/2014/main" id="{8830A2F7-15B5-FD08-6C90-181D40D4F4DB}"/>
                  </a:ext>
                </a:extLst>
              </p:cNvPr>
              <p:cNvSpPr/>
              <p:nvPr/>
            </p:nvSpPr>
            <p:spPr>
              <a:xfrm>
                <a:off x="139702" y="3462518"/>
                <a:ext cx="11912598" cy="1077552"/>
              </a:xfrm>
              <a:prstGeom prst="roundRect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 w="38100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2" name="Textfeld 101">
                <a:extLst>
                  <a:ext uri="{FF2B5EF4-FFF2-40B4-BE49-F238E27FC236}">
                    <a16:creationId xmlns:a16="http://schemas.microsoft.com/office/drawing/2014/main" id="{CED53CDC-B4E2-C779-C9FB-DC4C8E62330D}"/>
                  </a:ext>
                </a:extLst>
              </p:cNvPr>
              <p:cNvSpPr txBox="1"/>
              <p:nvPr/>
            </p:nvSpPr>
            <p:spPr>
              <a:xfrm>
                <a:off x="139702" y="3551418"/>
                <a:ext cx="11912598" cy="8315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de-DE" sz="1600" b="1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1600" dirty="0">
                    <a:solidFill>
                      <a:schemeClr val="bg1"/>
                    </a:solidFill>
                  </a:rPr>
                  <a:t>Verantwortung für die gesamte Wertschöpfungskette übernommen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1600" dirty="0">
                    <a:solidFill>
                      <a:schemeClr val="bg1"/>
                    </a:solidFill>
                  </a:rPr>
                  <a:t>Digitale Geschäftsmodelle kennengelernt und Leidenschaft für Digitalisierung entwickelt</a:t>
                </a:r>
              </a:p>
            </p:txBody>
          </p:sp>
        </p:grpSp>
        <p:sp>
          <p:nvSpPr>
            <p:cNvPr id="99" name="Ellipse 98">
              <a:extLst>
                <a:ext uri="{FF2B5EF4-FFF2-40B4-BE49-F238E27FC236}">
                  <a16:creationId xmlns:a16="http://schemas.microsoft.com/office/drawing/2014/main" id="{6B02D64D-AFFC-1CF4-47B4-BAE3EA1B8EB4}"/>
                </a:ext>
              </a:extLst>
            </p:cNvPr>
            <p:cNvSpPr/>
            <p:nvPr/>
          </p:nvSpPr>
          <p:spPr>
            <a:xfrm>
              <a:off x="299677" y="640090"/>
              <a:ext cx="540000" cy="540000"/>
            </a:xfrm>
            <a:prstGeom prst="ellipse">
              <a:avLst/>
            </a:prstGeom>
            <a:solidFill>
              <a:srgbClr val="2AA683"/>
            </a:solidFill>
            <a:ln>
              <a:solidFill>
                <a:srgbClr val="2AA68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000" b="1" dirty="0"/>
                <a:t>2</a:t>
              </a:r>
            </a:p>
          </p:txBody>
        </p:sp>
        <p:sp>
          <p:nvSpPr>
            <p:cNvPr id="100" name="Textfeld 99">
              <a:extLst>
                <a:ext uri="{FF2B5EF4-FFF2-40B4-BE49-F238E27FC236}">
                  <a16:creationId xmlns:a16="http://schemas.microsoft.com/office/drawing/2014/main" id="{7AE8069C-507A-7950-D555-C813AA0B9950}"/>
                </a:ext>
              </a:extLst>
            </p:cNvPr>
            <p:cNvSpPr txBox="1"/>
            <p:nvPr/>
          </p:nvSpPr>
          <p:spPr>
            <a:xfrm>
              <a:off x="905524" y="765894"/>
              <a:ext cx="4155588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900" b="1" dirty="0">
                  <a:solidFill>
                    <a:schemeClr val="bg1"/>
                  </a:solidFill>
                </a:rPr>
                <a:t>Selbstständigkeit im E-Commerce</a:t>
              </a:r>
              <a:r>
                <a:rPr lang="de-DE" b="1" dirty="0">
                  <a:solidFill>
                    <a:schemeClr val="bg1"/>
                  </a:solidFill>
                </a:rPr>
                <a:t>:</a:t>
              </a:r>
              <a:endParaRPr lang="de-DE" dirty="0"/>
            </a:p>
          </p:txBody>
        </p:sp>
      </p:grpSp>
      <p:grpSp>
        <p:nvGrpSpPr>
          <p:cNvPr id="103" name="Gruppieren 102">
            <a:extLst>
              <a:ext uri="{FF2B5EF4-FFF2-40B4-BE49-F238E27FC236}">
                <a16:creationId xmlns:a16="http://schemas.microsoft.com/office/drawing/2014/main" id="{FFE5B6E9-C898-3357-AA2C-9E6D9D06AF0B}"/>
              </a:ext>
            </a:extLst>
          </p:cNvPr>
          <p:cNvGrpSpPr/>
          <p:nvPr/>
        </p:nvGrpSpPr>
        <p:grpSpPr>
          <a:xfrm>
            <a:off x="6702253" y="2543790"/>
            <a:ext cx="5147735" cy="1814511"/>
            <a:chOff x="299677" y="640090"/>
            <a:chExt cx="5147735" cy="1814511"/>
          </a:xfrm>
        </p:grpSpPr>
        <p:grpSp>
          <p:nvGrpSpPr>
            <p:cNvPr id="104" name="Gruppieren 103">
              <a:extLst>
                <a:ext uri="{FF2B5EF4-FFF2-40B4-BE49-F238E27FC236}">
                  <a16:creationId xmlns:a16="http://schemas.microsoft.com/office/drawing/2014/main" id="{CA63307F-B82C-B453-2D27-F2E2169F89E8}"/>
                </a:ext>
              </a:extLst>
            </p:cNvPr>
            <p:cNvGrpSpPr/>
            <p:nvPr/>
          </p:nvGrpSpPr>
          <p:grpSpPr>
            <a:xfrm>
              <a:off x="342012" y="739655"/>
              <a:ext cx="5105400" cy="1714946"/>
              <a:chOff x="139702" y="3462518"/>
              <a:chExt cx="11912598" cy="1077552"/>
            </a:xfrm>
          </p:grpSpPr>
          <p:sp>
            <p:nvSpPr>
              <p:cNvPr id="107" name="Rechteck: abgerundete Ecken 106">
                <a:extLst>
                  <a:ext uri="{FF2B5EF4-FFF2-40B4-BE49-F238E27FC236}">
                    <a16:creationId xmlns:a16="http://schemas.microsoft.com/office/drawing/2014/main" id="{F40F3786-4730-BB77-CBDB-A20272AB940D}"/>
                  </a:ext>
                </a:extLst>
              </p:cNvPr>
              <p:cNvSpPr/>
              <p:nvPr/>
            </p:nvSpPr>
            <p:spPr>
              <a:xfrm>
                <a:off x="139702" y="3462518"/>
                <a:ext cx="11912598" cy="1077552"/>
              </a:xfrm>
              <a:prstGeom prst="roundRect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 w="38100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8" name="Textfeld 107">
                <a:extLst>
                  <a:ext uri="{FF2B5EF4-FFF2-40B4-BE49-F238E27FC236}">
                    <a16:creationId xmlns:a16="http://schemas.microsoft.com/office/drawing/2014/main" id="{4E8B6F29-4DD2-BBE7-4CD9-F1CCAF2B6327}"/>
                  </a:ext>
                </a:extLst>
              </p:cNvPr>
              <p:cNvSpPr txBox="1"/>
              <p:nvPr/>
            </p:nvSpPr>
            <p:spPr>
              <a:xfrm>
                <a:off x="139702" y="3551418"/>
                <a:ext cx="11912598" cy="676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de-DE" sz="1600" b="1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1600" dirty="0">
                    <a:solidFill>
                      <a:schemeClr val="bg1"/>
                    </a:solidFill>
                  </a:rPr>
                  <a:t>Erste Beratungserfahrung bei der Referenzenerstellung gesammelt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1600" dirty="0">
                    <a:solidFill>
                      <a:schemeClr val="bg1"/>
                    </a:solidFill>
                  </a:rPr>
                  <a:t>Gefallen am Beratungsumfeld gefunden</a:t>
                </a:r>
              </a:p>
            </p:txBody>
          </p:sp>
        </p:grpSp>
        <p:sp>
          <p:nvSpPr>
            <p:cNvPr id="105" name="Ellipse 104">
              <a:extLst>
                <a:ext uri="{FF2B5EF4-FFF2-40B4-BE49-F238E27FC236}">
                  <a16:creationId xmlns:a16="http://schemas.microsoft.com/office/drawing/2014/main" id="{03692E7F-17AD-DCD0-9D9F-C7229F99B8E8}"/>
                </a:ext>
              </a:extLst>
            </p:cNvPr>
            <p:cNvSpPr/>
            <p:nvPr/>
          </p:nvSpPr>
          <p:spPr>
            <a:xfrm>
              <a:off x="299677" y="640090"/>
              <a:ext cx="540000" cy="540000"/>
            </a:xfrm>
            <a:prstGeom prst="ellipse">
              <a:avLst/>
            </a:prstGeom>
            <a:solidFill>
              <a:srgbClr val="2AA683"/>
            </a:solidFill>
            <a:ln>
              <a:solidFill>
                <a:srgbClr val="2AA68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000" b="1" dirty="0"/>
                <a:t>4</a:t>
              </a:r>
            </a:p>
          </p:txBody>
        </p:sp>
        <p:sp>
          <p:nvSpPr>
            <p:cNvPr id="106" name="Textfeld 105">
              <a:extLst>
                <a:ext uri="{FF2B5EF4-FFF2-40B4-BE49-F238E27FC236}">
                  <a16:creationId xmlns:a16="http://schemas.microsoft.com/office/drawing/2014/main" id="{C0339EB4-508A-CC72-6C51-97865DB119A2}"/>
                </a:ext>
              </a:extLst>
            </p:cNvPr>
            <p:cNvSpPr txBox="1"/>
            <p:nvPr/>
          </p:nvSpPr>
          <p:spPr>
            <a:xfrm>
              <a:off x="905524" y="765894"/>
              <a:ext cx="3827343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900" b="1" dirty="0">
                  <a:solidFill>
                    <a:schemeClr val="bg1"/>
                  </a:solidFill>
                </a:rPr>
                <a:t>Staufen. Part </a:t>
              </a:r>
              <a:r>
                <a:rPr lang="de-DE" sz="1900" b="1" dirty="0" err="1">
                  <a:solidFill>
                    <a:schemeClr val="bg1"/>
                  </a:solidFill>
                </a:rPr>
                <a:t>of</a:t>
              </a:r>
              <a:r>
                <a:rPr lang="de-DE" sz="1900" b="1" dirty="0">
                  <a:solidFill>
                    <a:schemeClr val="bg1"/>
                  </a:solidFill>
                </a:rPr>
                <a:t> Accenture:</a:t>
              </a:r>
            </a:p>
          </p:txBody>
        </p:sp>
      </p:grpSp>
      <p:grpSp>
        <p:nvGrpSpPr>
          <p:cNvPr id="109" name="Gruppieren 108">
            <a:extLst>
              <a:ext uri="{FF2B5EF4-FFF2-40B4-BE49-F238E27FC236}">
                <a16:creationId xmlns:a16="http://schemas.microsoft.com/office/drawing/2014/main" id="{B07FD7BA-AEDE-3820-1C3A-E9EC7CDE3349}"/>
              </a:ext>
            </a:extLst>
          </p:cNvPr>
          <p:cNvGrpSpPr/>
          <p:nvPr/>
        </p:nvGrpSpPr>
        <p:grpSpPr>
          <a:xfrm>
            <a:off x="6702253" y="4460519"/>
            <a:ext cx="5147735" cy="1814511"/>
            <a:chOff x="299677" y="640090"/>
            <a:chExt cx="5147735" cy="1814511"/>
          </a:xfrm>
        </p:grpSpPr>
        <p:grpSp>
          <p:nvGrpSpPr>
            <p:cNvPr id="110" name="Gruppieren 109">
              <a:extLst>
                <a:ext uri="{FF2B5EF4-FFF2-40B4-BE49-F238E27FC236}">
                  <a16:creationId xmlns:a16="http://schemas.microsoft.com/office/drawing/2014/main" id="{2282562B-F2F4-F7C4-FA19-FEF2FC678B7C}"/>
                </a:ext>
              </a:extLst>
            </p:cNvPr>
            <p:cNvGrpSpPr/>
            <p:nvPr/>
          </p:nvGrpSpPr>
          <p:grpSpPr>
            <a:xfrm>
              <a:off x="342012" y="739655"/>
              <a:ext cx="5105400" cy="1714946"/>
              <a:chOff x="139702" y="3462518"/>
              <a:chExt cx="11912598" cy="1077552"/>
            </a:xfrm>
          </p:grpSpPr>
          <p:sp>
            <p:nvSpPr>
              <p:cNvPr id="113" name="Rechteck: abgerundete Ecken 112">
                <a:extLst>
                  <a:ext uri="{FF2B5EF4-FFF2-40B4-BE49-F238E27FC236}">
                    <a16:creationId xmlns:a16="http://schemas.microsoft.com/office/drawing/2014/main" id="{0227CA9A-0A79-76FE-8F1F-9D8034BD7565}"/>
                  </a:ext>
                </a:extLst>
              </p:cNvPr>
              <p:cNvSpPr/>
              <p:nvPr/>
            </p:nvSpPr>
            <p:spPr>
              <a:xfrm>
                <a:off x="139702" y="3462518"/>
                <a:ext cx="11912598" cy="1077552"/>
              </a:xfrm>
              <a:prstGeom prst="roundRect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 w="38100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14" name="Textfeld 113">
                <a:extLst>
                  <a:ext uri="{FF2B5EF4-FFF2-40B4-BE49-F238E27FC236}">
                    <a16:creationId xmlns:a16="http://schemas.microsoft.com/office/drawing/2014/main" id="{913A7457-E675-D2E9-B0BB-B8D4229D5DE2}"/>
                  </a:ext>
                </a:extLst>
              </p:cNvPr>
              <p:cNvSpPr txBox="1"/>
              <p:nvPr/>
            </p:nvSpPr>
            <p:spPr>
              <a:xfrm>
                <a:off x="139702" y="3551418"/>
                <a:ext cx="11912598" cy="676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de-DE" sz="1600" b="1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1600" dirty="0">
                    <a:solidFill>
                      <a:schemeClr val="bg1"/>
                    </a:solidFill>
                  </a:rPr>
                  <a:t>Praxiserfahrung in der Beratung sammeln und Unternehmen voranbringen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1600" dirty="0">
                    <a:solidFill>
                      <a:schemeClr val="bg1"/>
                    </a:solidFill>
                  </a:rPr>
                  <a:t>Spannende Tätigkeiten in einem super Team </a:t>
                </a:r>
              </a:p>
            </p:txBody>
          </p:sp>
        </p:grpSp>
        <p:sp>
          <p:nvSpPr>
            <p:cNvPr id="111" name="Ellipse 110">
              <a:extLst>
                <a:ext uri="{FF2B5EF4-FFF2-40B4-BE49-F238E27FC236}">
                  <a16:creationId xmlns:a16="http://schemas.microsoft.com/office/drawing/2014/main" id="{2684DB55-7C45-2FBE-1FE9-2AA885FC62C4}"/>
                </a:ext>
              </a:extLst>
            </p:cNvPr>
            <p:cNvSpPr/>
            <p:nvPr/>
          </p:nvSpPr>
          <p:spPr>
            <a:xfrm>
              <a:off x="299677" y="640090"/>
              <a:ext cx="540000" cy="540000"/>
            </a:xfrm>
            <a:prstGeom prst="ellipse">
              <a:avLst/>
            </a:prstGeom>
            <a:solidFill>
              <a:srgbClr val="2AA683"/>
            </a:solidFill>
            <a:ln>
              <a:solidFill>
                <a:srgbClr val="2AA68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000" b="1" dirty="0"/>
                <a:t>6</a:t>
              </a:r>
            </a:p>
          </p:txBody>
        </p:sp>
        <p:sp>
          <p:nvSpPr>
            <p:cNvPr id="112" name="Textfeld 111">
              <a:extLst>
                <a:ext uri="{FF2B5EF4-FFF2-40B4-BE49-F238E27FC236}">
                  <a16:creationId xmlns:a16="http://schemas.microsoft.com/office/drawing/2014/main" id="{CD8C4E7D-4C83-CA3F-4550-802653DCB307}"/>
                </a:ext>
              </a:extLst>
            </p:cNvPr>
            <p:cNvSpPr txBox="1"/>
            <p:nvPr/>
          </p:nvSpPr>
          <p:spPr>
            <a:xfrm>
              <a:off x="905524" y="765894"/>
              <a:ext cx="3827343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900" b="1" dirty="0">
                  <a:solidFill>
                    <a:schemeClr val="bg1"/>
                  </a:solidFill>
                </a:rPr>
                <a:t>UNITY AG: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1532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A2C44-6596-3BD2-C66B-40487D971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ED483FAC-2BFB-BBFC-C706-0C3FA211621B}"/>
              </a:ext>
            </a:extLst>
          </p:cNvPr>
          <p:cNvGrpSpPr/>
          <p:nvPr/>
        </p:nvGrpSpPr>
        <p:grpSpPr>
          <a:xfrm>
            <a:off x="8164015" y="4218213"/>
            <a:ext cx="3502890" cy="1857669"/>
            <a:chOff x="4515264" y="2924035"/>
            <a:chExt cx="3502890" cy="1857669"/>
          </a:xfrm>
        </p:grpSpPr>
        <p:sp>
          <p:nvSpPr>
            <p:cNvPr id="4" name="Rechteck: abgerundete Ecken 3">
              <a:extLst>
                <a:ext uri="{FF2B5EF4-FFF2-40B4-BE49-F238E27FC236}">
                  <a16:creationId xmlns:a16="http://schemas.microsoft.com/office/drawing/2014/main" id="{1478178A-5E8A-A4A0-6D16-558C9F626A54}"/>
                </a:ext>
              </a:extLst>
            </p:cNvPr>
            <p:cNvSpPr/>
            <p:nvPr/>
          </p:nvSpPr>
          <p:spPr>
            <a:xfrm>
              <a:off x="4515264" y="2924035"/>
              <a:ext cx="3502890" cy="1857669"/>
            </a:xfrm>
            <a:prstGeom prst="roundRect">
              <a:avLst/>
            </a:prstGeom>
            <a:solidFill>
              <a:schemeClr val="tx2">
                <a:lumMod val="90000"/>
                <a:lumOff val="1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41D439FC-8D4C-B3D7-F2B9-8FDEE475543E}"/>
                </a:ext>
              </a:extLst>
            </p:cNvPr>
            <p:cNvSpPr txBox="1"/>
            <p:nvPr/>
          </p:nvSpPr>
          <p:spPr>
            <a:xfrm>
              <a:off x="4782210" y="3352473"/>
              <a:ext cx="3024907" cy="11849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buNone/>
              </a:pPr>
              <a:r>
                <a:rPr lang="de-DE" sz="1900" dirty="0">
                  <a:solidFill>
                    <a:schemeClr val="bg1"/>
                  </a:solidFill>
                </a:rPr>
                <a:t>Verantwortung übernehmen dürfen und neue Ideen einbringen</a:t>
              </a:r>
            </a:p>
            <a:p>
              <a:pPr marL="285750" indent="-285750" algn="ctr"/>
              <a:endParaRPr lang="de-DE" sz="1400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A052C5A7-E4C2-5289-970E-151FF059F8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008"/>
            <a:ext cx="9144000" cy="477837"/>
          </a:xfrm>
          <a:ln>
            <a:noFill/>
          </a:ln>
        </p:spPr>
        <p:txBody>
          <a:bodyPr>
            <a:normAutofit/>
          </a:bodyPr>
          <a:lstStyle/>
          <a:p>
            <a:r>
              <a:rPr lang="de-DE" sz="2400" b="1" dirty="0">
                <a:solidFill>
                  <a:srgbClr val="002060"/>
                </a:solidFill>
              </a:rPr>
              <a:t>UNITY AG und Svenja: Gemeinsam Innovation gestalten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D42D0204-F70D-AC35-AB3F-262995E5B20D}"/>
              </a:ext>
            </a:extLst>
          </p:cNvPr>
          <p:cNvCxnSpPr/>
          <p:nvPr/>
        </p:nvCxnSpPr>
        <p:spPr>
          <a:xfrm>
            <a:off x="0" y="533400"/>
            <a:ext cx="124333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26267E3D-5950-4187-1B70-06427E2480F8}"/>
              </a:ext>
            </a:extLst>
          </p:cNvPr>
          <p:cNvCxnSpPr/>
          <p:nvPr/>
        </p:nvCxnSpPr>
        <p:spPr>
          <a:xfrm>
            <a:off x="63500" y="6453803"/>
            <a:ext cx="124333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hteck 8">
            <a:extLst>
              <a:ext uri="{FF2B5EF4-FFF2-40B4-BE49-F238E27FC236}">
                <a16:creationId xmlns:a16="http://schemas.microsoft.com/office/drawing/2014/main" id="{A30A1038-0C8D-B647-CC1E-F035F4E00175}"/>
              </a:ext>
            </a:extLst>
          </p:cNvPr>
          <p:cNvSpPr/>
          <p:nvPr/>
        </p:nvSpPr>
        <p:spPr>
          <a:xfrm>
            <a:off x="4908550" y="6559527"/>
            <a:ext cx="2374900" cy="2898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Svenja Pirsch </a:t>
            </a:r>
          </a:p>
        </p:txBody>
      </p: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1C452D78-8A7A-8CDC-06D1-C7C785BAF286}"/>
              </a:ext>
            </a:extLst>
          </p:cNvPr>
          <p:cNvGrpSpPr/>
          <p:nvPr/>
        </p:nvGrpSpPr>
        <p:grpSpPr>
          <a:xfrm>
            <a:off x="426720" y="925009"/>
            <a:ext cx="3502890" cy="1857669"/>
            <a:chOff x="4515264" y="2924035"/>
            <a:chExt cx="3502890" cy="1857669"/>
          </a:xfrm>
        </p:grpSpPr>
        <p:sp>
          <p:nvSpPr>
            <p:cNvPr id="37" name="Rechteck: abgerundete Ecken 36">
              <a:extLst>
                <a:ext uri="{FF2B5EF4-FFF2-40B4-BE49-F238E27FC236}">
                  <a16:creationId xmlns:a16="http://schemas.microsoft.com/office/drawing/2014/main" id="{769FD019-F342-9083-A25F-3C44487786CC}"/>
                </a:ext>
              </a:extLst>
            </p:cNvPr>
            <p:cNvSpPr/>
            <p:nvPr/>
          </p:nvSpPr>
          <p:spPr>
            <a:xfrm>
              <a:off x="4515264" y="2924035"/>
              <a:ext cx="3502890" cy="1857669"/>
            </a:xfrm>
            <a:prstGeom prst="roundRect">
              <a:avLst/>
            </a:prstGeom>
            <a:solidFill>
              <a:schemeClr val="tx2">
                <a:lumMod val="90000"/>
                <a:lumOff val="1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6A93E573-5612-FD21-87C6-6D53465F6EC4}"/>
                </a:ext>
              </a:extLst>
            </p:cNvPr>
            <p:cNvSpPr txBox="1"/>
            <p:nvPr/>
          </p:nvSpPr>
          <p:spPr>
            <a:xfrm>
              <a:off x="4782210" y="3352473"/>
              <a:ext cx="3024907" cy="9694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900" dirty="0">
                  <a:solidFill>
                    <a:schemeClr val="bg1"/>
                  </a:solidFill>
                </a:rPr>
                <a:t>Unity Spirit: Gemeinschaftlich  und mit Teamgeist Ziele erreichen</a:t>
              </a:r>
            </a:p>
          </p:txBody>
        </p:sp>
      </p:grp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698DD625-D895-48B0-F4D5-3B711DE48933}"/>
              </a:ext>
            </a:extLst>
          </p:cNvPr>
          <p:cNvGrpSpPr/>
          <p:nvPr/>
        </p:nvGrpSpPr>
        <p:grpSpPr>
          <a:xfrm>
            <a:off x="8164015" y="861335"/>
            <a:ext cx="3502890" cy="1857669"/>
            <a:chOff x="4515264" y="2924035"/>
            <a:chExt cx="3502890" cy="1857669"/>
          </a:xfrm>
        </p:grpSpPr>
        <p:sp>
          <p:nvSpPr>
            <p:cNvPr id="43" name="Rechteck: abgerundete Ecken 42">
              <a:extLst>
                <a:ext uri="{FF2B5EF4-FFF2-40B4-BE49-F238E27FC236}">
                  <a16:creationId xmlns:a16="http://schemas.microsoft.com/office/drawing/2014/main" id="{C88D05EF-0527-3B7F-8DD3-7004B20FF3E5}"/>
                </a:ext>
              </a:extLst>
            </p:cNvPr>
            <p:cNvSpPr/>
            <p:nvPr/>
          </p:nvSpPr>
          <p:spPr>
            <a:xfrm>
              <a:off x="4515264" y="2924035"/>
              <a:ext cx="3502890" cy="1857669"/>
            </a:xfrm>
            <a:prstGeom prst="roundRect">
              <a:avLst/>
            </a:prstGeom>
            <a:solidFill>
              <a:schemeClr val="tx2">
                <a:lumMod val="90000"/>
                <a:lumOff val="1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" name="Textfeld 43">
              <a:extLst>
                <a:ext uri="{FF2B5EF4-FFF2-40B4-BE49-F238E27FC236}">
                  <a16:creationId xmlns:a16="http://schemas.microsoft.com/office/drawing/2014/main" id="{B21AC259-5D83-5F9D-D55B-7DF1697A4D54}"/>
                </a:ext>
              </a:extLst>
            </p:cNvPr>
            <p:cNvSpPr txBox="1"/>
            <p:nvPr/>
          </p:nvSpPr>
          <p:spPr>
            <a:xfrm>
              <a:off x="4782210" y="3269953"/>
              <a:ext cx="3024907" cy="12618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buNone/>
              </a:pPr>
              <a:r>
                <a:rPr lang="de-DE" sz="1900" dirty="0">
                  <a:solidFill>
                    <a:schemeClr val="bg1"/>
                  </a:solidFill>
                </a:rPr>
                <a:t>Steile Lernkurve bei spannenden Projekten und den echten Berateralltag sehen </a:t>
              </a:r>
            </a:p>
          </p:txBody>
        </p:sp>
      </p:grpSp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0FF57E6C-8341-394A-7CCD-4F107E354FE6}"/>
              </a:ext>
            </a:extLst>
          </p:cNvPr>
          <p:cNvGrpSpPr/>
          <p:nvPr/>
        </p:nvGrpSpPr>
        <p:grpSpPr>
          <a:xfrm>
            <a:off x="426720" y="4218214"/>
            <a:ext cx="3502890" cy="1857669"/>
            <a:chOff x="4515264" y="2924035"/>
            <a:chExt cx="3502890" cy="1857669"/>
          </a:xfrm>
        </p:grpSpPr>
        <p:sp>
          <p:nvSpPr>
            <p:cNvPr id="46" name="Rechteck: abgerundete Ecken 45">
              <a:extLst>
                <a:ext uri="{FF2B5EF4-FFF2-40B4-BE49-F238E27FC236}">
                  <a16:creationId xmlns:a16="http://schemas.microsoft.com/office/drawing/2014/main" id="{98C23A68-95C4-9F0F-E4EF-07643ADFE980}"/>
                </a:ext>
              </a:extLst>
            </p:cNvPr>
            <p:cNvSpPr/>
            <p:nvPr/>
          </p:nvSpPr>
          <p:spPr>
            <a:xfrm>
              <a:off x="4515264" y="2924035"/>
              <a:ext cx="3502890" cy="1857669"/>
            </a:xfrm>
            <a:prstGeom prst="roundRect">
              <a:avLst/>
            </a:prstGeom>
            <a:solidFill>
              <a:schemeClr val="tx2">
                <a:lumMod val="90000"/>
                <a:lumOff val="1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" name="Textfeld 46">
              <a:extLst>
                <a:ext uri="{FF2B5EF4-FFF2-40B4-BE49-F238E27FC236}">
                  <a16:creationId xmlns:a16="http://schemas.microsoft.com/office/drawing/2014/main" id="{596E76A4-0DFB-5A72-6D01-146E73A48939}"/>
                </a:ext>
              </a:extLst>
            </p:cNvPr>
            <p:cNvSpPr txBox="1"/>
            <p:nvPr/>
          </p:nvSpPr>
          <p:spPr>
            <a:xfrm>
              <a:off x="4782210" y="3352473"/>
              <a:ext cx="3024907" cy="9694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900" dirty="0">
                  <a:solidFill>
                    <a:schemeClr val="bg1"/>
                  </a:solidFill>
                </a:rPr>
                <a:t>Geteilte Leidenschaft für Digitalisierung und Innovation</a:t>
              </a:r>
            </a:p>
          </p:txBody>
        </p:sp>
      </p:grp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7FB1E5C7-0548-F5AE-781B-B26EA13EF7E5}"/>
              </a:ext>
            </a:extLst>
          </p:cNvPr>
          <p:cNvGrpSpPr/>
          <p:nvPr/>
        </p:nvGrpSpPr>
        <p:grpSpPr>
          <a:xfrm>
            <a:off x="4340183" y="2506691"/>
            <a:ext cx="3502890" cy="1857669"/>
            <a:chOff x="4515264" y="2924035"/>
            <a:chExt cx="3502890" cy="1857669"/>
          </a:xfrm>
        </p:grpSpPr>
        <p:sp>
          <p:nvSpPr>
            <p:cNvPr id="52" name="Rechteck: abgerundete Ecken 51">
              <a:extLst>
                <a:ext uri="{FF2B5EF4-FFF2-40B4-BE49-F238E27FC236}">
                  <a16:creationId xmlns:a16="http://schemas.microsoft.com/office/drawing/2014/main" id="{BED0F05F-0633-1E5A-9F20-CA1BC6F3A956}"/>
                </a:ext>
              </a:extLst>
            </p:cNvPr>
            <p:cNvSpPr/>
            <p:nvPr/>
          </p:nvSpPr>
          <p:spPr>
            <a:xfrm>
              <a:off x="4515264" y="2924035"/>
              <a:ext cx="3502890" cy="1857669"/>
            </a:xfrm>
            <a:prstGeom prst="roundRect">
              <a:avLst/>
            </a:prstGeom>
            <a:solidFill>
              <a:schemeClr val="tx2">
                <a:lumMod val="90000"/>
                <a:lumOff val="10000"/>
              </a:schemeClr>
            </a:solidFill>
            <a:ln w="57150">
              <a:solidFill>
                <a:srgbClr val="2AA68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" name="Textfeld 52">
              <a:extLst>
                <a:ext uri="{FF2B5EF4-FFF2-40B4-BE49-F238E27FC236}">
                  <a16:creationId xmlns:a16="http://schemas.microsoft.com/office/drawing/2014/main" id="{90845699-B80F-7B2B-08BC-F41270A20B6E}"/>
                </a:ext>
              </a:extLst>
            </p:cNvPr>
            <p:cNvSpPr txBox="1"/>
            <p:nvPr/>
          </p:nvSpPr>
          <p:spPr>
            <a:xfrm>
              <a:off x="4782210" y="3352473"/>
              <a:ext cx="3024907" cy="969496"/>
            </a:xfrm>
            <a:prstGeom prst="rect">
              <a:avLst/>
            </a:prstGeom>
            <a:noFill/>
            <a:ln w="571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900" b="1" dirty="0">
                  <a:solidFill>
                    <a:schemeClr val="bg1"/>
                  </a:solidFill>
                </a:rPr>
                <a:t>UNITY AG &amp; Svenja: Gemeinsam Innovation gestalten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59401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9E3B1-8501-2B7B-41A5-4EE57FBE9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913E40-69A5-A89E-CFAA-3DBFBF6B35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008"/>
            <a:ext cx="9144000" cy="477837"/>
          </a:xfrm>
          <a:ln>
            <a:noFill/>
          </a:ln>
        </p:spPr>
        <p:txBody>
          <a:bodyPr>
            <a:normAutofit/>
          </a:bodyPr>
          <a:lstStyle/>
          <a:p>
            <a:r>
              <a:rPr lang="de-DE" sz="2400" b="1" dirty="0">
                <a:solidFill>
                  <a:srgbClr val="002060"/>
                </a:solidFill>
              </a:rPr>
              <a:t>Leidenschaft trifft Kompetenz: Meine Wirkung bei UNITY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5FAF7ECD-DDDE-AE56-2061-A85BFB96B97C}"/>
              </a:ext>
            </a:extLst>
          </p:cNvPr>
          <p:cNvCxnSpPr/>
          <p:nvPr/>
        </p:nvCxnSpPr>
        <p:spPr>
          <a:xfrm>
            <a:off x="0" y="533400"/>
            <a:ext cx="124333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D406E5FA-89A6-083C-19DB-BE2F49E33972}"/>
              </a:ext>
            </a:extLst>
          </p:cNvPr>
          <p:cNvCxnSpPr/>
          <p:nvPr/>
        </p:nvCxnSpPr>
        <p:spPr>
          <a:xfrm>
            <a:off x="63500" y="6453803"/>
            <a:ext cx="124333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hteck 8">
            <a:extLst>
              <a:ext uri="{FF2B5EF4-FFF2-40B4-BE49-F238E27FC236}">
                <a16:creationId xmlns:a16="http://schemas.microsoft.com/office/drawing/2014/main" id="{EDA2B65E-78FE-C519-1EFC-602B782B385B}"/>
              </a:ext>
            </a:extLst>
          </p:cNvPr>
          <p:cNvSpPr/>
          <p:nvPr/>
        </p:nvSpPr>
        <p:spPr>
          <a:xfrm>
            <a:off x="4908550" y="6559527"/>
            <a:ext cx="2374900" cy="2898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Svenja Pirsch </a:t>
            </a:r>
          </a:p>
        </p:txBody>
      </p:sp>
      <p:grpSp>
        <p:nvGrpSpPr>
          <p:cNvPr id="132" name="Gruppieren 131">
            <a:extLst>
              <a:ext uri="{FF2B5EF4-FFF2-40B4-BE49-F238E27FC236}">
                <a16:creationId xmlns:a16="http://schemas.microsoft.com/office/drawing/2014/main" id="{7F43BB9E-A2D3-2A0A-9ABA-C7427E879890}"/>
              </a:ext>
            </a:extLst>
          </p:cNvPr>
          <p:cNvGrpSpPr/>
          <p:nvPr/>
        </p:nvGrpSpPr>
        <p:grpSpPr>
          <a:xfrm>
            <a:off x="416445" y="823452"/>
            <a:ext cx="5147735" cy="2306309"/>
            <a:chOff x="299677" y="640090"/>
            <a:chExt cx="5147735" cy="2306309"/>
          </a:xfrm>
        </p:grpSpPr>
        <p:grpSp>
          <p:nvGrpSpPr>
            <p:cNvPr id="116" name="Gruppieren 115">
              <a:extLst>
                <a:ext uri="{FF2B5EF4-FFF2-40B4-BE49-F238E27FC236}">
                  <a16:creationId xmlns:a16="http://schemas.microsoft.com/office/drawing/2014/main" id="{9C671402-6077-B69F-66EF-18230CDDBB34}"/>
                </a:ext>
              </a:extLst>
            </p:cNvPr>
            <p:cNvGrpSpPr/>
            <p:nvPr/>
          </p:nvGrpSpPr>
          <p:grpSpPr>
            <a:xfrm>
              <a:off x="342012" y="739654"/>
              <a:ext cx="5105400" cy="2206745"/>
              <a:chOff x="139702" y="3462518"/>
              <a:chExt cx="11912598" cy="1077552"/>
            </a:xfrm>
          </p:grpSpPr>
          <p:sp>
            <p:nvSpPr>
              <p:cNvPr id="119" name="Rechteck: abgerundete Ecken 118">
                <a:extLst>
                  <a:ext uri="{FF2B5EF4-FFF2-40B4-BE49-F238E27FC236}">
                    <a16:creationId xmlns:a16="http://schemas.microsoft.com/office/drawing/2014/main" id="{ED597B18-8413-AF0F-B7AB-5D26324CD796}"/>
                  </a:ext>
                </a:extLst>
              </p:cNvPr>
              <p:cNvSpPr/>
              <p:nvPr/>
            </p:nvSpPr>
            <p:spPr>
              <a:xfrm>
                <a:off x="139702" y="3462518"/>
                <a:ext cx="11912598" cy="1077552"/>
              </a:xfrm>
              <a:prstGeom prst="roundRect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 w="38100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0" name="Textfeld 119">
                <a:extLst>
                  <a:ext uri="{FF2B5EF4-FFF2-40B4-BE49-F238E27FC236}">
                    <a16:creationId xmlns:a16="http://schemas.microsoft.com/office/drawing/2014/main" id="{03AECD72-1686-90C0-A73E-C939F1CBD5B5}"/>
                  </a:ext>
                </a:extLst>
              </p:cNvPr>
              <p:cNvSpPr txBox="1"/>
              <p:nvPr/>
            </p:nvSpPr>
            <p:spPr>
              <a:xfrm>
                <a:off x="768374" y="3591759"/>
                <a:ext cx="10655254" cy="7589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de-DE" sz="1900" b="1" dirty="0">
                  <a:solidFill>
                    <a:schemeClr val="bg1"/>
                  </a:solidFill>
                </a:endParaRPr>
              </a:p>
              <a:p>
                <a:r>
                  <a:rPr lang="de-DE" sz="1900" dirty="0">
                    <a:solidFill>
                      <a:schemeClr val="bg1"/>
                    </a:solidFill>
                  </a:rPr>
                  <a:t>Ich bringe eine hohe Lernbereitschaft mit, was ich bereits in meiner Selbstständigkeit unter Beweis stellen konnte</a:t>
                </a:r>
              </a:p>
            </p:txBody>
          </p:sp>
        </p:grpSp>
        <p:sp>
          <p:nvSpPr>
            <p:cNvPr id="117" name="Ellipse 116">
              <a:extLst>
                <a:ext uri="{FF2B5EF4-FFF2-40B4-BE49-F238E27FC236}">
                  <a16:creationId xmlns:a16="http://schemas.microsoft.com/office/drawing/2014/main" id="{F36931D4-951B-20F0-FD1E-FCBD11198B11}"/>
                </a:ext>
              </a:extLst>
            </p:cNvPr>
            <p:cNvSpPr/>
            <p:nvPr/>
          </p:nvSpPr>
          <p:spPr>
            <a:xfrm>
              <a:off x="299677" y="640090"/>
              <a:ext cx="540000" cy="540000"/>
            </a:xfrm>
            <a:prstGeom prst="ellipse">
              <a:avLst/>
            </a:prstGeom>
            <a:solidFill>
              <a:srgbClr val="2AA683"/>
            </a:solidFill>
            <a:ln>
              <a:solidFill>
                <a:srgbClr val="2AA68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000" b="1" dirty="0"/>
            </a:p>
          </p:txBody>
        </p:sp>
        <p:sp>
          <p:nvSpPr>
            <p:cNvPr id="124" name="Textfeld 123">
              <a:extLst>
                <a:ext uri="{FF2B5EF4-FFF2-40B4-BE49-F238E27FC236}">
                  <a16:creationId xmlns:a16="http://schemas.microsoft.com/office/drawing/2014/main" id="{1DBBF0D1-7BEC-B046-C19F-8F8820E76732}"/>
                </a:ext>
              </a:extLst>
            </p:cNvPr>
            <p:cNvSpPr txBox="1"/>
            <p:nvPr/>
          </p:nvSpPr>
          <p:spPr>
            <a:xfrm>
              <a:off x="905524" y="765894"/>
              <a:ext cx="4475931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900" b="1" dirty="0">
                  <a:solidFill>
                    <a:schemeClr val="bg1"/>
                  </a:solidFill>
                </a:rPr>
                <a:t>Hohe Lernbereitschaft</a:t>
              </a:r>
            </a:p>
          </p:txBody>
        </p:sp>
      </p:grpSp>
      <p:grpSp>
        <p:nvGrpSpPr>
          <p:cNvPr id="133" name="Gruppieren 132">
            <a:extLst>
              <a:ext uri="{FF2B5EF4-FFF2-40B4-BE49-F238E27FC236}">
                <a16:creationId xmlns:a16="http://schemas.microsoft.com/office/drawing/2014/main" id="{A7DF0954-6D69-B01E-C619-C3FD56415FA0}"/>
              </a:ext>
            </a:extLst>
          </p:cNvPr>
          <p:cNvGrpSpPr/>
          <p:nvPr/>
        </p:nvGrpSpPr>
        <p:grpSpPr>
          <a:xfrm>
            <a:off x="395278" y="3728239"/>
            <a:ext cx="5147735" cy="2306309"/>
            <a:chOff x="299677" y="640090"/>
            <a:chExt cx="5147735" cy="2306309"/>
          </a:xfrm>
        </p:grpSpPr>
        <p:grpSp>
          <p:nvGrpSpPr>
            <p:cNvPr id="134" name="Gruppieren 133">
              <a:extLst>
                <a:ext uri="{FF2B5EF4-FFF2-40B4-BE49-F238E27FC236}">
                  <a16:creationId xmlns:a16="http://schemas.microsoft.com/office/drawing/2014/main" id="{699AF5D1-AD59-D2A8-84FB-9CF59ED62544}"/>
                </a:ext>
              </a:extLst>
            </p:cNvPr>
            <p:cNvGrpSpPr/>
            <p:nvPr/>
          </p:nvGrpSpPr>
          <p:grpSpPr>
            <a:xfrm>
              <a:off x="342012" y="739654"/>
              <a:ext cx="5105400" cy="2206745"/>
              <a:chOff x="139702" y="3462518"/>
              <a:chExt cx="11912598" cy="1077552"/>
            </a:xfrm>
          </p:grpSpPr>
          <p:sp>
            <p:nvSpPr>
              <p:cNvPr id="137" name="Rechteck: abgerundete Ecken 136">
                <a:extLst>
                  <a:ext uri="{FF2B5EF4-FFF2-40B4-BE49-F238E27FC236}">
                    <a16:creationId xmlns:a16="http://schemas.microsoft.com/office/drawing/2014/main" id="{6C9CB8B9-70D8-886C-5A8F-A973A2C626C9}"/>
                  </a:ext>
                </a:extLst>
              </p:cNvPr>
              <p:cNvSpPr/>
              <p:nvPr/>
            </p:nvSpPr>
            <p:spPr>
              <a:xfrm>
                <a:off x="139702" y="3462518"/>
                <a:ext cx="11912598" cy="1077552"/>
              </a:xfrm>
              <a:prstGeom prst="roundRect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 w="38100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38" name="Textfeld 137">
                <a:extLst>
                  <a:ext uri="{FF2B5EF4-FFF2-40B4-BE49-F238E27FC236}">
                    <a16:creationId xmlns:a16="http://schemas.microsoft.com/office/drawing/2014/main" id="{F077E3CC-B7E4-FA1E-A9F8-163434C23BC9}"/>
                  </a:ext>
                </a:extLst>
              </p:cNvPr>
              <p:cNvSpPr txBox="1"/>
              <p:nvPr/>
            </p:nvSpPr>
            <p:spPr>
              <a:xfrm>
                <a:off x="768374" y="3591759"/>
                <a:ext cx="10655254" cy="7965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de-DE" sz="2000" dirty="0"/>
              </a:p>
              <a:p>
                <a:r>
                  <a:rPr lang="de-DE" sz="1900" b="1" dirty="0">
                    <a:solidFill>
                      <a:schemeClr val="bg1"/>
                    </a:solidFill>
                  </a:rPr>
                  <a:t>Ich begeistere mich für digitale Geschäftsmodelle, Technologien und den Einsatz von KI und möchte diese vorantreiben</a:t>
                </a:r>
              </a:p>
            </p:txBody>
          </p:sp>
        </p:grpSp>
        <p:sp>
          <p:nvSpPr>
            <p:cNvPr id="135" name="Ellipse 134">
              <a:extLst>
                <a:ext uri="{FF2B5EF4-FFF2-40B4-BE49-F238E27FC236}">
                  <a16:creationId xmlns:a16="http://schemas.microsoft.com/office/drawing/2014/main" id="{D7A4F573-889C-16F7-90B5-6047FC2A8EB6}"/>
                </a:ext>
              </a:extLst>
            </p:cNvPr>
            <p:cNvSpPr/>
            <p:nvPr/>
          </p:nvSpPr>
          <p:spPr>
            <a:xfrm>
              <a:off x="299677" y="640090"/>
              <a:ext cx="540000" cy="540000"/>
            </a:xfrm>
            <a:prstGeom prst="ellipse">
              <a:avLst/>
            </a:prstGeom>
            <a:solidFill>
              <a:srgbClr val="2AA683"/>
            </a:solidFill>
            <a:ln>
              <a:solidFill>
                <a:srgbClr val="2AA68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000" b="1" dirty="0"/>
            </a:p>
          </p:txBody>
        </p:sp>
        <p:sp>
          <p:nvSpPr>
            <p:cNvPr id="136" name="Textfeld 135">
              <a:extLst>
                <a:ext uri="{FF2B5EF4-FFF2-40B4-BE49-F238E27FC236}">
                  <a16:creationId xmlns:a16="http://schemas.microsoft.com/office/drawing/2014/main" id="{83262BC1-EDE2-3B49-090F-29894CF0CB5A}"/>
                </a:ext>
              </a:extLst>
            </p:cNvPr>
            <p:cNvSpPr txBox="1"/>
            <p:nvPr/>
          </p:nvSpPr>
          <p:spPr>
            <a:xfrm>
              <a:off x="905524" y="765894"/>
              <a:ext cx="4475931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900" b="1" dirty="0">
                  <a:solidFill>
                    <a:schemeClr val="bg1"/>
                  </a:solidFill>
                </a:rPr>
                <a:t>Digital Enthusiast</a:t>
              </a:r>
            </a:p>
          </p:txBody>
        </p:sp>
      </p:grpSp>
      <p:grpSp>
        <p:nvGrpSpPr>
          <p:cNvPr id="139" name="Gruppieren 138">
            <a:extLst>
              <a:ext uri="{FF2B5EF4-FFF2-40B4-BE49-F238E27FC236}">
                <a16:creationId xmlns:a16="http://schemas.microsoft.com/office/drawing/2014/main" id="{F9A55753-CFE8-D81E-0F8D-5971A3E332CD}"/>
              </a:ext>
            </a:extLst>
          </p:cNvPr>
          <p:cNvGrpSpPr/>
          <p:nvPr/>
        </p:nvGrpSpPr>
        <p:grpSpPr>
          <a:xfrm>
            <a:off x="6627822" y="829013"/>
            <a:ext cx="5147735" cy="2306309"/>
            <a:chOff x="299677" y="640090"/>
            <a:chExt cx="5147735" cy="2306309"/>
          </a:xfrm>
        </p:grpSpPr>
        <p:grpSp>
          <p:nvGrpSpPr>
            <p:cNvPr id="140" name="Gruppieren 139">
              <a:extLst>
                <a:ext uri="{FF2B5EF4-FFF2-40B4-BE49-F238E27FC236}">
                  <a16:creationId xmlns:a16="http://schemas.microsoft.com/office/drawing/2014/main" id="{44FBC797-07CC-8CED-3A52-8F468A21AB23}"/>
                </a:ext>
              </a:extLst>
            </p:cNvPr>
            <p:cNvGrpSpPr/>
            <p:nvPr/>
          </p:nvGrpSpPr>
          <p:grpSpPr>
            <a:xfrm>
              <a:off x="342012" y="739654"/>
              <a:ext cx="5105400" cy="2206745"/>
              <a:chOff x="139702" y="3462518"/>
              <a:chExt cx="11912598" cy="1077552"/>
            </a:xfrm>
          </p:grpSpPr>
          <p:sp>
            <p:nvSpPr>
              <p:cNvPr id="143" name="Rechteck: abgerundete Ecken 142">
                <a:extLst>
                  <a:ext uri="{FF2B5EF4-FFF2-40B4-BE49-F238E27FC236}">
                    <a16:creationId xmlns:a16="http://schemas.microsoft.com/office/drawing/2014/main" id="{D812E351-07E6-7C90-F0A3-4FE513B8E6CE}"/>
                  </a:ext>
                </a:extLst>
              </p:cNvPr>
              <p:cNvSpPr/>
              <p:nvPr/>
            </p:nvSpPr>
            <p:spPr>
              <a:xfrm>
                <a:off x="139702" y="3462518"/>
                <a:ext cx="11912598" cy="1077552"/>
              </a:xfrm>
              <a:prstGeom prst="roundRect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 w="38100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44" name="Textfeld 143">
                <a:extLst>
                  <a:ext uri="{FF2B5EF4-FFF2-40B4-BE49-F238E27FC236}">
                    <a16:creationId xmlns:a16="http://schemas.microsoft.com/office/drawing/2014/main" id="{060A8BE9-50EC-23E9-DDEF-0515C4937133}"/>
                  </a:ext>
                </a:extLst>
              </p:cNvPr>
              <p:cNvSpPr txBox="1"/>
              <p:nvPr/>
            </p:nvSpPr>
            <p:spPr>
              <a:xfrm>
                <a:off x="768374" y="3591759"/>
                <a:ext cx="10655254" cy="6462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de-DE" sz="2000" dirty="0"/>
              </a:p>
              <a:p>
                <a:r>
                  <a:rPr lang="de-DE" sz="1900" b="1" dirty="0">
                    <a:solidFill>
                      <a:schemeClr val="bg1"/>
                    </a:solidFill>
                  </a:rPr>
                  <a:t>Ich liebe Teamarbeit, sei es bei gemeinsamen Workshops wie bei Horváth oder in meinem Ehrenamt.</a:t>
                </a:r>
              </a:p>
            </p:txBody>
          </p:sp>
        </p:grpSp>
        <p:sp>
          <p:nvSpPr>
            <p:cNvPr id="141" name="Ellipse 140">
              <a:extLst>
                <a:ext uri="{FF2B5EF4-FFF2-40B4-BE49-F238E27FC236}">
                  <a16:creationId xmlns:a16="http://schemas.microsoft.com/office/drawing/2014/main" id="{B65D8D1A-CC85-B003-47A4-2F37983C6856}"/>
                </a:ext>
              </a:extLst>
            </p:cNvPr>
            <p:cNvSpPr/>
            <p:nvPr/>
          </p:nvSpPr>
          <p:spPr>
            <a:xfrm>
              <a:off x="299677" y="640090"/>
              <a:ext cx="540000" cy="540000"/>
            </a:xfrm>
            <a:prstGeom prst="ellipse">
              <a:avLst/>
            </a:prstGeom>
            <a:solidFill>
              <a:srgbClr val="2AA683"/>
            </a:solidFill>
            <a:ln>
              <a:solidFill>
                <a:srgbClr val="2AA68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000" b="1" dirty="0"/>
            </a:p>
          </p:txBody>
        </p:sp>
        <p:sp>
          <p:nvSpPr>
            <p:cNvPr id="142" name="Textfeld 141">
              <a:extLst>
                <a:ext uri="{FF2B5EF4-FFF2-40B4-BE49-F238E27FC236}">
                  <a16:creationId xmlns:a16="http://schemas.microsoft.com/office/drawing/2014/main" id="{B0645774-7219-81E9-F8B4-FBC18E5FEA5F}"/>
                </a:ext>
              </a:extLst>
            </p:cNvPr>
            <p:cNvSpPr txBox="1"/>
            <p:nvPr/>
          </p:nvSpPr>
          <p:spPr>
            <a:xfrm>
              <a:off x="905524" y="765894"/>
              <a:ext cx="4475931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900" b="1" dirty="0">
                  <a:solidFill>
                    <a:schemeClr val="bg1"/>
                  </a:solidFill>
                </a:rPr>
                <a:t>Teamgeist</a:t>
              </a:r>
            </a:p>
          </p:txBody>
        </p:sp>
      </p:grpSp>
      <p:grpSp>
        <p:nvGrpSpPr>
          <p:cNvPr id="145" name="Gruppieren 144">
            <a:extLst>
              <a:ext uri="{FF2B5EF4-FFF2-40B4-BE49-F238E27FC236}">
                <a16:creationId xmlns:a16="http://schemas.microsoft.com/office/drawing/2014/main" id="{91D9AAA3-EDBF-593D-3A86-5733572900D3}"/>
              </a:ext>
            </a:extLst>
          </p:cNvPr>
          <p:cNvGrpSpPr/>
          <p:nvPr/>
        </p:nvGrpSpPr>
        <p:grpSpPr>
          <a:xfrm>
            <a:off x="6648987" y="3716460"/>
            <a:ext cx="5147735" cy="2306309"/>
            <a:chOff x="299677" y="640090"/>
            <a:chExt cx="5147735" cy="2306309"/>
          </a:xfrm>
        </p:grpSpPr>
        <p:grpSp>
          <p:nvGrpSpPr>
            <p:cNvPr id="146" name="Gruppieren 145">
              <a:extLst>
                <a:ext uri="{FF2B5EF4-FFF2-40B4-BE49-F238E27FC236}">
                  <a16:creationId xmlns:a16="http://schemas.microsoft.com/office/drawing/2014/main" id="{0D123990-CD68-3494-7D1B-4B1EA09941F9}"/>
                </a:ext>
              </a:extLst>
            </p:cNvPr>
            <p:cNvGrpSpPr/>
            <p:nvPr/>
          </p:nvGrpSpPr>
          <p:grpSpPr>
            <a:xfrm>
              <a:off x="342012" y="739654"/>
              <a:ext cx="5105400" cy="2206745"/>
              <a:chOff x="139702" y="3462518"/>
              <a:chExt cx="11912598" cy="1077552"/>
            </a:xfrm>
          </p:grpSpPr>
          <p:sp>
            <p:nvSpPr>
              <p:cNvPr id="149" name="Rechteck: abgerundete Ecken 148">
                <a:extLst>
                  <a:ext uri="{FF2B5EF4-FFF2-40B4-BE49-F238E27FC236}">
                    <a16:creationId xmlns:a16="http://schemas.microsoft.com/office/drawing/2014/main" id="{5B9A8E7E-AEA2-5FA0-881A-8AE2C5A95B09}"/>
                  </a:ext>
                </a:extLst>
              </p:cNvPr>
              <p:cNvSpPr/>
              <p:nvPr/>
            </p:nvSpPr>
            <p:spPr>
              <a:xfrm>
                <a:off x="139702" y="3462518"/>
                <a:ext cx="11912598" cy="1077552"/>
              </a:xfrm>
              <a:prstGeom prst="roundRect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 w="38100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50" name="Textfeld 149">
                <a:extLst>
                  <a:ext uri="{FF2B5EF4-FFF2-40B4-BE49-F238E27FC236}">
                    <a16:creationId xmlns:a16="http://schemas.microsoft.com/office/drawing/2014/main" id="{738BBB16-CF83-CC82-3829-98F0F79AD432}"/>
                  </a:ext>
                </a:extLst>
              </p:cNvPr>
              <p:cNvSpPr txBox="1"/>
              <p:nvPr/>
            </p:nvSpPr>
            <p:spPr>
              <a:xfrm>
                <a:off x="768374" y="3591759"/>
                <a:ext cx="10655254" cy="7965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de-DE" sz="2000" dirty="0"/>
              </a:p>
              <a:p>
                <a:r>
                  <a:rPr lang="de-DE" sz="1900" b="1" dirty="0">
                    <a:solidFill>
                      <a:schemeClr val="bg1"/>
                    </a:solidFill>
                  </a:rPr>
                  <a:t>Ich stehe für mein Team ein und halte auch unter Druck durch, z. B. bei der kurzfristigen Erstellung von Referenzen für Angebote bei Staufen.</a:t>
                </a:r>
              </a:p>
            </p:txBody>
          </p:sp>
        </p:grpSp>
        <p:sp>
          <p:nvSpPr>
            <p:cNvPr id="147" name="Ellipse 146">
              <a:extLst>
                <a:ext uri="{FF2B5EF4-FFF2-40B4-BE49-F238E27FC236}">
                  <a16:creationId xmlns:a16="http://schemas.microsoft.com/office/drawing/2014/main" id="{DE9ABF4D-09BB-0886-05D1-BDBBCC3FED18}"/>
                </a:ext>
              </a:extLst>
            </p:cNvPr>
            <p:cNvSpPr/>
            <p:nvPr/>
          </p:nvSpPr>
          <p:spPr>
            <a:xfrm>
              <a:off x="299677" y="640090"/>
              <a:ext cx="540000" cy="540000"/>
            </a:xfrm>
            <a:prstGeom prst="ellipse">
              <a:avLst/>
            </a:prstGeom>
            <a:solidFill>
              <a:srgbClr val="2AA683"/>
            </a:solidFill>
            <a:ln>
              <a:solidFill>
                <a:srgbClr val="2AA68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000" b="1" dirty="0"/>
            </a:p>
          </p:txBody>
        </p:sp>
        <p:sp>
          <p:nvSpPr>
            <p:cNvPr id="148" name="Textfeld 147">
              <a:extLst>
                <a:ext uri="{FF2B5EF4-FFF2-40B4-BE49-F238E27FC236}">
                  <a16:creationId xmlns:a16="http://schemas.microsoft.com/office/drawing/2014/main" id="{D2D463AF-0918-5D73-74F3-757054D69FC4}"/>
                </a:ext>
              </a:extLst>
            </p:cNvPr>
            <p:cNvSpPr txBox="1"/>
            <p:nvPr/>
          </p:nvSpPr>
          <p:spPr>
            <a:xfrm>
              <a:off x="905524" y="765894"/>
              <a:ext cx="4475931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900" b="1" dirty="0">
                  <a:solidFill>
                    <a:schemeClr val="bg1"/>
                  </a:solidFill>
                </a:rPr>
                <a:t>Diszipliniert</a:t>
              </a:r>
            </a:p>
          </p:txBody>
        </p:sp>
      </p:grpSp>
      <p:pic>
        <p:nvPicPr>
          <p:cNvPr id="152" name="Grafik 151" descr="Idee Silhouette">
            <a:extLst>
              <a:ext uri="{FF2B5EF4-FFF2-40B4-BE49-F238E27FC236}">
                <a16:creationId xmlns:a16="http://schemas.microsoft.com/office/drawing/2014/main" id="{4C7C0547-1D35-0C2A-0B18-B5459DC51A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6794" y="796286"/>
            <a:ext cx="594331" cy="594331"/>
          </a:xfrm>
          <a:prstGeom prst="rect">
            <a:avLst/>
          </a:prstGeom>
        </p:spPr>
      </p:pic>
      <p:pic>
        <p:nvPicPr>
          <p:cNvPr id="155" name="Grafik 154" descr="Künstliche Intelligenz Silhouette">
            <a:extLst>
              <a:ext uri="{FF2B5EF4-FFF2-40B4-BE49-F238E27FC236}">
                <a16:creationId xmlns:a16="http://schemas.microsoft.com/office/drawing/2014/main" id="{12DF5581-10B0-195E-0F64-A5A141F9D4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5278" y="3712798"/>
            <a:ext cx="556480" cy="556480"/>
          </a:xfrm>
          <a:prstGeom prst="rect">
            <a:avLst/>
          </a:prstGeom>
        </p:spPr>
      </p:pic>
      <p:pic>
        <p:nvPicPr>
          <p:cNvPr id="157" name="Grafik 156" descr="Gruppenbrainstorming Silhouette">
            <a:extLst>
              <a:ext uri="{FF2B5EF4-FFF2-40B4-BE49-F238E27FC236}">
                <a16:creationId xmlns:a16="http://schemas.microsoft.com/office/drawing/2014/main" id="{B13ED9B5-F39B-73B0-B2FA-21E33C58DA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27822" y="822854"/>
            <a:ext cx="545623" cy="545623"/>
          </a:xfrm>
          <a:prstGeom prst="rect">
            <a:avLst/>
          </a:prstGeom>
        </p:spPr>
      </p:pic>
      <p:pic>
        <p:nvPicPr>
          <p:cNvPr id="159" name="Grafik 158" descr="Ambition Silhouette">
            <a:extLst>
              <a:ext uri="{FF2B5EF4-FFF2-40B4-BE49-F238E27FC236}">
                <a16:creationId xmlns:a16="http://schemas.microsoft.com/office/drawing/2014/main" id="{4E57DC9B-7778-FAF8-4FE7-005C51ED307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76873" y="3759367"/>
            <a:ext cx="431220" cy="43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896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582</Words>
  <Application>Microsoft Office PowerPoint</Application>
  <PresentationFormat>Breitbild</PresentationFormat>
  <Paragraphs>78</Paragraphs>
  <Slides>4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</vt:lpstr>
      <vt:lpstr>Fragen zu beantworten: </vt:lpstr>
      <vt:lpstr>Mein Weg zu UNITY voller Herausforderungen</vt:lpstr>
      <vt:lpstr>UNITY AG und Svenja: Gemeinsam Innovation gestalten</vt:lpstr>
      <vt:lpstr>Leidenschaft trifft Kompetenz: Meine Wirkung bei UNITY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Pirsch, Svenja</dc:creator>
  <cp:lastModifiedBy>Pirsch, Svenja</cp:lastModifiedBy>
  <cp:revision>2</cp:revision>
  <dcterms:created xsi:type="dcterms:W3CDTF">2025-11-21T13:00:24Z</dcterms:created>
  <dcterms:modified xsi:type="dcterms:W3CDTF">2025-11-21T17:13:04Z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8f71722-66ba-4e11-a629-8ab19b9c644e_Enabled">
    <vt:lpwstr>true</vt:lpwstr>
  </property>
  <property fmtid="{D5CDD505-2E9C-101B-9397-08002B2CF9AE}" pid="3" name="MSIP_Label_c8f71722-66ba-4e11-a629-8ab19b9c644e_SetDate">
    <vt:lpwstr>2025-11-21T14:24:04Z</vt:lpwstr>
  </property>
  <property fmtid="{D5CDD505-2E9C-101B-9397-08002B2CF9AE}" pid="4" name="MSIP_Label_c8f71722-66ba-4e11-a629-8ab19b9c644e_Method">
    <vt:lpwstr>Standard</vt:lpwstr>
  </property>
  <property fmtid="{D5CDD505-2E9C-101B-9397-08002B2CF9AE}" pid="5" name="MSIP_Label_c8f71722-66ba-4e11-a629-8ab19b9c644e_Name">
    <vt:lpwstr>Confidential</vt:lpwstr>
  </property>
  <property fmtid="{D5CDD505-2E9C-101B-9397-08002B2CF9AE}" pid="6" name="MSIP_Label_c8f71722-66ba-4e11-a629-8ab19b9c644e_SiteId">
    <vt:lpwstr>b8fc25f6-8687-4690-aeb4-96fa17863136</vt:lpwstr>
  </property>
  <property fmtid="{D5CDD505-2E9C-101B-9397-08002B2CF9AE}" pid="7" name="MSIP_Label_c8f71722-66ba-4e11-a629-8ab19b9c644e_ActionId">
    <vt:lpwstr>299ce74a-d51f-4ce2-b796-b8eead561098</vt:lpwstr>
  </property>
  <property fmtid="{D5CDD505-2E9C-101B-9397-08002B2CF9AE}" pid="8" name="MSIP_Label_c8f71722-66ba-4e11-a629-8ab19b9c644e_ContentBits">
    <vt:lpwstr>2</vt:lpwstr>
  </property>
  <property fmtid="{D5CDD505-2E9C-101B-9397-08002B2CF9AE}" pid="9" name="MSIP_Label_c8f71722-66ba-4e11-a629-8ab19b9c644e_Tag">
    <vt:lpwstr>10, 3, 0, 1</vt:lpwstr>
  </property>
  <property fmtid="{D5CDD505-2E9C-101B-9397-08002B2CF9AE}" pid="10" name="ClassificationContentMarkingFooterLocations">
    <vt:lpwstr>Office:8</vt:lpwstr>
  </property>
  <property fmtid="{D5CDD505-2E9C-101B-9397-08002B2CF9AE}" pid="11" name="ClassificationContentMarkingFooterText">
    <vt:lpwstr>- Confidential -</vt:lpwstr>
  </property>
</Properties>
</file>