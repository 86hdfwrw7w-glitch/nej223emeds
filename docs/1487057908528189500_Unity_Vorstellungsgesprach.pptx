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8" r:id="rId2"/>
    <p:sldId id="261" r:id="rId3"/>
    <p:sldId id="279" r:id="rId4"/>
    <p:sldId id="280" r:id="rId5"/>
    <p:sldId id="282" r:id="rId6"/>
    <p:sldId id="259" r:id="rId7"/>
    <p:sldId id="285" r:id="rId8"/>
    <p:sldId id="284" r:id="rId9"/>
    <p:sldId id="283" r:id="rId10"/>
    <p:sldId id="278" r:id="rId11"/>
    <p:sldId id="272" r:id="rId12"/>
    <p:sldId id="276" r:id="rId13"/>
    <p:sldId id="275" r:id="rId14"/>
    <p:sldId id="274" r:id="rId15"/>
    <p:sldId id="277" r:id="rId16"/>
    <p:sldId id="281" r:id="rId17"/>
    <p:sldId id="287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628"/>
    <a:srgbClr val="145A92"/>
    <a:srgbClr val="071E31"/>
    <a:srgbClr val="2196F3"/>
    <a:srgbClr val="0D3C61"/>
    <a:srgbClr val="1A78C2"/>
    <a:srgbClr val="D0CECF"/>
    <a:srgbClr val="6FF7C3"/>
    <a:srgbClr val="66FF99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93162" autoAdjust="0"/>
  </p:normalViewPr>
  <p:slideViewPr>
    <p:cSldViewPr snapToGrid="0">
      <p:cViewPr varScale="1">
        <p:scale>
          <a:sx n="56" d="100"/>
          <a:sy n="56" d="100"/>
        </p:scale>
        <p:origin x="4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FC000-61AD-48B1-832C-0DB4E7C64276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A1AFA-2DE5-4135-8193-25D700C4A7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25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E257-F3B0-0955-4FC6-2A9619B5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E1796D-FFD9-5480-CCBC-E3E4AD7B9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6B50147-1C38-67A5-26B4-F4CB65EDF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809CC5-12E0-CDB3-3D3C-CD0797721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3375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8760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72DA2-5976-0644-82B9-BCAE34F6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C36712-4D03-FFAD-0D71-A7E5E79EA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54C6206-74B3-380B-A074-0E2ED9DC8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D78D55-EE47-2117-728A-162E7FD09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3430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12CEC-4AE5-2EF2-9917-144975D0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834AA2-6BB4-241B-3C00-97DE4594E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7FF3122-7736-64EA-070D-6DFD82F8C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B3C4FD-6819-899F-D85D-5AF6B44DF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8734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C4DF-B9FB-4B83-AC3A-CCE4F88A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6AF821-D483-3C57-7D29-78066527A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00080B6-FBA2-E34B-1AA8-3395E6C94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0E20AC-943C-4CF0-552B-49E3B2DE4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583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B23CC-A469-C515-715F-7E6CAC0C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E4FC9C2-36E7-9EE6-F147-17E815941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847CA2D-923A-C6FA-AD21-3450E0CB6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41402F-AF7F-6CA5-E923-6E6BE4E7B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126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4792-3FC3-D06C-6421-8CF3B83F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3DBFBC-4A87-F4E4-ABDF-A1BB6E8DA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C843AB6-6731-A072-8094-9FFDC57F4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7E3D6F-8468-08C0-A51B-026655751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9482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E4541-1E7C-134C-7588-7F00FF4FA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E34CE3A-A2DA-7EF8-AD4B-6ECA4834C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5E0C1DD-FE81-2701-59A5-26DE5F822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4C5FA2-5988-3748-120E-FB88F895B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84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F9763-0AB0-BAE4-1CAB-FB87931A9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4491F9F-CCDA-C4E5-F81B-6EE10F256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7C6E098-5788-5406-05C2-AB01F6E2B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5775AF-9CE3-0988-146B-E7C0B59FF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5873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0F8FD-C608-4F35-60BB-5C60DB39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577512-7B82-9AC1-631A-A455F09D5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8990393-CC75-45F5-216D-87619E59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029AB6-3BF1-4062-58D4-2DABB11D0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1AFA-2DE5-4135-8193-25D700C4A70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05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A122F8-4231-EE1C-E9ED-A8F5CA5AE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E14D3E-5BE3-0518-F43D-A7952F18E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87EF59-2071-D887-3C95-387D244F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AF1C41-17DB-43AD-A0C4-A221FB56270A}" type="datetime1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37C7B3-F0E5-3B70-DFDA-8DD893BE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4C4A17-5044-C937-73A2-DF10E5F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950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7E900-CE3F-B83F-DD9C-40B79F202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654D11-F5BC-73BA-6AEC-BBEA22D17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273DE4-D8E1-CC68-D57C-DB7730F60C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A93B0F9-D7F1-457C-B455-3D2A61D5F757}" type="datetime1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1171B-D73C-68DD-1A16-7A2586193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6D4EC0-2670-CF63-B40A-A8086057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869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ECCBE8-780C-7142-4F85-8AE3D5215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4EB8F8-D834-1128-888C-66FC7BBA8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35CD6F-FBDC-0740-10BE-D348A1CA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CC7DF1-B56D-4369-8C3E-0ADE4DC523D8}" type="datetime1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1B379C-E546-548F-9B65-BA537CC7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81289E-E01D-861A-960F-465F819E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41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820A8-4727-AD8C-6560-022CAD3B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62F653-220B-643E-765B-2A5C6E5EC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68FACB-BC05-72E6-F76F-9D64CC12F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074232-F573-32BD-302D-CF9DE1E2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64858E-19DB-4EA3-9C5E-4DCA7C09BD72}" type="datetime1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1ABA1A-F456-E03C-AE0E-00B3A77D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765FB0-E093-F190-353B-90148FAB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60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9CEB96-2C54-9D7E-48B3-49490436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7605A2-AA11-1568-97AE-9645DB6E6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1E8606-491C-4F9E-5A41-6AD2F7434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0615FE-1B2C-7358-1CA4-F306C098C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FDC4E5D-A4C2-DD55-26B4-63172EFC1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D5514B3-F1DF-E2AE-C2BF-47121BAA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A64458-023E-4A5C-896F-FE5B0411108A}" type="datetime1">
              <a:rPr lang="de-DE" smtClean="0"/>
              <a:t>27.03.2026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0183DC1-DD8A-5D23-B546-9B9DA2CB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A535B6-A2CB-04EE-256F-30FA68AA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92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4E1716-531B-1912-ACF7-11B276CDF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438FE-6311-455A-5464-3EB4B7A61C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744659-DE43-4D78-BD27-83216192A47E}" type="datetime1">
              <a:rPr lang="de-DE" smtClean="0"/>
              <a:t>27.03.2026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7A77E-5D35-5E98-A720-43E3DBCC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51CEB5-59B3-9679-0912-7E25134D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90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36422AD-5C6A-55FC-DF47-3C6B2589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2BE34F-704B-4BE4-9D4F-FD9999DD178C}" type="datetime1">
              <a:rPr lang="de-DE" smtClean="0"/>
              <a:t>27.03.2026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29F1D7-8A86-EE22-13FD-6615142A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E052C7-0967-CA97-3048-3A8A101D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469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438E77-3362-753B-A647-19AB18A6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4D8CC4-4E74-2F49-1AD4-9CDEE96DF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D92723-B51F-2F35-3A5D-15F6C7FB9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0B6FC5-D138-CAD6-E7D8-3F522243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732A0-C5F7-498E-9517-77CDAB335EFA}" type="datetime1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F04217-63C3-FEA9-F124-F653E61BE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D151D4-EA74-0150-BD47-5893D279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030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758D9-5A4D-17DF-0B78-BDCD0F2B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48B641D-0E12-3EEF-D2FB-EF271F390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9E1BD-48A8-7E17-5B97-83BD2B60D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0A123F-7FB5-4941-6E33-EE45E782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B1E082-CE29-491D-B4A9-512898A750BB}" type="datetime1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A152F6-700C-647A-54FB-2BC51108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37BC68-CE36-3E88-F0D2-55F32364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241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49E46A-B6D6-BF98-F8D3-8555DAB3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3A2D687-27EE-63AD-8FE1-55C3B11F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7B96E3-AB0E-49E9-037F-546A067E4A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92372D-51FE-4AE5-BE31-D7DD350BC4C1}" type="datetime1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E4E5DD-CB3F-87B3-0C7D-EFD15865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B3ED9E-3679-1775-5D7A-779D762B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6676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36E2218-1522-3D55-7888-F0D01A892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3E22FA-41A9-6832-EFC2-E301C4835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152CF8-AD6B-A12E-80A3-C026D3B3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A34FD04-0BD5-44D1-8357-F5F1ACD715D7}" type="datetime1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A78EE4-DF7B-9C98-0127-ADAD954F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D906AE-7372-2CB9-FC4C-1FEE09EE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03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B41F5DC-38A6-328A-D4F7-135A3059A3ED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830227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95" imgH="394" progId="TCLayout.ActiveDocument.1">
                  <p:embed/>
                </p:oleObj>
              </mc:Choice>
              <mc:Fallback>
                <p:oleObj name="think-cell Folie" r:id="rId1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698126-E5FF-3464-DAB6-AB10C1BB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A8283C-5240-E5E5-B12A-BA0575376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BDD06F-B420-A04A-BE09-9668A0644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8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de-DE"/>
              <a:t>Datum | Euer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48A79A-3C89-A935-332D-9BAB0F944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F2A960-8614-4727-9E70-EA002A782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98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19" Type="http://schemas.openxmlformats.org/officeDocument/2006/relationships/image" Target="../media/image16.png"/><Relationship Id="rId4" Type="http://schemas.openxmlformats.org/officeDocument/2006/relationships/image" Target="../media/image1.emf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14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0.png"/><Relationship Id="rId12" Type="http://schemas.openxmlformats.org/officeDocument/2006/relationships/image" Target="../media/image1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svg"/><Relationship Id="rId1" Type="http://schemas.openxmlformats.org/officeDocument/2006/relationships/tags" Target="../tags/tag4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5" Type="http://schemas.openxmlformats.org/officeDocument/2006/relationships/image" Target="../media/image16.png"/><Relationship Id="rId10" Type="http://schemas.openxmlformats.org/officeDocument/2006/relationships/image" Target="../media/image3.svg"/><Relationship Id="rId4" Type="http://schemas.openxmlformats.org/officeDocument/2006/relationships/image" Target="../media/image1.emf"/><Relationship Id="rId9" Type="http://schemas.openxmlformats.org/officeDocument/2006/relationships/image" Target="../media/image2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oleObject" Target="../embeddings/oleObject4.bin"/><Relationship Id="rId7" Type="http://schemas.openxmlformats.org/officeDocument/2006/relationships/image" Target="../media/image24.png"/><Relationship Id="rId12" Type="http://schemas.openxmlformats.org/officeDocument/2006/relationships/image" Target="../media/image3.sv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.svg"/><Relationship Id="rId1" Type="http://schemas.openxmlformats.org/officeDocument/2006/relationships/tags" Target="../tags/tag5.xml"/><Relationship Id="rId6" Type="http://schemas.openxmlformats.org/officeDocument/2006/relationships/image" Target="../media/image23.png"/><Relationship Id="rId11" Type="http://schemas.openxmlformats.org/officeDocument/2006/relationships/image" Target="../media/image2.png"/><Relationship Id="rId5" Type="http://schemas.openxmlformats.org/officeDocument/2006/relationships/image" Target="../media/image22.png"/><Relationship Id="rId15" Type="http://schemas.openxmlformats.org/officeDocument/2006/relationships/image" Target="../media/image14.png"/><Relationship Id="rId10" Type="http://schemas.openxmlformats.org/officeDocument/2006/relationships/image" Target="../media/image27.svg"/><Relationship Id="rId4" Type="http://schemas.openxmlformats.org/officeDocument/2006/relationships/image" Target="../media/image1.emf"/><Relationship Id="rId9" Type="http://schemas.openxmlformats.org/officeDocument/2006/relationships/image" Target="../media/image26.png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7.sv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17" Type="http://schemas.openxmlformats.org/officeDocument/2006/relationships/image" Target="../media/image1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6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1.emf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9.sv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4.svg"/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7.svg"/><Relationship Id="rId7" Type="http://schemas.openxmlformats.org/officeDocument/2006/relationships/image" Target="../media/image40.svg"/><Relationship Id="rId12" Type="http://schemas.openxmlformats.org/officeDocument/2006/relationships/image" Target="../media/image43.png"/><Relationship Id="rId17" Type="http://schemas.openxmlformats.org/officeDocument/2006/relationships/image" Target="../media/image1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7.xml"/><Relationship Id="rId6" Type="http://schemas.openxmlformats.org/officeDocument/2006/relationships/image" Target="../media/image39.png"/><Relationship Id="rId11" Type="http://schemas.openxmlformats.org/officeDocument/2006/relationships/image" Target="../media/image34.svg"/><Relationship Id="rId5" Type="http://schemas.openxmlformats.org/officeDocument/2006/relationships/image" Target="../media/image1.emf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9.svg"/><Relationship Id="rId4" Type="http://schemas.openxmlformats.org/officeDocument/2006/relationships/oleObject" Target="../embeddings/oleObject5.bin"/><Relationship Id="rId9" Type="http://schemas.openxmlformats.org/officeDocument/2006/relationships/image" Target="../media/image42.sv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7.sv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17" Type="http://schemas.openxmlformats.org/officeDocument/2006/relationships/image" Target="../media/image1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8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1.emf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9.sv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7.sv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17" Type="http://schemas.openxmlformats.org/officeDocument/2006/relationships/image" Target="../media/image1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9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1.emf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9.sv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7.sv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17" Type="http://schemas.openxmlformats.org/officeDocument/2006/relationships/image" Target="../media/image1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10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1.emf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9.sv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13.sv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6.svg"/><Relationship Id="rId12" Type="http://schemas.openxmlformats.org/officeDocument/2006/relationships/image" Target="../media/image12.png"/><Relationship Id="rId17" Type="http://schemas.openxmlformats.org/officeDocument/2006/relationships/image" Target="../media/image11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tags" Target="../tags/tag11.xml"/><Relationship Id="rId6" Type="http://schemas.openxmlformats.org/officeDocument/2006/relationships/image" Target="../media/image45.png"/><Relationship Id="rId11" Type="http://schemas.openxmlformats.org/officeDocument/2006/relationships/image" Target="../media/image38.svg"/><Relationship Id="rId5" Type="http://schemas.openxmlformats.org/officeDocument/2006/relationships/image" Target="../media/image1.emf"/><Relationship Id="rId15" Type="http://schemas.openxmlformats.org/officeDocument/2006/relationships/image" Target="../media/image28.svg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48.sv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2.png"/><Relationship Id="rId18" Type="http://schemas.openxmlformats.org/officeDocument/2006/relationships/image" Target="../media/image14.png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1.svg"/><Relationship Id="rId7" Type="http://schemas.openxmlformats.org/officeDocument/2006/relationships/image" Target="../media/image49.svg"/><Relationship Id="rId12" Type="http://schemas.openxmlformats.org/officeDocument/2006/relationships/image" Target="../media/image51.png"/><Relationship Id="rId17" Type="http://schemas.openxmlformats.org/officeDocument/2006/relationships/image" Target="../media/image1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0.png"/><Relationship Id="rId1" Type="http://schemas.openxmlformats.org/officeDocument/2006/relationships/tags" Target="../tags/tag12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1.emf"/><Relationship Id="rId15" Type="http://schemas.openxmlformats.org/officeDocument/2006/relationships/image" Target="../media/image38.svg"/><Relationship Id="rId10" Type="http://schemas.openxmlformats.org/officeDocument/2006/relationships/image" Target="../media/image48.svg"/><Relationship Id="rId19" Type="http://schemas.openxmlformats.org/officeDocument/2006/relationships/image" Target="../media/image15.svg"/><Relationship Id="rId4" Type="http://schemas.openxmlformats.org/officeDocument/2006/relationships/oleObject" Target="../embeddings/oleObject6.bin"/><Relationship Id="rId9" Type="http://schemas.openxmlformats.org/officeDocument/2006/relationships/image" Target="../media/image46.svg"/><Relationship Id="rId1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10.png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38.svg"/><Relationship Id="rId7" Type="http://schemas.openxmlformats.org/officeDocument/2006/relationships/image" Target="../media/image49.svg"/><Relationship Id="rId12" Type="http://schemas.openxmlformats.org/officeDocument/2006/relationships/image" Target="../media/image51.png"/><Relationship Id="rId17" Type="http://schemas.openxmlformats.org/officeDocument/2006/relationships/image" Target="../media/image56.jpeg"/><Relationship Id="rId25" Type="http://schemas.openxmlformats.org/officeDocument/2006/relationships/image" Target="../media/image1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5.svg"/><Relationship Id="rId20" Type="http://schemas.openxmlformats.org/officeDocument/2006/relationships/image" Target="../media/image37.png"/><Relationship Id="rId1" Type="http://schemas.openxmlformats.org/officeDocument/2006/relationships/tags" Target="../tags/tag13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24" Type="http://schemas.openxmlformats.org/officeDocument/2006/relationships/image" Target="../media/image14.png"/><Relationship Id="rId5" Type="http://schemas.openxmlformats.org/officeDocument/2006/relationships/image" Target="../media/image1.emf"/><Relationship Id="rId15" Type="http://schemas.openxmlformats.org/officeDocument/2006/relationships/image" Target="../media/image54.png"/><Relationship Id="rId23" Type="http://schemas.openxmlformats.org/officeDocument/2006/relationships/image" Target="../media/image13.svg"/><Relationship Id="rId10" Type="http://schemas.openxmlformats.org/officeDocument/2006/relationships/image" Target="../media/image48.svg"/><Relationship Id="rId19" Type="http://schemas.openxmlformats.org/officeDocument/2006/relationships/image" Target="../media/image58.svg"/><Relationship Id="rId4" Type="http://schemas.openxmlformats.org/officeDocument/2006/relationships/oleObject" Target="../embeddings/oleObject6.bin"/><Relationship Id="rId9" Type="http://schemas.openxmlformats.org/officeDocument/2006/relationships/image" Target="../media/image46.svg"/><Relationship Id="rId14" Type="http://schemas.openxmlformats.org/officeDocument/2006/relationships/image" Target="../media/image53.png"/><Relationship Id="rId22" Type="http://schemas.openxmlformats.org/officeDocument/2006/relationships/image" Target="../media/image12.png"/><Relationship Id="rId27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1.png"/><Relationship Id="rId18" Type="http://schemas.openxmlformats.org/officeDocument/2006/relationships/image" Target="../media/image56.jpeg"/><Relationship Id="rId26" Type="http://schemas.openxmlformats.org/officeDocument/2006/relationships/image" Target="../media/image13.svg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60.png"/><Relationship Id="rId7" Type="http://schemas.openxmlformats.org/officeDocument/2006/relationships/image" Target="../media/image49.sv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5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png"/><Relationship Id="rId20" Type="http://schemas.openxmlformats.org/officeDocument/2006/relationships/image" Target="../media/image58.svg"/><Relationship Id="rId29" Type="http://schemas.openxmlformats.org/officeDocument/2006/relationships/image" Target="../media/image10.png"/><Relationship Id="rId1" Type="http://schemas.openxmlformats.org/officeDocument/2006/relationships/tags" Target="../tags/tag14.xml"/><Relationship Id="rId6" Type="http://schemas.openxmlformats.org/officeDocument/2006/relationships/image" Target="../media/image47.png"/><Relationship Id="rId11" Type="http://schemas.openxmlformats.org/officeDocument/2006/relationships/image" Target="../media/image59.png"/><Relationship Id="rId24" Type="http://schemas.openxmlformats.org/officeDocument/2006/relationships/image" Target="../media/image38.svg"/><Relationship Id="rId5" Type="http://schemas.openxmlformats.org/officeDocument/2006/relationships/image" Target="../media/image1.emf"/><Relationship Id="rId15" Type="http://schemas.openxmlformats.org/officeDocument/2006/relationships/image" Target="../media/image53.png"/><Relationship Id="rId23" Type="http://schemas.openxmlformats.org/officeDocument/2006/relationships/image" Target="../media/image37.png"/><Relationship Id="rId28" Type="http://schemas.openxmlformats.org/officeDocument/2006/relationships/image" Target="../media/image15.svg"/><Relationship Id="rId10" Type="http://schemas.openxmlformats.org/officeDocument/2006/relationships/image" Target="../media/image48.svg"/><Relationship Id="rId19" Type="http://schemas.openxmlformats.org/officeDocument/2006/relationships/image" Target="../media/image57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46.svg"/><Relationship Id="rId14" Type="http://schemas.openxmlformats.org/officeDocument/2006/relationships/image" Target="../media/image52.png"/><Relationship Id="rId22" Type="http://schemas.openxmlformats.org/officeDocument/2006/relationships/image" Target="../media/image61.png"/><Relationship Id="rId27" Type="http://schemas.openxmlformats.org/officeDocument/2006/relationships/image" Target="../media/image14.png"/><Relationship Id="rId30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1.png"/><Relationship Id="rId18" Type="http://schemas.openxmlformats.org/officeDocument/2006/relationships/image" Target="../media/image56.jpeg"/><Relationship Id="rId26" Type="http://schemas.openxmlformats.org/officeDocument/2006/relationships/image" Target="../media/image12.png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62.png"/><Relationship Id="rId7" Type="http://schemas.openxmlformats.org/officeDocument/2006/relationships/image" Target="../media/image49.sv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5" Type="http://schemas.openxmlformats.org/officeDocument/2006/relationships/image" Target="../media/image38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png"/><Relationship Id="rId20" Type="http://schemas.openxmlformats.org/officeDocument/2006/relationships/image" Target="../media/image58.svg"/><Relationship Id="rId29" Type="http://schemas.openxmlformats.org/officeDocument/2006/relationships/image" Target="../media/image15.svg"/><Relationship Id="rId1" Type="http://schemas.openxmlformats.org/officeDocument/2006/relationships/tags" Target="../tags/tag15.xml"/><Relationship Id="rId6" Type="http://schemas.openxmlformats.org/officeDocument/2006/relationships/image" Target="../media/image47.png"/><Relationship Id="rId11" Type="http://schemas.openxmlformats.org/officeDocument/2006/relationships/image" Target="../media/image59.png"/><Relationship Id="rId24" Type="http://schemas.openxmlformats.org/officeDocument/2006/relationships/image" Target="../media/image37.png"/><Relationship Id="rId5" Type="http://schemas.openxmlformats.org/officeDocument/2006/relationships/image" Target="../media/image1.emf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28" Type="http://schemas.openxmlformats.org/officeDocument/2006/relationships/image" Target="../media/image14.png"/><Relationship Id="rId10" Type="http://schemas.openxmlformats.org/officeDocument/2006/relationships/image" Target="../media/image48.svg"/><Relationship Id="rId19" Type="http://schemas.openxmlformats.org/officeDocument/2006/relationships/image" Target="../media/image57.png"/><Relationship Id="rId31" Type="http://schemas.openxmlformats.org/officeDocument/2006/relationships/image" Target="../media/image11.svg"/><Relationship Id="rId4" Type="http://schemas.openxmlformats.org/officeDocument/2006/relationships/oleObject" Target="../embeddings/oleObject7.bin"/><Relationship Id="rId9" Type="http://schemas.openxmlformats.org/officeDocument/2006/relationships/image" Target="../media/image46.svg"/><Relationship Id="rId14" Type="http://schemas.openxmlformats.org/officeDocument/2006/relationships/image" Target="../media/image52.png"/><Relationship Id="rId22" Type="http://schemas.openxmlformats.org/officeDocument/2006/relationships/image" Target="../media/image60.png"/><Relationship Id="rId27" Type="http://schemas.openxmlformats.org/officeDocument/2006/relationships/image" Target="../media/image13.svg"/><Relationship Id="rId30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6.png"/><Relationship Id="rId18" Type="http://schemas.openxmlformats.org/officeDocument/2006/relationships/image" Target="../media/image17.svg"/><Relationship Id="rId3" Type="http://schemas.openxmlformats.org/officeDocument/2006/relationships/oleObject" Target="../embeddings/oleObject8.bin"/><Relationship Id="rId7" Type="http://schemas.openxmlformats.org/officeDocument/2006/relationships/image" Target="../media/image65.png"/><Relationship Id="rId12" Type="http://schemas.openxmlformats.org/officeDocument/2006/relationships/image" Target="../media/image38.sv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.svg"/><Relationship Id="rId1" Type="http://schemas.openxmlformats.org/officeDocument/2006/relationships/tags" Target="../tags/tag16.xml"/><Relationship Id="rId6" Type="http://schemas.openxmlformats.org/officeDocument/2006/relationships/image" Target="../media/image64.svg"/><Relationship Id="rId11" Type="http://schemas.openxmlformats.org/officeDocument/2006/relationships/image" Target="../media/image37.png"/><Relationship Id="rId5" Type="http://schemas.openxmlformats.org/officeDocument/2006/relationships/image" Target="../media/image63.png"/><Relationship Id="rId15" Type="http://schemas.openxmlformats.org/officeDocument/2006/relationships/image" Target="../media/image14.png"/><Relationship Id="rId10" Type="http://schemas.openxmlformats.org/officeDocument/2006/relationships/image" Target="../media/image68.svg"/><Relationship Id="rId4" Type="http://schemas.openxmlformats.org/officeDocument/2006/relationships/image" Target="../media/image1.emf"/><Relationship Id="rId9" Type="http://schemas.openxmlformats.org/officeDocument/2006/relationships/image" Target="../media/image67.png"/><Relationship Id="rId1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37.png"/><Relationship Id="rId18" Type="http://schemas.openxmlformats.org/officeDocument/2006/relationships/image" Target="../media/image17.svg"/><Relationship Id="rId3" Type="http://schemas.openxmlformats.org/officeDocument/2006/relationships/oleObject" Target="../embeddings/oleObject9.bin"/><Relationship Id="rId7" Type="http://schemas.openxmlformats.org/officeDocument/2006/relationships/image" Target="../media/image8.png"/><Relationship Id="rId12" Type="http://schemas.openxmlformats.org/officeDocument/2006/relationships/image" Target="../media/image7.sv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svg"/><Relationship Id="rId1" Type="http://schemas.openxmlformats.org/officeDocument/2006/relationships/tags" Target="../tags/tag17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14.png"/><Relationship Id="rId10" Type="http://schemas.openxmlformats.org/officeDocument/2006/relationships/image" Target="../media/image11.svg"/><Relationship Id="rId4" Type="http://schemas.openxmlformats.org/officeDocument/2006/relationships/image" Target="../media/image1.emf"/><Relationship Id="rId9" Type="http://schemas.openxmlformats.org/officeDocument/2006/relationships/image" Target="../media/image10.png"/><Relationship Id="rId14" Type="http://schemas.openxmlformats.org/officeDocument/2006/relationships/image" Target="../media/image3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8EDEFB6-AB94-5A54-0DDE-5CFA0695AE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81930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14800D-0F5D-C0C1-4B98-77F130F67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000"/>
              <a:t>Datum | Euer Name</a:t>
            </a:r>
            <a:endParaRPr lang="de-DE" sz="10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F3403B-2577-FE74-32D8-EC1E9569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</a:t>
            </a:fld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C872815-7823-F1F8-F9A4-7E8D6AA0E3AE}"/>
              </a:ext>
            </a:extLst>
          </p:cNvPr>
          <p:cNvSpPr txBox="1">
            <a:spLocks/>
          </p:cNvSpPr>
          <p:nvPr/>
        </p:nvSpPr>
        <p:spPr>
          <a:xfrm>
            <a:off x="990599" y="1304646"/>
            <a:ext cx="6701791" cy="254726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rgbClr val="071E31">
                    <a:alpha val="50000"/>
                  </a:srgbClr>
                </a:solidFill>
              </a:rPr>
              <a:t>Bewerbung um ein Praktikum bei Unity AG</a:t>
            </a:r>
          </a:p>
          <a:p>
            <a:r>
              <a:rPr lang="de-DE" sz="2800" dirty="0">
                <a:solidFill>
                  <a:srgbClr val="071E31">
                    <a:alpha val="50000"/>
                  </a:srgbClr>
                </a:solidFill>
              </a:rPr>
              <a:t>Von XXX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22E65D76-8095-9B4F-0FEE-FE131E594257}"/>
              </a:ext>
            </a:extLst>
          </p:cNvPr>
          <p:cNvSpPr txBox="1">
            <a:spLocks/>
          </p:cNvSpPr>
          <p:nvPr/>
        </p:nvSpPr>
        <p:spPr>
          <a:xfrm>
            <a:off x="990600" y="771246"/>
            <a:ext cx="3162299" cy="67819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rgbClr val="145A92">
                    <a:alpha val="50000"/>
                  </a:srgbClr>
                </a:solidFill>
              </a:rPr>
              <a:t>Dein Name &amp; Unity</a:t>
            </a:r>
          </a:p>
        </p:txBody>
      </p:sp>
    </p:spTree>
    <p:extLst>
      <p:ext uri="{BB962C8B-B14F-4D97-AF65-F5344CB8AC3E}">
        <p14:creationId xmlns:p14="http://schemas.microsoft.com/office/powerpoint/2010/main" val="4246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289C5-0F6E-898F-FA69-1C391A69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EF1C006-2CFB-051C-700D-1971A7615D5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8933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EDEFB6-AB94-5A54-0DDE-5CFA0695AE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46426F-C168-15E8-25F6-3AAAB482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8846"/>
            <a:ext cx="3162299" cy="678193"/>
          </a:xfrm>
          <a:noFill/>
        </p:spPr>
        <p:txBody>
          <a:bodyPr vert="horz" rIns="91440">
            <a:normAutofit/>
          </a:bodyPr>
          <a:lstStyle/>
          <a:p>
            <a:r>
              <a:rPr lang="de-DE" sz="2800" b="1" dirty="0">
                <a:solidFill>
                  <a:srgbClr val="145A92"/>
                </a:solidFill>
              </a:rPr>
              <a:t>Die heutige Agenda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313ECD8-4D9A-DD44-5AA1-FD9655F1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000"/>
              <a:t>Datum | Euer Name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7AF8AB-D1AE-35B2-E48E-007368DA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2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D01A12F-DF95-F1C9-3884-6D843A453777}"/>
              </a:ext>
            </a:extLst>
          </p:cNvPr>
          <p:cNvSpPr txBox="1"/>
          <p:nvPr/>
        </p:nvSpPr>
        <p:spPr>
          <a:xfrm>
            <a:off x="1145534" y="3660215"/>
            <a:ext cx="1307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Mein </a:t>
            </a:r>
          </a:p>
          <a:p>
            <a:pPr algn="ctr"/>
            <a:r>
              <a:rPr lang="de-DE" dirty="0"/>
              <a:t>Werdegang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64DFE3F-5710-B072-00F0-690C4F84F7C4}"/>
              </a:ext>
            </a:extLst>
          </p:cNvPr>
          <p:cNvSpPr txBox="1"/>
          <p:nvPr/>
        </p:nvSpPr>
        <p:spPr>
          <a:xfrm>
            <a:off x="5321659" y="3769531"/>
            <a:ext cx="160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Warum Unity?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4527F53-B553-FFE0-7BED-B3B1171B30DC}"/>
              </a:ext>
            </a:extLst>
          </p:cNvPr>
          <p:cNvSpPr txBox="1"/>
          <p:nvPr/>
        </p:nvSpPr>
        <p:spPr>
          <a:xfrm>
            <a:off x="7593717" y="3691890"/>
            <a:ext cx="1521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Meine Ziele &amp;</a:t>
            </a:r>
          </a:p>
          <a:p>
            <a:pPr algn="ctr"/>
            <a:r>
              <a:rPr lang="de-DE" dirty="0"/>
              <a:t>Erwartungen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155F102-3D41-F015-B6F1-91B6012EC4C9}"/>
              </a:ext>
            </a:extLst>
          </p:cNvPr>
          <p:cNvSpPr txBox="1"/>
          <p:nvPr/>
        </p:nvSpPr>
        <p:spPr>
          <a:xfrm>
            <a:off x="3102557" y="3599744"/>
            <a:ext cx="155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Meine Stärken &amp; Leidenschaft</a:t>
            </a:r>
          </a:p>
        </p:txBody>
      </p:sp>
      <p:pic>
        <p:nvPicPr>
          <p:cNvPr id="11" name="Grafik 10" descr="Route zwei Stecknadeln mit Weg Silhouette">
            <a:extLst>
              <a:ext uri="{FF2B5EF4-FFF2-40B4-BE49-F238E27FC236}">
                <a16:creationId xmlns:a16="http://schemas.microsoft.com/office/drawing/2014/main" id="{091A9767-4C3F-4426-5523-0E2582BC9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5192" y="2515184"/>
            <a:ext cx="914400" cy="914400"/>
          </a:xfrm>
          <a:prstGeom prst="rect">
            <a:avLst/>
          </a:prstGeom>
        </p:spPr>
      </p:pic>
      <p:pic>
        <p:nvPicPr>
          <p:cNvPr id="13" name="Grafik 12" descr="Rennflagge mit einfarbiger Füllung">
            <a:extLst>
              <a:ext uri="{FF2B5EF4-FFF2-40B4-BE49-F238E27FC236}">
                <a16:creationId xmlns:a16="http://schemas.microsoft.com/office/drawing/2014/main" id="{3EF53BEF-E390-DFC2-4E52-D7FBE958F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7012" y="2515184"/>
            <a:ext cx="914400" cy="914400"/>
          </a:xfrm>
          <a:prstGeom prst="rect">
            <a:avLst/>
          </a:prstGeom>
        </p:spPr>
      </p:pic>
      <p:pic>
        <p:nvPicPr>
          <p:cNvPr id="15" name="Grafik 14" descr="Volltreffer Silhouette">
            <a:extLst>
              <a:ext uri="{FF2B5EF4-FFF2-40B4-BE49-F238E27FC236}">
                <a16:creationId xmlns:a16="http://schemas.microsoft.com/office/drawing/2014/main" id="{8874064B-6ADE-5469-FDB6-E2284AEF2D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0856" y="2515184"/>
            <a:ext cx="914400" cy="914400"/>
          </a:xfrm>
          <a:prstGeom prst="rect">
            <a:avLst/>
          </a:prstGeom>
        </p:spPr>
      </p:pic>
      <p:pic>
        <p:nvPicPr>
          <p:cNvPr id="21" name="Grafik 20" descr="Signal Silhouette">
            <a:extLst>
              <a:ext uri="{FF2B5EF4-FFF2-40B4-BE49-F238E27FC236}">
                <a16:creationId xmlns:a16="http://schemas.microsoft.com/office/drawing/2014/main" id="{C373BDBF-F297-5D95-9604-FE84429A2C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1346" y="2515184"/>
            <a:ext cx="914400" cy="914400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0717B084-CEE9-1967-A29C-8B36D9EF347C}"/>
              </a:ext>
            </a:extLst>
          </p:cNvPr>
          <p:cNvSpPr txBox="1"/>
          <p:nvPr/>
        </p:nvSpPr>
        <p:spPr>
          <a:xfrm>
            <a:off x="9904277" y="3692077"/>
            <a:ext cx="72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Ende</a:t>
            </a:r>
          </a:p>
        </p:txBody>
      </p:sp>
      <p:pic>
        <p:nvPicPr>
          <p:cNvPr id="26" name="Grafik 25" descr="Glühbirne und Zahnrad Silhouette">
            <a:extLst>
              <a:ext uri="{FF2B5EF4-FFF2-40B4-BE49-F238E27FC236}">
                <a16:creationId xmlns:a16="http://schemas.microsoft.com/office/drawing/2014/main" id="{2505CC5E-5125-F7CF-CDD0-0AB4DEB1E67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26101" y="2515184"/>
            <a:ext cx="914400" cy="914400"/>
          </a:xfrm>
          <a:prstGeom prst="rect">
            <a:avLst/>
          </a:prstGeom>
        </p:spPr>
      </p:pic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D3DFEA53-C722-E45F-624D-C2DDE4D53EC7}"/>
              </a:ext>
            </a:extLst>
          </p:cNvPr>
          <p:cNvCxnSpPr/>
          <p:nvPr/>
        </p:nvCxnSpPr>
        <p:spPr>
          <a:xfrm>
            <a:off x="2895600" y="2669171"/>
            <a:ext cx="0" cy="154622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2F5ACFE-532D-E4EA-6FDD-63501434F058}"/>
              </a:ext>
            </a:extLst>
          </p:cNvPr>
          <p:cNvCxnSpPr/>
          <p:nvPr/>
        </p:nvCxnSpPr>
        <p:spPr>
          <a:xfrm>
            <a:off x="4953000" y="2669171"/>
            <a:ext cx="0" cy="154622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F7A9790-5CC2-810D-C78B-2131C0A415F3}"/>
              </a:ext>
            </a:extLst>
          </p:cNvPr>
          <p:cNvCxnSpPr/>
          <p:nvPr/>
        </p:nvCxnSpPr>
        <p:spPr>
          <a:xfrm>
            <a:off x="7200900" y="2656471"/>
            <a:ext cx="0" cy="154622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C6BBE3EF-F278-DE76-D5EE-D6560E56A674}"/>
              </a:ext>
            </a:extLst>
          </p:cNvPr>
          <p:cNvCxnSpPr/>
          <p:nvPr/>
        </p:nvCxnSpPr>
        <p:spPr>
          <a:xfrm>
            <a:off x="9385300" y="2669171"/>
            <a:ext cx="0" cy="154622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feil: Chevron 40">
            <a:extLst>
              <a:ext uri="{FF2B5EF4-FFF2-40B4-BE49-F238E27FC236}">
                <a16:creationId xmlns:a16="http://schemas.microsoft.com/office/drawing/2014/main" id="{1B546EDF-ED95-6064-1EBF-19A4CA90BF41}"/>
              </a:ext>
            </a:extLst>
          </p:cNvPr>
          <p:cNvSpPr/>
          <p:nvPr/>
        </p:nvSpPr>
        <p:spPr>
          <a:xfrm>
            <a:off x="2819399" y="3285490"/>
            <a:ext cx="141483" cy="484041"/>
          </a:xfrm>
          <a:prstGeom prst="chevron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2" name="Pfeil: Chevron 41">
            <a:extLst>
              <a:ext uri="{FF2B5EF4-FFF2-40B4-BE49-F238E27FC236}">
                <a16:creationId xmlns:a16="http://schemas.microsoft.com/office/drawing/2014/main" id="{D0BD611B-6A11-D7BB-815F-39EA8F0FDEB7}"/>
              </a:ext>
            </a:extLst>
          </p:cNvPr>
          <p:cNvSpPr/>
          <p:nvPr/>
        </p:nvSpPr>
        <p:spPr>
          <a:xfrm>
            <a:off x="4882999" y="3285490"/>
            <a:ext cx="141483" cy="484041"/>
          </a:xfrm>
          <a:prstGeom prst="chevron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1499AD34-1EC8-757A-E96E-86E7CBF2E971}"/>
              </a:ext>
            </a:extLst>
          </p:cNvPr>
          <p:cNvSpPr/>
          <p:nvPr/>
        </p:nvSpPr>
        <p:spPr>
          <a:xfrm>
            <a:off x="7118270" y="3285490"/>
            <a:ext cx="141483" cy="484041"/>
          </a:xfrm>
          <a:prstGeom prst="chevron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4" name="Pfeil: Chevron 43">
            <a:extLst>
              <a:ext uri="{FF2B5EF4-FFF2-40B4-BE49-F238E27FC236}">
                <a16:creationId xmlns:a16="http://schemas.microsoft.com/office/drawing/2014/main" id="{79523665-6851-54C1-B34F-97B6B7E5FAE5}"/>
              </a:ext>
            </a:extLst>
          </p:cNvPr>
          <p:cNvSpPr/>
          <p:nvPr/>
        </p:nvSpPr>
        <p:spPr>
          <a:xfrm>
            <a:off x="9307317" y="3285489"/>
            <a:ext cx="141483" cy="484041"/>
          </a:xfrm>
          <a:prstGeom prst="chevron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67" name="Grafik 66" descr="Route zwei Stecknadeln mit Weg Silhouette">
            <a:extLst>
              <a:ext uri="{FF2B5EF4-FFF2-40B4-BE49-F238E27FC236}">
                <a16:creationId xmlns:a16="http://schemas.microsoft.com/office/drawing/2014/main" id="{2839706E-7451-8C84-607A-3C7F093498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68" name="Grafik 67" descr="Volltreffer Silhouette">
            <a:extLst>
              <a:ext uri="{FF2B5EF4-FFF2-40B4-BE49-F238E27FC236}">
                <a16:creationId xmlns:a16="http://schemas.microsoft.com/office/drawing/2014/main" id="{D4D60441-80A3-9205-B5D9-F69CF3F182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69" name="Grafik 68" descr="Signal Silhouette">
            <a:extLst>
              <a:ext uri="{FF2B5EF4-FFF2-40B4-BE49-F238E27FC236}">
                <a16:creationId xmlns:a16="http://schemas.microsoft.com/office/drawing/2014/main" id="{304779C0-3290-27B0-CBA1-977404260C9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70" name="Grafik 69" descr="Glühbirne und Zahnrad Silhouette">
            <a:extLst>
              <a:ext uri="{FF2B5EF4-FFF2-40B4-BE49-F238E27FC236}">
                <a16:creationId xmlns:a16="http://schemas.microsoft.com/office/drawing/2014/main" id="{2941B23D-EF65-82F2-89BB-813B680E006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D81CA6ED-1128-2BF6-8BF8-2D36845158E1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Pfeil: Chevron 71">
            <a:extLst>
              <a:ext uri="{FF2B5EF4-FFF2-40B4-BE49-F238E27FC236}">
                <a16:creationId xmlns:a16="http://schemas.microsoft.com/office/drawing/2014/main" id="{75359AE8-E135-C740-C339-01D6A1903F19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7916DAF9-3E08-6C22-68E2-BEBA0F08C1A1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A3A5B335-B6DB-59B7-6ACC-4A664A1764E9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Pfeil: Chevron 74">
            <a:extLst>
              <a:ext uri="{FF2B5EF4-FFF2-40B4-BE49-F238E27FC236}">
                <a16:creationId xmlns:a16="http://schemas.microsoft.com/office/drawing/2014/main" id="{25B16959-782A-E266-D845-A2AB6B34FE84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6" name="Pfeil: Chevron 75">
            <a:extLst>
              <a:ext uri="{FF2B5EF4-FFF2-40B4-BE49-F238E27FC236}">
                <a16:creationId xmlns:a16="http://schemas.microsoft.com/office/drawing/2014/main" id="{E14D59A1-67AE-6468-9D71-173DCFBAE47D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05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FFB3-F675-DBF2-3B0E-26C18FD7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C2531C8-5BE8-E5C5-4838-1DF63F511AC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852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9835BC-0FF1-4320-E2D0-D1206E317F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03D99F9D-0F32-DB7A-B671-DF407E90F156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218952" y="3344388"/>
            <a:ext cx="91196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ussdiagramm: Verbinder 6">
            <a:extLst>
              <a:ext uri="{FF2B5EF4-FFF2-40B4-BE49-F238E27FC236}">
                <a16:creationId xmlns:a16="http://schemas.microsoft.com/office/drawing/2014/main" id="{3B409C57-4E2F-4DC3-4CE0-F270E453A129}"/>
              </a:ext>
            </a:extLst>
          </p:cNvPr>
          <p:cNvSpPr/>
          <p:nvPr/>
        </p:nvSpPr>
        <p:spPr>
          <a:xfrm>
            <a:off x="1318952" y="2894388"/>
            <a:ext cx="900000" cy="900000"/>
          </a:xfrm>
          <a:prstGeom prst="flowChartConnector">
            <a:avLst/>
          </a:prstGeom>
          <a:solidFill>
            <a:srgbClr val="145A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6211A20-2C64-42F4-4AEA-B26234F2C109}"/>
              </a:ext>
            </a:extLst>
          </p:cNvPr>
          <p:cNvSpPr txBox="1"/>
          <p:nvPr/>
        </p:nvSpPr>
        <p:spPr>
          <a:xfrm>
            <a:off x="6597284" y="1587327"/>
            <a:ext cx="244976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45A92"/>
                </a:solidFill>
              </a:rPr>
              <a:t>2025 – 2028</a:t>
            </a:r>
          </a:p>
          <a:p>
            <a:r>
              <a:rPr lang="de-DE" b="1" dirty="0"/>
              <a:t>Studium</a:t>
            </a:r>
          </a:p>
          <a:p>
            <a:r>
              <a:rPr lang="de-DE" dirty="0"/>
              <a:t>Hochschule XXX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dirty="0"/>
              <a:t>B.Sc. Int. t.o BWL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0BADDD5-CD39-3364-D4F4-3F7E53FE4187}"/>
              </a:ext>
            </a:extLst>
          </p:cNvPr>
          <p:cNvSpPr txBox="1"/>
          <p:nvPr/>
        </p:nvSpPr>
        <p:spPr>
          <a:xfrm>
            <a:off x="9006312" y="3932233"/>
            <a:ext cx="318568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45A92"/>
                </a:solidFill>
              </a:rPr>
              <a:t>Aug. 25 – Sep. 25</a:t>
            </a:r>
          </a:p>
          <a:p>
            <a:pPr>
              <a:spcAft>
                <a:spcPts val="600"/>
              </a:spcAft>
            </a:pPr>
            <a:r>
              <a:rPr lang="de-DE" b="1" dirty="0"/>
              <a:t>Praktikum | Consulting</a:t>
            </a:r>
          </a:p>
          <a:p>
            <a:pPr>
              <a:spcAft>
                <a:spcPts val="600"/>
              </a:spcAft>
            </a:pPr>
            <a:r>
              <a:rPr lang="de-DE" sz="1600" dirty="0"/>
              <a:t>XXX GmbH</a:t>
            </a:r>
          </a:p>
          <a:p>
            <a:r>
              <a:rPr lang="de-DE" sz="1600" dirty="0"/>
              <a:t>Recherche</a:t>
            </a:r>
          </a:p>
          <a:p>
            <a:r>
              <a:rPr lang="de-DE" sz="1600" dirty="0"/>
              <a:t>PowerPoint Erstellung</a:t>
            </a:r>
          </a:p>
          <a:p>
            <a:r>
              <a:rPr lang="de-DE" sz="1600" dirty="0"/>
              <a:t>Aufgabentracking</a:t>
            </a:r>
          </a:p>
          <a:p>
            <a:endParaRPr lang="de-DE" b="1" dirty="0"/>
          </a:p>
          <a:p>
            <a:endParaRPr lang="de-DE" b="1" dirty="0"/>
          </a:p>
        </p:txBody>
      </p:sp>
      <p:sp>
        <p:nvSpPr>
          <p:cNvPr id="20" name="Flussdiagramm: Verbinder 19">
            <a:extLst>
              <a:ext uri="{FF2B5EF4-FFF2-40B4-BE49-F238E27FC236}">
                <a16:creationId xmlns:a16="http://schemas.microsoft.com/office/drawing/2014/main" id="{2AB59C3C-FAFE-847F-72B6-196777FB5A4D}"/>
              </a:ext>
            </a:extLst>
          </p:cNvPr>
          <p:cNvSpPr/>
          <p:nvPr/>
        </p:nvSpPr>
        <p:spPr>
          <a:xfrm>
            <a:off x="3688587" y="2907185"/>
            <a:ext cx="936000" cy="936000"/>
          </a:xfrm>
          <a:prstGeom prst="flowChartConnector">
            <a:avLst/>
          </a:prstGeom>
          <a:solidFill>
            <a:srgbClr val="145A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Flussdiagramm: Verbinder 22">
            <a:extLst>
              <a:ext uri="{FF2B5EF4-FFF2-40B4-BE49-F238E27FC236}">
                <a16:creationId xmlns:a16="http://schemas.microsoft.com/office/drawing/2014/main" id="{5F3F17EA-DFEE-73FB-5205-24C5CABEE2BB}"/>
              </a:ext>
            </a:extLst>
          </p:cNvPr>
          <p:cNvSpPr/>
          <p:nvPr/>
        </p:nvSpPr>
        <p:spPr>
          <a:xfrm>
            <a:off x="6104810" y="2895755"/>
            <a:ext cx="936000" cy="936000"/>
          </a:xfrm>
          <a:prstGeom prst="flowChartConnector">
            <a:avLst/>
          </a:prstGeom>
          <a:solidFill>
            <a:srgbClr val="145A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Flussdiagramm: Verbinder 23">
            <a:extLst>
              <a:ext uri="{FF2B5EF4-FFF2-40B4-BE49-F238E27FC236}">
                <a16:creationId xmlns:a16="http://schemas.microsoft.com/office/drawing/2014/main" id="{03A70F92-D33E-1F44-4ED5-F02F9826D086}"/>
              </a:ext>
            </a:extLst>
          </p:cNvPr>
          <p:cNvSpPr/>
          <p:nvPr/>
        </p:nvSpPr>
        <p:spPr>
          <a:xfrm>
            <a:off x="8510879" y="2858388"/>
            <a:ext cx="936000" cy="936000"/>
          </a:xfrm>
          <a:prstGeom prst="flowChartConnector">
            <a:avLst/>
          </a:prstGeom>
          <a:solidFill>
            <a:srgbClr val="145A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716724-3D4C-DE46-FA4D-80BE916D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000"/>
              <a:t>Datum | Euer Name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DE5295-A44C-AC25-354E-4B37645B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3</a:t>
            </a:fld>
            <a:endParaRPr lang="de-D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8655B7F-6FCA-DD4A-1283-4F36A1C4E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8846"/>
            <a:ext cx="3162299" cy="678193"/>
          </a:xfrm>
          <a:noFill/>
        </p:spPr>
        <p:txBody>
          <a:bodyPr vert="horz" rIns="91440">
            <a:normAutofit/>
          </a:bodyPr>
          <a:lstStyle/>
          <a:p>
            <a:r>
              <a:rPr lang="de-DE" sz="2800" b="1" dirty="0">
                <a:solidFill>
                  <a:srgbClr val="145A92"/>
                </a:solidFill>
              </a:rPr>
              <a:t>Mein Werdegang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E3E5F33-54C5-67A8-E71F-FF447E34DE37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768952" y="1851660"/>
            <a:ext cx="0" cy="104272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BBAB426F-0220-E598-0FE6-6CB80BF4E619}"/>
              </a:ext>
            </a:extLst>
          </p:cNvPr>
          <p:cNvSpPr txBox="1"/>
          <p:nvPr/>
        </p:nvSpPr>
        <p:spPr>
          <a:xfrm>
            <a:off x="1783079" y="1634490"/>
            <a:ext cx="304597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45A92"/>
                </a:solidFill>
              </a:rPr>
              <a:t>2015 – 2023</a:t>
            </a:r>
          </a:p>
          <a:p>
            <a:r>
              <a:rPr lang="de-DE" b="1" dirty="0"/>
              <a:t>Abitur</a:t>
            </a:r>
          </a:p>
          <a:p>
            <a:pPr>
              <a:spcBef>
                <a:spcPts val="600"/>
              </a:spcBef>
            </a:pPr>
            <a:r>
              <a:rPr lang="de-DE" sz="1600" dirty="0"/>
              <a:t>XXX-Gymnasium in XXX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1745046-9F80-31D5-1AEC-EE380E090CD2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4156587" y="3843185"/>
            <a:ext cx="0" cy="104885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fik 28" descr="Diplom Silhouette">
            <a:extLst>
              <a:ext uri="{FF2B5EF4-FFF2-40B4-BE49-F238E27FC236}">
                <a16:creationId xmlns:a16="http://schemas.microsoft.com/office/drawing/2014/main" id="{9DF33224-8074-A200-B340-D0E3C8D657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1319" y="3056122"/>
            <a:ext cx="615265" cy="615265"/>
          </a:xfrm>
          <a:prstGeom prst="rect">
            <a:avLst/>
          </a:prstGeom>
        </p:spPr>
      </p:pic>
      <p:pic>
        <p:nvPicPr>
          <p:cNvPr id="18" name="Grafik 17" descr="Abschlusshut mit einfarbiger Füllung">
            <a:extLst>
              <a:ext uri="{FF2B5EF4-FFF2-40B4-BE49-F238E27FC236}">
                <a16:creationId xmlns:a16="http://schemas.microsoft.com/office/drawing/2014/main" id="{6936852B-08F1-5B90-1002-DCE4F092BF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1177" y="3009089"/>
            <a:ext cx="720437" cy="720437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375ED176-0718-DB03-E721-3A158A2B550D}"/>
              </a:ext>
            </a:extLst>
          </p:cNvPr>
          <p:cNvSpPr txBox="1"/>
          <p:nvPr/>
        </p:nvSpPr>
        <p:spPr>
          <a:xfrm>
            <a:off x="4180026" y="3975092"/>
            <a:ext cx="342984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45A92"/>
                </a:solidFill>
              </a:rPr>
              <a:t>Sep. 24 – Dez. 24</a:t>
            </a:r>
          </a:p>
          <a:p>
            <a:r>
              <a:rPr lang="de-DE" b="1" dirty="0"/>
              <a:t>Kaufmännischer Assistent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1600" dirty="0"/>
              <a:t>XXX Consulting GmbH</a:t>
            </a:r>
          </a:p>
          <a:p>
            <a:r>
              <a:rPr lang="de-DE" sz="1600" dirty="0"/>
              <a:t>Unterstützung im Rechnungswesen</a:t>
            </a:r>
          </a:p>
          <a:p>
            <a:r>
              <a:rPr lang="de-DE" sz="1600" dirty="0"/>
              <a:t>Abwicklung von Kundentelefonaten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4F9ED2D6-E29C-6E2E-F7C2-69F459B88316}"/>
              </a:ext>
            </a:extLst>
          </p:cNvPr>
          <p:cNvCxnSpPr>
            <a:cxnSpLocks/>
          </p:cNvCxnSpPr>
          <p:nvPr/>
        </p:nvCxnSpPr>
        <p:spPr>
          <a:xfrm>
            <a:off x="6572810" y="1845924"/>
            <a:ext cx="0" cy="10484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71C703E-BCE7-FAE7-95CB-07475A0D61F5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28600" y="3344388"/>
            <a:ext cx="109035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0779FF3-CD22-FDCB-6EAD-C67E24399B7E}"/>
              </a:ext>
            </a:extLst>
          </p:cNvPr>
          <p:cNvCxnSpPr>
            <a:cxnSpLocks/>
          </p:cNvCxnSpPr>
          <p:nvPr/>
        </p:nvCxnSpPr>
        <p:spPr>
          <a:xfrm>
            <a:off x="8978879" y="3794388"/>
            <a:ext cx="0" cy="108105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fik 27" descr="Route zwei Stecknadeln mit Weg Silhouette">
            <a:extLst>
              <a:ext uri="{FF2B5EF4-FFF2-40B4-BE49-F238E27FC236}">
                <a16:creationId xmlns:a16="http://schemas.microsoft.com/office/drawing/2014/main" id="{EEC3AFDB-D8A2-751B-B851-F4732A1221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31" name="Grafik 30" descr="Volltreffer Silhouette">
            <a:extLst>
              <a:ext uri="{FF2B5EF4-FFF2-40B4-BE49-F238E27FC236}">
                <a16:creationId xmlns:a16="http://schemas.microsoft.com/office/drawing/2014/main" id="{D4AE5264-434C-5F76-45CF-9AF47391BC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32" name="Grafik 31" descr="Signal Silhouette">
            <a:extLst>
              <a:ext uri="{FF2B5EF4-FFF2-40B4-BE49-F238E27FC236}">
                <a16:creationId xmlns:a16="http://schemas.microsoft.com/office/drawing/2014/main" id="{11390B2A-1598-9FE1-58AF-4754B4B766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33" name="Grafik 32" descr="Glühbirne und Zahnrad Silhouette">
            <a:extLst>
              <a:ext uri="{FF2B5EF4-FFF2-40B4-BE49-F238E27FC236}">
                <a16:creationId xmlns:a16="http://schemas.microsoft.com/office/drawing/2014/main" id="{447A6698-5210-693C-E163-1561B6D75FC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AC2AB0B-05D1-F355-4A2C-4A5D03942240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feil: Chevron 34">
            <a:extLst>
              <a:ext uri="{FF2B5EF4-FFF2-40B4-BE49-F238E27FC236}">
                <a16:creationId xmlns:a16="http://schemas.microsoft.com/office/drawing/2014/main" id="{B7AB30B0-1AB5-8EA8-FD69-8F28AF048158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FA329F4A-70D4-6B30-2829-D8600BC121E1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D61C833-954A-62B6-8B12-16EE79DBA8BB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feil: Chevron 38">
            <a:extLst>
              <a:ext uri="{FF2B5EF4-FFF2-40B4-BE49-F238E27FC236}">
                <a16:creationId xmlns:a16="http://schemas.microsoft.com/office/drawing/2014/main" id="{0B6522C0-9543-9547-5BD2-3375031663F6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0" name="Pfeil: Chevron 39">
            <a:extLst>
              <a:ext uri="{FF2B5EF4-FFF2-40B4-BE49-F238E27FC236}">
                <a16:creationId xmlns:a16="http://schemas.microsoft.com/office/drawing/2014/main" id="{E77841F6-A29B-A978-863E-73A794DD3882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537520E-F023-3916-3AD1-EB3805DE9CA2}"/>
              </a:ext>
            </a:extLst>
          </p:cNvPr>
          <p:cNvCxnSpPr/>
          <p:nvPr/>
        </p:nvCxnSpPr>
        <p:spPr>
          <a:xfrm flipH="1">
            <a:off x="9446879" y="2103120"/>
            <a:ext cx="1304974" cy="755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9C81C818-9A27-C28A-7918-C47B68DAF078}"/>
              </a:ext>
            </a:extLst>
          </p:cNvPr>
          <p:cNvSpPr txBox="1"/>
          <p:nvPr/>
        </p:nvSpPr>
        <p:spPr>
          <a:xfrm>
            <a:off x="9632908" y="1663754"/>
            <a:ext cx="3185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rgbClr val="145A92"/>
                </a:solidFill>
              </a:rPr>
              <a:t>Nutzt gerne Icons</a:t>
            </a:r>
            <a:endParaRPr lang="de-DE" sz="1600" dirty="0"/>
          </a:p>
          <a:p>
            <a:endParaRPr lang="de-DE" b="1" dirty="0"/>
          </a:p>
          <a:p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51352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6B6DF-B94E-0E8B-5FC7-02B97039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EBFE997-B9B7-BDCB-D1C3-AA24FA3312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14262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2531C8-5BE8-E5C5-4838-1DF63F511A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8A05589-C4A1-609C-D557-5163FF20A397}"/>
              </a:ext>
            </a:extLst>
          </p:cNvPr>
          <p:cNvCxnSpPr>
            <a:cxnSpLocks/>
            <a:stCxn id="7" idx="6"/>
            <a:endCxn id="23" idx="2"/>
          </p:cNvCxnSpPr>
          <p:nvPr/>
        </p:nvCxnSpPr>
        <p:spPr>
          <a:xfrm>
            <a:off x="2218952" y="3344388"/>
            <a:ext cx="3885858" cy="19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ussdiagramm: Verbinder 6">
            <a:extLst>
              <a:ext uri="{FF2B5EF4-FFF2-40B4-BE49-F238E27FC236}">
                <a16:creationId xmlns:a16="http://schemas.microsoft.com/office/drawing/2014/main" id="{6E4C3844-5771-667A-2CF8-F1A507F16AC5}"/>
              </a:ext>
            </a:extLst>
          </p:cNvPr>
          <p:cNvSpPr/>
          <p:nvPr/>
        </p:nvSpPr>
        <p:spPr>
          <a:xfrm>
            <a:off x="1318952" y="2894388"/>
            <a:ext cx="900000" cy="900000"/>
          </a:xfrm>
          <a:prstGeom prst="flowChartConnector">
            <a:avLst/>
          </a:prstGeom>
          <a:solidFill>
            <a:srgbClr val="145A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0A88F98-3133-52AB-BAF7-AD2777FC4114}"/>
              </a:ext>
            </a:extLst>
          </p:cNvPr>
          <p:cNvSpPr txBox="1"/>
          <p:nvPr/>
        </p:nvSpPr>
        <p:spPr>
          <a:xfrm>
            <a:off x="6587659" y="1438135"/>
            <a:ext cx="260446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1628"/>
                </a:solidFill>
              </a:rPr>
              <a:t>Von Jul. 26 – Sep. 26</a:t>
            </a:r>
          </a:p>
          <a:p>
            <a:r>
              <a:rPr lang="de-DE" b="1" dirty="0"/>
              <a:t>Praktikum bei Unity  </a:t>
            </a:r>
          </a:p>
          <a:p>
            <a:r>
              <a:rPr lang="de-DE" b="1" dirty="0"/>
              <a:t> </a:t>
            </a:r>
          </a:p>
          <a:p>
            <a:r>
              <a:rPr lang="de-DE" sz="1600" dirty="0"/>
              <a:t>Strategy Consulting /</a:t>
            </a:r>
          </a:p>
          <a:p>
            <a:r>
              <a:rPr lang="de-DE" sz="1600" dirty="0"/>
              <a:t>Business Innovation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DB4F51C-BB22-0341-3644-870E654C28C2}"/>
              </a:ext>
            </a:extLst>
          </p:cNvPr>
          <p:cNvSpPr txBox="1"/>
          <p:nvPr/>
        </p:nvSpPr>
        <p:spPr>
          <a:xfrm>
            <a:off x="9006313" y="3932233"/>
            <a:ext cx="2846598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6"/>
                </a:solidFill>
              </a:rPr>
              <a:t>In Zukunft…</a:t>
            </a:r>
          </a:p>
          <a:p>
            <a:pPr>
              <a:spcAft>
                <a:spcPts val="600"/>
              </a:spcAft>
            </a:pPr>
            <a:r>
              <a:rPr lang="de-DE" b="1" dirty="0"/>
              <a:t>Consulting bei Unity?</a:t>
            </a:r>
          </a:p>
          <a:p>
            <a:r>
              <a:rPr lang="de-DE" sz="1600" dirty="0"/>
              <a:t> Einstieg in die                                                                     </a:t>
            </a:r>
          </a:p>
          <a:p>
            <a:r>
              <a:rPr lang="de-DE" sz="1600" dirty="0"/>
              <a:t> Strategieberatung</a:t>
            </a:r>
          </a:p>
          <a:p>
            <a:endParaRPr lang="de-DE" b="1" dirty="0"/>
          </a:p>
          <a:p>
            <a:endParaRPr lang="de-DE" b="1" dirty="0"/>
          </a:p>
        </p:txBody>
      </p:sp>
      <p:sp>
        <p:nvSpPr>
          <p:cNvPr id="20" name="Flussdiagramm: Verbinder 19">
            <a:extLst>
              <a:ext uri="{FF2B5EF4-FFF2-40B4-BE49-F238E27FC236}">
                <a16:creationId xmlns:a16="http://schemas.microsoft.com/office/drawing/2014/main" id="{66D5E7B1-FFD2-67D7-A3B1-A79BACDC70AA}"/>
              </a:ext>
            </a:extLst>
          </p:cNvPr>
          <p:cNvSpPr/>
          <p:nvPr/>
        </p:nvSpPr>
        <p:spPr>
          <a:xfrm>
            <a:off x="3688587" y="2907185"/>
            <a:ext cx="936000" cy="936000"/>
          </a:xfrm>
          <a:prstGeom prst="flowChartConnector">
            <a:avLst/>
          </a:prstGeom>
          <a:solidFill>
            <a:srgbClr val="145A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Flussdiagramm: Verbinder 22">
            <a:extLst>
              <a:ext uri="{FF2B5EF4-FFF2-40B4-BE49-F238E27FC236}">
                <a16:creationId xmlns:a16="http://schemas.microsoft.com/office/drawing/2014/main" id="{F66029A1-7EE9-EBBE-809B-9E8DA66A1ADD}"/>
              </a:ext>
            </a:extLst>
          </p:cNvPr>
          <p:cNvSpPr/>
          <p:nvPr/>
        </p:nvSpPr>
        <p:spPr>
          <a:xfrm>
            <a:off x="6104810" y="2895755"/>
            <a:ext cx="936000" cy="936000"/>
          </a:xfrm>
          <a:prstGeom prst="flowChartConnector">
            <a:avLst/>
          </a:prstGeom>
          <a:solidFill>
            <a:srgbClr val="145A92"/>
          </a:solidFill>
          <a:ln w="28575">
            <a:solidFill>
              <a:srgbClr val="FF162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Flussdiagramm: Verbinder 23">
            <a:extLst>
              <a:ext uri="{FF2B5EF4-FFF2-40B4-BE49-F238E27FC236}">
                <a16:creationId xmlns:a16="http://schemas.microsoft.com/office/drawing/2014/main" id="{78202141-6860-F46D-02C5-F955D8AE587E}"/>
              </a:ext>
            </a:extLst>
          </p:cNvPr>
          <p:cNvSpPr/>
          <p:nvPr/>
        </p:nvSpPr>
        <p:spPr>
          <a:xfrm>
            <a:off x="8610600" y="2887289"/>
            <a:ext cx="936000" cy="936000"/>
          </a:xfrm>
          <a:prstGeom prst="flowChartConnector">
            <a:avLst/>
          </a:prstGeom>
          <a:solidFill>
            <a:schemeClr val="bg1"/>
          </a:solidFill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58E4051-C9C8-A0D5-E868-1FEE98BD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000"/>
              <a:t>Datum | Euer Name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BE13FB-D4FA-6CEC-F83F-F5F63AB3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3BA7BB2-AEB0-F51E-5A7C-0561F386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8846"/>
            <a:ext cx="3162299" cy="678193"/>
          </a:xfrm>
          <a:noFill/>
        </p:spPr>
        <p:txBody>
          <a:bodyPr vert="horz" rIns="91440">
            <a:normAutofit/>
          </a:bodyPr>
          <a:lstStyle/>
          <a:p>
            <a:r>
              <a:rPr lang="de-DE" sz="2800" b="1" dirty="0">
                <a:solidFill>
                  <a:srgbClr val="145A92"/>
                </a:solidFill>
              </a:rPr>
              <a:t>Mein Werdegang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CEA0D1C-E8FB-D026-D859-C36B0B35B87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768952" y="1851660"/>
            <a:ext cx="0" cy="104272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CEE5851F-F46E-E1A0-C113-C22ADA351376}"/>
              </a:ext>
            </a:extLst>
          </p:cNvPr>
          <p:cNvSpPr txBox="1"/>
          <p:nvPr/>
        </p:nvSpPr>
        <p:spPr>
          <a:xfrm>
            <a:off x="1783079" y="1383030"/>
            <a:ext cx="30459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45A92"/>
                </a:solidFill>
              </a:rPr>
              <a:t>2025 – heute</a:t>
            </a:r>
          </a:p>
          <a:p>
            <a:r>
              <a:rPr lang="de-DE" b="1" dirty="0"/>
              <a:t>Junior Consultant</a:t>
            </a:r>
          </a:p>
          <a:p>
            <a:pPr>
              <a:spcBef>
                <a:spcPts val="600"/>
              </a:spcBef>
            </a:pPr>
            <a:r>
              <a:rPr lang="de-DE" sz="1600" dirty="0"/>
              <a:t>Campus Konzept Stuttgart</a:t>
            </a:r>
          </a:p>
          <a:p>
            <a:pPr>
              <a:spcBef>
                <a:spcPts val="600"/>
              </a:spcBef>
            </a:pPr>
            <a:r>
              <a:rPr lang="de-DE" sz="1600" dirty="0"/>
              <a:t>End-</a:t>
            </a:r>
            <a:r>
              <a:rPr lang="de-DE" sz="1600" dirty="0" err="1"/>
              <a:t>to</a:t>
            </a:r>
            <a:r>
              <a:rPr lang="de-DE" sz="1600" dirty="0"/>
              <a:t>-End Projekt für Kunde im öffentlichen Sektor</a:t>
            </a:r>
          </a:p>
          <a:p>
            <a:pPr>
              <a:spcBef>
                <a:spcPts val="600"/>
              </a:spcBef>
            </a:pPr>
            <a:endParaRPr lang="de-DE" sz="1600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40B3774-DF23-7DBE-5A34-396C29884770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4156587" y="3843185"/>
            <a:ext cx="0" cy="104885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519BB385-3964-94B2-5084-6843EEE8138E}"/>
              </a:ext>
            </a:extLst>
          </p:cNvPr>
          <p:cNvCxnSpPr>
            <a:cxnSpLocks/>
          </p:cNvCxnSpPr>
          <p:nvPr/>
        </p:nvCxnSpPr>
        <p:spPr>
          <a:xfrm>
            <a:off x="6587659" y="1845924"/>
            <a:ext cx="0" cy="10484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28BF7015-38ED-673E-702B-313476F67BA5}"/>
              </a:ext>
            </a:extLst>
          </p:cNvPr>
          <p:cNvCxnSpPr>
            <a:cxnSpLocks/>
          </p:cNvCxnSpPr>
          <p:nvPr/>
        </p:nvCxnSpPr>
        <p:spPr>
          <a:xfrm>
            <a:off x="8978879" y="3794388"/>
            <a:ext cx="0" cy="108105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PwC">
            <a:extLst>
              <a:ext uri="{FF2B5EF4-FFF2-40B4-BE49-F238E27FC236}">
                <a16:creationId xmlns:a16="http://schemas.microsoft.com/office/drawing/2014/main" id="{AF62301A-3F02-EA37-52F2-BAFFE705E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862" y="3077474"/>
            <a:ext cx="900000" cy="57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26464E03-CC1D-7DFB-D183-EC98614E5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322" y="3132278"/>
            <a:ext cx="599793" cy="43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1D487D9-828B-8B45-BB34-FDF25DC39242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51460" y="3344388"/>
            <a:ext cx="10674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730B1B13-D6E6-545F-85A7-CF390B105452}"/>
              </a:ext>
            </a:extLst>
          </p:cNvPr>
          <p:cNvSpPr txBox="1"/>
          <p:nvPr/>
        </p:nvSpPr>
        <p:spPr>
          <a:xfrm>
            <a:off x="4180026" y="3975092"/>
            <a:ext cx="3580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45A92"/>
                </a:solidFill>
              </a:rPr>
              <a:t>Okt. 2025 – Mär. 2026</a:t>
            </a:r>
          </a:p>
          <a:p>
            <a:r>
              <a:rPr lang="de-DE" b="1" dirty="0" err="1"/>
              <a:t>Intership</a:t>
            </a:r>
            <a:r>
              <a:rPr lang="de-DE" b="1" dirty="0"/>
              <a:t> | Audit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1600" dirty="0"/>
              <a:t>PwC GmbH WPG</a:t>
            </a:r>
          </a:p>
          <a:p>
            <a:r>
              <a:rPr lang="de-DE" sz="1600" dirty="0"/>
              <a:t>JAP &amp; KAP im technischen Mittelstand</a:t>
            </a:r>
          </a:p>
          <a:p>
            <a:r>
              <a:rPr lang="de-DE" sz="1600" dirty="0"/>
              <a:t>Präsentationen für Consulting-Ansätze</a:t>
            </a:r>
          </a:p>
          <a:p>
            <a:r>
              <a:rPr lang="de-DE" sz="1600" dirty="0"/>
              <a:t>Zahlenverständnis durch GuV &amp; Bilanz</a:t>
            </a:r>
          </a:p>
          <a:p>
            <a:endParaRPr lang="de-DE" sz="1600" dirty="0"/>
          </a:p>
        </p:txBody>
      </p:sp>
      <p:pic>
        <p:nvPicPr>
          <p:cNvPr id="25" name="Grafik 24" descr="Puzzleteile Silhouette">
            <a:extLst>
              <a:ext uri="{FF2B5EF4-FFF2-40B4-BE49-F238E27FC236}">
                <a16:creationId xmlns:a16="http://schemas.microsoft.com/office/drawing/2014/main" id="{C7F88D5B-4487-CF99-892C-EFB35AAB5E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0471" y="2953260"/>
            <a:ext cx="815125" cy="815125"/>
          </a:xfrm>
          <a:prstGeom prst="rect">
            <a:avLst/>
          </a:prstGeom>
        </p:spPr>
      </p:pic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1B5FC8EA-CAF5-0119-E514-60045BCA2D16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7040810" y="3355289"/>
            <a:ext cx="1569790" cy="8466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fik 51" descr="Aktenkoffer Silhouette">
            <a:extLst>
              <a:ext uri="{FF2B5EF4-FFF2-40B4-BE49-F238E27FC236}">
                <a16:creationId xmlns:a16="http://schemas.microsoft.com/office/drawing/2014/main" id="{4A259104-0E96-0628-F1A1-CC9F031BD3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99934" y="2986389"/>
            <a:ext cx="740400" cy="740400"/>
          </a:xfrm>
          <a:prstGeom prst="rect">
            <a:avLst/>
          </a:prstGeom>
        </p:spPr>
      </p:pic>
      <p:pic>
        <p:nvPicPr>
          <p:cNvPr id="58" name="Grafik 57" descr="Route zwei Stecknadeln mit Weg Silhouette">
            <a:extLst>
              <a:ext uri="{FF2B5EF4-FFF2-40B4-BE49-F238E27FC236}">
                <a16:creationId xmlns:a16="http://schemas.microsoft.com/office/drawing/2014/main" id="{DE87DF86-EBE8-B3CA-EC32-8B2E02D3D4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59" name="Grafik 58" descr="Volltreffer Silhouette">
            <a:extLst>
              <a:ext uri="{FF2B5EF4-FFF2-40B4-BE49-F238E27FC236}">
                <a16:creationId xmlns:a16="http://schemas.microsoft.com/office/drawing/2014/main" id="{12372758-E529-AD28-D432-8B8C0F42FFC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60" name="Grafik 59" descr="Signal Silhouette">
            <a:extLst>
              <a:ext uri="{FF2B5EF4-FFF2-40B4-BE49-F238E27FC236}">
                <a16:creationId xmlns:a16="http://schemas.microsoft.com/office/drawing/2014/main" id="{E7FE88BC-8A73-18D1-0657-B679B58F2D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61" name="Grafik 60" descr="Glühbirne und Zahnrad Silhouette">
            <a:extLst>
              <a:ext uri="{FF2B5EF4-FFF2-40B4-BE49-F238E27FC236}">
                <a16:creationId xmlns:a16="http://schemas.microsoft.com/office/drawing/2014/main" id="{04EAB403-8D60-F1D8-F3E4-A76138831E3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3A422C3F-5CB8-A5B8-C222-AADC9262C164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Pfeil: Chevron 62">
            <a:extLst>
              <a:ext uri="{FF2B5EF4-FFF2-40B4-BE49-F238E27FC236}">
                <a16:creationId xmlns:a16="http://schemas.microsoft.com/office/drawing/2014/main" id="{46D9117C-080C-366D-1F74-BBFA4B2DA959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2048" name="Gerader Verbinder 2047">
            <a:extLst>
              <a:ext uri="{FF2B5EF4-FFF2-40B4-BE49-F238E27FC236}">
                <a16:creationId xmlns:a16="http://schemas.microsoft.com/office/drawing/2014/main" id="{F308AD24-D4E3-EC90-9F87-7A46530C4417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" name="Gerader Verbinder 2048">
            <a:extLst>
              <a:ext uri="{FF2B5EF4-FFF2-40B4-BE49-F238E27FC236}">
                <a16:creationId xmlns:a16="http://schemas.microsoft.com/office/drawing/2014/main" id="{7885667D-A9BB-C15F-C58A-7F40BA4647C8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0" name="Pfeil: Chevron 2049">
            <a:extLst>
              <a:ext uri="{FF2B5EF4-FFF2-40B4-BE49-F238E27FC236}">
                <a16:creationId xmlns:a16="http://schemas.microsoft.com/office/drawing/2014/main" id="{4956D77D-CC4C-F924-198B-D3076A1D6FA2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051" name="Pfeil: Chevron 2050">
            <a:extLst>
              <a:ext uri="{FF2B5EF4-FFF2-40B4-BE49-F238E27FC236}">
                <a16:creationId xmlns:a16="http://schemas.microsoft.com/office/drawing/2014/main" id="{2F455451-5776-2201-9F7E-70680480DEE0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165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534B-E841-B429-DF79-A3353549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120C74E-CEE1-3C1E-C867-70F6D63F64E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48963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92D4D6-7026-7CCE-B7D3-6B56097B5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96F89EF-B729-ED7B-C9B8-53F91B7B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/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71238E6-F4BF-A357-F5C2-C6D3F455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>
                <a:solidFill>
                  <a:schemeClr val="bg2">
                    <a:lumMod val="75000"/>
                  </a:schemeClr>
                </a:solidFill>
              </a:rPr>
              <a:t>5</a:t>
            </a:fld>
            <a:endParaRPr lang="de-DE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EE205D-6844-31D8-ED38-21AD9089560A}"/>
              </a:ext>
            </a:extLst>
          </p:cNvPr>
          <p:cNvSpPr txBox="1"/>
          <p:nvPr/>
        </p:nvSpPr>
        <p:spPr>
          <a:xfrm>
            <a:off x="632398" y="470265"/>
            <a:ext cx="886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Wie kann ich meine Stärken &amp; meine Leidenschaft einbringen ? 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284672-A453-A0F6-769E-DC0F3FF80A1F}"/>
              </a:ext>
            </a:extLst>
          </p:cNvPr>
          <p:cNvCxnSpPr/>
          <p:nvPr/>
        </p:nvCxnSpPr>
        <p:spPr>
          <a:xfrm>
            <a:off x="527154" y="1573965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A173EB2-E604-2F8C-B01C-C95C3BC71A54}"/>
              </a:ext>
            </a:extLst>
          </p:cNvPr>
          <p:cNvCxnSpPr/>
          <p:nvPr/>
        </p:nvCxnSpPr>
        <p:spPr>
          <a:xfrm>
            <a:off x="527154" y="2738262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D8DDF75C-1C0F-B1B9-AC19-4558D2E0059D}"/>
              </a:ext>
            </a:extLst>
          </p:cNvPr>
          <p:cNvCxnSpPr/>
          <p:nvPr/>
        </p:nvCxnSpPr>
        <p:spPr>
          <a:xfrm>
            <a:off x="527154" y="3940436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9B10C25-C78E-5EBE-67F0-412FB90C6500}"/>
              </a:ext>
            </a:extLst>
          </p:cNvPr>
          <p:cNvCxnSpPr/>
          <p:nvPr/>
        </p:nvCxnSpPr>
        <p:spPr>
          <a:xfrm>
            <a:off x="527154" y="5133495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0D28CF96-81F0-5867-4D6A-56F4E6DACD16}"/>
              </a:ext>
            </a:extLst>
          </p:cNvPr>
          <p:cNvCxnSpPr/>
          <p:nvPr/>
        </p:nvCxnSpPr>
        <p:spPr>
          <a:xfrm>
            <a:off x="527153" y="6346213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1DC65698-6CD8-99B9-4C4B-B2BE17A94802}"/>
              </a:ext>
            </a:extLst>
          </p:cNvPr>
          <p:cNvSpPr txBox="1"/>
          <p:nvPr/>
        </p:nvSpPr>
        <p:spPr>
          <a:xfrm>
            <a:off x="612579" y="1203242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Stärke / Leidenschaft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64450DC-A771-2DD1-3E61-CDC77272489B}"/>
              </a:ext>
            </a:extLst>
          </p:cNvPr>
          <p:cNvSpPr txBox="1"/>
          <p:nvPr/>
        </p:nvSpPr>
        <p:spPr>
          <a:xfrm>
            <a:off x="4871595" y="1205281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Beispiel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CC09638-5D15-7B20-856A-2F87763EE605}"/>
              </a:ext>
            </a:extLst>
          </p:cNvPr>
          <p:cNvSpPr txBox="1"/>
          <p:nvPr/>
        </p:nvSpPr>
        <p:spPr>
          <a:xfrm>
            <a:off x="8400862" y="1217286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Mehrwert &amp; Erfolge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0EEF778-F70B-BC75-5C32-368D8A17E282}"/>
              </a:ext>
            </a:extLst>
          </p:cNvPr>
          <p:cNvSpPr txBox="1"/>
          <p:nvPr/>
        </p:nvSpPr>
        <p:spPr>
          <a:xfrm>
            <a:off x="432110" y="5750008"/>
            <a:ext cx="2070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highlight>
                  <a:srgbClr val="FFFF00"/>
                </a:highlight>
              </a:rPr>
              <a:t>Hilfsbereitschaft &amp;</a:t>
            </a:r>
          </a:p>
          <a:p>
            <a:pPr algn="ctr"/>
            <a:r>
              <a:rPr lang="de-DE" sz="1600" dirty="0">
                <a:highlight>
                  <a:srgbClr val="FFFF00"/>
                </a:highlight>
              </a:rPr>
              <a:t> Lösungsorientierung</a:t>
            </a:r>
          </a:p>
        </p:txBody>
      </p:sp>
      <p:pic>
        <p:nvPicPr>
          <p:cNvPr id="21" name="Grafik 20" descr="Prost Silhouette">
            <a:extLst>
              <a:ext uri="{FF2B5EF4-FFF2-40B4-BE49-F238E27FC236}">
                <a16:creationId xmlns:a16="http://schemas.microsoft.com/office/drawing/2014/main" id="{3C5A4893-1EA3-7275-C12F-1D2A3C7D53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82806">
            <a:off x="1153371" y="2805523"/>
            <a:ext cx="628350" cy="628350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EAEB3E2F-C7E3-9CC9-7F2B-7D2E11CB32F2}"/>
              </a:ext>
            </a:extLst>
          </p:cNvPr>
          <p:cNvSpPr txBox="1"/>
          <p:nvPr/>
        </p:nvSpPr>
        <p:spPr>
          <a:xfrm>
            <a:off x="665573" y="2132607"/>
            <a:ext cx="1712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highlight>
                  <a:srgbClr val="FFFF00"/>
                </a:highlight>
              </a:rPr>
              <a:t>Lernfähigkeit &amp; Stressresistenz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3CD75B3-0068-1BD8-AF86-15E13F3EEC23}"/>
              </a:ext>
            </a:extLst>
          </p:cNvPr>
          <p:cNvSpPr txBox="1"/>
          <p:nvPr/>
        </p:nvSpPr>
        <p:spPr>
          <a:xfrm>
            <a:off x="719906" y="3346844"/>
            <a:ext cx="160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highlight>
                  <a:srgbClr val="FFFF00"/>
                </a:highlight>
              </a:rPr>
              <a:t>Teamfähigkeit &amp; Kommunikation</a:t>
            </a:r>
          </a:p>
        </p:txBody>
      </p:sp>
      <p:pic>
        <p:nvPicPr>
          <p:cNvPr id="59" name="Grafik 58" descr="Rechte und linke Gehirnhälfte Silhouette">
            <a:extLst>
              <a:ext uri="{FF2B5EF4-FFF2-40B4-BE49-F238E27FC236}">
                <a16:creationId xmlns:a16="http://schemas.microsoft.com/office/drawing/2014/main" id="{1739731E-55C4-BFDD-47FE-0FEB8411F8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7424" y="5163624"/>
            <a:ext cx="680241" cy="680241"/>
          </a:xfrm>
          <a:prstGeom prst="rect">
            <a:avLst/>
          </a:prstGeom>
        </p:spPr>
      </p:pic>
      <p:pic>
        <p:nvPicPr>
          <p:cNvPr id="65" name="Grafik 64" descr="Wiedergabe Silhouette">
            <a:extLst>
              <a:ext uri="{FF2B5EF4-FFF2-40B4-BE49-F238E27FC236}">
                <a16:creationId xmlns:a16="http://schemas.microsoft.com/office/drawing/2014/main" id="{2F8BC526-43B7-E60E-B749-9B4397AB94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7717" y="1673417"/>
            <a:ext cx="474700" cy="474700"/>
          </a:xfrm>
          <a:prstGeom prst="rect">
            <a:avLst/>
          </a:prstGeom>
        </p:spPr>
      </p:pic>
      <p:pic>
        <p:nvPicPr>
          <p:cNvPr id="66" name="Grafik 65" descr="Wiedergabe Silhouette">
            <a:extLst>
              <a:ext uri="{FF2B5EF4-FFF2-40B4-BE49-F238E27FC236}">
                <a16:creationId xmlns:a16="http://schemas.microsoft.com/office/drawing/2014/main" id="{29C47E82-B264-070B-4F8D-4B601C28FB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0787" y="1676809"/>
            <a:ext cx="474700" cy="474700"/>
          </a:xfrm>
          <a:prstGeom prst="rect">
            <a:avLst/>
          </a:prstGeom>
        </p:spPr>
      </p:pic>
      <p:sp>
        <p:nvSpPr>
          <p:cNvPr id="67" name="Textfeld 66">
            <a:extLst>
              <a:ext uri="{FF2B5EF4-FFF2-40B4-BE49-F238E27FC236}">
                <a16:creationId xmlns:a16="http://schemas.microsoft.com/office/drawing/2014/main" id="{747B12D7-6B9D-3A75-597F-B688F43E7B57}"/>
              </a:ext>
            </a:extLst>
          </p:cNvPr>
          <p:cNvSpPr txBox="1"/>
          <p:nvPr/>
        </p:nvSpPr>
        <p:spPr>
          <a:xfrm>
            <a:off x="824197" y="4537534"/>
            <a:ext cx="1286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highlight>
                  <a:srgbClr val="FFFF00"/>
                </a:highlight>
              </a:rPr>
              <a:t>Strategische Fähigkeiten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3437ECA8-8896-AECC-2EC5-58F718634A74}"/>
              </a:ext>
            </a:extLst>
          </p:cNvPr>
          <p:cNvCxnSpPr>
            <a:cxnSpLocks/>
          </p:cNvCxnSpPr>
          <p:nvPr/>
        </p:nvCxnSpPr>
        <p:spPr>
          <a:xfrm>
            <a:off x="3098800" y="1773766"/>
            <a:ext cx="0" cy="740834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75566FE1-63DD-E02F-8701-4DA5DD34990C}"/>
              </a:ext>
            </a:extLst>
          </p:cNvPr>
          <p:cNvCxnSpPr>
            <a:cxnSpLocks/>
          </p:cNvCxnSpPr>
          <p:nvPr/>
        </p:nvCxnSpPr>
        <p:spPr>
          <a:xfrm>
            <a:off x="3111500" y="4186767"/>
            <a:ext cx="0" cy="732366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8E8A4ECA-873E-519B-EBF4-93F54ABB7D73}"/>
              </a:ext>
            </a:extLst>
          </p:cNvPr>
          <p:cNvCxnSpPr>
            <a:cxnSpLocks/>
          </p:cNvCxnSpPr>
          <p:nvPr/>
        </p:nvCxnSpPr>
        <p:spPr>
          <a:xfrm flipH="1">
            <a:off x="3111499" y="2971800"/>
            <a:ext cx="1" cy="778933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71A77993-9098-22C7-E4F1-741E71F3BAF3}"/>
              </a:ext>
            </a:extLst>
          </p:cNvPr>
          <p:cNvCxnSpPr>
            <a:cxnSpLocks/>
          </p:cNvCxnSpPr>
          <p:nvPr/>
        </p:nvCxnSpPr>
        <p:spPr>
          <a:xfrm>
            <a:off x="3111499" y="5411788"/>
            <a:ext cx="1" cy="700849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4589EC15-2C13-F630-5407-FF0F1CC5AF06}"/>
              </a:ext>
            </a:extLst>
          </p:cNvPr>
          <p:cNvSpPr txBox="1"/>
          <p:nvPr/>
        </p:nvSpPr>
        <p:spPr>
          <a:xfrm>
            <a:off x="3360420" y="1619685"/>
            <a:ext cx="37604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Kombination aus Lehre an der Hochschule &amp; mehreren absolvierten Werkstudentenjobs sowie Praktika während der Studienzeit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7D6CAF9C-9A87-A8D2-CF26-6340D2AEBDBA}"/>
              </a:ext>
            </a:extLst>
          </p:cNvPr>
          <p:cNvSpPr txBox="1"/>
          <p:nvPr/>
        </p:nvSpPr>
        <p:spPr>
          <a:xfrm>
            <a:off x="3360419" y="2802847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Lösungsorientierte Zusammenarbeit für eine pragmatische Lösungsfindung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Proaktiver Wissenstransfer und transparente Kommunikation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5EC0D906-9883-9902-7733-D073F3DCADD4}"/>
              </a:ext>
            </a:extLst>
          </p:cNvPr>
          <p:cNvSpPr txBox="1"/>
          <p:nvPr/>
        </p:nvSpPr>
        <p:spPr>
          <a:xfrm>
            <a:off x="3360420" y="4001503"/>
            <a:ext cx="338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Projekt, das die langfristige Aufrechterhaltung des „Studienbotschafterprojektes“ sichern soll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14AF90D4-D75A-15AB-CFC7-053967F9CD8A}"/>
              </a:ext>
            </a:extLst>
          </p:cNvPr>
          <p:cNvSpPr txBox="1"/>
          <p:nvPr/>
        </p:nvSpPr>
        <p:spPr>
          <a:xfrm>
            <a:off x="3360420" y="5197915"/>
            <a:ext cx="3532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Soziales Engagement und Impact für Menschen / Kinder  in schwierigen Situationen, bspw. Geflüchtete oder Alleinerziehende</a:t>
            </a:r>
          </a:p>
        </p:txBody>
      </p:sp>
      <p:pic>
        <p:nvPicPr>
          <p:cNvPr id="115" name="Grafik 114" descr="Playbook Silhouette">
            <a:extLst>
              <a:ext uri="{FF2B5EF4-FFF2-40B4-BE49-F238E27FC236}">
                <a16:creationId xmlns:a16="http://schemas.microsoft.com/office/drawing/2014/main" id="{35F4E1DC-9197-7A89-D963-42345E0C1D0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742" y="3942880"/>
            <a:ext cx="720089" cy="720089"/>
          </a:xfrm>
          <a:prstGeom prst="rect">
            <a:avLst/>
          </a:prstGeom>
        </p:spPr>
      </p:pic>
      <p:sp>
        <p:nvSpPr>
          <p:cNvPr id="116" name="Textfeld 115">
            <a:extLst>
              <a:ext uri="{FF2B5EF4-FFF2-40B4-BE49-F238E27FC236}">
                <a16:creationId xmlns:a16="http://schemas.microsoft.com/office/drawing/2014/main" id="{69A6250F-1B0F-D830-DAB3-29B488A37F96}"/>
              </a:ext>
            </a:extLst>
          </p:cNvPr>
          <p:cNvSpPr txBox="1"/>
          <p:nvPr/>
        </p:nvSpPr>
        <p:spPr>
          <a:xfrm>
            <a:off x="7515893" y="4014341"/>
            <a:ext cx="3811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Vollste Zufriedenheit sowie vollständige Implementierung  unserer Vorschläge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Sicherung eines Folgeauftrages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3630D335-F183-C4B9-5F89-E548D5557546}"/>
              </a:ext>
            </a:extLst>
          </p:cNvPr>
          <p:cNvSpPr txBox="1"/>
          <p:nvPr/>
        </p:nvSpPr>
        <p:spPr>
          <a:xfrm>
            <a:off x="7501889" y="5184788"/>
            <a:ext cx="36943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Erzielte Erfolge durch Verbesserung der Mathe &amp; Deutschnoten.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Verbesserung des Sprachniveaus &amp; mehr Kommunikation mit Menschen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9F1BB81C-4C2B-3887-F56B-D48C3E310F2E}"/>
              </a:ext>
            </a:extLst>
          </p:cNvPr>
          <p:cNvSpPr txBox="1"/>
          <p:nvPr/>
        </p:nvSpPr>
        <p:spPr>
          <a:xfrm>
            <a:off x="7508272" y="2795141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Zeitersparnisse und höhere Effizienz bei Arbeitsabläufen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Kürzere Onboarding-Zeiten, weil Fragen sofort geklärt werden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67FFEBF3-843A-B196-7BD4-B45974ED8737}"/>
              </a:ext>
            </a:extLst>
          </p:cNvPr>
          <p:cNvSpPr txBox="1"/>
          <p:nvPr/>
        </p:nvSpPr>
        <p:spPr>
          <a:xfrm>
            <a:off x="7512082" y="1621661"/>
            <a:ext cx="3710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highlight>
                  <a:srgbClr val="FFFF00"/>
                </a:highlight>
              </a:rPr>
              <a:t>Umfassende Arbeitserfahrung vor meinem Festeinstieg, gleichzeitig exzellenten akademischen (1,X) Notenschnitt an der Hochschule </a:t>
            </a:r>
          </a:p>
        </p:txBody>
      </p:sp>
      <p:sp>
        <p:nvSpPr>
          <p:cNvPr id="120" name="Pfeil: Chevron 119">
            <a:extLst>
              <a:ext uri="{FF2B5EF4-FFF2-40B4-BE49-F238E27FC236}">
                <a16:creationId xmlns:a16="http://schemas.microsoft.com/office/drawing/2014/main" id="{AEAE9CD7-0C3B-4BE8-AC1F-3E651206BA2E}"/>
              </a:ext>
            </a:extLst>
          </p:cNvPr>
          <p:cNvSpPr/>
          <p:nvPr/>
        </p:nvSpPr>
        <p:spPr>
          <a:xfrm>
            <a:off x="7158989" y="1920775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1" name="Pfeil: Chevron 120">
            <a:extLst>
              <a:ext uri="{FF2B5EF4-FFF2-40B4-BE49-F238E27FC236}">
                <a16:creationId xmlns:a16="http://schemas.microsoft.com/office/drawing/2014/main" id="{AF817A30-2BC6-0967-6B23-2545FD4F68CE}"/>
              </a:ext>
            </a:extLst>
          </p:cNvPr>
          <p:cNvSpPr/>
          <p:nvPr/>
        </p:nvSpPr>
        <p:spPr>
          <a:xfrm>
            <a:off x="7164071" y="3092098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Pfeil: Chevron 121">
            <a:extLst>
              <a:ext uri="{FF2B5EF4-FFF2-40B4-BE49-F238E27FC236}">
                <a16:creationId xmlns:a16="http://schemas.microsoft.com/office/drawing/2014/main" id="{D3D438BB-29C6-B9DB-DAF2-C787EFBE86FF}"/>
              </a:ext>
            </a:extLst>
          </p:cNvPr>
          <p:cNvSpPr/>
          <p:nvPr/>
        </p:nvSpPr>
        <p:spPr>
          <a:xfrm>
            <a:off x="7158989" y="5450201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3" name="Pfeil: Chevron 122">
            <a:extLst>
              <a:ext uri="{FF2B5EF4-FFF2-40B4-BE49-F238E27FC236}">
                <a16:creationId xmlns:a16="http://schemas.microsoft.com/office/drawing/2014/main" id="{D94E9233-44C9-C6C2-E107-51A6EA093FC0}"/>
              </a:ext>
            </a:extLst>
          </p:cNvPr>
          <p:cNvSpPr/>
          <p:nvPr/>
        </p:nvSpPr>
        <p:spPr>
          <a:xfrm>
            <a:off x="7158990" y="4267587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6" name="Grafik 5" descr="Route zwei Stecknadeln mit Weg Silhouette">
            <a:extLst>
              <a:ext uri="{FF2B5EF4-FFF2-40B4-BE49-F238E27FC236}">
                <a16:creationId xmlns:a16="http://schemas.microsoft.com/office/drawing/2014/main" id="{B743631E-3A9B-7B48-CFAF-61162A4E015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11" name="Grafik 10" descr="Volltreffer Silhouette">
            <a:extLst>
              <a:ext uri="{FF2B5EF4-FFF2-40B4-BE49-F238E27FC236}">
                <a16:creationId xmlns:a16="http://schemas.microsoft.com/office/drawing/2014/main" id="{0024B198-004F-AAF3-7D6A-791938AA666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12" name="Grafik 11" descr="Signal Silhouette">
            <a:extLst>
              <a:ext uri="{FF2B5EF4-FFF2-40B4-BE49-F238E27FC236}">
                <a16:creationId xmlns:a16="http://schemas.microsoft.com/office/drawing/2014/main" id="{25DB5DF8-C20A-44CB-732A-586FF004A0C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13" name="Grafik 12" descr="Glühbirne und Zahnrad Silhouette">
            <a:extLst>
              <a:ext uri="{FF2B5EF4-FFF2-40B4-BE49-F238E27FC236}">
                <a16:creationId xmlns:a16="http://schemas.microsoft.com/office/drawing/2014/main" id="{2C098EA5-62AA-6DD0-4FB4-E95758C6D96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75597F1-8ABD-5DDE-67FF-303BD130CF7D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feil: Chevron 19">
            <a:extLst>
              <a:ext uri="{FF2B5EF4-FFF2-40B4-BE49-F238E27FC236}">
                <a16:creationId xmlns:a16="http://schemas.microsoft.com/office/drawing/2014/main" id="{A8427B19-3C5E-A71E-20DD-DC7FAF50069E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1B0C8BE-84AC-07CC-2131-39F2562139BB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EDBE88BD-E662-A931-91DF-12127FF281F0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67651846-DF91-7428-E762-BE2F9E9582A2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Pfeil: Chevron 25">
            <a:extLst>
              <a:ext uri="{FF2B5EF4-FFF2-40B4-BE49-F238E27FC236}">
                <a16:creationId xmlns:a16="http://schemas.microsoft.com/office/drawing/2014/main" id="{27D1DBE4-2972-D6F5-773B-34687464700E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24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E92D4D6-7026-7CCE-B7D3-6B56097B5E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81005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B5F7B-95E6-BED6-8FA5-0CADC755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/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0F95373-2CC0-0F40-B21F-7C86E8E4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>
                <a:solidFill>
                  <a:schemeClr val="bg2">
                    <a:lumMod val="75000"/>
                  </a:schemeClr>
                </a:solidFill>
              </a:rPr>
              <a:t>6</a:t>
            </a:fld>
            <a:endParaRPr lang="de-DE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1FFA9E8-5329-60A7-4168-0945B7F0070A}"/>
              </a:ext>
            </a:extLst>
          </p:cNvPr>
          <p:cNvSpPr txBox="1"/>
          <p:nvPr/>
        </p:nvSpPr>
        <p:spPr>
          <a:xfrm>
            <a:off x="632398" y="470265"/>
            <a:ext cx="886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Wie kann ich meine Stärken &amp; meine Leidenschaft einbringen ? 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39ABD098-7210-E4AF-F0A4-951E6EF528F3}"/>
              </a:ext>
            </a:extLst>
          </p:cNvPr>
          <p:cNvCxnSpPr/>
          <p:nvPr/>
        </p:nvCxnSpPr>
        <p:spPr>
          <a:xfrm>
            <a:off x="527154" y="1573965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660C76F-1D05-71A1-C676-527BBE4B786B}"/>
              </a:ext>
            </a:extLst>
          </p:cNvPr>
          <p:cNvCxnSpPr/>
          <p:nvPr/>
        </p:nvCxnSpPr>
        <p:spPr>
          <a:xfrm>
            <a:off x="527154" y="2738262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BD83EDD-67DF-F0DF-F4E3-63F5161997B7}"/>
              </a:ext>
            </a:extLst>
          </p:cNvPr>
          <p:cNvCxnSpPr/>
          <p:nvPr/>
        </p:nvCxnSpPr>
        <p:spPr>
          <a:xfrm>
            <a:off x="527154" y="3940436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52C644-F91F-CAE6-D713-628125714FE5}"/>
              </a:ext>
            </a:extLst>
          </p:cNvPr>
          <p:cNvCxnSpPr/>
          <p:nvPr/>
        </p:nvCxnSpPr>
        <p:spPr>
          <a:xfrm>
            <a:off x="527154" y="5133495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24CA139-E0C4-B18B-B14F-CD90A528CB08}"/>
              </a:ext>
            </a:extLst>
          </p:cNvPr>
          <p:cNvCxnSpPr/>
          <p:nvPr/>
        </p:nvCxnSpPr>
        <p:spPr>
          <a:xfrm>
            <a:off x="527153" y="6346213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E817C5E3-C221-90F0-D83D-5A1662200258}"/>
              </a:ext>
            </a:extLst>
          </p:cNvPr>
          <p:cNvSpPr txBox="1"/>
          <p:nvPr/>
        </p:nvSpPr>
        <p:spPr>
          <a:xfrm>
            <a:off x="612579" y="1203242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Stärke / Leidenschaft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3F73292-E508-85CF-7CBA-FC98E31694BF}"/>
              </a:ext>
            </a:extLst>
          </p:cNvPr>
          <p:cNvSpPr txBox="1"/>
          <p:nvPr/>
        </p:nvSpPr>
        <p:spPr>
          <a:xfrm>
            <a:off x="4871595" y="1205281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Beispiel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64EDD60-E838-39ED-005A-024C1AB4C5C9}"/>
              </a:ext>
            </a:extLst>
          </p:cNvPr>
          <p:cNvSpPr txBox="1"/>
          <p:nvPr/>
        </p:nvSpPr>
        <p:spPr>
          <a:xfrm>
            <a:off x="8400862" y="1217286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Mehrwert &amp; Erfolge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7D65FEC-6D4F-C272-E9A6-4282EB2BB2A9}"/>
              </a:ext>
            </a:extLst>
          </p:cNvPr>
          <p:cNvSpPr txBox="1"/>
          <p:nvPr/>
        </p:nvSpPr>
        <p:spPr>
          <a:xfrm>
            <a:off x="432110" y="5750008"/>
            <a:ext cx="2070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Hilfsbereitschaft &amp;</a:t>
            </a:r>
          </a:p>
          <a:p>
            <a:pPr algn="ctr"/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 Lösungsorientierung</a:t>
            </a:r>
          </a:p>
        </p:txBody>
      </p:sp>
      <p:pic>
        <p:nvPicPr>
          <p:cNvPr id="21" name="Grafik 20" descr="Prost Silhouette">
            <a:extLst>
              <a:ext uri="{FF2B5EF4-FFF2-40B4-BE49-F238E27FC236}">
                <a16:creationId xmlns:a16="http://schemas.microsoft.com/office/drawing/2014/main" id="{ACD2F1D8-BF20-A6BB-79B3-48AC937DC2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82806">
            <a:off x="1153371" y="2805523"/>
            <a:ext cx="628350" cy="628350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B366DDF4-41C3-6BB6-6A9D-4BD17BD99688}"/>
              </a:ext>
            </a:extLst>
          </p:cNvPr>
          <p:cNvSpPr txBox="1"/>
          <p:nvPr/>
        </p:nvSpPr>
        <p:spPr>
          <a:xfrm>
            <a:off x="665573" y="2132607"/>
            <a:ext cx="1712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Lernfähigkeit &amp; Stressresistenz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3B0873F-C748-5FD3-9112-253D63EB801E}"/>
              </a:ext>
            </a:extLst>
          </p:cNvPr>
          <p:cNvSpPr txBox="1"/>
          <p:nvPr/>
        </p:nvSpPr>
        <p:spPr>
          <a:xfrm>
            <a:off x="719906" y="3346844"/>
            <a:ext cx="160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Teamfähigkeit &amp; Kommunikation</a:t>
            </a:r>
          </a:p>
        </p:txBody>
      </p:sp>
      <p:pic>
        <p:nvPicPr>
          <p:cNvPr id="59" name="Grafik 58" descr="Rechte und linke Gehirnhälfte Silhouette">
            <a:extLst>
              <a:ext uri="{FF2B5EF4-FFF2-40B4-BE49-F238E27FC236}">
                <a16:creationId xmlns:a16="http://schemas.microsoft.com/office/drawing/2014/main" id="{68EF87F3-F65A-7B4B-6051-C6EC0F8C8D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7424" y="5163624"/>
            <a:ext cx="680241" cy="680241"/>
          </a:xfrm>
          <a:prstGeom prst="rect">
            <a:avLst/>
          </a:prstGeom>
        </p:spPr>
      </p:pic>
      <p:pic>
        <p:nvPicPr>
          <p:cNvPr id="65" name="Grafik 64" descr="Wiedergabe Silhouette">
            <a:extLst>
              <a:ext uri="{FF2B5EF4-FFF2-40B4-BE49-F238E27FC236}">
                <a16:creationId xmlns:a16="http://schemas.microsoft.com/office/drawing/2014/main" id="{0F209DA8-4221-C999-D3FA-C7C3B945E0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7717" y="1673417"/>
            <a:ext cx="474700" cy="474700"/>
          </a:xfrm>
          <a:prstGeom prst="rect">
            <a:avLst/>
          </a:prstGeom>
        </p:spPr>
      </p:pic>
      <p:pic>
        <p:nvPicPr>
          <p:cNvPr id="66" name="Grafik 65" descr="Wiedergabe Silhouette">
            <a:extLst>
              <a:ext uri="{FF2B5EF4-FFF2-40B4-BE49-F238E27FC236}">
                <a16:creationId xmlns:a16="http://schemas.microsoft.com/office/drawing/2014/main" id="{69D6DFA2-F94A-BD50-5444-A9F0A0D255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0787" y="1676809"/>
            <a:ext cx="474700" cy="474700"/>
          </a:xfrm>
          <a:prstGeom prst="rect">
            <a:avLst/>
          </a:prstGeom>
        </p:spPr>
      </p:pic>
      <p:sp>
        <p:nvSpPr>
          <p:cNvPr id="67" name="Textfeld 66">
            <a:extLst>
              <a:ext uri="{FF2B5EF4-FFF2-40B4-BE49-F238E27FC236}">
                <a16:creationId xmlns:a16="http://schemas.microsoft.com/office/drawing/2014/main" id="{33B7748C-2469-0841-8B9B-786841873E69}"/>
              </a:ext>
            </a:extLst>
          </p:cNvPr>
          <p:cNvSpPr txBox="1"/>
          <p:nvPr/>
        </p:nvSpPr>
        <p:spPr>
          <a:xfrm>
            <a:off x="824197" y="4537534"/>
            <a:ext cx="1286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Strategische Fähigkeiten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D16FDB0-F614-45D2-3171-BD1E42C95EB3}"/>
              </a:ext>
            </a:extLst>
          </p:cNvPr>
          <p:cNvCxnSpPr>
            <a:cxnSpLocks/>
          </p:cNvCxnSpPr>
          <p:nvPr/>
        </p:nvCxnSpPr>
        <p:spPr>
          <a:xfrm>
            <a:off x="3098800" y="1773766"/>
            <a:ext cx="0" cy="740834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DAD11BC9-D19E-DBE6-1717-C0AF2A19B953}"/>
              </a:ext>
            </a:extLst>
          </p:cNvPr>
          <p:cNvCxnSpPr>
            <a:cxnSpLocks/>
          </p:cNvCxnSpPr>
          <p:nvPr/>
        </p:nvCxnSpPr>
        <p:spPr>
          <a:xfrm>
            <a:off x="3111500" y="4186767"/>
            <a:ext cx="0" cy="732366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26D93A8C-3B2A-4BF7-3D99-FFD67ADFDDB7}"/>
              </a:ext>
            </a:extLst>
          </p:cNvPr>
          <p:cNvCxnSpPr>
            <a:cxnSpLocks/>
          </p:cNvCxnSpPr>
          <p:nvPr/>
        </p:nvCxnSpPr>
        <p:spPr>
          <a:xfrm flipH="1">
            <a:off x="3111499" y="2971800"/>
            <a:ext cx="1" cy="778933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894CB8D7-F99B-9E28-46C5-83CB3F915C26}"/>
              </a:ext>
            </a:extLst>
          </p:cNvPr>
          <p:cNvCxnSpPr>
            <a:cxnSpLocks/>
          </p:cNvCxnSpPr>
          <p:nvPr/>
        </p:nvCxnSpPr>
        <p:spPr>
          <a:xfrm>
            <a:off x="3111499" y="5411788"/>
            <a:ext cx="1" cy="700849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BB2A8608-99DC-5474-BAF6-0F23A7D0F763}"/>
              </a:ext>
            </a:extLst>
          </p:cNvPr>
          <p:cNvSpPr txBox="1"/>
          <p:nvPr/>
        </p:nvSpPr>
        <p:spPr>
          <a:xfrm>
            <a:off x="3360420" y="1619685"/>
            <a:ext cx="37604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Kombination aus Lehre an der Hochschule &amp; mehreren absolvierten Werkstudentenjobs sowie Praktika während der Studienzeit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20B180EB-518E-DCE6-6C04-57969FEBAFA0}"/>
              </a:ext>
            </a:extLst>
          </p:cNvPr>
          <p:cNvSpPr txBox="1"/>
          <p:nvPr/>
        </p:nvSpPr>
        <p:spPr>
          <a:xfrm>
            <a:off x="3360419" y="2802847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Lösungsorientierte Zusammenarbeit für eine pragmatische Lösungsfindung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Proaktiver Wissenstransfer und transparente Kommunikation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70FCBA09-BCCB-F7AF-9D73-73CE3E8228BA}"/>
              </a:ext>
            </a:extLst>
          </p:cNvPr>
          <p:cNvSpPr txBox="1"/>
          <p:nvPr/>
        </p:nvSpPr>
        <p:spPr>
          <a:xfrm>
            <a:off x="3360420" y="4001503"/>
            <a:ext cx="338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Projekt, das die langfristige Aufrechterhaltung des „Studienbotschafterprojektes“ sichern soll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AFB64346-7CDD-C464-5969-B80BB36CB789}"/>
              </a:ext>
            </a:extLst>
          </p:cNvPr>
          <p:cNvSpPr txBox="1"/>
          <p:nvPr/>
        </p:nvSpPr>
        <p:spPr>
          <a:xfrm>
            <a:off x="3360420" y="5197915"/>
            <a:ext cx="3532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Soziales Engagement und Impact für Menschen / Kinder  in schwierigen Situationen, bspw. Geflüchtete oder Alleinerziehende</a:t>
            </a:r>
          </a:p>
        </p:txBody>
      </p:sp>
      <p:pic>
        <p:nvPicPr>
          <p:cNvPr id="115" name="Grafik 114" descr="Playbook Silhouette">
            <a:extLst>
              <a:ext uri="{FF2B5EF4-FFF2-40B4-BE49-F238E27FC236}">
                <a16:creationId xmlns:a16="http://schemas.microsoft.com/office/drawing/2014/main" id="{3F4D2D56-D4F7-78DD-E722-6330D3EC2E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742" y="3942880"/>
            <a:ext cx="720089" cy="720089"/>
          </a:xfrm>
          <a:prstGeom prst="rect">
            <a:avLst/>
          </a:prstGeom>
        </p:spPr>
      </p:pic>
      <p:sp>
        <p:nvSpPr>
          <p:cNvPr id="116" name="Textfeld 115">
            <a:extLst>
              <a:ext uri="{FF2B5EF4-FFF2-40B4-BE49-F238E27FC236}">
                <a16:creationId xmlns:a16="http://schemas.microsoft.com/office/drawing/2014/main" id="{FD4D77D8-BF40-F116-BBE2-7E0CD034A9D4}"/>
              </a:ext>
            </a:extLst>
          </p:cNvPr>
          <p:cNvSpPr txBox="1"/>
          <p:nvPr/>
        </p:nvSpPr>
        <p:spPr>
          <a:xfrm>
            <a:off x="7515893" y="4014341"/>
            <a:ext cx="3811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Vollste Zufriedenheit sowie vollständige Implementierung  unserer Vorschläge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Sicherung eines Folgeauftrages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23AB76D2-3139-27D4-8DFB-B063F875B989}"/>
              </a:ext>
            </a:extLst>
          </p:cNvPr>
          <p:cNvSpPr txBox="1"/>
          <p:nvPr/>
        </p:nvSpPr>
        <p:spPr>
          <a:xfrm>
            <a:off x="7501889" y="5184788"/>
            <a:ext cx="36943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Erzielte Erfolge durch Verbesserung der Mathe &amp; Deutschnoten.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Verbesserung des Sprachniveaus &amp; mehr Kommunikation mit Menschen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17DBFF1F-B71F-1A94-806C-6EBCB4692B91}"/>
              </a:ext>
            </a:extLst>
          </p:cNvPr>
          <p:cNvSpPr txBox="1"/>
          <p:nvPr/>
        </p:nvSpPr>
        <p:spPr>
          <a:xfrm>
            <a:off x="7508272" y="2795141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Zeitersparnisse und höhere Effizienz bei Arbeitsabläufen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Kürzere Onboarding-Zeiten, weil Fragen sofort geklärt werden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D1FE74B7-5934-469C-B157-7C111F0C4670}"/>
              </a:ext>
            </a:extLst>
          </p:cNvPr>
          <p:cNvSpPr txBox="1"/>
          <p:nvPr/>
        </p:nvSpPr>
        <p:spPr>
          <a:xfrm>
            <a:off x="7512082" y="1621661"/>
            <a:ext cx="3710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Umfassende Arbeitserfahrung vor meinem Festeinstieg, gleichzeitig exzellenten akademischen (1,X) Notenschnitt an der Hochschule </a:t>
            </a:r>
          </a:p>
        </p:txBody>
      </p:sp>
      <p:sp>
        <p:nvSpPr>
          <p:cNvPr id="120" name="Pfeil: Chevron 119">
            <a:extLst>
              <a:ext uri="{FF2B5EF4-FFF2-40B4-BE49-F238E27FC236}">
                <a16:creationId xmlns:a16="http://schemas.microsoft.com/office/drawing/2014/main" id="{92A7E246-3BA5-D550-04DA-CD3960E36583}"/>
              </a:ext>
            </a:extLst>
          </p:cNvPr>
          <p:cNvSpPr/>
          <p:nvPr/>
        </p:nvSpPr>
        <p:spPr>
          <a:xfrm>
            <a:off x="7158989" y="1920775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1" name="Pfeil: Chevron 120">
            <a:extLst>
              <a:ext uri="{FF2B5EF4-FFF2-40B4-BE49-F238E27FC236}">
                <a16:creationId xmlns:a16="http://schemas.microsoft.com/office/drawing/2014/main" id="{83FF0767-5379-BE30-DD66-0B0024B12435}"/>
              </a:ext>
            </a:extLst>
          </p:cNvPr>
          <p:cNvSpPr/>
          <p:nvPr/>
        </p:nvSpPr>
        <p:spPr>
          <a:xfrm>
            <a:off x="7164071" y="3092098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Pfeil: Chevron 121">
            <a:extLst>
              <a:ext uri="{FF2B5EF4-FFF2-40B4-BE49-F238E27FC236}">
                <a16:creationId xmlns:a16="http://schemas.microsoft.com/office/drawing/2014/main" id="{6451FC9D-F4A1-9AA6-8EED-C919881BA0A5}"/>
              </a:ext>
            </a:extLst>
          </p:cNvPr>
          <p:cNvSpPr/>
          <p:nvPr/>
        </p:nvSpPr>
        <p:spPr>
          <a:xfrm>
            <a:off x="7158989" y="5450201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3" name="Pfeil: Chevron 122">
            <a:extLst>
              <a:ext uri="{FF2B5EF4-FFF2-40B4-BE49-F238E27FC236}">
                <a16:creationId xmlns:a16="http://schemas.microsoft.com/office/drawing/2014/main" id="{7C18EFED-BDB0-D21A-7C02-637A27C725DE}"/>
              </a:ext>
            </a:extLst>
          </p:cNvPr>
          <p:cNvSpPr/>
          <p:nvPr/>
        </p:nvSpPr>
        <p:spPr>
          <a:xfrm>
            <a:off x="7158990" y="4267587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6" name="Grafik 5" descr="Route zwei Stecknadeln mit Weg Silhouette">
            <a:extLst>
              <a:ext uri="{FF2B5EF4-FFF2-40B4-BE49-F238E27FC236}">
                <a16:creationId xmlns:a16="http://schemas.microsoft.com/office/drawing/2014/main" id="{5B1F3F3B-AD72-2813-A4BC-38506461F8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11" name="Grafik 10" descr="Volltreffer Silhouette">
            <a:extLst>
              <a:ext uri="{FF2B5EF4-FFF2-40B4-BE49-F238E27FC236}">
                <a16:creationId xmlns:a16="http://schemas.microsoft.com/office/drawing/2014/main" id="{F41488AF-A089-7C9F-2F29-DD2860EA05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12" name="Grafik 11" descr="Signal Silhouette">
            <a:extLst>
              <a:ext uri="{FF2B5EF4-FFF2-40B4-BE49-F238E27FC236}">
                <a16:creationId xmlns:a16="http://schemas.microsoft.com/office/drawing/2014/main" id="{EC18D5BC-0215-1E69-9E35-FB68E85736C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13" name="Grafik 12" descr="Glühbirne und Zahnrad Silhouette">
            <a:extLst>
              <a:ext uri="{FF2B5EF4-FFF2-40B4-BE49-F238E27FC236}">
                <a16:creationId xmlns:a16="http://schemas.microsoft.com/office/drawing/2014/main" id="{3205BBAB-88EC-0AD1-171D-E79A6867882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BCD8DEB-1872-2195-60DC-23EC23544DC8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feil: Chevron 19">
            <a:extLst>
              <a:ext uri="{FF2B5EF4-FFF2-40B4-BE49-F238E27FC236}">
                <a16:creationId xmlns:a16="http://schemas.microsoft.com/office/drawing/2014/main" id="{3D2CA145-32B7-9855-3821-41FBDE0771FA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4CFE4A7-E1F4-79F7-01B4-3621665D411C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8AA340C-3800-F59E-F2A9-C87922F6F776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05A7E16D-AB76-721B-2B1D-7C56237B1CDC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Pfeil: Chevron 25">
            <a:extLst>
              <a:ext uri="{FF2B5EF4-FFF2-40B4-BE49-F238E27FC236}">
                <a16:creationId xmlns:a16="http://schemas.microsoft.com/office/drawing/2014/main" id="{88437706-0E35-8363-7F86-11197E1AEBC0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8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041F-EE6B-D506-6291-64B831802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449C187-7258-A792-A667-87A00A68A2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5510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92D4D6-7026-7CCE-B7D3-6B56097B5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FCEE468-FA57-C51F-31D8-220DA535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/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DA2D2E-ECB7-D0DD-FB6D-154B97DB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>
                <a:solidFill>
                  <a:schemeClr val="bg2">
                    <a:lumMod val="75000"/>
                  </a:schemeClr>
                </a:solidFill>
              </a:rPr>
              <a:t>7</a:t>
            </a:fld>
            <a:endParaRPr lang="de-DE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308B9FA-F42A-ED40-CABC-1FE9CE7119D3}"/>
              </a:ext>
            </a:extLst>
          </p:cNvPr>
          <p:cNvSpPr txBox="1"/>
          <p:nvPr/>
        </p:nvSpPr>
        <p:spPr>
          <a:xfrm>
            <a:off x="632398" y="470265"/>
            <a:ext cx="886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Wie kann ich meine Stärken &amp; meine Leidenschaft einbringen ? 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2E40057-57AB-87CD-CA83-021A802334E8}"/>
              </a:ext>
            </a:extLst>
          </p:cNvPr>
          <p:cNvCxnSpPr/>
          <p:nvPr/>
        </p:nvCxnSpPr>
        <p:spPr>
          <a:xfrm>
            <a:off x="527154" y="1573965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D0479F4-7380-C476-66CF-C8F580229E6C}"/>
              </a:ext>
            </a:extLst>
          </p:cNvPr>
          <p:cNvCxnSpPr/>
          <p:nvPr/>
        </p:nvCxnSpPr>
        <p:spPr>
          <a:xfrm>
            <a:off x="527154" y="2738262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67FA650-A1EA-D5E6-3F8A-C80ED3248B3D}"/>
              </a:ext>
            </a:extLst>
          </p:cNvPr>
          <p:cNvCxnSpPr/>
          <p:nvPr/>
        </p:nvCxnSpPr>
        <p:spPr>
          <a:xfrm>
            <a:off x="527154" y="3940436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DAD202A-1291-8306-5BA3-F8954E11C5B8}"/>
              </a:ext>
            </a:extLst>
          </p:cNvPr>
          <p:cNvCxnSpPr/>
          <p:nvPr/>
        </p:nvCxnSpPr>
        <p:spPr>
          <a:xfrm>
            <a:off x="527154" y="5133495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2E5C5CE-1AB9-6ADD-B54B-00B4BFE3E267}"/>
              </a:ext>
            </a:extLst>
          </p:cNvPr>
          <p:cNvCxnSpPr/>
          <p:nvPr/>
        </p:nvCxnSpPr>
        <p:spPr>
          <a:xfrm>
            <a:off x="527153" y="6346213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A23CEB74-8960-F919-0C7F-0CCF92E6ACA4}"/>
              </a:ext>
            </a:extLst>
          </p:cNvPr>
          <p:cNvSpPr txBox="1"/>
          <p:nvPr/>
        </p:nvSpPr>
        <p:spPr>
          <a:xfrm>
            <a:off x="612579" y="1203242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Stärke / Leidenschaft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7EAB843-068C-904A-EF11-C44606F26592}"/>
              </a:ext>
            </a:extLst>
          </p:cNvPr>
          <p:cNvSpPr txBox="1"/>
          <p:nvPr/>
        </p:nvSpPr>
        <p:spPr>
          <a:xfrm>
            <a:off x="4871595" y="1205281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Beispiel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DBB546C-5EE4-A065-65D1-F3F1143461B5}"/>
              </a:ext>
            </a:extLst>
          </p:cNvPr>
          <p:cNvSpPr txBox="1"/>
          <p:nvPr/>
        </p:nvSpPr>
        <p:spPr>
          <a:xfrm>
            <a:off x="8400862" y="1217286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Mehrwert &amp; Erfolge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1911B07-0367-7C92-1A05-C55CBB946C6F}"/>
              </a:ext>
            </a:extLst>
          </p:cNvPr>
          <p:cNvSpPr txBox="1"/>
          <p:nvPr/>
        </p:nvSpPr>
        <p:spPr>
          <a:xfrm>
            <a:off x="432110" y="5750008"/>
            <a:ext cx="2070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Hilfsbereitschaft &amp;</a:t>
            </a:r>
          </a:p>
          <a:p>
            <a:pPr algn="ctr"/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 Lösungsorientierung</a:t>
            </a:r>
          </a:p>
        </p:txBody>
      </p:sp>
      <p:pic>
        <p:nvPicPr>
          <p:cNvPr id="21" name="Grafik 20" descr="Prost Silhouette">
            <a:extLst>
              <a:ext uri="{FF2B5EF4-FFF2-40B4-BE49-F238E27FC236}">
                <a16:creationId xmlns:a16="http://schemas.microsoft.com/office/drawing/2014/main" id="{A161CA0D-377C-A7E6-5507-AE2D5457E0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82806">
            <a:off x="1153371" y="2805523"/>
            <a:ext cx="628350" cy="628350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C4817B52-3DDF-A912-F96E-D06C5770E149}"/>
              </a:ext>
            </a:extLst>
          </p:cNvPr>
          <p:cNvSpPr txBox="1"/>
          <p:nvPr/>
        </p:nvSpPr>
        <p:spPr>
          <a:xfrm>
            <a:off x="665573" y="2132607"/>
            <a:ext cx="1712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Lernfähigkeit &amp; Stressresistenz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4D78DC48-C46A-D72A-1A61-C50ED110588B}"/>
              </a:ext>
            </a:extLst>
          </p:cNvPr>
          <p:cNvSpPr txBox="1"/>
          <p:nvPr/>
        </p:nvSpPr>
        <p:spPr>
          <a:xfrm>
            <a:off x="719906" y="3346844"/>
            <a:ext cx="160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Teamfähigkeit &amp; Kommunikation</a:t>
            </a:r>
          </a:p>
        </p:txBody>
      </p:sp>
      <p:pic>
        <p:nvPicPr>
          <p:cNvPr id="59" name="Grafik 58" descr="Rechte und linke Gehirnhälfte Silhouette">
            <a:extLst>
              <a:ext uri="{FF2B5EF4-FFF2-40B4-BE49-F238E27FC236}">
                <a16:creationId xmlns:a16="http://schemas.microsoft.com/office/drawing/2014/main" id="{46236A05-DEF5-7449-E639-7EEEF40241C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7424" y="5163624"/>
            <a:ext cx="680241" cy="680241"/>
          </a:xfrm>
          <a:prstGeom prst="rect">
            <a:avLst/>
          </a:prstGeom>
        </p:spPr>
      </p:pic>
      <p:pic>
        <p:nvPicPr>
          <p:cNvPr id="65" name="Grafik 64" descr="Wiedergabe Silhouette">
            <a:extLst>
              <a:ext uri="{FF2B5EF4-FFF2-40B4-BE49-F238E27FC236}">
                <a16:creationId xmlns:a16="http://schemas.microsoft.com/office/drawing/2014/main" id="{948CF7E6-8F57-55AD-EC88-BC385214C870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7717" y="1673417"/>
            <a:ext cx="474700" cy="474700"/>
          </a:xfrm>
          <a:prstGeom prst="rect">
            <a:avLst/>
          </a:prstGeom>
        </p:spPr>
      </p:pic>
      <p:pic>
        <p:nvPicPr>
          <p:cNvPr id="66" name="Grafik 65" descr="Wiedergabe Silhouette">
            <a:extLst>
              <a:ext uri="{FF2B5EF4-FFF2-40B4-BE49-F238E27FC236}">
                <a16:creationId xmlns:a16="http://schemas.microsoft.com/office/drawing/2014/main" id="{C3905047-A0C9-C417-8543-4F170E3753BB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0787" y="1676809"/>
            <a:ext cx="474700" cy="474700"/>
          </a:xfrm>
          <a:prstGeom prst="rect">
            <a:avLst/>
          </a:prstGeom>
        </p:spPr>
      </p:pic>
      <p:sp>
        <p:nvSpPr>
          <p:cNvPr id="67" name="Textfeld 66">
            <a:extLst>
              <a:ext uri="{FF2B5EF4-FFF2-40B4-BE49-F238E27FC236}">
                <a16:creationId xmlns:a16="http://schemas.microsoft.com/office/drawing/2014/main" id="{F2CBDC52-ED22-D9FC-B75E-481820C46FDC}"/>
              </a:ext>
            </a:extLst>
          </p:cNvPr>
          <p:cNvSpPr txBox="1"/>
          <p:nvPr/>
        </p:nvSpPr>
        <p:spPr>
          <a:xfrm>
            <a:off x="824197" y="4537534"/>
            <a:ext cx="1286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Strategische Fähigkeiten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509AD8C9-0067-30D6-0EC0-D76071715F8F}"/>
              </a:ext>
            </a:extLst>
          </p:cNvPr>
          <p:cNvCxnSpPr>
            <a:cxnSpLocks/>
          </p:cNvCxnSpPr>
          <p:nvPr/>
        </p:nvCxnSpPr>
        <p:spPr>
          <a:xfrm>
            <a:off x="3098800" y="1773766"/>
            <a:ext cx="0" cy="740834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F549774C-5145-98F8-945F-81B53BC4E47B}"/>
              </a:ext>
            </a:extLst>
          </p:cNvPr>
          <p:cNvCxnSpPr>
            <a:cxnSpLocks/>
          </p:cNvCxnSpPr>
          <p:nvPr/>
        </p:nvCxnSpPr>
        <p:spPr>
          <a:xfrm>
            <a:off x="3111500" y="4186767"/>
            <a:ext cx="0" cy="732366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74BD847D-952D-CAE3-5A6D-82AA33A8D049}"/>
              </a:ext>
            </a:extLst>
          </p:cNvPr>
          <p:cNvCxnSpPr>
            <a:cxnSpLocks/>
          </p:cNvCxnSpPr>
          <p:nvPr/>
        </p:nvCxnSpPr>
        <p:spPr>
          <a:xfrm flipH="1">
            <a:off x="3111499" y="2971800"/>
            <a:ext cx="1" cy="778933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1B1DDF91-B86D-83A9-E507-652E44686F47}"/>
              </a:ext>
            </a:extLst>
          </p:cNvPr>
          <p:cNvCxnSpPr>
            <a:cxnSpLocks/>
          </p:cNvCxnSpPr>
          <p:nvPr/>
        </p:nvCxnSpPr>
        <p:spPr>
          <a:xfrm>
            <a:off x="3111499" y="5411788"/>
            <a:ext cx="1" cy="700849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EF5710E4-809F-E2CE-A964-9DCB1FAF48AE}"/>
              </a:ext>
            </a:extLst>
          </p:cNvPr>
          <p:cNvSpPr txBox="1"/>
          <p:nvPr/>
        </p:nvSpPr>
        <p:spPr>
          <a:xfrm>
            <a:off x="3360420" y="1619685"/>
            <a:ext cx="37604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Kombination aus Lehre an der Hochschule &amp; mehreren absolvierten Werkstudentenjobs sowie Praktika während der Studienzeit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42817B23-F909-A5B9-3720-4D5B8F63B6AB}"/>
              </a:ext>
            </a:extLst>
          </p:cNvPr>
          <p:cNvSpPr txBox="1"/>
          <p:nvPr/>
        </p:nvSpPr>
        <p:spPr>
          <a:xfrm>
            <a:off x="3360419" y="2802847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Lösungsorientierte Zusammenarbeit für eine pragmatische Lösungsfindung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Proaktiver Wissenstransfer und transparente Kommunikation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B121EE62-5DA0-9C6C-D1C6-A6EC77CE6253}"/>
              </a:ext>
            </a:extLst>
          </p:cNvPr>
          <p:cNvSpPr txBox="1"/>
          <p:nvPr/>
        </p:nvSpPr>
        <p:spPr>
          <a:xfrm>
            <a:off x="3360420" y="4001503"/>
            <a:ext cx="338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Projekt, das die langfristige Aufrechterhaltung des „Studienbotschafterprojektes“ sichern soll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7BD09BB8-E162-0CEA-5C84-78D4124EFA0D}"/>
              </a:ext>
            </a:extLst>
          </p:cNvPr>
          <p:cNvSpPr txBox="1"/>
          <p:nvPr/>
        </p:nvSpPr>
        <p:spPr>
          <a:xfrm>
            <a:off x="3360420" y="5197915"/>
            <a:ext cx="3532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Soziales Engagement und Impact für Menschen / Kinder  in schwierigen Situationen, bspw. Geflüchtete oder Alleinerziehende</a:t>
            </a:r>
          </a:p>
        </p:txBody>
      </p:sp>
      <p:pic>
        <p:nvPicPr>
          <p:cNvPr id="115" name="Grafik 114" descr="Playbook Silhouette">
            <a:extLst>
              <a:ext uri="{FF2B5EF4-FFF2-40B4-BE49-F238E27FC236}">
                <a16:creationId xmlns:a16="http://schemas.microsoft.com/office/drawing/2014/main" id="{A24285C6-8A94-A622-876C-DEB46207D894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742" y="3942880"/>
            <a:ext cx="720089" cy="720089"/>
          </a:xfrm>
          <a:prstGeom prst="rect">
            <a:avLst/>
          </a:prstGeom>
        </p:spPr>
      </p:pic>
      <p:sp>
        <p:nvSpPr>
          <p:cNvPr id="116" name="Textfeld 115">
            <a:extLst>
              <a:ext uri="{FF2B5EF4-FFF2-40B4-BE49-F238E27FC236}">
                <a16:creationId xmlns:a16="http://schemas.microsoft.com/office/drawing/2014/main" id="{7D30E621-0A87-C0AF-BA06-043348AD2A1D}"/>
              </a:ext>
            </a:extLst>
          </p:cNvPr>
          <p:cNvSpPr txBox="1"/>
          <p:nvPr/>
        </p:nvSpPr>
        <p:spPr>
          <a:xfrm>
            <a:off x="7515893" y="4014341"/>
            <a:ext cx="3811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Vollste Zufriedenheit sowie vollständige Implementierung  unserer Vorschläge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Sicherung eines Folgeauftrages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DA25E0A3-6556-7D12-EFD8-8F91E5EF0D42}"/>
              </a:ext>
            </a:extLst>
          </p:cNvPr>
          <p:cNvSpPr txBox="1"/>
          <p:nvPr/>
        </p:nvSpPr>
        <p:spPr>
          <a:xfrm>
            <a:off x="7501889" y="5184788"/>
            <a:ext cx="36943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Erzielte Erfolge durch Verbesserung der Mathe &amp; Deutschnoten.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Verbesserung des Sprachniveaus &amp; mehr Kommunikation mit Menschen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59809C4B-38A6-56B5-5046-64A67291864A}"/>
              </a:ext>
            </a:extLst>
          </p:cNvPr>
          <p:cNvSpPr txBox="1"/>
          <p:nvPr/>
        </p:nvSpPr>
        <p:spPr>
          <a:xfrm>
            <a:off x="7508272" y="2795141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Zeitersparnisse und höhere Effizienz bei Arbeitsabläufen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Kürzere Onboarding-Zeiten, weil Fragen sofort geklärt werden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67AD3562-687C-D6BE-2F7C-91BE55D3E11E}"/>
              </a:ext>
            </a:extLst>
          </p:cNvPr>
          <p:cNvSpPr txBox="1"/>
          <p:nvPr/>
        </p:nvSpPr>
        <p:spPr>
          <a:xfrm>
            <a:off x="7512082" y="1621661"/>
            <a:ext cx="3710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Umfassende Arbeitserfahrung vor meinem Festeinstieg, gleichzeitig exzellenten akademischen (1,X) Notenschnitt an der Hochschule </a:t>
            </a:r>
          </a:p>
        </p:txBody>
      </p:sp>
      <p:sp>
        <p:nvSpPr>
          <p:cNvPr id="120" name="Pfeil: Chevron 119">
            <a:extLst>
              <a:ext uri="{FF2B5EF4-FFF2-40B4-BE49-F238E27FC236}">
                <a16:creationId xmlns:a16="http://schemas.microsoft.com/office/drawing/2014/main" id="{9A5F0CE1-72CC-4B36-C7E8-C340F56B939E}"/>
              </a:ext>
            </a:extLst>
          </p:cNvPr>
          <p:cNvSpPr/>
          <p:nvPr/>
        </p:nvSpPr>
        <p:spPr>
          <a:xfrm>
            <a:off x="7158989" y="1920775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1" name="Pfeil: Chevron 120">
            <a:extLst>
              <a:ext uri="{FF2B5EF4-FFF2-40B4-BE49-F238E27FC236}">
                <a16:creationId xmlns:a16="http://schemas.microsoft.com/office/drawing/2014/main" id="{0FD8AB9F-8208-8017-FC70-908B420A27CD}"/>
              </a:ext>
            </a:extLst>
          </p:cNvPr>
          <p:cNvSpPr/>
          <p:nvPr/>
        </p:nvSpPr>
        <p:spPr>
          <a:xfrm>
            <a:off x="7164071" y="3092098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Pfeil: Chevron 121">
            <a:extLst>
              <a:ext uri="{FF2B5EF4-FFF2-40B4-BE49-F238E27FC236}">
                <a16:creationId xmlns:a16="http://schemas.microsoft.com/office/drawing/2014/main" id="{5B6C9448-905B-BC70-531A-151DA63A9AD5}"/>
              </a:ext>
            </a:extLst>
          </p:cNvPr>
          <p:cNvSpPr/>
          <p:nvPr/>
        </p:nvSpPr>
        <p:spPr>
          <a:xfrm>
            <a:off x="7158989" y="5450201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3" name="Pfeil: Chevron 122">
            <a:extLst>
              <a:ext uri="{FF2B5EF4-FFF2-40B4-BE49-F238E27FC236}">
                <a16:creationId xmlns:a16="http://schemas.microsoft.com/office/drawing/2014/main" id="{E8991560-ED4E-2029-F063-A1A0413E53D8}"/>
              </a:ext>
            </a:extLst>
          </p:cNvPr>
          <p:cNvSpPr/>
          <p:nvPr/>
        </p:nvSpPr>
        <p:spPr>
          <a:xfrm>
            <a:off x="7158990" y="4267587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6" name="Grafik 5" descr="Route zwei Stecknadeln mit Weg Silhouette">
            <a:extLst>
              <a:ext uri="{FF2B5EF4-FFF2-40B4-BE49-F238E27FC236}">
                <a16:creationId xmlns:a16="http://schemas.microsoft.com/office/drawing/2014/main" id="{9FCA9DD7-B6F0-8B9A-7447-683B4201A7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11" name="Grafik 10" descr="Volltreffer Silhouette">
            <a:extLst>
              <a:ext uri="{FF2B5EF4-FFF2-40B4-BE49-F238E27FC236}">
                <a16:creationId xmlns:a16="http://schemas.microsoft.com/office/drawing/2014/main" id="{C8E0CF2E-9270-5F2C-7BFE-F348337C007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12" name="Grafik 11" descr="Signal Silhouette">
            <a:extLst>
              <a:ext uri="{FF2B5EF4-FFF2-40B4-BE49-F238E27FC236}">
                <a16:creationId xmlns:a16="http://schemas.microsoft.com/office/drawing/2014/main" id="{C80CB3C4-6FA5-C406-F2EE-FE3A0BC41A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13" name="Grafik 12" descr="Glühbirne und Zahnrad Silhouette">
            <a:extLst>
              <a:ext uri="{FF2B5EF4-FFF2-40B4-BE49-F238E27FC236}">
                <a16:creationId xmlns:a16="http://schemas.microsoft.com/office/drawing/2014/main" id="{BCAB2D1D-9C54-C996-890E-CD57154A640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31DDDF4-1C74-175E-0E41-298954CC0F90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feil: Chevron 19">
            <a:extLst>
              <a:ext uri="{FF2B5EF4-FFF2-40B4-BE49-F238E27FC236}">
                <a16:creationId xmlns:a16="http://schemas.microsoft.com/office/drawing/2014/main" id="{B75C466E-ECFA-AA65-6CFE-340F4114B859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4B4747D7-EA48-7DFE-3D57-2C332B2C5630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7391EFD-CEDC-BE35-EF2A-3A668565167B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D4D6B63E-32C9-C734-BE38-B127CB3B38F2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Pfeil: Chevron 25">
            <a:extLst>
              <a:ext uri="{FF2B5EF4-FFF2-40B4-BE49-F238E27FC236}">
                <a16:creationId xmlns:a16="http://schemas.microsoft.com/office/drawing/2014/main" id="{E3ADDA7F-3392-39A7-BADE-63EFD51E7E88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04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EFA21-3B9A-3ED7-D272-F8B19D1C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3663BE2-7374-8A53-9AE1-C700CD0CECA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373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92D4D6-7026-7CCE-B7D3-6B56097B5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FB4F82-B15A-C8EA-DB8A-B0497621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/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17D37E3-4B48-F836-3838-624A6285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>
                <a:solidFill>
                  <a:schemeClr val="bg2">
                    <a:lumMod val="75000"/>
                  </a:schemeClr>
                </a:solidFill>
              </a:rPr>
              <a:t>8</a:t>
            </a:fld>
            <a:endParaRPr lang="de-DE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2AEEBC1-7385-3834-ABF2-3D1458C3A377}"/>
              </a:ext>
            </a:extLst>
          </p:cNvPr>
          <p:cNvSpPr txBox="1"/>
          <p:nvPr/>
        </p:nvSpPr>
        <p:spPr>
          <a:xfrm>
            <a:off x="632398" y="470265"/>
            <a:ext cx="886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Wie kann ich meine Stärken &amp; meine Leidenschaft einbringen ? 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42091A9-7CEA-578A-D969-1D3C7E64B97C}"/>
              </a:ext>
            </a:extLst>
          </p:cNvPr>
          <p:cNvCxnSpPr/>
          <p:nvPr/>
        </p:nvCxnSpPr>
        <p:spPr>
          <a:xfrm>
            <a:off x="527154" y="1573965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54652D3-CD04-30EB-CB1B-8AE758BC29D1}"/>
              </a:ext>
            </a:extLst>
          </p:cNvPr>
          <p:cNvCxnSpPr/>
          <p:nvPr/>
        </p:nvCxnSpPr>
        <p:spPr>
          <a:xfrm>
            <a:off x="527154" y="2738262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D7B13A11-22F1-2CFB-4CF8-E0A92351CE31}"/>
              </a:ext>
            </a:extLst>
          </p:cNvPr>
          <p:cNvCxnSpPr/>
          <p:nvPr/>
        </p:nvCxnSpPr>
        <p:spPr>
          <a:xfrm>
            <a:off x="527154" y="3940436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DA69116-EDD0-A2FE-F8A5-B40372EE4090}"/>
              </a:ext>
            </a:extLst>
          </p:cNvPr>
          <p:cNvCxnSpPr/>
          <p:nvPr/>
        </p:nvCxnSpPr>
        <p:spPr>
          <a:xfrm>
            <a:off x="527154" y="5133495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5A16EAB-4F05-F2EF-A603-C3937E389468}"/>
              </a:ext>
            </a:extLst>
          </p:cNvPr>
          <p:cNvCxnSpPr/>
          <p:nvPr/>
        </p:nvCxnSpPr>
        <p:spPr>
          <a:xfrm>
            <a:off x="527153" y="6346213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805FD830-B1FA-E7C6-EE89-935FAB83F2F5}"/>
              </a:ext>
            </a:extLst>
          </p:cNvPr>
          <p:cNvSpPr txBox="1"/>
          <p:nvPr/>
        </p:nvSpPr>
        <p:spPr>
          <a:xfrm>
            <a:off x="612579" y="1203242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Stärke / Leidenschaft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7DAF9FD-7303-A55B-1A40-626055A13EAE}"/>
              </a:ext>
            </a:extLst>
          </p:cNvPr>
          <p:cNvSpPr txBox="1"/>
          <p:nvPr/>
        </p:nvSpPr>
        <p:spPr>
          <a:xfrm>
            <a:off x="4871595" y="1205281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Beispiel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9C040D4-0C29-1F91-3B9C-40EEF01BDB77}"/>
              </a:ext>
            </a:extLst>
          </p:cNvPr>
          <p:cNvSpPr txBox="1"/>
          <p:nvPr/>
        </p:nvSpPr>
        <p:spPr>
          <a:xfrm>
            <a:off x="8400862" y="1217286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Mehrwert &amp; Erfolge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B05688D-E941-ED7E-9722-AD48DF87A086}"/>
              </a:ext>
            </a:extLst>
          </p:cNvPr>
          <p:cNvSpPr txBox="1"/>
          <p:nvPr/>
        </p:nvSpPr>
        <p:spPr>
          <a:xfrm>
            <a:off x="432110" y="5750008"/>
            <a:ext cx="2070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Hilfsbereitschaft &amp;</a:t>
            </a:r>
          </a:p>
          <a:p>
            <a:pPr algn="ctr"/>
            <a:r>
              <a:rPr lang="de-DE" sz="1600" dirty="0"/>
              <a:t> Lösungsorientierung</a:t>
            </a:r>
          </a:p>
        </p:txBody>
      </p:sp>
      <p:pic>
        <p:nvPicPr>
          <p:cNvPr id="21" name="Grafik 20" descr="Prost Silhouette">
            <a:extLst>
              <a:ext uri="{FF2B5EF4-FFF2-40B4-BE49-F238E27FC236}">
                <a16:creationId xmlns:a16="http://schemas.microsoft.com/office/drawing/2014/main" id="{CD60D7B2-C037-9463-5613-695174EC109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82806">
            <a:off x="1153371" y="2805523"/>
            <a:ext cx="628350" cy="628350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54CA828A-D818-4F4C-FC9C-2581AC655A1F}"/>
              </a:ext>
            </a:extLst>
          </p:cNvPr>
          <p:cNvSpPr txBox="1"/>
          <p:nvPr/>
        </p:nvSpPr>
        <p:spPr>
          <a:xfrm>
            <a:off x="665573" y="2132607"/>
            <a:ext cx="1712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Lernfähigkeit &amp; Stressresistenz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437D1002-C073-17BF-B415-2496F60F84C0}"/>
              </a:ext>
            </a:extLst>
          </p:cNvPr>
          <p:cNvSpPr txBox="1"/>
          <p:nvPr/>
        </p:nvSpPr>
        <p:spPr>
          <a:xfrm>
            <a:off x="719906" y="3346844"/>
            <a:ext cx="160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Teamfähigkeit &amp; Kommunikation</a:t>
            </a:r>
          </a:p>
        </p:txBody>
      </p:sp>
      <p:pic>
        <p:nvPicPr>
          <p:cNvPr id="59" name="Grafik 58" descr="Rechte und linke Gehirnhälfte Silhouette">
            <a:extLst>
              <a:ext uri="{FF2B5EF4-FFF2-40B4-BE49-F238E27FC236}">
                <a16:creationId xmlns:a16="http://schemas.microsoft.com/office/drawing/2014/main" id="{F71F499A-0153-1EAC-6DB4-1E30F7FEF4D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7424" y="5163624"/>
            <a:ext cx="680241" cy="680241"/>
          </a:xfrm>
          <a:prstGeom prst="rect">
            <a:avLst/>
          </a:prstGeom>
        </p:spPr>
      </p:pic>
      <p:pic>
        <p:nvPicPr>
          <p:cNvPr id="65" name="Grafik 64" descr="Wiedergabe Silhouette">
            <a:extLst>
              <a:ext uri="{FF2B5EF4-FFF2-40B4-BE49-F238E27FC236}">
                <a16:creationId xmlns:a16="http://schemas.microsoft.com/office/drawing/2014/main" id="{5CBC9024-7819-F1A6-BFB9-8C6CD991A465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7717" y="1673417"/>
            <a:ext cx="474700" cy="474700"/>
          </a:xfrm>
          <a:prstGeom prst="rect">
            <a:avLst/>
          </a:prstGeom>
        </p:spPr>
      </p:pic>
      <p:pic>
        <p:nvPicPr>
          <p:cNvPr id="66" name="Grafik 65" descr="Wiedergabe Silhouette">
            <a:extLst>
              <a:ext uri="{FF2B5EF4-FFF2-40B4-BE49-F238E27FC236}">
                <a16:creationId xmlns:a16="http://schemas.microsoft.com/office/drawing/2014/main" id="{4E19B1F0-0BC6-F9ED-CECE-C39F5D3DAB55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0787" y="1676809"/>
            <a:ext cx="474700" cy="474700"/>
          </a:xfrm>
          <a:prstGeom prst="rect">
            <a:avLst/>
          </a:prstGeom>
        </p:spPr>
      </p:pic>
      <p:sp>
        <p:nvSpPr>
          <p:cNvPr id="67" name="Textfeld 66">
            <a:extLst>
              <a:ext uri="{FF2B5EF4-FFF2-40B4-BE49-F238E27FC236}">
                <a16:creationId xmlns:a16="http://schemas.microsoft.com/office/drawing/2014/main" id="{722D2560-227C-FAEF-325F-30A5321DABDD}"/>
              </a:ext>
            </a:extLst>
          </p:cNvPr>
          <p:cNvSpPr txBox="1"/>
          <p:nvPr/>
        </p:nvSpPr>
        <p:spPr>
          <a:xfrm>
            <a:off x="824197" y="4537534"/>
            <a:ext cx="1286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Strategische Fähigkeiten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0214CDE7-7CFE-B945-D574-2E173952B8E7}"/>
              </a:ext>
            </a:extLst>
          </p:cNvPr>
          <p:cNvCxnSpPr>
            <a:cxnSpLocks/>
          </p:cNvCxnSpPr>
          <p:nvPr/>
        </p:nvCxnSpPr>
        <p:spPr>
          <a:xfrm>
            <a:off x="3098800" y="1773766"/>
            <a:ext cx="0" cy="740834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759062FE-1791-0723-7FE7-19596CCDAA13}"/>
              </a:ext>
            </a:extLst>
          </p:cNvPr>
          <p:cNvCxnSpPr>
            <a:cxnSpLocks/>
          </p:cNvCxnSpPr>
          <p:nvPr/>
        </p:nvCxnSpPr>
        <p:spPr>
          <a:xfrm>
            <a:off x="3111500" y="4186767"/>
            <a:ext cx="0" cy="732366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3F2E1DFA-BA3F-27E8-0E04-C8B01B239A29}"/>
              </a:ext>
            </a:extLst>
          </p:cNvPr>
          <p:cNvCxnSpPr>
            <a:cxnSpLocks/>
          </p:cNvCxnSpPr>
          <p:nvPr/>
        </p:nvCxnSpPr>
        <p:spPr>
          <a:xfrm flipH="1">
            <a:off x="3111499" y="2971800"/>
            <a:ext cx="1" cy="778933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226AFF14-F8CA-8F8A-796D-C6C983F5E2CE}"/>
              </a:ext>
            </a:extLst>
          </p:cNvPr>
          <p:cNvCxnSpPr>
            <a:cxnSpLocks/>
          </p:cNvCxnSpPr>
          <p:nvPr/>
        </p:nvCxnSpPr>
        <p:spPr>
          <a:xfrm>
            <a:off x="3111499" y="5411788"/>
            <a:ext cx="1" cy="700849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E6345A7D-1AEC-FFCD-F61D-49F2E85F215D}"/>
              </a:ext>
            </a:extLst>
          </p:cNvPr>
          <p:cNvSpPr txBox="1"/>
          <p:nvPr/>
        </p:nvSpPr>
        <p:spPr>
          <a:xfrm>
            <a:off x="3360420" y="1619685"/>
            <a:ext cx="37604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Kombination aus Lehre an der Hochschule &amp; mehreren absolvierten Werkstudentenjobs sowie Praktika während der Studienzeit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1B227B12-5858-4F73-B4FB-0864B229253D}"/>
              </a:ext>
            </a:extLst>
          </p:cNvPr>
          <p:cNvSpPr txBox="1"/>
          <p:nvPr/>
        </p:nvSpPr>
        <p:spPr>
          <a:xfrm>
            <a:off x="3360419" y="2802847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Lösungsorientierte Zusammenarbeit für eine pragmatische Lösungsfindung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Proaktiver Wissenstransfer und transparente Kommunikation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876A7BE3-E67A-6755-F192-5F62BD553264}"/>
              </a:ext>
            </a:extLst>
          </p:cNvPr>
          <p:cNvSpPr txBox="1"/>
          <p:nvPr/>
        </p:nvSpPr>
        <p:spPr>
          <a:xfrm>
            <a:off x="3360420" y="4001503"/>
            <a:ext cx="338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Projekt, das die langfristige Aufrechterhaltung des „Studienbotschafterprojektes“ sichern soll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01904824-6D1C-777E-424E-1378B49C21B0}"/>
              </a:ext>
            </a:extLst>
          </p:cNvPr>
          <p:cNvSpPr txBox="1"/>
          <p:nvPr/>
        </p:nvSpPr>
        <p:spPr>
          <a:xfrm>
            <a:off x="3360420" y="5197915"/>
            <a:ext cx="3532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Soziales Engagement und Impact für Menschen / Kinder  in schwierigen Situationen, bspw. Geflüchtete oder Alleinerziehende</a:t>
            </a:r>
          </a:p>
        </p:txBody>
      </p:sp>
      <p:pic>
        <p:nvPicPr>
          <p:cNvPr id="115" name="Grafik 114" descr="Playbook Silhouette">
            <a:extLst>
              <a:ext uri="{FF2B5EF4-FFF2-40B4-BE49-F238E27FC236}">
                <a16:creationId xmlns:a16="http://schemas.microsoft.com/office/drawing/2014/main" id="{84F844FC-30EC-E4FB-7EF0-C9740A3AAB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742" y="3942880"/>
            <a:ext cx="720089" cy="720089"/>
          </a:xfrm>
          <a:prstGeom prst="rect">
            <a:avLst/>
          </a:prstGeom>
        </p:spPr>
      </p:pic>
      <p:sp>
        <p:nvSpPr>
          <p:cNvPr id="116" name="Textfeld 115">
            <a:extLst>
              <a:ext uri="{FF2B5EF4-FFF2-40B4-BE49-F238E27FC236}">
                <a16:creationId xmlns:a16="http://schemas.microsoft.com/office/drawing/2014/main" id="{E0904166-18E4-D5EA-5F47-E97E3DAF7889}"/>
              </a:ext>
            </a:extLst>
          </p:cNvPr>
          <p:cNvSpPr txBox="1"/>
          <p:nvPr/>
        </p:nvSpPr>
        <p:spPr>
          <a:xfrm>
            <a:off x="7515893" y="4014341"/>
            <a:ext cx="3811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Vollste Zufriedenheit sowie vollständige Implementierung  unserer Vorschläge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Sicherung eines Folgeauftrages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89223C67-6D89-BEF0-EF21-2025F6BCA2C3}"/>
              </a:ext>
            </a:extLst>
          </p:cNvPr>
          <p:cNvSpPr txBox="1"/>
          <p:nvPr/>
        </p:nvSpPr>
        <p:spPr>
          <a:xfrm>
            <a:off x="7501889" y="5184788"/>
            <a:ext cx="36943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Erzielte Erfolge durch Verbesserung der Mathe &amp; Deutschnoten.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Verbesserung des Sprachniveaus &amp; mehr Kommunikation mit Menschen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31B26AAB-E860-9650-1DB9-ACEDC49D62F5}"/>
              </a:ext>
            </a:extLst>
          </p:cNvPr>
          <p:cNvSpPr txBox="1"/>
          <p:nvPr/>
        </p:nvSpPr>
        <p:spPr>
          <a:xfrm>
            <a:off x="7508272" y="2795141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Zeitersparnisse und höhere Effizienz bei Arbeitsabläufen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Kürzere Onboarding-Zeiten, weil Fragen sofort geklärt werden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5DEB741D-BFA1-5901-5CB1-431C1FC6C367}"/>
              </a:ext>
            </a:extLst>
          </p:cNvPr>
          <p:cNvSpPr txBox="1"/>
          <p:nvPr/>
        </p:nvSpPr>
        <p:spPr>
          <a:xfrm>
            <a:off x="7512082" y="1621661"/>
            <a:ext cx="3710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Umfassende Arbeitserfahrung vor meinem Festeinstieg, gleichzeitig exzellenten akademischen (1,X) Notenschnitt an der Hochschule </a:t>
            </a:r>
          </a:p>
        </p:txBody>
      </p:sp>
      <p:sp>
        <p:nvSpPr>
          <p:cNvPr id="120" name="Pfeil: Chevron 119">
            <a:extLst>
              <a:ext uri="{FF2B5EF4-FFF2-40B4-BE49-F238E27FC236}">
                <a16:creationId xmlns:a16="http://schemas.microsoft.com/office/drawing/2014/main" id="{C14E5381-229C-0C81-DCDF-6F3D5DAF3EFA}"/>
              </a:ext>
            </a:extLst>
          </p:cNvPr>
          <p:cNvSpPr/>
          <p:nvPr/>
        </p:nvSpPr>
        <p:spPr>
          <a:xfrm>
            <a:off x="7158989" y="1920775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1" name="Pfeil: Chevron 120">
            <a:extLst>
              <a:ext uri="{FF2B5EF4-FFF2-40B4-BE49-F238E27FC236}">
                <a16:creationId xmlns:a16="http://schemas.microsoft.com/office/drawing/2014/main" id="{CEFDFABB-97D9-CE98-D45F-C356BC501A7B}"/>
              </a:ext>
            </a:extLst>
          </p:cNvPr>
          <p:cNvSpPr/>
          <p:nvPr/>
        </p:nvSpPr>
        <p:spPr>
          <a:xfrm>
            <a:off x="7164071" y="3092098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Pfeil: Chevron 121">
            <a:extLst>
              <a:ext uri="{FF2B5EF4-FFF2-40B4-BE49-F238E27FC236}">
                <a16:creationId xmlns:a16="http://schemas.microsoft.com/office/drawing/2014/main" id="{D1CD8DFB-1484-6A52-4E2B-8DD03C201C2C}"/>
              </a:ext>
            </a:extLst>
          </p:cNvPr>
          <p:cNvSpPr/>
          <p:nvPr/>
        </p:nvSpPr>
        <p:spPr>
          <a:xfrm>
            <a:off x="7158989" y="5450201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3" name="Pfeil: Chevron 122">
            <a:extLst>
              <a:ext uri="{FF2B5EF4-FFF2-40B4-BE49-F238E27FC236}">
                <a16:creationId xmlns:a16="http://schemas.microsoft.com/office/drawing/2014/main" id="{3DBF1B95-6852-8AB6-69BD-DA2647CA2748}"/>
              </a:ext>
            </a:extLst>
          </p:cNvPr>
          <p:cNvSpPr/>
          <p:nvPr/>
        </p:nvSpPr>
        <p:spPr>
          <a:xfrm>
            <a:off x="7158990" y="4267587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6" name="Grafik 5" descr="Route zwei Stecknadeln mit Weg Silhouette">
            <a:extLst>
              <a:ext uri="{FF2B5EF4-FFF2-40B4-BE49-F238E27FC236}">
                <a16:creationId xmlns:a16="http://schemas.microsoft.com/office/drawing/2014/main" id="{9FCE2419-4E76-7184-1EF6-16F06417B7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11" name="Grafik 10" descr="Volltreffer Silhouette">
            <a:extLst>
              <a:ext uri="{FF2B5EF4-FFF2-40B4-BE49-F238E27FC236}">
                <a16:creationId xmlns:a16="http://schemas.microsoft.com/office/drawing/2014/main" id="{74849AE1-5ECD-F89C-DA92-6E0A2A57B16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12" name="Grafik 11" descr="Signal Silhouette">
            <a:extLst>
              <a:ext uri="{FF2B5EF4-FFF2-40B4-BE49-F238E27FC236}">
                <a16:creationId xmlns:a16="http://schemas.microsoft.com/office/drawing/2014/main" id="{1F505A01-6FDF-3CEF-54A1-EC2900F2B23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13" name="Grafik 12" descr="Glühbirne und Zahnrad Silhouette">
            <a:extLst>
              <a:ext uri="{FF2B5EF4-FFF2-40B4-BE49-F238E27FC236}">
                <a16:creationId xmlns:a16="http://schemas.microsoft.com/office/drawing/2014/main" id="{ED9F492F-462D-4E28-D7DE-44B5A3E0917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3557C3E-48F3-DDDF-0055-F95DB7AD4229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feil: Chevron 19">
            <a:extLst>
              <a:ext uri="{FF2B5EF4-FFF2-40B4-BE49-F238E27FC236}">
                <a16:creationId xmlns:a16="http://schemas.microsoft.com/office/drawing/2014/main" id="{01CADF06-3958-A7E1-334B-244A3DE2DE97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6536AEB-93A4-16D3-4289-A8C92A16C876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D274C66-DBFE-5D67-7916-BEFC2206400D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B4F09D16-574B-76A0-7AD5-2749E00CED99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Pfeil: Chevron 25">
            <a:extLst>
              <a:ext uri="{FF2B5EF4-FFF2-40B4-BE49-F238E27FC236}">
                <a16:creationId xmlns:a16="http://schemas.microsoft.com/office/drawing/2014/main" id="{F9127996-7EE2-C0F9-839C-AB32BE376F0F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7C27-7113-AC1A-5D80-C59A7DA8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2793498-C536-D89D-11AE-79CACA11C6F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4385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92D4D6-7026-7CCE-B7D3-6B56097B5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E8A573-93D0-E0ED-F69B-8DCF26B9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/>
          <a:p>
            <a:r>
              <a:rPr lang="de-DE" sz="1000" dirty="0">
                <a:solidFill>
                  <a:schemeClr val="bg2">
                    <a:lumMod val="75000"/>
                  </a:schemeClr>
                </a:solidFill>
              </a:rPr>
              <a:t>Datum | Euer Name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B0ACB4-279B-2C52-4174-D144D7DC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>
                <a:solidFill>
                  <a:schemeClr val="bg2">
                    <a:lumMod val="75000"/>
                  </a:schemeClr>
                </a:solidFill>
              </a:rPr>
              <a:t>9</a:t>
            </a:fld>
            <a:endParaRPr lang="de-DE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E9CEE3-F174-FC51-DADC-B7723174AAAC}"/>
              </a:ext>
            </a:extLst>
          </p:cNvPr>
          <p:cNvSpPr txBox="1"/>
          <p:nvPr/>
        </p:nvSpPr>
        <p:spPr>
          <a:xfrm>
            <a:off x="632398" y="470265"/>
            <a:ext cx="886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Wie kann ich meine Stärken &amp; meine Leidenschaft einbringen ? 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52431DB-BB80-5823-CA36-10ACDD851D4E}"/>
              </a:ext>
            </a:extLst>
          </p:cNvPr>
          <p:cNvCxnSpPr/>
          <p:nvPr/>
        </p:nvCxnSpPr>
        <p:spPr>
          <a:xfrm>
            <a:off x="527154" y="1573965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7B17E50-3B28-69B7-A9EB-FFA3884DD8C8}"/>
              </a:ext>
            </a:extLst>
          </p:cNvPr>
          <p:cNvCxnSpPr/>
          <p:nvPr/>
        </p:nvCxnSpPr>
        <p:spPr>
          <a:xfrm>
            <a:off x="527154" y="2738262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F1EE847-D036-BF52-B661-6540252179A0}"/>
              </a:ext>
            </a:extLst>
          </p:cNvPr>
          <p:cNvCxnSpPr/>
          <p:nvPr/>
        </p:nvCxnSpPr>
        <p:spPr>
          <a:xfrm>
            <a:off x="527154" y="3940436"/>
            <a:ext cx="10800000" cy="0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A45F948A-9817-289E-FFC0-D7B7599BC89B}"/>
              </a:ext>
            </a:extLst>
          </p:cNvPr>
          <p:cNvCxnSpPr/>
          <p:nvPr/>
        </p:nvCxnSpPr>
        <p:spPr>
          <a:xfrm>
            <a:off x="527154" y="5133495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DCEB479-DA7E-1EB4-1376-C99B25C3F760}"/>
              </a:ext>
            </a:extLst>
          </p:cNvPr>
          <p:cNvCxnSpPr/>
          <p:nvPr/>
        </p:nvCxnSpPr>
        <p:spPr>
          <a:xfrm>
            <a:off x="527153" y="6346213"/>
            <a:ext cx="108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1BC669F8-90DA-8F84-52E0-3376095BDC98}"/>
              </a:ext>
            </a:extLst>
          </p:cNvPr>
          <p:cNvSpPr txBox="1"/>
          <p:nvPr/>
        </p:nvSpPr>
        <p:spPr>
          <a:xfrm>
            <a:off x="612579" y="1203242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Stärke / Leidenschaft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191E559-574D-DBE7-C69D-1DBD5DEDDFFF}"/>
              </a:ext>
            </a:extLst>
          </p:cNvPr>
          <p:cNvSpPr txBox="1"/>
          <p:nvPr/>
        </p:nvSpPr>
        <p:spPr>
          <a:xfrm>
            <a:off x="4871595" y="1205281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Beispiel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92BCFB3-0331-466D-BD98-0F9FEB4B67EB}"/>
              </a:ext>
            </a:extLst>
          </p:cNvPr>
          <p:cNvSpPr txBox="1"/>
          <p:nvPr/>
        </p:nvSpPr>
        <p:spPr>
          <a:xfrm>
            <a:off x="8400862" y="1217286"/>
            <a:ext cx="211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/>
                </a:solidFill>
              </a:rPr>
              <a:t>Mehrwert &amp; Erfolge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10A6918-F61A-5F99-18D3-0D36D63BE6B8}"/>
              </a:ext>
            </a:extLst>
          </p:cNvPr>
          <p:cNvSpPr txBox="1"/>
          <p:nvPr/>
        </p:nvSpPr>
        <p:spPr>
          <a:xfrm>
            <a:off x="432110" y="5750008"/>
            <a:ext cx="2070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Hilfsbereitschaft &amp;</a:t>
            </a:r>
          </a:p>
          <a:p>
            <a:pPr algn="ctr"/>
            <a:r>
              <a:rPr lang="de-DE" sz="1600" dirty="0"/>
              <a:t> Lösungsorientierung</a:t>
            </a:r>
          </a:p>
        </p:txBody>
      </p:sp>
      <p:pic>
        <p:nvPicPr>
          <p:cNvPr id="21" name="Grafik 20" descr="Prost Silhouette">
            <a:extLst>
              <a:ext uri="{FF2B5EF4-FFF2-40B4-BE49-F238E27FC236}">
                <a16:creationId xmlns:a16="http://schemas.microsoft.com/office/drawing/2014/main" id="{83D178B7-2A47-53D3-27F8-43166BBE8FB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82806">
            <a:off x="1153371" y="2805523"/>
            <a:ext cx="628350" cy="628350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651CCA15-39C2-4303-412D-58BEA798531D}"/>
              </a:ext>
            </a:extLst>
          </p:cNvPr>
          <p:cNvSpPr txBox="1"/>
          <p:nvPr/>
        </p:nvSpPr>
        <p:spPr>
          <a:xfrm>
            <a:off x="665573" y="2132607"/>
            <a:ext cx="1712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Lernfähigkeit &amp; Stressresistenz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59EE6FF-EBD5-DAD0-E52C-377D5666AD80}"/>
              </a:ext>
            </a:extLst>
          </p:cNvPr>
          <p:cNvSpPr txBox="1"/>
          <p:nvPr/>
        </p:nvSpPr>
        <p:spPr>
          <a:xfrm>
            <a:off x="719906" y="3346844"/>
            <a:ext cx="160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Teamfähigkeit &amp; Kommunikation</a:t>
            </a:r>
          </a:p>
        </p:txBody>
      </p:sp>
      <p:pic>
        <p:nvPicPr>
          <p:cNvPr id="59" name="Grafik 58" descr="Rechte und linke Gehirnhälfte Silhouette">
            <a:extLst>
              <a:ext uri="{FF2B5EF4-FFF2-40B4-BE49-F238E27FC236}">
                <a16:creationId xmlns:a16="http://schemas.microsoft.com/office/drawing/2014/main" id="{BAABB1EC-DE61-BD3A-1559-B63F8C8F54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7424" y="5163624"/>
            <a:ext cx="680241" cy="680241"/>
          </a:xfrm>
          <a:prstGeom prst="rect">
            <a:avLst/>
          </a:prstGeom>
        </p:spPr>
      </p:pic>
      <p:pic>
        <p:nvPicPr>
          <p:cNvPr id="65" name="Grafik 64" descr="Wiedergabe Silhouette">
            <a:extLst>
              <a:ext uri="{FF2B5EF4-FFF2-40B4-BE49-F238E27FC236}">
                <a16:creationId xmlns:a16="http://schemas.microsoft.com/office/drawing/2014/main" id="{59747CF7-E09B-A094-1A29-30EDF64C7E6A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7717" y="1673417"/>
            <a:ext cx="474700" cy="474700"/>
          </a:xfrm>
          <a:prstGeom prst="rect">
            <a:avLst/>
          </a:prstGeom>
        </p:spPr>
      </p:pic>
      <p:pic>
        <p:nvPicPr>
          <p:cNvPr id="66" name="Grafik 65" descr="Wiedergabe Silhouette">
            <a:extLst>
              <a:ext uri="{FF2B5EF4-FFF2-40B4-BE49-F238E27FC236}">
                <a16:creationId xmlns:a16="http://schemas.microsoft.com/office/drawing/2014/main" id="{C5947935-BBF7-0526-9A69-C04929431C3F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0787" y="1676809"/>
            <a:ext cx="474700" cy="474700"/>
          </a:xfrm>
          <a:prstGeom prst="rect">
            <a:avLst/>
          </a:prstGeom>
        </p:spPr>
      </p:pic>
      <p:sp>
        <p:nvSpPr>
          <p:cNvPr id="67" name="Textfeld 66">
            <a:extLst>
              <a:ext uri="{FF2B5EF4-FFF2-40B4-BE49-F238E27FC236}">
                <a16:creationId xmlns:a16="http://schemas.microsoft.com/office/drawing/2014/main" id="{F87BE1CD-3270-2803-C660-23C1D03FDF2B}"/>
              </a:ext>
            </a:extLst>
          </p:cNvPr>
          <p:cNvSpPr txBox="1"/>
          <p:nvPr/>
        </p:nvSpPr>
        <p:spPr>
          <a:xfrm>
            <a:off x="824197" y="4537534"/>
            <a:ext cx="1286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Strategische Fähigkeiten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6ACA5EA7-1B0B-8854-0F02-954ED0D96DC4}"/>
              </a:ext>
            </a:extLst>
          </p:cNvPr>
          <p:cNvCxnSpPr>
            <a:cxnSpLocks/>
          </p:cNvCxnSpPr>
          <p:nvPr/>
        </p:nvCxnSpPr>
        <p:spPr>
          <a:xfrm>
            <a:off x="3098800" y="1773766"/>
            <a:ext cx="0" cy="740834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928510F3-9B25-BDFB-3559-2E7FE7DA646A}"/>
              </a:ext>
            </a:extLst>
          </p:cNvPr>
          <p:cNvCxnSpPr>
            <a:cxnSpLocks/>
          </p:cNvCxnSpPr>
          <p:nvPr/>
        </p:nvCxnSpPr>
        <p:spPr>
          <a:xfrm>
            <a:off x="3111500" y="4186767"/>
            <a:ext cx="0" cy="732366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BE3CF78-305F-F4DB-52BE-4AF633053C0C}"/>
              </a:ext>
            </a:extLst>
          </p:cNvPr>
          <p:cNvCxnSpPr>
            <a:cxnSpLocks/>
          </p:cNvCxnSpPr>
          <p:nvPr/>
        </p:nvCxnSpPr>
        <p:spPr>
          <a:xfrm flipH="1">
            <a:off x="3111499" y="2971800"/>
            <a:ext cx="1" cy="778933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84C28FB5-3CAF-7171-E848-BD80EC9A7058}"/>
              </a:ext>
            </a:extLst>
          </p:cNvPr>
          <p:cNvCxnSpPr>
            <a:cxnSpLocks/>
          </p:cNvCxnSpPr>
          <p:nvPr/>
        </p:nvCxnSpPr>
        <p:spPr>
          <a:xfrm>
            <a:off x="3111499" y="5411788"/>
            <a:ext cx="1" cy="700849"/>
          </a:xfrm>
          <a:prstGeom prst="line">
            <a:avLst/>
          </a:pr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AFEAA88D-17EC-5211-43C0-7EE4C9FFA657}"/>
              </a:ext>
            </a:extLst>
          </p:cNvPr>
          <p:cNvSpPr txBox="1"/>
          <p:nvPr/>
        </p:nvSpPr>
        <p:spPr>
          <a:xfrm>
            <a:off x="3360420" y="1619685"/>
            <a:ext cx="37604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Kombination aus Lehre an der Hochschule &amp; mehreren absolvierten Werkstudentenjobs sowie Praktika während der Studienzeit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26035F43-239C-956F-13E3-42180C78EC5E}"/>
              </a:ext>
            </a:extLst>
          </p:cNvPr>
          <p:cNvSpPr txBox="1"/>
          <p:nvPr/>
        </p:nvSpPr>
        <p:spPr>
          <a:xfrm>
            <a:off x="3360419" y="2802847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Lösungsorientierte Zusammenarbeit für eine pragmatische Lösungsfindung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Proaktiver Wissenstransfer und transparente Kommunikation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1DCFC981-1DA0-E14B-02BD-798D7BDF92C7}"/>
              </a:ext>
            </a:extLst>
          </p:cNvPr>
          <p:cNvSpPr txBox="1"/>
          <p:nvPr/>
        </p:nvSpPr>
        <p:spPr>
          <a:xfrm>
            <a:off x="3360420" y="4001503"/>
            <a:ext cx="338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Projekt, das die langfristige Aufrechterhaltung des „Studienbotschafterprojektes“ sichern soll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C2EEE1BD-6504-2CBF-32C8-FA6220479BEF}"/>
              </a:ext>
            </a:extLst>
          </p:cNvPr>
          <p:cNvSpPr txBox="1"/>
          <p:nvPr/>
        </p:nvSpPr>
        <p:spPr>
          <a:xfrm>
            <a:off x="3360420" y="5197915"/>
            <a:ext cx="3532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Soziales Engagement und Impact für Menschen / Kinder  in schwierigen Situationen, bspw. Geflüchtete oder Alleinerziehende</a:t>
            </a:r>
          </a:p>
        </p:txBody>
      </p:sp>
      <p:pic>
        <p:nvPicPr>
          <p:cNvPr id="115" name="Grafik 114" descr="Playbook Silhouette">
            <a:extLst>
              <a:ext uri="{FF2B5EF4-FFF2-40B4-BE49-F238E27FC236}">
                <a16:creationId xmlns:a16="http://schemas.microsoft.com/office/drawing/2014/main" id="{89920F1E-6574-F85A-526A-6B6DAA32E2B2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742" y="3942880"/>
            <a:ext cx="720089" cy="720089"/>
          </a:xfrm>
          <a:prstGeom prst="rect">
            <a:avLst/>
          </a:prstGeom>
        </p:spPr>
      </p:pic>
      <p:sp>
        <p:nvSpPr>
          <p:cNvPr id="116" name="Textfeld 115">
            <a:extLst>
              <a:ext uri="{FF2B5EF4-FFF2-40B4-BE49-F238E27FC236}">
                <a16:creationId xmlns:a16="http://schemas.microsoft.com/office/drawing/2014/main" id="{1709F076-E5E3-8CDF-E693-5CB15FC245DD}"/>
              </a:ext>
            </a:extLst>
          </p:cNvPr>
          <p:cNvSpPr txBox="1"/>
          <p:nvPr/>
        </p:nvSpPr>
        <p:spPr>
          <a:xfrm>
            <a:off x="7515893" y="4014341"/>
            <a:ext cx="3811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Vollste Zufriedenheit sowie vollständige Implementierung  unserer Vorschläge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Sicherung eines Folgeauftrages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48C8F50D-A49C-6014-689D-D06B5B211C6A}"/>
              </a:ext>
            </a:extLst>
          </p:cNvPr>
          <p:cNvSpPr txBox="1"/>
          <p:nvPr/>
        </p:nvSpPr>
        <p:spPr>
          <a:xfrm>
            <a:off x="7501889" y="5184788"/>
            <a:ext cx="36943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Erzielte Erfolge durch Verbesserung der Mathe &amp; Deutschnoten.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Verbesserung des Sprachniveaus &amp; mehr Kommunikation mit Menschen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94C8F4CD-3042-22C5-9678-2E6BBC02C350}"/>
              </a:ext>
            </a:extLst>
          </p:cNvPr>
          <p:cNvSpPr txBox="1"/>
          <p:nvPr/>
        </p:nvSpPr>
        <p:spPr>
          <a:xfrm>
            <a:off x="7508272" y="2795141"/>
            <a:ext cx="3845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Zeitersparnisse und höhere Effizienz bei Arbeitsabläufen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Kürzere Onboarding-Zeiten, weil Fragen sofort geklärt werden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505135EF-C04E-1714-00E6-53191058CD82}"/>
              </a:ext>
            </a:extLst>
          </p:cNvPr>
          <p:cNvSpPr txBox="1"/>
          <p:nvPr/>
        </p:nvSpPr>
        <p:spPr>
          <a:xfrm>
            <a:off x="7512082" y="1621661"/>
            <a:ext cx="3710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tx1">
                    <a:alpha val="20000"/>
                  </a:schemeClr>
                </a:solidFill>
              </a:rPr>
              <a:t>Umfassende Arbeitserfahrung vor meinem Festeinstieg, gleichzeitig exzellenten akademischen (1,X) Notenschnitt an der Hochschule </a:t>
            </a:r>
          </a:p>
        </p:txBody>
      </p:sp>
      <p:sp>
        <p:nvSpPr>
          <p:cNvPr id="120" name="Pfeil: Chevron 119">
            <a:extLst>
              <a:ext uri="{FF2B5EF4-FFF2-40B4-BE49-F238E27FC236}">
                <a16:creationId xmlns:a16="http://schemas.microsoft.com/office/drawing/2014/main" id="{5F6CC5BD-A395-1064-9DFF-EBE1022A0063}"/>
              </a:ext>
            </a:extLst>
          </p:cNvPr>
          <p:cNvSpPr/>
          <p:nvPr/>
        </p:nvSpPr>
        <p:spPr>
          <a:xfrm>
            <a:off x="7158989" y="1920775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1" name="Pfeil: Chevron 120">
            <a:extLst>
              <a:ext uri="{FF2B5EF4-FFF2-40B4-BE49-F238E27FC236}">
                <a16:creationId xmlns:a16="http://schemas.microsoft.com/office/drawing/2014/main" id="{BA90A275-2967-44AF-215E-217914C7009F}"/>
              </a:ext>
            </a:extLst>
          </p:cNvPr>
          <p:cNvSpPr/>
          <p:nvPr/>
        </p:nvSpPr>
        <p:spPr>
          <a:xfrm>
            <a:off x="7164071" y="3092098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Pfeil: Chevron 121">
            <a:extLst>
              <a:ext uri="{FF2B5EF4-FFF2-40B4-BE49-F238E27FC236}">
                <a16:creationId xmlns:a16="http://schemas.microsoft.com/office/drawing/2014/main" id="{2CB5367C-F733-693F-D738-9DE035A53895}"/>
              </a:ext>
            </a:extLst>
          </p:cNvPr>
          <p:cNvSpPr/>
          <p:nvPr/>
        </p:nvSpPr>
        <p:spPr>
          <a:xfrm>
            <a:off x="7158989" y="5450201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3" name="Pfeil: Chevron 122">
            <a:extLst>
              <a:ext uri="{FF2B5EF4-FFF2-40B4-BE49-F238E27FC236}">
                <a16:creationId xmlns:a16="http://schemas.microsoft.com/office/drawing/2014/main" id="{BDDE3A4F-51DC-1E99-6CE8-01FD97EE7D1C}"/>
              </a:ext>
            </a:extLst>
          </p:cNvPr>
          <p:cNvSpPr/>
          <p:nvPr/>
        </p:nvSpPr>
        <p:spPr>
          <a:xfrm>
            <a:off x="7158990" y="4267587"/>
            <a:ext cx="261619" cy="549203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6" name="Grafik 5" descr="Route zwei Stecknadeln mit Weg Silhouette">
            <a:extLst>
              <a:ext uri="{FF2B5EF4-FFF2-40B4-BE49-F238E27FC236}">
                <a16:creationId xmlns:a16="http://schemas.microsoft.com/office/drawing/2014/main" id="{9F6D00D8-B5D1-9EE7-EA75-2CF6DEB77C5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11" name="Grafik 10" descr="Volltreffer Silhouette">
            <a:extLst>
              <a:ext uri="{FF2B5EF4-FFF2-40B4-BE49-F238E27FC236}">
                <a16:creationId xmlns:a16="http://schemas.microsoft.com/office/drawing/2014/main" id="{6F382A72-6FCB-3002-E341-E1A21CCF346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12" name="Grafik 11" descr="Signal Silhouette">
            <a:extLst>
              <a:ext uri="{FF2B5EF4-FFF2-40B4-BE49-F238E27FC236}">
                <a16:creationId xmlns:a16="http://schemas.microsoft.com/office/drawing/2014/main" id="{D971AD5E-6B01-B285-1C5C-09C10A7753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13" name="Grafik 12" descr="Glühbirne und Zahnrad Silhouette">
            <a:extLst>
              <a:ext uri="{FF2B5EF4-FFF2-40B4-BE49-F238E27FC236}">
                <a16:creationId xmlns:a16="http://schemas.microsoft.com/office/drawing/2014/main" id="{A4458260-1855-6578-3114-5AC1A563EEC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56805D14-47B0-4500-CFA4-76E910D3CCA9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feil: Chevron 19">
            <a:extLst>
              <a:ext uri="{FF2B5EF4-FFF2-40B4-BE49-F238E27FC236}">
                <a16:creationId xmlns:a16="http://schemas.microsoft.com/office/drawing/2014/main" id="{D340517E-926C-67BE-0706-EA4072718DE8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B7720DB-B621-EE2B-3B4A-59A4165E8048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A1D7C80-3E18-EFA1-7AD2-AD52750DC47E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C9EB31FB-7D20-74E4-991F-75E842639101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Pfeil: Chevron 25">
            <a:extLst>
              <a:ext uri="{FF2B5EF4-FFF2-40B4-BE49-F238E27FC236}">
                <a16:creationId xmlns:a16="http://schemas.microsoft.com/office/drawing/2014/main" id="{7209DD0E-3425-3956-D210-EA37407D1CD0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660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D2E7E-A3B3-29A6-D6AB-8B43CCB2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A79D67AC-E083-C28D-4AA8-8483535D9A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620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F80E41-3986-CD1B-C352-BE4F4F9168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B2B03C-28D9-20A7-A1C6-8545D9C4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24" y="8375657"/>
            <a:ext cx="4114800" cy="365125"/>
          </a:xfrm>
        </p:spPr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F01668-E27F-3C67-7082-E340D138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10</a:t>
            </a:fld>
            <a:endParaRPr lang="de-DE"/>
          </a:p>
        </p:txBody>
      </p:sp>
      <p:pic>
        <p:nvPicPr>
          <p:cNvPr id="3" name="Grafik 2" descr="Puzzleteile Silhouette">
            <a:extLst>
              <a:ext uri="{FF2B5EF4-FFF2-40B4-BE49-F238E27FC236}">
                <a16:creationId xmlns:a16="http://schemas.microsoft.com/office/drawing/2014/main" id="{7563ED0C-E02B-0BAB-6AA9-32E43367AA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7111" t="10552" r="10624" b="50000"/>
          <a:stretch>
            <a:fillRect/>
          </a:stretch>
        </p:blipFill>
        <p:spPr>
          <a:xfrm>
            <a:off x="5754508" y="2386154"/>
            <a:ext cx="1011814" cy="944360"/>
          </a:xfrm>
          <a:prstGeom prst="rect">
            <a:avLst/>
          </a:prstGeom>
        </p:spPr>
      </p:pic>
      <p:pic>
        <p:nvPicPr>
          <p:cNvPr id="20" name="Grafik 19" descr="Puzzleteile Silhouette">
            <a:extLst>
              <a:ext uri="{FF2B5EF4-FFF2-40B4-BE49-F238E27FC236}">
                <a16:creationId xmlns:a16="http://schemas.microsoft.com/office/drawing/2014/main" id="{BEADB53B-DB20-B686-5882-BC838E3CC3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t="46477" r="34584" b="46581"/>
          <a:stretch>
            <a:fillRect/>
          </a:stretch>
        </p:blipFill>
        <p:spPr>
          <a:xfrm>
            <a:off x="5823633" y="3241282"/>
            <a:ext cx="370415" cy="165987"/>
          </a:xfrm>
          <a:prstGeom prst="rect">
            <a:avLst/>
          </a:prstGeom>
        </p:spPr>
      </p:pic>
      <p:sp>
        <p:nvSpPr>
          <p:cNvPr id="1074" name="Textfeld 1073">
            <a:extLst>
              <a:ext uri="{FF2B5EF4-FFF2-40B4-BE49-F238E27FC236}">
                <a16:creationId xmlns:a16="http://schemas.microsoft.com/office/drawing/2014/main" id="{484FF954-45C8-9FF2-2766-7C0FD6F6B2D9}"/>
              </a:ext>
            </a:extLst>
          </p:cNvPr>
          <p:cNvSpPr txBox="1"/>
          <p:nvPr/>
        </p:nvSpPr>
        <p:spPr>
          <a:xfrm>
            <a:off x="613121" y="316503"/>
            <a:ext cx="6688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accent1"/>
                </a:solidFill>
              </a:rPr>
              <a:t>Warum möchte ich zu Unity?</a:t>
            </a:r>
          </a:p>
        </p:txBody>
      </p:sp>
      <p:sp>
        <p:nvSpPr>
          <p:cNvPr id="1080" name="Textfeld 1079">
            <a:extLst>
              <a:ext uri="{FF2B5EF4-FFF2-40B4-BE49-F238E27FC236}">
                <a16:creationId xmlns:a16="http://schemas.microsoft.com/office/drawing/2014/main" id="{57E8D582-6068-EBBF-F1FD-DAFCC7016F4D}"/>
              </a:ext>
            </a:extLst>
          </p:cNvPr>
          <p:cNvSpPr txBox="1"/>
          <p:nvPr/>
        </p:nvSpPr>
        <p:spPr>
          <a:xfrm>
            <a:off x="626373" y="675925"/>
            <a:ext cx="668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accent1"/>
                </a:solidFill>
              </a:rPr>
              <a:t>Der nächste logische Schritt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BF5146D-23C9-AB62-4DCE-893E80E91E07}"/>
              </a:ext>
            </a:extLst>
          </p:cNvPr>
          <p:cNvSpPr/>
          <p:nvPr/>
        </p:nvSpPr>
        <p:spPr>
          <a:xfrm>
            <a:off x="5729862" y="2401416"/>
            <a:ext cx="1157655" cy="844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597730B-6A23-5070-A396-5F4BB660AEF6}"/>
              </a:ext>
            </a:extLst>
          </p:cNvPr>
          <p:cNvSpPr/>
          <p:nvPr/>
        </p:nvSpPr>
        <p:spPr>
          <a:xfrm>
            <a:off x="6291659" y="3011579"/>
            <a:ext cx="481148" cy="367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946B50-A2A6-0C96-7311-CB831650FB21}"/>
              </a:ext>
            </a:extLst>
          </p:cNvPr>
          <p:cNvSpPr/>
          <p:nvPr/>
        </p:nvSpPr>
        <p:spPr>
          <a:xfrm>
            <a:off x="5674018" y="3220790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25087A5-AE23-452C-35A0-200C7DD09CFD}"/>
              </a:ext>
            </a:extLst>
          </p:cNvPr>
          <p:cNvSpPr/>
          <p:nvPr/>
        </p:nvSpPr>
        <p:spPr>
          <a:xfrm rot="5400000">
            <a:off x="5823351" y="3640923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3D2A8D2-429C-6E34-BDE5-056A83F8029D}"/>
              </a:ext>
            </a:extLst>
          </p:cNvPr>
          <p:cNvSpPr/>
          <p:nvPr/>
        </p:nvSpPr>
        <p:spPr>
          <a:xfrm rot="5400000">
            <a:off x="5747695" y="4022555"/>
            <a:ext cx="274864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6633ACB-0A20-EA2A-E29A-61F7E82BF993}"/>
              </a:ext>
            </a:extLst>
          </p:cNvPr>
          <p:cNvSpPr/>
          <p:nvPr/>
        </p:nvSpPr>
        <p:spPr>
          <a:xfrm>
            <a:off x="4881837" y="3842673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51170FF-FEF8-A5B1-D4D8-FACE3A6C2160}"/>
              </a:ext>
            </a:extLst>
          </p:cNvPr>
          <p:cNvSpPr/>
          <p:nvPr/>
        </p:nvSpPr>
        <p:spPr>
          <a:xfrm rot="16200000">
            <a:off x="5384149" y="3695778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BBFAFB8-C9AB-2DA5-A4BF-21F2E918DC85}"/>
              </a:ext>
            </a:extLst>
          </p:cNvPr>
          <p:cNvSpPr/>
          <p:nvPr/>
        </p:nvSpPr>
        <p:spPr>
          <a:xfrm rot="16200000">
            <a:off x="4476505" y="3678044"/>
            <a:ext cx="734616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Route zwei Stecknadeln mit Weg Silhouette">
            <a:extLst>
              <a:ext uri="{FF2B5EF4-FFF2-40B4-BE49-F238E27FC236}">
                <a16:creationId xmlns:a16="http://schemas.microsoft.com/office/drawing/2014/main" id="{A2749841-B215-54DA-E441-F49DE12640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15" name="Grafik 14" descr="Volltreffer Silhouette">
            <a:extLst>
              <a:ext uri="{FF2B5EF4-FFF2-40B4-BE49-F238E27FC236}">
                <a16:creationId xmlns:a16="http://schemas.microsoft.com/office/drawing/2014/main" id="{2B38482B-2EE4-CF4E-21B0-FD0E656948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16" name="Grafik 15" descr="Signal Silhouette">
            <a:extLst>
              <a:ext uri="{FF2B5EF4-FFF2-40B4-BE49-F238E27FC236}">
                <a16:creationId xmlns:a16="http://schemas.microsoft.com/office/drawing/2014/main" id="{ED8B4FA2-6F74-7FBA-2FBD-5E19E84BD4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17" name="Grafik 16" descr="Glühbirne und Zahnrad Silhouette">
            <a:extLst>
              <a:ext uri="{FF2B5EF4-FFF2-40B4-BE49-F238E27FC236}">
                <a16:creationId xmlns:a16="http://schemas.microsoft.com/office/drawing/2014/main" id="{1C8B0F5D-5F89-974E-326B-D09D7D5EB30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8ADBF34-F042-0F2A-777F-716DE731ABEE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feil: Chevron 20">
            <a:extLst>
              <a:ext uri="{FF2B5EF4-FFF2-40B4-BE49-F238E27FC236}">
                <a16:creationId xmlns:a16="http://schemas.microsoft.com/office/drawing/2014/main" id="{555C7F08-5E10-BF79-053D-B035B9761E0C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89F0023-6FEB-8DB3-E990-F1E4CFF948D4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152BBDC-7426-5913-79A2-AD139EFE8F34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feil: Chevron 23">
            <a:extLst>
              <a:ext uri="{FF2B5EF4-FFF2-40B4-BE49-F238E27FC236}">
                <a16:creationId xmlns:a16="http://schemas.microsoft.com/office/drawing/2014/main" id="{684123F9-A42C-6FF9-7A61-B32DC1CF7221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237F66D6-FCF9-B7C6-088C-CF8802B40D11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Fußzeilenplatzhalter 1">
            <a:extLst>
              <a:ext uri="{FF2B5EF4-FFF2-40B4-BE49-F238E27FC236}">
                <a16:creationId xmlns:a16="http://schemas.microsoft.com/office/drawing/2014/main" id="{F880A45A-B3D9-E51C-C0E1-F212FC286F0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231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2D96-3483-7FCB-1565-BBB6E752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D2F80E41-3986-CD1B-C352-BE4F4F9168A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524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64D053-664A-8C04-031E-9B151D5ABF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DD1B02-087E-DD1A-28A0-02A4E11C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24" y="8375657"/>
            <a:ext cx="4114800" cy="365125"/>
          </a:xfrm>
        </p:spPr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16D6D7-1AF3-66CD-3A55-1957B43B2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11</a:t>
            </a:fld>
            <a:endParaRPr lang="de-DE"/>
          </a:p>
        </p:txBody>
      </p:sp>
      <p:pic>
        <p:nvPicPr>
          <p:cNvPr id="13" name="Grafik 12" descr="Puzzleteile Silhouette">
            <a:extLst>
              <a:ext uri="{FF2B5EF4-FFF2-40B4-BE49-F238E27FC236}">
                <a16:creationId xmlns:a16="http://schemas.microsoft.com/office/drawing/2014/main" id="{9D7283AE-D100-F4C5-F37A-C4053D74F2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188" y="2139831"/>
            <a:ext cx="2368891" cy="2368891"/>
          </a:xfrm>
          <a:prstGeom prst="rect">
            <a:avLst/>
          </a:prstGeom>
        </p:spPr>
      </p:pic>
      <p:pic>
        <p:nvPicPr>
          <p:cNvPr id="3" name="Grafik 2" descr="Puzzleteile Silhouette">
            <a:extLst>
              <a:ext uri="{FF2B5EF4-FFF2-40B4-BE49-F238E27FC236}">
                <a16:creationId xmlns:a16="http://schemas.microsoft.com/office/drawing/2014/main" id="{503089A2-C2E3-D0EC-0B9E-CE73A9E9E4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7111" t="10552" r="10624" b="50000"/>
          <a:stretch>
            <a:fillRect/>
          </a:stretch>
        </p:blipFill>
        <p:spPr>
          <a:xfrm>
            <a:off x="5754508" y="2386154"/>
            <a:ext cx="1011814" cy="944360"/>
          </a:xfrm>
          <a:prstGeom prst="rect">
            <a:avLst/>
          </a:prstGeom>
        </p:spPr>
      </p:pic>
      <p:pic>
        <p:nvPicPr>
          <p:cNvPr id="20" name="Grafik 19" descr="Puzzleteile Silhouette">
            <a:extLst>
              <a:ext uri="{FF2B5EF4-FFF2-40B4-BE49-F238E27FC236}">
                <a16:creationId xmlns:a16="http://schemas.microsoft.com/office/drawing/2014/main" id="{42A77EC5-9019-3634-994E-1D3EF0A3EE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50000" t="46477" r="34584" b="46581"/>
          <a:stretch>
            <a:fillRect/>
          </a:stretch>
        </p:blipFill>
        <p:spPr>
          <a:xfrm>
            <a:off x="5823633" y="3241282"/>
            <a:ext cx="370415" cy="165987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74EE0C52-FE89-7474-DB53-567A35269D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6901" y="2892444"/>
            <a:ext cx="1432845" cy="454939"/>
          </a:xfrm>
          <a:prstGeom prst="rect">
            <a:avLst/>
          </a:prstGeom>
        </p:spPr>
      </p:pic>
      <p:pic>
        <p:nvPicPr>
          <p:cNvPr id="1026" name="Picture 2" descr="Campus Konzept Stuttgart e.V. (@campus.konzept) • Facebook">
            <a:extLst>
              <a:ext uri="{FF2B5EF4-FFF2-40B4-BE49-F238E27FC236}">
                <a16:creationId xmlns:a16="http://schemas.microsoft.com/office/drawing/2014/main" id="{228FD112-F896-B7EF-C961-56597F3B4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04" y="2259474"/>
            <a:ext cx="598860" cy="59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5F3C654B-2C27-880A-F48C-A6B52400EB7B}"/>
              </a:ext>
            </a:extLst>
          </p:cNvPr>
          <p:cNvSpPr txBox="1"/>
          <p:nvPr/>
        </p:nvSpPr>
        <p:spPr>
          <a:xfrm>
            <a:off x="3978691" y="2401416"/>
            <a:ext cx="1578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„Unity Spirit“</a:t>
            </a:r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8ABDCD0A-0866-C7FF-9558-D443F81766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0009" y="1630265"/>
            <a:ext cx="770991" cy="760183"/>
          </a:xfrm>
          <a:prstGeom prst="rect">
            <a:avLst/>
          </a:prstGeom>
        </p:spPr>
      </p:pic>
      <p:sp>
        <p:nvSpPr>
          <p:cNvPr id="1074" name="Textfeld 1073">
            <a:extLst>
              <a:ext uri="{FF2B5EF4-FFF2-40B4-BE49-F238E27FC236}">
                <a16:creationId xmlns:a16="http://schemas.microsoft.com/office/drawing/2014/main" id="{19148965-241A-BB28-7B50-A759C45CDEF6}"/>
              </a:ext>
            </a:extLst>
          </p:cNvPr>
          <p:cNvSpPr txBox="1"/>
          <p:nvPr/>
        </p:nvSpPr>
        <p:spPr>
          <a:xfrm>
            <a:off x="613121" y="316503"/>
            <a:ext cx="6688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accent1"/>
                </a:solidFill>
              </a:rPr>
              <a:t>Warum möchte ich zu Unity?</a:t>
            </a:r>
          </a:p>
        </p:txBody>
      </p:sp>
      <p:sp>
        <p:nvSpPr>
          <p:cNvPr id="1075" name="Textfeld 1074">
            <a:extLst>
              <a:ext uri="{FF2B5EF4-FFF2-40B4-BE49-F238E27FC236}">
                <a16:creationId xmlns:a16="http://schemas.microsoft.com/office/drawing/2014/main" id="{3FD109DD-BB4B-1756-4BF8-0EFB289A9E37}"/>
              </a:ext>
            </a:extLst>
          </p:cNvPr>
          <p:cNvSpPr txBox="1"/>
          <p:nvPr/>
        </p:nvSpPr>
        <p:spPr>
          <a:xfrm>
            <a:off x="494821" y="1869988"/>
            <a:ext cx="26720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/>
                </a:solidFill>
              </a:rPr>
              <a:t>Personal Fit</a:t>
            </a:r>
            <a:br>
              <a:rPr lang="de-DE" dirty="0"/>
            </a:br>
            <a:r>
              <a:rPr lang="de-DE" dirty="0"/>
              <a:t>Fokus auf Wertschätzung      &amp; gemeinsamer Erfolg</a:t>
            </a:r>
          </a:p>
        </p:txBody>
      </p:sp>
      <p:sp>
        <p:nvSpPr>
          <p:cNvPr id="1080" name="Textfeld 1079">
            <a:extLst>
              <a:ext uri="{FF2B5EF4-FFF2-40B4-BE49-F238E27FC236}">
                <a16:creationId xmlns:a16="http://schemas.microsoft.com/office/drawing/2014/main" id="{72AEF1DF-0609-1A15-45E7-A21DFAC9D27D}"/>
              </a:ext>
            </a:extLst>
          </p:cNvPr>
          <p:cNvSpPr txBox="1"/>
          <p:nvPr/>
        </p:nvSpPr>
        <p:spPr>
          <a:xfrm>
            <a:off x="626373" y="675925"/>
            <a:ext cx="668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accent1"/>
                </a:solidFill>
              </a:rPr>
              <a:t>Der nächste logische Schritt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0646C94-4308-D7C0-0BB4-469449E3E475}"/>
              </a:ext>
            </a:extLst>
          </p:cNvPr>
          <p:cNvSpPr/>
          <p:nvPr/>
        </p:nvSpPr>
        <p:spPr>
          <a:xfrm>
            <a:off x="5729862" y="2401416"/>
            <a:ext cx="1157655" cy="844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A7E2F82-6303-73C4-4881-64465A625057}"/>
              </a:ext>
            </a:extLst>
          </p:cNvPr>
          <p:cNvSpPr/>
          <p:nvPr/>
        </p:nvSpPr>
        <p:spPr>
          <a:xfrm>
            <a:off x="6291659" y="3011579"/>
            <a:ext cx="481148" cy="367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B7A5AA-063F-1950-CE68-44FFDF90F41E}"/>
              </a:ext>
            </a:extLst>
          </p:cNvPr>
          <p:cNvSpPr/>
          <p:nvPr/>
        </p:nvSpPr>
        <p:spPr>
          <a:xfrm>
            <a:off x="5674018" y="3220790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6E817BC-5FB3-6139-5808-F6877AAFB378}"/>
              </a:ext>
            </a:extLst>
          </p:cNvPr>
          <p:cNvSpPr/>
          <p:nvPr/>
        </p:nvSpPr>
        <p:spPr>
          <a:xfrm rot="5400000">
            <a:off x="5823351" y="3640923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D64BFA-BDE4-F9ED-FEF9-95171F85EDE1}"/>
              </a:ext>
            </a:extLst>
          </p:cNvPr>
          <p:cNvSpPr/>
          <p:nvPr/>
        </p:nvSpPr>
        <p:spPr>
          <a:xfrm rot="5400000">
            <a:off x="5747695" y="4022555"/>
            <a:ext cx="274864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DACDDAB-BBDF-8FD2-4DE7-A6C3C9A036DF}"/>
              </a:ext>
            </a:extLst>
          </p:cNvPr>
          <p:cNvSpPr/>
          <p:nvPr/>
        </p:nvSpPr>
        <p:spPr>
          <a:xfrm>
            <a:off x="4881837" y="3842673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671F5BD-E440-F523-F11D-F02F5744F437}"/>
              </a:ext>
            </a:extLst>
          </p:cNvPr>
          <p:cNvSpPr/>
          <p:nvPr/>
        </p:nvSpPr>
        <p:spPr>
          <a:xfrm rot="16200000">
            <a:off x="5384149" y="3695778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53632E9-3A15-A698-D8A2-5B204479B36F}"/>
              </a:ext>
            </a:extLst>
          </p:cNvPr>
          <p:cNvSpPr/>
          <p:nvPr/>
        </p:nvSpPr>
        <p:spPr>
          <a:xfrm rot="16200000">
            <a:off x="4476505" y="3678044"/>
            <a:ext cx="734616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Grafik 25" descr="Route zwei Stecknadeln mit Weg Silhouette">
            <a:extLst>
              <a:ext uri="{FF2B5EF4-FFF2-40B4-BE49-F238E27FC236}">
                <a16:creationId xmlns:a16="http://schemas.microsoft.com/office/drawing/2014/main" id="{F886B799-2CFC-9A5F-6A3A-776206AFFF9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27" name="Grafik 26" descr="Volltreffer Silhouette">
            <a:extLst>
              <a:ext uri="{FF2B5EF4-FFF2-40B4-BE49-F238E27FC236}">
                <a16:creationId xmlns:a16="http://schemas.microsoft.com/office/drawing/2014/main" id="{4DB69906-AF31-1D20-8CB0-F42DD5C06B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28" name="Grafik 27" descr="Signal Silhouette">
            <a:extLst>
              <a:ext uri="{FF2B5EF4-FFF2-40B4-BE49-F238E27FC236}">
                <a16:creationId xmlns:a16="http://schemas.microsoft.com/office/drawing/2014/main" id="{3E7211A2-07F4-E23E-CA4B-483490E42DA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29" name="Grafik 28" descr="Glühbirne und Zahnrad Silhouette">
            <a:extLst>
              <a:ext uri="{FF2B5EF4-FFF2-40B4-BE49-F238E27FC236}">
                <a16:creationId xmlns:a16="http://schemas.microsoft.com/office/drawing/2014/main" id="{F692E06A-D416-A198-7E0E-79ADFA1249F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5AFDE51-99B6-27A0-5BCC-55D93743A06E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feil: Chevron 30">
            <a:extLst>
              <a:ext uri="{FF2B5EF4-FFF2-40B4-BE49-F238E27FC236}">
                <a16:creationId xmlns:a16="http://schemas.microsoft.com/office/drawing/2014/main" id="{E5A1B3ED-D0E5-675C-B522-3DFA143B52D7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8DF49517-6682-39C8-8EE1-CEAC120EA23D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B9F9D82-D66B-4AF0-3763-918285E03928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B7ADF2B4-B608-0C37-B27B-CCA6E2842DCA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Pfeil: Chevron 34">
            <a:extLst>
              <a:ext uri="{FF2B5EF4-FFF2-40B4-BE49-F238E27FC236}">
                <a16:creationId xmlns:a16="http://schemas.microsoft.com/office/drawing/2014/main" id="{E4AF708B-5F6D-A0C3-E9FC-18E04613161B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Fußzeilenplatzhalter 1">
            <a:extLst>
              <a:ext uri="{FF2B5EF4-FFF2-40B4-BE49-F238E27FC236}">
                <a16:creationId xmlns:a16="http://schemas.microsoft.com/office/drawing/2014/main" id="{4498DE67-801E-9224-EFA5-784153DD566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87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6EB0-0EE5-BB5F-D123-F5D91421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D943F1BD-EC35-68D0-0A48-16932BAABF0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35932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F80E41-3986-CD1B-C352-BE4F4F9168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7864F3-8C2E-C68B-22EB-2C8E9A47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24" y="8375657"/>
            <a:ext cx="4114800" cy="365125"/>
          </a:xfrm>
        </p:spPr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C5E117-7677-6D4B-14FB-E5C9061C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12</a:t>
            </a:fld>
            <a:endParaRPr lang="de-DE"/>
          </a:p>
        </p:txBody>
      </p:sp>
      <p:pic>
        <p:nvPicPr>
          <p:cNvPr id="13" name="Grafik 12" descr="Puzzleteile Silhouette">
            <a:extLst>
              <a:ext uri="{FF2B5EF4-FFF2-40B4-BE49-F238E27FC236}">
                <a16:creationId xmlns:a16="http://schemas.microsoft.com/office/drawing/2014/main" id="{39EE9095-45A0-2009-C73F-FB26CB6F59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188" y="2139831"/>
            <a:ext cx="2368891" cy="2368891"/>
          </a:xfrm>
          <a:prstGeom prst="rect">
            <a:avLst/>
          </a:prstGeom>
        </p:spPr>
      </p:pic>
      <p:pic>
        <p:nvPicPr>
          <p:cNvPr id="3" name="Grafik 2" descr="Puzzleteile Silhouette">
            <a:extLst>
              <a:ext uri="{FF2B5EF4-FFF2-40B4-BE49-F238E27FC236}">
                <a16:creationId xmlns:a16="http://schemas.microsoft.com/office/drawing/2014/main" id="{CE0CCA35-DE7E-0426-0DC3-406A10C45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7111" t="10552" r="10624" b="50000"/>
          <a:stretch>
            <a:fillRect/>
          </a:stretch>
        </p:blipFill>
        <p:spPr>
          <a:xfrm>
            <a:off x="5754508" y="2386154"/>
            <a:ext cx="1011814" cy="944360"/>
          </a:xfrm>
          <a:prstGeom prst="rect">
            <a:avLst/>
          </a:prstGeom>
        </p:spPr>
      </p:pic>
      <p:pic>
        <p:nvPicPr>
          <p:cNvPr id="20" name="Grafik 19" descr="Puzzleteile Silhouette">
            <a:extLst>
              <a:ext uri="{FF2B5EF4-FFF2-40B4-BE49-F238E27FC236}">
                <a16:creationId xmlns:a16="http://schemas.microsoft.com/office/drawing/2014/main" id="{A50746EE-8E6C-4C4E-7FBA-1B91BBC0F6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50000" t="46477" r="34584" b="46581"/>
          <a:stretch>
            <a:fillRect/>
          </a:stretch>
        </p:blipFill>
        <p:spPr>
          <a:xfrm>
            <a:off x="5823633" y="3241282"/>
            <a:ext cx="370415" cy="165987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EE6369A8-C0B2-ABD2-8AA2-D95FB517E1C1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40000"/>
          </a:blip>
          <a:stretch>
            <a:fillRect/>
          </a:stretch>
        </p:blipFill>
        <p:spPr>
          <a:xfrm>
            <a:off x="3406901" y="2892444"/>
            <a:ext cx="1432845" cy="454939"/>
          </a:xfrm>
          <a:prstGeom prst="rect">
            <a:avLst/>
          </a:prstGeom>
        </p:spPr>
      </p:pic>
      <p:pic>
        <p:nvPicPr>
          <p:cNvPr id="1026" name="Picture 2" descr="Campus Konzept Stuttgart e.V. (@campus.konzept) • Facebook">
            <a:extLst>
              <a:ext uri="{FF2B5EF4-FFF2-40B4-BE49-F238E27FC236}">
                <a16:creationId xmlns:a16="http://schemas.microsoft.com/office/drawing/2014/main" id="{792022BB-F2EF-C72A-3584-FF504B605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04" y="2259474"/>
            <a:ext cx="598860" cy="59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32F46914-77A7-E2C3-8AD4-73FF60DB8354}"/>
              </a:ext>
            </a:extLst>
          </p:cNvPr>
          <p:cNvSpPr txBox="1"/>
          <p:nvPr/>
        </p:nvSpPr>
        <p:spPr>
          <a:xfrm>
            <a:off x="3978691" y="2401416"/>
            <a:ext cx="1578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tx1">
                    <a:alpha val="39000"/>
                  </a:schemeClr>
                </a:solidFill>
              </a:rPr>
              <a:t>„Unity Spirit“</a:t>
            </a:r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A1ABD17F-47B9-948B-5F46-50647AD2E06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>
            <a:off x="4290009" y="1630265"/>
            <a:ext cx="770991" cy="760183"/>
          </a:xfrm>
          <a:prstGeom prst="rect">
            <a:avLst/>
          </a:prstGeom>
        </p:spPr>
      </p:pic>
      <p:pic>
        <p:nvPicPr>
          <p:cNvPr id="1028" name="Picture 4" descr="Hochschule Esslingen – Wikipedia">
            <a:extLst>
              <a:ext uri="{FF2B5EF4-FFF2-40B4-BE49-F238E27FC236}">
                <a16:creationId xmlns:a16="http://schemas.microsoft.com/office/drawing/2014/main" id="{39111447-D84C-4606-355A-5DD680834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217" y="4323519"/>
            <a:ext cx="1354318" cy="45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Grafik 57" descr="Handschlag Silhouette">
            <a:extLst>
              <a:ext uri="{FF2B5EF4-FFF2-40B4-BE49-F238E27FC236}">
                <a16:creationId xmlns:a16="http://schemas.microsoft.com/office/drawing/2014/main" id="{9B505537-902A-6CCF-BFD8-6E21C05674C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47221" y="4699775"/>
            <a:ext cx="815382" cy="815382"/>
          </a:xfrm>
          <a:prstGeom prst="rect">
            <a:avLst/>
          </a:prstGeom>
        </p:spPr>
      </p:pic>
      <p:pic>
        <p:nvPicPr>
          <p:cNvPr id="1035" name="Picture 8" descr="UNITY - Consulting &amp; Innovation (@unityconsultinginnovation) • Facebook">
            <a:extLst>
              <a:ext uri="{FF2B5EF4-FFF2-40B4-BE49-F238E27FC236}">
                <a16:creationId xmlns:a16="http://schemas.microsoft.com/office/drawing/2014/main" id="{59A57751-BF94-95B9-38AB-634A55EDD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282" y="5284341"/>
            <a:ext cx="537681" cy="53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Grafik 1041" descr="Benutzer Silhouette">
            <a:extLst>
              <a:ext uri="{FF2B5EF4-FFF2-40B4-BE49-F238E27FC236}">
                <a16:creationId xmlns:a16="http://schemas.microsoft.com/office/drawing/2014/main" id="{D97D275C-34D1-EC65-0B0F-F15684B984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65960" y="5218514"/>
            <a:ext cx="593286" cy="593286"/>
          </a:xfrm>
          <a:prstGeom prst="rect">
            <a:avLst/>
          </a:prstGeom>
        </p:spPr>
      </p:pic>
      <p:sp>
        <p:nvSpPr>
          <p:cNvPr id="1074" name="Textfeld 1073">
            <a:extLst>
              <a:ext uri="{FF2B5EF4-FFF2-40B4-BE49-F238E27FC236}">
                <a16:creationId xmlns:a16="http://schemas.microsoft.com/office/drawing/2014/main" id="{DDADBA1C-4888-33AC-33EA-878A5448C646}"/>
              </a:ext>
            </a:extLst>
          </p:cNvPr>
          <p:cNvSpPr txBox="1"/>
          <p:nvPr/>
        </p:nvSpPr>
        <p:spPr>
          <a:xfrm>
            <a:off x="613121" y="316503"/>
            <a:ext cx="6688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accent1"/>
                </a:solidFill>
              </a:rPr>
              <a:t>Warum möchte ich zu Unity?</a:t>
            </a:r>
          </a:p>
        </p:txBody>
      </p:sp>
      <p:sp>
        <p:nvSpPr>
          <p:cNvPr id="1075" name="Textfeld 1074">
            <a:extLst>
              <a:ext uri="{FF2B5EF4-FFF2-40B4-BE49-F238E27FC236}">
                <a16:creationId xmlns:a16="http://schemas.microsoft.com/office/drawing/2014/main" id="{38239DFC-657D-AA71-6DA8-6060810E2189}"/>
              </a:ext>
            </a:extLst>
          </p:cNvPr>
          <p:cNvSpPr txBox="1"/>
          <p:nvPr/>
        </p:nvSpPr>
        <p:spPr>
          <a:xfrm>
            <a:off x="494821" y="1869988"/>
            <a:ext cx="26720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>
                    <a:alpha val="39000"/>
                  </a:schemeClr>
                </a:solidFill>
              </a:rPr>
              <a:t>Personal Fit</a:t>
            </a:r>
            <a:br>
              <a:rPr lang="de-DE" dirty="0">
                <a:solidFill>
                  <a:schemeClr val="tx1">
                    <a:alpha val="39000"/>
                  </a:schemeClr>
                </a:solidFill>
              </a:rPr>
            </a:br>
            <a:r>
              <a:rPr lang="de-DE" dirty="0">
                <a:solidFill>
                  <a:schemeClr val="tx1">
                    <a:alpha val="39000"/>
                  </a:schemeClr>
                </a:solidFill>
              </a:rPr>
              <a:t>Fokus auf Wertschätzung      &amp; gemeinsamer Erfolg</a:t>
            </a:r>
          </a:p>
        </p:txBody>
      </p:sp>
      <p:sp>
        <p:nvSpPr>
          <p:cNvPr id="1076" name="Textfeld 1075">
            <a:extLst>
              <a:ext uri="{FF2B5EF4-FFF2-40B4-BE49-F238E27FC236}">
                <a16:creationId xmlns:a16="http://schemas.microsoft.com/office/drawing/2014/main" id="{68E9E0C3-B753-A284-2B4B-1C9DF4F26376}"/>
              </a:ext>
            </a:extLst>
          </p:cNvPr>
          <p:cNvSpPr txBox="1"/>
          <p:nvPr/>
        </p:nvSpPr>
        <p:spPr>
          <a:xfrm>
            <a:off x="407420" y="4550988"/>
            <a:ext cx="2892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/>
                </a:solidFill>
              </a:rPr>
              <a:t>Fachliche Relevanz </a:t>
            </a:r>
            <a:r>
              <a:rPr lang="de-DE" dirty="0"/>
              <a:t>Schnittstellenkompetenz Informatik, BWL &amp; Technik</a:t>
            </a:r>
          </a:p>
        </p:txBody>
      </p:sp>
      <p:sp>
        <p:nvSpPr>
          <p:cNvPr id="1080" name="Textfeld 1079">
            <a:extLst>
              <a:ext uri="{FF2B5EF4-FFF2-40B4-BE49-F238E27FC236}">
                <a16:creationId xmlns:a16="http://schemas.microsoft.com/office/drawing/2014/main" id="{82D90245-87C5-67B0-7D85-1E998AEFC811}"/>
              </a:ext>
            </a:extLst>
          </p:cNvPr>
          <p:cNvSpPr txBox="1"/>
          <p:nvPr/>
        </p:nvSpPr>
        <p:spPr>
          <a:xfrm>
            <a:off x="626373" y="675925"/>
            <a:ext cx="668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accent1"/>
                </a:solidFill>
              </a:rPr>
              <a:t>Der nächste logische Schritt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F5237CA-3DE6-0347-4D94-C4B32AF3FDF4}"/>
              </a:ext>
            </a:extLst>
          </p:cNvPr>
          <p:cNvSpPr/>
          <p:nvPr/>
        </p:nvSpPr>
        <p:spPr>
          <a:xfrm>
            <a:off x="5729862" y="2401416"/>
            <a:ext cx="1157655" cy="844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2BE07D-113D-1393-C326-D434026CF2D8}"/>
              </a:ext>
            </a:extLst>
          </p:cNvPr>
          <p:cNvSpPr/>
          <p:nvPr/>
        </p:nvSpPr>
        <p:spPr>
          <a:xfrm>
            <a:off x="6291659" y="3011579"/>
            <a:ext cx="481148" cy="367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495B82-C5F1-2F63-E371-6BFD268D7FCD}"/>
              </a:ext>
            </a:extLst>
          </p:cNvPr>
          <p:cNvSpPr/>
          <p:nvPr/>
        </p:nvSpPr>
        <p:spPr>
          <a:xfrm>
            <a:off x="5677577" y="3212594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7830EE5-8BFB-E712-03A1-6419FE184C53}"/>
              </a:ext>
            </a:extLst>
          </p:cNvPr>
          <p:cNvSpPr/>
          <p:nvPr/>
        </p:nvSpPr>
        <p:spPr>
          <a:xfrm rot="5400000">
            <a:off x="5823351" y="3640923"/>
            <a:ext cx="768390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E82CC89-510D-3A91-EFF6-95948B4A7F01}"/>
              </a:ext>
            </a:extLst>
          </p:cNvPr>
          <p:cNvSpPr/>
          <p:nvPr/>
        </p:nvSpPr>
        <p:spPr>
          <a:xfrm rot="5400000">
            <a:off x="5749812" y="4022555"/>
            <a:ext cx="274864" cy="42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Grafik 25" descr="Route zwei Stecknadeln mit Weg Silhouette">
            <a:extLst>
              <a:ext uri="{FF2B5EF4-FFF2-40B4-BE49-F238E27FC236}">
                <a16:creationId xmlns:a16="http://schemas.microsoft.com/office/drawing/2014/main" id="{974669A7-C215-E77F-D8CB-8BBE1DBEE9C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27" name="Grafik 26" descr="Volltreffer Silhouette">
            <a:extLst>
              <a:ext uri="{FF2B5EF4-FFF2-40B4-BE49-F238E27FC236}">
                <a16:creationId xmlns:a16="http://schemas.microsoft.com/office/drawing/2014/main" id="{DC1AA263-FA71-1705-D7DC-AF6CC91D59A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28" name="Grafik 27" descr="Signal Silhouette">
            <a:extLst>
              <a:ext uri="{FF2B5EF4-FFF2-40B4-BE49-F238E27FC236}">
                <a16:creationId xmlns:a16="http://schemas.microsoft.com/office/drawing/2014/main" id="{32EE0A0B-DF1B-8B4D-C672-A979894400D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29" name="Grafik 28" descr="Glühbirne und Zahnrad Silhouette">
            <a:extLst>
              <a:ext uri="{FF2B5EF4-FFF2-40B4-BE49-F238E27FC236}">
                <a16:creationId xmlns:a16="http://schemas.microsoft.com/office/drawing/2014/main" id="{2EA33690-6325-BC2D-D820-CA24AB0EB9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853BA47-B284-5D6E-B2CC-E9A0AEEE76B4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feil: Chevron 30">
            <a:extLst>
              <a:ext uri="{FF2B5EF4-FFF2-40B4-BE49-F238E27FC236}">
                <a16:creationId xmlns:a16="http://schemas.microsoft.com/office/drawing/2014/main" id="{3118D217-DD7F-0ECC-9938-FF8C4910BA42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FBB89B6-8B3E-38CB-D5F8-A0DFEAA8DBD8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1489885-024C-959F-5902-7C84457ECC85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56A3FE56-7A94-4BE6-57C5-088C3BF1AB62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Pfeil: Chevron 34">
            <a:extLst>
              <a:ext uri="{FF2B5EF4-FFF2-40B4-BE49-F238E27FC236}">
                <a16:creationId xmlns:a16="http://schemas.microsoft.com/office/drawing/2014/main" id="{EAAF33C9-DA0D-044A-C6C8-0F305D07C65E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Fußzeilenplatzhalter 1">
            <a:extLst>
              <a:ext uri="{FF2B5EF4-FFF2-40B4-BE49-F238E27FC236}">
                <a16:creationId xmlns:a16="http://schemas.microsoft.com/office/drawing/2014/main" id="{A09AFE4C-5087-A544-292F-FB0B8A0A6B2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235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BBEF7-2FC5-0B7F-286E-0ABE9456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44269B87-35D7-3B71-68E1-34C31E3DA82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5540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F80E41-3986-CD1B-C352-BE4F4F9168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146193-FC6C-BDF8-0C5E-1767C6A1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24" y="8375657"/>
            <a:ext cx="4114800" cy="365125"/>
          </a:xfrm>
        </p:spPr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471E88-5857-7EDD-4B65-A1CB8731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13</a:t>
            </a:fld>
            <a:endParaRPr lang="de-DE"/>
          </a:p>
        </p:txBody>
      </p:sp>
      <p:pic>
        <p:nvPicPr>
          <p:cNvPr id="13" name="Grafik 12" descr="Puzzleteile Silhouette">
            <a:extLst>
              <a:ext uri="{FF2B5EF4-FFF2-40B4-BE49-F238E27FC236}">
                <a16:creationId xmlns:a16="http://schemas.microsoft.com/office/drawing/2014/main" id="{96D3A1CD-7F75-3AC6-47DA-7687BDE2C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188" y="2139831"/>
            <a:ext cx="2368891" cy="2368891"/>
          </a:xfrm>
          <a:prstGeom prst="rect">
            <a:avLst/>
          </a:prstGeom>
        </p:spPr>
      </p:pic>
      <p:pic>
        <p:nvPicPr>
          <p:cNvPr id="3" name="Grafik 2" descr="Puzzleteile Silhouette">
            <a:extLst>
              <a:ext uri="{FF2B5EF4-FFF2-40B4-BE49-F238E27FC236}">
                <a16:creationId xmlns:a16="http://schemas.microsoft.com/office/drawing/2014/main" id="{8FD11E28-D93F-361A-220C-1C5B346C05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7111" t="10552" r="10624" b="50000"/>
          <a:stretch>
            <a:fillRect/>
          </a:stretch>
        </p:blipFill>
        <p:spPr>
          <a:xfrm>
            <a:off x="5754508" y="2386154"/>
            <a:ext cx="1011814" cy="944360"/>
          </a:xfrm>
          <a:prstGeom prst="rect">
            <a:avLst/>
          </a:prstGeom>
        </p:spPr>
      </p:pic>
      <p:pic>
        <p:nvPicPr>
          <p:cNvPr id="20" name="Grafik 19" descr="Puzzleteile Silhouette">
            <a:extLst>
              <a:ext uri="{FF2B5EF4-FFF2-40B4-BE49-F238E27FC236}">
                <a16:creationId xmlns:a16="http://schemas.microsoft.com/office/drawing/2014/main" id="{44EEC573-7620-5964-A3B4-32367F2C7E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50000" t="46477" r="34584" b="46581"/>
          <a:stretch>
            <a:fillRect/>
          </a:stretch>
        </p:blipFill>
        <p:spPr>
          <a:xfrm>
            <a:off x="5823633" y="3241282"/>
            <a:ext cx="370415" cy="165987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73FFA4C5-8DC3-7BF3-9EB6-29720FCE5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5224" y="4640442"/>
            <a:ext cx="1280326" cy="865713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84D88D4B-42E7-795D-8A6C-9D3CC236BF52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40000"/>
          </a:blip>
          <a:stretch>
            <a:fillRect/>
          </a:stretch>
        </p:blipFill>
        <p:spPr>
          <a:xfrm>
            <a:off x="3406901" y="2892444"/>
            <a:ext cx="1432845" cy="454939"/>
          </a:xfrm>
          <a:prstGeom prst="rect">
            <a:avLst/>
          </a:prstGeom>
        </p:spPr>
      </p:pic>
      <p:pic>
        <p:nvPicPr>
          <p:cNvPr id="1026" name="Picture 2" descr="Campus Konzept Stuttgart e.V. (@campus.konzept) • Facebook">
            <a:extLst>
              <a:ext uri="{FF2B5EF4-FFF2-40B4-BE49-F238E27FC236}">
                <a16:creationId xmlns:a16="http://schemas.microsoft.com/office/drawing/2014/main" id="{3B86BCC3-D543-CDF7-4EFE-E128C532E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04" y="2259474"/>
            <a:ext cx="598860" cy="59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447C01D8-7260-079A-0F35-4A694B5D4BAC}"/>
              </a:ext>
            </a:extLst>
          </p:cNvPr>
          <p:cNvSpPr txBox="1"/>
          <p:nvPr/>
        </p:nvSpPr>
        <p:spPr>
          <a:xfrm>
            <a:off x="3978691" y="2401416"/>
            <a:ext cx="1578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tx1">
                    <a:alpha val="39000"/>
                  </a:schemeClr>
                </a:solidFill>
              </a:rPr>
              <a:t>„Unity Spirit“</a:t>
            </a:r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8AF44F9A-DCD3-C485-19E1-C49B3A94E2F3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40000"/>
          </a:blip>
          <a:stretch>
            <a:fillRect/>
          </a:stretch>
        </p:blipFill>
        <p:spPr>
          <a:xfrm>
            <a:off x="4290009" y="1630265"/>
            <a:ext cx="770991" cy="760183"/>
          </a:xfrm>
          <a:prstGeom prst="rect">
            <a:avLst/>
          </a:prstGeom>
        </p:spPr>
      </p:pic>
      <p:pic>
        <p:nvPicPr>
          <p:cNvPr id="1028" name="Picture 4" descr="Hochschule Esslingen – Wikipedia">
            <a:extLst>
              <a:ext uri="{FF2B5EF4-FFF2-40B4-BE49-F238E27FC236}">
                <a16:creationId xmlns:a16="http://schemas.microsoft.com/office/drawing/2014/main" id="{9E2A2BB9-269E-62DD-D07A-E37BF29D5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217" y="4323519"/>
            <a:ext cx="1354318" cy="45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Grafik 57" descr="Handschlag Silhouette">
            <a:extLst>
              <a:ext uri="{FF2B5EF4-FFF2-40B4-BE49-F238E27FC236}">
                <a16:creationId xmlns:a16="http://schemas.microsoft.com/office/drawing/2014/main" id="{5E6C16B5-BBE6-F021-F578-199DE4559554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40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47221" y="4699775"/>
            <a:ext cx="815382" cy="815382"/>
          </a:xfrm>
          <a:prstGeom prst="rect">
            <a:avLst/>
          </a:prstGeom>
        </p:spPr>
      </p:pic>
      <p:pic>
        <p:nvPicPr>
          <p:cNvPr id="1035" name="Picture 8" descr="UNITY - Consulting &amp; Innovation (@unityconsultinginnovation) • Facebook">
            <a:extLst>
              <a:ext uri="{FF2B5EF4-FFF2-40B4-BE49-F238E27FC236}">
                <a16:creationId xmlns:a16="http://schemas.microsoft.com/office/drawing/2014/main" id="{F60A1A3D-48AF-435F-45BB-995ED0124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282" y="5284341"/>
            <a:ext cx="537681" cy="53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Grafik 1041" descr="Benutzer Silhouette">
            <a:extLst>
              <a:ext uri="{FF2B5EF4-FFF2-40B4-BE49-F238E27FC236}">
                <a16:creationId xmlns:a16="http://schemas.microsoft.com/office/drawing/2014/main" id="{8B6B94CC-A772-145A-3A5A-158260B1914B}"/>
              </a:ext>
            </a:extLst>
          </p:cNvPr>
          <p:cNvPicPr>
            <a:picLocks noChangeAspect="1"/>
          </p:cNvPicPr>
          <p:nvPr/>
        </p:nvPicPr>
        <p:blipFill>
          <a:blip r:embed="rId19">
            <a:alphaModFix amt="4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65960" y="5218514"/>
            <a:ext cx="593286" cy="593286"/>
          </a:xfrm>
          <a:prstGeom prst="rect">
            <a:avLst/>
          </a:prstGeom>
        </p:spPr>
      </p:pic>
      <p:sp>
        <p:nvSpPr>
          <p:cNvPr id="1074" name="Textfeld 1073">
            <a:extLst>
              <a:ext uri="{FF2B5EF4-FFF2-40B4-BE49-F238E27FC236}">
                <a16:creationId xmlns:a16="http://schemas.microsoft.com/office/drawing/2014/main" id="{F12DD150-43D8-4BC5-12AB-A6133CE45361}"/>
              </a:ext>
            </a:extLst>
          </p:cNvPr>
          <p:cNvSpPr txBox="1"/>
          <p:nvPr/>
        </p:nvSpPr>
        <p:spPr>
          <a:xfrm>
            <a:off x="613121" y="316503"/>
            <a:ext cx="6688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accent1"/>
                </a:solidFill>
              </a:rPr>
              <a:t>Warum möchte ich zu Unity?</a:t>
            </a:r>
          </a:p>
        </p:txBody>
      </p:sp>
      <p:sp>
        <p:nvSpPr>
          <p:cNvPr id="1075" name="Textfeld 1074">
            <a:extLst>
              <a:ext uri="{FF2B5EF4-FFF2-40B4-BE49-F238E27FC236}">
                <a16:creationId xmlns:a16="http://schemas.microsoft.com/office/drawing/2014/main" id="{D7CA71CF-EBA4-9D89-EEF6-AD625C4F3314}"/>
              </a:ext>
            </a:extLst>
          </p:cNvPr>
          <p:cNvSpPr txBox="1"/>
          <p:nvPr/>
        </p:nvSpPr>
        <p:spPr>
          <a:xfrm>
            <a:off x="494821" y="1869988"/>
            <a:ext cx="26720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>
                    <a:alpha val="39000"/>
                  </a:schemeClr>
                </a:solidFill>
              </a:rPr>
              <a:t>Personal Fit</a:t>
            </a:r>
            <a:br>
              <a:rPr lang="de-DE" dirty="0">
                <a:solidFill>
                  <a:schemeClr val="tx1">
                    <a:alpha val="39000"/>
                  </a:schemeClr>
                </a:solidFill>
              </a:rPr>
            </a:br>
            <a:r>
              <a:rPr lang="de-DE" dirty="0">
                <a:solidFill>
                  <a:schemeClr val="tx1">
                    <a:alpha val="39000"/>
                  </a:schemeClr>
                </a:solidFill>
              </a:rPr>
              <a:t>Fokus auf Wertschätzung      &amp; gemeinsamer Erfolg</a:t>
            </a:r>
          </a:p>
        </p:txBody>
      </p:sp>
      <p:sp>
        <p:nvSpPr>
          <p:cNvPr id="1076" name="Textfeld 1075">
            <a:extLst>
              <a:ext uri="{FF2B5EF4-FFF2-40B4-BE49-F238E27FC236}">
                <a16:creationId xmlns:a16="http://schemas.microsoft.com/office/drawing/2014/main" id="{F3787F92-DDFF-46D5-7F8C-13CD53A39497}"/>
              </a:ext>
            </a:extLst>
          </p:cNvPr>
          <p:cNvSpPr txBox="1"/>
          <p:nvPr/>
        </p:nvSpPr>
        <p:spPr>
          <a:xfrm>
            <a:off x="407420" y="4550988"/>
            <a:ext cx="2892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>
                    <a:alpha val="39000"/>
                  </a:schemeClr>
                </a:solidFill>
              </a:rPr>
              <a:t>Fachliche Relevanz </a:t>
            </a:r>
            <a:r>
              <a:rPr lang="de-DE" dirty="0">
                <a:solidFill>
                  <a:schemeClr val="tx1">
                    <a:alpha val="39000"/>
                  </a:schemeClr>
                </a:solidFill>
              </a:rPr>
              <a:t>Schnittstellenkompetenz Informatik, BWL &amp; Technik</a:t>
            </a:r>
          </a:p>
        </p:txBody>
      </p:sp>
      <p:sp>
        <p:nvSpPr>
          <p:cNvPr id="1080" name="Textfeld 1079">
            <a:extLst>
              <a:ext uri="{FF2B5EF4-FFF2-40B4-BE49-F238E27FC236}">
                <a16:creationId xmlns:a16="http://schemas.microsoft.com/office/drawing/2014/main" id="{18D017BE-C5BB-43D5-A608-2C448593BFD8}"/>
              </a:ext>
            </a:extLst>
          </p:cNvPr>
          <p:cNvSpPr txBox="1"/>
          <p:nvPr/>
        </p:nvSpPr>
        <p:spPr>
          <a:xfrm>
            <a:off x="626373" y="675925"/>
            <a:ext cx="668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accent1"/>
                </a:solidFill>
              </a:rPr>
              <a:t>Der nächste logische Schritt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8284D9A-AAD5-676E-C9E2-7AABB9F613E0}"/>
              </a:ext>
            </a:extLst>
          </p:cNvPr>
          <p:cNvSpPr/>
          <p:nvPr/>
        </p:nvSpPr>
        <p:spPr>
          <a:xfrm>
            <a:off x="5729862" y="2401416"/>
            <a:ext cx="1157655" cy="844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8CC1818-86C3-42B7-363B-6B91FAAC7F30}"/>
              </a:ext>
            </a:extLst>
          </p:cNvPr>
          <p:cNvSpPr/>
          <p:nvPr/>
        </p:nvSpPr>
        <p:spPr>
          <a:xfrm>
            <a:off x="6291659" y="3011579"/>
            <a:ext cx="481148" cy="367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8906FD9-92B0-72DC-1D07-206E95A50E79}"/>
              </a:ext>
            </a:extLst>
          </p:cNvPr>
          <p:cNvSpPr txBox="1"/>
          <p:nvPr/>
        </p:nvSpPr>
        <p:spPr>
          <a:xfrm>
            <a:off x="8510991" y="4590637"/>
            <a:ext cx="32043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/>
                </a:solidFill>
              </a:rPr>
              <a:t>Weiterbildung &amp; Expertise</a:t>
            </a:r>
            <a:endParaRPr lang="de-DE" sz="2000" dirty="0"/>
          </a:p>
          <a:p>
            <a:pPr algn="ctr"/>
            <a:r>
              <a:rPr lang="de-DE" dirty="0"/>
              <a:t>Unity Academy &amp;                             „best of Consulting“ award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8F20756-2F3A-835F-784E-713EA35CAA1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32194" y="3473734"/>
            <a:ext cx="1190639" cy="722825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909C92F5-BBDB-88FD-E289-17D7363F108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20618" y="4238883"/>
            <a:ext cx="1328633" cy="573410"/>
          </a:xfrm>
          <a:prstGeom prst="rect">
            <a:avLst/>
          </a:prstGeom>
        </p:spPr>
      </p:pic>
      <p:pic>
        <p:nvPicPr>
          <p:cNvPr id="28" name="Grafik 27" descr="Route zwei Stecknadeln mit Weg Silhouette">
            <a:extLst>
              <a:ext uri="{FF2B5EF4-FFF2-40B4-BE49-F238E27FC236}">
                <a16:creationId xmlns:a16="http://schemas.microsoft.com/office/drawing/2014/main" id="{1675F7B0-CF55-8512-6F35-79EFD96A4D1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29" name="Grafik 28" descr="Volltreffer Silhouette">
            <a:extLst>
              <a:ext uri="{FF2B5EF4-FFF2-40B4-BE49-F238E27FC236}">
                <a16:creationId xmlns:a16="http://schemas.microsoft.com/office/drawing/2014/main" id="{315DAA49-6360-159E-2224-ADA1D50DB80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30" name="Grafik 29" descr="Signal Silhouette">
            <a:extLst>
              <a:ext uri="{FF2B5EF4-FFF2-40B4-BE49-F238E27FC236}">
                <a16:creationId xmlns:a16="http://schemas.microsoft.com/office/drawing/2014/main" id="{699A9FB5-F542-A16B-7471-1AC3DBC0C99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31" name="Grafik 30" descr="Glühbirne und Zahnrad Silhouette">
            <a:extLst>
              <a:ext uri="{FF2B5EF4-FFF2-40B4-BE49-F238E27FC236}">
                <a16:creationId xmlns:a16="http://schemas.microsoft.com/office/drawing/2014/main" id="{238D16EE-C368-C90A-2DAD-8182BAE5603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007D172-4C0C-21AB-483A-7B07DC7D1ADD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feil: Chevron 32">
            <a:extLst>
              <a:ext uri="{FF2B5EF4-FFF2-40B4-BE49-F238E27FC236}">
                <a16:creationId xmlns:a16="http://schemas.microsoft.com/office/drawing/2014/main" id="{54A37E53-394F-47D6-E37F-4A05921387B0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C4FB475-C1A4-B14C-82F5-FDA83A55C6D5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9080E2A0-6D91-A4C8-C8C5-5B30A948AB5B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feil: Chevron 35">
            <a:extLst>
              <a:ext uri="{FF2B5EF4-FFF2-40B4-BE49-F238E27FC236}">
                <a16:creationId xmlns:a16="http://schemas.microsoft.com/office/drawing/2014/main" id="{B3AF0218-CFD3-17CA-FFE0-9DF3CEE6918D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061E7865-77FC-53A7-C0A3-1BDCA2FBCE59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Fußzeilenplatzhalter 1">
            <a:extLst>
              <a:ext uri="{FF2B5EF4-FFF2-40B4-BE49-F238E27FC236}">
                <a16:creationId xmlns:a16="http://schemas.microsoft.com/office/drawing/2014/main" id="{E8FABF9D-07E7-97AF-72BB-575B8D7C394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1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2E627-9039-8FAA-0E03-8324DACD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8760114B-7395-363A-F5F0-D71A18C8C20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2110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F80E41-3986-CD1B-C352-BE4F4F9168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36BEE1-DBD9-EBC5-B609-2457EA66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24" y="8375657"/>
            <a:ext cx="4114800" cy="365125"/>
          </a:xfrm>
        </p:spPr>
        <p:txBody>
          <a:bodyPr/>
          <a:lstStyle/>
          <a:p>
            <a:r>
              <a:rPr lang="de-DE"/>
              <a:t>Datum | Euer Name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6A0288-7C26-379C-932B-926A4504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14</a:t>
            </a:fld>
            <a:endParaRPr lang="de-DE" dirty="0"/>
          </a:p>
        </p:txBody>
      </p:sp>
      <p:pic>
        <p:nvPicPr>
          <p:cNvPr id="13" name="Grafik 12" descr="Puzzleteile Silhouette">
            <a:extLst>
              <a:ext uri="{FF2B5EF4-FFF2-40B4-BE49-F238E27FC236}">
                <a16:creationId xmlns:a16="http://schemas.microsoft.com/office/drawing/2014/main" id="{D0890BAB-DE76-D9F3-E23E-6B0D3F595C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188" y="2139831"/>
            <a:ext cx="2368891" cy="2368891"/>
          </a:xfrm>
          <a:prstGeom prst="rect">
            <a:avLst/>
          </a:prstGeom>
        </p:spPr>
      </p:pic>
      <p:pic>
        <p:nvPicPr>
          <p:cNvPr id="3" name="Grafik 2" descr="Puzzleteile Silhouette">
            <a:extLst>
              <a:ext uri="{FF2B5EF4-FFF2-40B4-BE49-F238E27FC236}">
                <a16:creationId xmlns:a16="http://schemas.microsoft.com/office/drawing/2014/main" id="{CB2D53C6-EB5F-4A64-C3AE-F62BC35734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7111" t="10552" r="10624" b="50000"/>
          <a:stretch>
            <a:fillRect/>
          </a:stretch>
        </p:blipFill>
        <p:spPr>
          <a:xfrm>
            <a:off x="5754508" y="2386154"/>
            <a:ext cx="1011814" cy="944360"/>
          </a:xfrm>
          <a:prstGeom prst="rect">
            <a:avLst/>
          </a:prstGeom>
        </p:spPr>
      </p:pic>
      <p:pic>
        <p:nvPicPr>
          <p:cNvPr id="20" name="Grafik 19" descr="Puzzleteile Silhouette">
            <a:extLst>
              <a:ext uri="{FF2B5EF4-FFF2-40B4-BE49-F238E27FC236}">
                <a16:creationId xmlns:a16="http://schemas.microsoft.com/office/drawing/2014/main" id="{32183B6B-B414-DF93-C45A-71299650FC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50000" t="46477" r="34584" b="46581"/>
          <a:stretch>
            <a:fillRect/>
          </a:stretch>
        </p:blipFill>
        <p:spPr>
          <a:xfrm>
            <a:off x="5823633" y="3241282"/>
            <a:ext cx="370415" cy="165987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1621C0BB-4D4F-78B2-213E-C10E419C9EEC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5911280" y="4539544"/>
            <a:ext cx="1280326" cy="865713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ACBA525A-739A-A2EC-BDED-66F498FB9E5C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>
            <a:off x="3406901" y="2892444"/>
            <a:ext cx="1432845" cy="454939"/>
          </a:xfrm>
          <a:prstGeom prst="rect">
            <a:avLst/>
          </a:prstGeom>
        </p:spPr>
      </p:pic>
      <p:pic>
        <p:nvPicPr>
          <p:cNvPr id="1026" name="Picture 2" descr="Campus Konzept Stuttgart e.V. (@campus.konzept) • Facebook">
            <a:extLst>
              <a:ext uri="{FF2B5EF4-FFF2-40B4-BE49-F238E27FC236}">
                <a16:creationId xmlns:a16="http://schemas.microsoft.com/office/drawing/2014/main" id="{CD1845A3-35E4-AF2A-0F17-012FC7845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04" y="2259474"/>
            <a:ext cx="598860" cy="59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AE931C6F-97E2-5A85-5112-F5834636CD79}"/>
              </a:ext>
            </a:extLst>
          </p:cNvPr>
          <p:cNvSpPr txBox="1"/>
          <p:nvPr/>
        </p:nvSpPr>
        <p:spPr>
          <a:xfrm>
            <a:off x="3978691" y="2401416"/>
            <a:ext cx="1578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„Unity Spirit“</a:t>
            </a:r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643AE6D1-D62B-A403-3FFC-4E89DC2E54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70000"/>
          </a:blip>
          <a:stretch>
            <a:fillRect/>
          </a:stretch>
        </p:blipFill>
        <p:spPr>
          <a:xfrm>
            <a:off x="4290009" y="1630265"/>
            <a:ext cx="770991" cy="760183"/>
          </a:xfrm>
          <a:prstGeom prst="rect">
            <a:avLst/>
          </a:prstGeom>
        </p:spPr>
      </p:pic>
      <p:pic>
        <p:nvPicPr>
          <p:cNvPr id="1028" name="Picture 4" descr="Hochschule Esslingen – Wikipedia">
            <a:extLst>
              <a:ext uri="{FF2B5EF4-FFF2-40B4-BE49-F238E27FC236}">
                <a16:creationId xmlns:a16="http://schemas.microsoft.com/office/drawing/2014/main" id="{19E73861-ED24-934E-5045-3A6B8E9B4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217" y="4323519"/>
            <a:ext cx="1354318" cy="45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Grafik 57" descr="Handschlag Silhouette">
            <a:extLst>
              <a:ext uri="{FF2B5EF4-FFF2-40B4-BE49-F238E27FC236}">
                <a16:creationId xmlns:a16="http://schemas.microsoft.com/office/drawing/2014/main" id="{50428EED-CAE2-144E-8166-A1BD38A32E2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47221" y="4699775"/>
            <a:ext cx="815382" cy="815382"/>
          </a:xfrm>
          <a:prstGeom prst="rect">
            <a:avLst/>
          </a:prstGeom>
        </p:spPr>
      </p:pic>
      <p:pic>
        <p:nvPicPr>
          <p:cNvPr id="1035" name="Picture 8" descr="UNITY - Consulting &amp; Innovation (@unityconsultinginnovation) • Facebook">
            <a:extLst>
              <a:ext uri="{FF2B5EF4-FFF2-40B4-BE49-F238E27FC236}">
                <a16:creationId xmlns:a16="http://schemas.microsoft.com/office/drawing/2014/main" id="{1B4CDEE3-B0F1-DC22-C2B8-527969ECD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282" y="5284341"/>
            <a:ext cx="537681" cy="53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Grafik 1041" descr="Benutzer Silhouette">
            <a:extLst>
              <a:ext uri="{FF2B5EF4-FFF2-40B4-BE49-F238E27FC236}">
                <a16:creationId xmlns:a16="http://schemas.microsoft.com/office/drawing/2014/main" id="{0DF659A8-5DD1-7CB9-900D-A831EC5A6865}"/>
              </a:ext>
            </a:extLst>
          </p:cNvPr>
          <p:cNvPicPr>
            <a:picLocks noChangeAspect="1"/>
          </p:cNvPicPr>
          <p:nvPr/>
        </p:nvPicPr>
        <p:blipFill>
          <a:blip r:embed="rId19">
            <a:alphaModFix amt="7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65960" y="5218514"/>
            <a:ext cx="593286" cy="593286"/>
          </a:xfrm>
          <a:prstGeom prst="rect">
            <a:avLst/>
          </a:prstGeom>
        </p:spPr>
      </p:pic>
      <p:sp>
        <p:nvSpPr>
          <p:cNvPr id="1073" name="Textfeld 1072">
            <a:extLst>
              <a:ext uri="{FF2B5EF4-FFF2-40B4-BE49-F238E27FC236}">
                <a16:creationId xmlns:a16="http://schemas.microsoft.com/office/drawing/2014/main" id="{61E911C3-DF16-C110-DD50-9A3F4E196264}"/>
              </a:ext>
            </a:extLst>
          </p:cNvPr>
          <p:cNvSpPr txBox="1"/>
          <p:nvPr/>
        </p:nvSpPr>
        <p:spPr>
          <a:xfrm>
            <a:off x="8510991" y="1906648"/>
            <a:ext cx="320436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 </a:t>
            </a:r>
            <a:r>
              <a:rPr lang="de-DE" sz="2000" b="1" dirty="0">
                <a:solidFill>
                  <a:schemeClr val="accent1"/>
                </a:solidFill>
              </a:rPr>
              <a:t>Das Beste aus 3 Welten</a:t>
            </a:r>
          </a:p>
          <a:p>
            <a:pPr algn="ctr"/>
            <a:r>
              <a:rPr lang="de-DE" dirty="0"/>
              <a:t>Bei Unity darf ich mich fachlich, persönlich und intellektuell weiterbilden</a:t>
            </a:r>
            <a:endParaRPr lang="de-DE" sz="1600" dirty="0"/>
          </a:p>
        </p:txBody>
      </p:sp>
      <p:sp>
        <p:nvSpPr>
          <p:cNvPr id="1074" name="Textfeld 1073">
            <a:extLst>
              <a:ext uri="{FF2B5EF4-FFF2-40B4-BE49-F238E27FC236}">
                <a16:creationId xmlns:a16="http://schemas.microsoft.com/office/drawing/2014/main" id="{2E08C0DB-DD7F-AC05-E2C9-791A5914C7D5}"/>
              </a:ext>
            </a:extLst>
          </p:cNvPr>
          <p:cNvSpPr txBox="1"/>
          <p:nvPr/>
        </p:nvSpPr>
        <p:spPr>
          <a:xfrm>
            <a:off x="613121" y="316503"/>
            <a:ext cx="6688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accent1"/>
                </a:solidFill>
              </a:rPr>
              <a:t>Warum möchte ich zu Unity?</a:t>
            </a:r>
          </a:p>
        </p:txBody>
      </p:sp>
      <p:sp>
        <p:nvSpPr>
          <p:cNvPr id="1075" name="Textfeld 1074">
            <a:extLst>
              <a:ext uri="{FF2B5EF4-FFF2-40B4-BE49-F238E27FC236}">
                <a16:creationId xmlns:a16="http://schemas.microsoft.com/office/drawing/2014/main" id="{ABF6281D-9B6D-DEA3-A064-6CC7BB870983}"/>
              </a:ext>
            </a:extLst>
          </p:cNvPr>
          <p:cNvSpPr txBox="1"/>
          <p:nvPr/>
        </p:nvSpPr>
        <p:spPr>
          <a:xfrm>
            <a:off x="494821" y="1869988"/>
            <a:ext cx="26720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>
                    <a:alpha val="70000"/>
                  </a:schemeClr>
                </a:solidFill>
              </a:rPr>
              <a:t>Personal Fit</a:t>
            </a:r>
            <a:br>
              <a:rPr lang="de-DE" dirty="0">
                <a:solidFill>
                  <a:schemeClr val="tx1">
                    <a:alpha val="70000"/>
                  </a:schemeClr>
                </a:solidFill>
              </a:rPr>
            </a:br>
            <a:r>
              <a:rPr lang="de-DE" dirty="0">
                <a:solidFill>
                  <a:schemeClr val="tx1">
                    <a:alpha val="70000"/>
                  </a:schemeClr>
                </a:solidFill>
              </a:rPr>
              <a:t>Fokus auf Wertschätzung      &amp; gemeinsamer Erfolg</a:t>
            </a:r>
          </a:p>
        </p:txBody>
      </p:sp>
      <p:sp>
        <p:nvSpPr>
          <p:cNvPr id="1076" name="Textfeld 1075">
            <a:extLst>
              <a:ext uri="{FF2B5EF4-FFF2-40B4-BE49-F238E27FC236}">
                <a16:creationId xmlns:a16="http://schemas.microsoft.com/office/drawing/2014/main" id="{A11BCCFC-A7DC-C16C-A9A6-1B3989B0143B}"/>
              </a:ext>
            </a:extLst>
          </p:cNvPr>
          <p:cNvSpPr txBox="1"/>
          <p:nvPr/>
        </p:nvSpPr>
        <p:spPr>
          <a:xfrm>
            <a:off x="407420" y="4550988"/>
            <a:ext cx="2892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>
                    <a:alpha val="70000"/>
                  </a:schemeClr>
                </a:solidFill>
              </a:rPr>
              <a:t>Fachliche Relevanz </a:t>
            </a:r>
            <a:r>
              <a:rPr lang="de-DE" dirty="0">
                <a:solidFill>
                  <a:schemeClr val="tx1">
                    <a:alpha val="70000"/>
                  </a:schemeClr>
                </a:solidFill>
              </a:rPr>
              <a:t>Schnittstellenkompetenz Informatik, BWL &amp; Technik</a:t>
            </a:r>
          </a:p>
        </p:txBody>
      </p:sp>
      <p:sp>
        <p:nvSpPr>
          <p:cNvPr id="1077" name="Textfeld 1076">
            <a:extLst>
              <a:ext uri="{FF2B5EF4-FFF2-40B4-BE49-F238E27FC236}">
                <a16:creationId xmlns:a16="http://schemas.microsoft.com/office/drawing/2014/main" id="{1D959C02-2500-CBCA-B248-94F47B137689}"/>
              </a:ext>
            </a:extLst>
          </p:cNvPr>
          <p:cNvSpPr txBox="1"/>
          <p:nvPr/>
        </p:nvSpPr>
        <p:spPr>
          <a:xfrm>
            <a:off x="8510991" y="4590637"/>
            <a:ext cx="32043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1">
                    <a:alpha val="70000"/>
                  </a:schemeClr>
                </a:solidFill>
              </a:rPr>
              <a:t>Weiterbildung &amp; Expertise</a:t>
            </a:r>
            <a:endParaRPr lang="de-DE" sz="2000" dirty="0">
              <a:solidFill>
                <a:schemeClr val="tx1">
                  <a:alpha val="70000"/>
                </a:schemeClr>
              </a:solidFill>
            </a:endParaRPr>
          </a:p>
          <a:p>
            <a:pPr algn="ctr"/>
            <a:r>
              <a:rPr lang="de-DE" dirty="0">
                <a:solidFill>
                  <a:schemeClr val="tx1">
                    <a:alpha val="70000"/>
                  </a:schemeClr>
                </a:solidFill>
              </a:rPr>
              <a:t>Unity Academy &amp;                             „best of Consulting“ award</a:t>
            </a:r>
          </a:p>
        </p:txBody>
      </p:sp>
      <p:sp>
        <p:nvSpPr>
          <p:cNvPr id="1080" name="Textfeld 1079">
            <a:extLst>
              <a:ext uri="{FF2B5EF4-FFF2-40B4-BE49-F238E27FC236}">
                <a16:creationId xmlns:a16="http://schemas.microsoft.com/office/drawing/2014/main" id="{46A38BF6-B652-CB16-24EF-5E3B7FE657B6}"/>
              </a:ext>
            </a:extLst>
          </p:cNvPr>
          <p:cNvSpPr txBox="1"/>
          <p:nvPr/>
        </p:nvSpPr>
        <p:spPr>
          <a:xfrm>
            <a:off x="626373" y="675925"/>
            <a:ext cx="668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accent1"/>
                </a:solidFill>
              </a:rPr>
              <a:t>Der nächste logische Schritt</a:t>
            </a:r>
          </a:p>
        </p:txBody>
      </p:sp>
      <p:pic>
        <p:nvPicPr>
          <p:cNvPr id="14" name="Picture 10" descr="MediaPark Köln - UNITY AG">
            <a:extLst>
              <a:ext uri="{FF2B5EF4-FFF2-40B4-BE49-F238E27FC236}">
                <a16:creationId xmlns:a16="http://schemas.microsoft.com/office/drawing/2014/main" id="{296C2194-4882-83A2-A5E9-079097E50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843" y="2116885"/>
            <a:ext cx="1328633" cy="46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1D75B4F-4A2A-CD80-50F0-7EFE73D6D6B6}"/>
              </a:ext>
            </a:extLst>
          </p:cNvPr>
          <p:cNvPicPr>
            <a:picLocks noChangeAspect="1"/>
          </p:cNvPicPr>
          <p:nvPr/>
        </p:nvPicPr>
        <p:blipFill>
          <a:blip r:embed="rId22">
            <a:alphaModFix amt="70000"/>
          </a:blip>
          <a:stretch>
            <a:fillRect/>
          </a:stretch>
        </p:blipFill>
        <p:spPr>
          <a:xfrm>
            <a:off x="6732194" y="3473734"/>
            <a:ext cx="1190639" cy="722825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BC8D8368-FF10-E64C-EEB8-62702C6CD864}"/>
              </a:ext>
            </a:extLst>
          </p:cNvPr>
          <p:cNvPicPr>
            <a:picLocks noChangeAspect="1"/>
          </p:cNvPicPr>
          <p:nvPr/>
        </p:nvPicPr>
        <p:blipFill>
          <a:blip r:embed="rId23">
            <a:alphaModFix amt="70000"/>
          </a:blip>
          <a:stretch>
            <a:fillRect/>
          </a:stretch>
        </p:blipFill>
        <p:spPr>
          <a:xfrm>
            <a:off x="7077507" y="4126365"/>
            <a:ext cx="1328633" cy="573410"/>
          </a:xfrm>
          <a:prstGeom prst="rect">
            <a:avLst/>
          </a:prstGeom>
        </p:spPr>
      </p:pic>
      <p:pic>
        <p:nvPicPr>
          <p:cNvPr id="29" name="Grafik 28" descr="Route zwei Stecknadeln mit Weg Silhouette">
            <a:extLst>
              <a:ext uri="{FF2B5EF4-FFF2-40B4-BE49-F238E27FC236}">
                <a16:creationId xmlns:a16="http://schemas.microsoft.com/office/drawing/2014/main" id="{29270863-818D-F41F-4FE1-136EB65DA6A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30" name="Grafik 29" descr="Volltreffer Silhouette">
            <a:extLst>
              <a:ext uri="{FF2B5EF4-FFF2-40B4-BE49-F238E27FC236}">
                <a16:creationId xmlns:a16="http://schemas.microsoft.com/office/drawing/2014/main" id="{18AB0EE4-8AE5-AC86-71C3-2A8F78306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31" name="Grafik 30" descr="Signal Silhouette">
            <a:extLst>
              <a:ext uri="{FF2B5EF4-FFF2-40B4-BE49-F238E27FC236}">
                <a16:creationId xmlns:a16="http://schemas.microsoft.com/office/drawing/2014/main" id="{95930FD5-465E-6A0D-179B-923BA763339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32" name="Grafik 31" descr="Glühbirne und Zahnrad Silhouette">
            <a:extLst>
              <a:ext uri="{FF2B5EF4-FFF2-40B4-BE49-F238E27FC236}">
                <a16:creationId xmlns:a16="http://schemas.microsoft.com/office/drawing/2014/main" id="{20BE4241-A80E-7E64-E081-ACF15FA6FBB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817898" y="350895"/>
            <a:ext cx="535902" cy="535902"/>
          </a:xfrm>
          <a:prstGeom prst="rect">
            <a:avLst/>
          </a:prstGeom>
        </p:spPr>
      </p:pic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C938B13-F868-B98E-BD1D-37CD4C7BA204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E0B1D61E-EE2C-318F-A56A-9B797B7F86F4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5F85B39-67DF-0771-2A83-8877CC012BB1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8DD91AF-DBDB-EF35-94A3-AB708144A40E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ADA0A2AA-8336-E341-4C3C-2E5BDE4C178A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Pfeil: Chevron 37">
            <a:extLst>
              <a:ext uri="{FF2B5EF4-FFF2-40B4-BE49-F238E27FC236}">
                <a16:creationId xmlns:a16="http://schemas.microsoft.com/office/drawing/2014/main" id="{6F05D028-34CB-57C3-5A57-90E6F7377829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A865860-467E-C4CD-06FF-D38EA8DE4DB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>
                <a:solidFill>
                  <a:schemeClr val="bg2">
                    <a:lumMod val="75000"/>
                  </a:schemeClr>
                </a:solidFill>
              </a:rPr>
              <a:t>Datum | Euer Name</a:t>
            </a:r>
            <a:endParaRPr lang="de-DE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185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DD94454-8B80-F593-6943-5E48C59B51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36199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hteck 34">
            <a:extLst>
              <a:ext uri="{FF2B5EF4-FFF2-40B4-BE49-F238E27FC236}">
                <a16:creationId xmlns:a16="http://schemas.microsoft.com/office/drawing/2014/main" id="{324E137F-3314-FA88-3D61-71DFDDA08418}"/>
              </a:ext>
            </a:extLst>
          </p:cNvPr>
          <p:cNvSpPr/>
          <p:nvPr/>
        </p:nvSpPr>
        <p:spPr>
          <a:xfrm>
            <a:off x="8279902" y="1371600"/>
            <a:ext cx="3517891" cy="4501366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F834C56-3557-0D06-4F5D-3BDFF5C3A5F0}"/>
              </a:ext>
            </a:extLst>
          </p:cNvPr>
          <p:cNvSpPr/>
          <p:nvPr/>
        </p:nvSpPr>
        <p:spPr>
          <a:xfrm>
            <a:off x="4324346" y="1371600"/>
            <a:ext cx="3517891" cy="4501366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7AF20CC-8EDA-D0BB-362E-2C0111812C49}"/>
              </a:ext>
            </a:extLst>
          </p:cNvPr>
          <p:cNvSpPr/>
          <p:nvPr/>
        </p:nvSpPr>
        <p:spPr>
          <a:xfrm>
            <a:off x="419101" y="1371600"/>
            <a:ext cx="3517891" cy="4501366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21BB44-CB22-BFEF-BD24-652BE3FB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15C169-2686-0F61-0E5C-C675D4C7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15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B99AA18-07C0-BCA6-576A-EA84539218D7}"/>
              </a:ext>
            </a:extLst>
          </p:cNvPr>
          <p:cNvSpPr txBox="1"/>
          <p:nvPr/>
        </p:nvSpPr>
        <p:spPr>
          <a:xfrm>
            <a:off x="613121" y="316503"/>
            <a:ext cx="8325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accent1"/>
                </a:solidFill>
              </a:rPr>
              <a:t>Meine Ziele &amp; Erwartungen für ein gutes Praktikum</a:t>
            </a:r>
          </a:p>
        </p:txBody>
      </p:sp>
      <p:pic>
        <p:nvPicPr>
          <p:cNvPr id="9" name="Grafik 8" descr="Kopf mit Zahnrädern Silhouette">
            <a:extLst>
              <a:ext uri="{FF2B5EF4-FFF2-40B4-BE49-F238E27FC236}">
                <a16:creationId xmlns:a16="http://schemas.microsoft.com/office/drawing/2014/main" id="{5DD7B17A-7FEC-5C6A-439D-C675162D45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8500" y="1511300"/>
            <a:ext cx="1168400" cy="1168400"/>
          </a:xfrm>
          <a:prstGeom prst="rect">
            <a:avLst/>
          </a:prstGeom>
        </p:spPr>
      </p:pic>
      <p:pic>
        <p:nvPicPr>
          <p:cNvPr id="11" name="Grafik 10" descr="Besprechung Silhouette">
            <a:extLst>
              <a:ext uri="{FF2B5EF4-FFF2-40B4-BE49-F238E27FC236}">
                <a16:creationId xmlns:a16="http://schemas.microsoft.com/office/drawing/2014/main" id="{1CC6E24B-ABF4-8A33-610B-5169E0C3ED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1301" y="1409700"/>
            <a:ext cx="1371600" cy="1371600"/>
          </a:xfrm>
          <a:prstGeom prst="rect">
            <a:avLst/>
          </a:prstGeom>
        </p:spPr>
      </p:pic>
      <p:pic>
        <p:nvPicPr>
          <p:cNvPr id="13" name="Grafik 12" descr="Präsentation mit Balkendiagramm Silhouette">
            <a:extLst>
              <a:ext uri="{FF2B5EF4-FFF2-40B4-BE49-F238E27FC236}">
                <a16:creationId xmlns:a16="http://schemas.microsoft.com/office/drawing/2014/main" id="{51F35405-25AF-9103-3271-606D173343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5100" y="1371600"/>
            <a:ext cx="1549400" cy="1549400"/>
          </a:xfrm>
          <a:prstGeom prst="rect">
            <a:avLst/>
          </a:prstGeom>
        </p:spPr>
      </p:pic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726923E-C5AF-E37C-1315-71EC91ACECBF}"/>
              </a:ext>
            </a:extLst>
          </p:cNvPr>
          <p:cNvCxnSpPr/>
          <p:nvPr/>
        </p:nvCxnSpPr>
        <p:spPr>
          <a:xfrm>
            <a:off x="4127500" y="1803400"/>
            <a:ext cx="0" cy="39751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BBE122A-521F-5A91-3EEE-6E3D77DB9807}"/>
              </a:ext>
            </a:extLst>
          </p:cNvPr>
          <p:cNvCxnSpPr/>
          <p:nvPr/>
        </p:nvCxnSpPr>
        <p:spPr>
          <a:xfrm>
            <a:off x="8051800" y="1806576"/>
            <a:ext cx="0" cy="39751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4F92D35D-F6FF-BB15-9E3C-FA77DFD9D93B}"/>
              </a:ext>
            </a:extLst>
          </p:cNvPr>
          <p:cNvSpPr txBox="1"/>
          <p:nvPr/>
        </p:nvSpPr>
        <p:spPr>
          <a:xfrm>
            <a:off x="533401" y="2933700"/>
            <a:ext cx="3276596" cy="29392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Praxiserfahrung sammeln</a:t>
            </a:r>
          </a:p>
          <a:p>
            <a:pPr algn="ctr">
              <a:spcBef>
                <a:spcPts val="600"/>
              </a:spcBef>
            </a:pPr>
            <a:r>
              <a:rPr lang="de-DE" sz="1600" dirty="0">
                <a:solidFill>
                  <a:schemeClr val="bg1"/>
                </a:solidFill>
              </a:rPr>
              <a:t>Teilnahme an 2 Beratungsprojekten</a:t>
            </a:r>
          </a:p>
          <a:p>
            <a:pPr algn="ctr"/>
            <a:endParaRPr lang="de-DE" sz="1600" dirty="0"/>
          </a:p>
          <a:p>
            <a:pPr algn="ctr"/>
            <a:endParaRPr lang="de-DE" sz="1600" dirty="0"/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… um umfangreiche praktische Erfahrung mit theoretischem Wissen zu verknüpfen und somit auf den Festeinstieg vorbereitet zu sein.</a:t>
            </a:r>
          </a:p>
          <a:p>
            <a:pPr algn="ctr"/>
            <a:endParaRPr lang="de-DE" sz="1600" dirty="0"/>
          </a:p>
          <a:p>
            <a:pPr algn="ctr"/>
            <a:endParaRPr lang="de-DE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CF3B669-F16E-553B-744B-61E66FDBC325}"/>
              </a:ext>
            </a:extLst>
          </p:cNvPr>
          <p:cNvSpPr txBox="1"/>
          <p:nvPr/>
        </p:nvSpPr>
        <p:spPr>
          <a:xfrm>
            <a:off x="4432304" y="2933700"/>
            <a:ext cx="3276596" cy="26622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Einbindung ins Projektteam</a:t>
            </a:r>
          </a:p>
          <a:p>
            <a:pPr algn="ctr">
              <a:spcBef>
                <a:spcPts val="600"/>
              </a:spcBef>
            </a:pPr>
            <a:r>
              <a:rPr lang="de-DE" sz="1600" dirty="0">
                <a:solidFill>
                  <a:schemeClr val="bg1"/>
                </a:solidFill>
              </a:rPr>
              <a:t>Integration in alle Projektphasen</a:t>
            </a:r>
          </a:p>
          <a:p>
            <a:pPr algn="ctr"/>
            <a:endParaRPr lang="de-DE" sz="1600" dirty="0">
              <a:solidFill>
                <a:schemeClr val="bg1"/>
              </a:solidFill>
            </a:endParaRPr>
          </a:p>
          <a:p>
            <a:pPr algn="ctr"/>
            <a:endParaRPr lang="de-DE" sz="1600" dirty="0">
              <a:solidFill>
                <a:schemeClr val="bg1"/>
              </a:solidFill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… um wichtige Erfahrung zu sammeln – von der Planung und Konzeption bis zur Durchführung – und dabei über reine Präsentationserstellung hinaus zu wachsen.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9A6AC40-5362-AF50-E513-59F1554DD612}"/>
              </a:ext>
            </a:extLst>
          </p:cNvPr>
          <p:cNvSpPr txBox="1"/>
          <p:nvPr/>
        </p:nvSpPr>
        <p:spPr>
          <a:xfrm>
            <a:off x="8394704" y="2902922"/>
            <a:ext cx="3276596" cy="26622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Mentoring &amp; Feedback</a:t>
            </a:r>
          </a:p>
          <a:p>
            <a:pPr algn="ctr">
              <a:spcBef>
                <a:spcPts val="600"/>
              </a:spcBef>
            </a:pPr>
            <a:r>
              <a:rPr lang="de-DE" sz="1600" dirty="0">
                <a:solidFill>
                  <a:schemeClr val="bg1"/>
                </a:solidFill>
              </a:rPr>
              <a:t>Kontinuierlicher Austausch </a:t>
            </a:r>
          </a:p>
          <a:p>
            <a:pPr algn="ctr"/>
            <a:endParaRPr lang="de-DE" sz="1600" dirty="0">
              <a:solidFill>
                <a:schemeClr val="bg1"/>
              </a:solidFill>
            </a:endParaRPr>
          </a:p>
          <a:p>
            <a:pPr algn="ctr"/>
            <a:endParaRPr lang="de-DE" sz="1600" dirty="0">
              <a:solidFill>
                <a:schemeClr val="bg1"/>
              </a:solidFill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… um durch ehrliches, konstruktives Feedback in der täglichen Projektarbeit fachlich wie persönlich zu wachsen und die eigene Beratungsleistung stetig zu optimieren.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E52700B-4DF3-2948-A767-A9864A1D61E2}"/>
              </a:ext>
            </a:extLst>
          </p:cNvPr>
          <p:cNvSpPr txBox="1"/>
          <p:nvPr/>
        </p:nvSpPr>
        <p:spPr>
          <a:xfrm>
            <a:off x="626373" y="675925"/>
            <a:ext cx="668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accent1"/>
                </a:solidFill>
              </a:rPr>
              <a:t>Das will ich am Ende meiner Zeit mitgenommen haben</a:t>
            </a:r>
          </a:p>
        </p:txBody>
      </p:sp>
      <p:pic>
        <p:nvPicPr>
          <p:cNvPr id="36" name="Grafik 35" descr="Route zwei Stecknadeln mit Weg Silhouette">
            <a:extLst>
              <a:ext uri="{FF2B5EF4-FFF2-40B4-BE49-F238E27FC236}">
                <a16:creationId xmlns:a16="http://schemas.microsoft.com/office/drawing/2014/main" id="{6551074A-3E66-B5D5-CB4A-1F62D0EF6A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37" name="Grafik 36" descr="Volltreffer Silhouette">
            <a:extLst>
              <a:ext uri="{FF2B5EF4-FFF2-40B4-BE49-F238E27FC236}">
                <a16:creationId xmlns:a16="http://schemas.microsoft.com/office/drawing/2014/main" id="{DACD9593-7B03-E205-8D6B-C14FCB3A5AC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38" name="Grafik 37" descr="Signal Silhouette">
            <a:extLst>
              <a:ext uri="{FF2B5EF4-FFF2-40B4-BE49-F238E27FC236}">
                <a16:creationId xmlns:a16="http://schemas.microsoft.com/office/drawing/2014/main" id="{396C47EF-BE57-73E9-8875-2E66CA36BC9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39" name="Grafik 38" descr="Glühbirne und Zahnrad Silhouette">
            <a:extLst>
              <a:ext uri="{FF2B5EF4-FFF2-40B4-BE49-F238E27FC236}">
                <a16:creationId xmlns:a16="http://schemas.microsoft.com/office/drawing/2014/main" id="{E6235F70-63A4-5B8F-1748-2CD4F60EE3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17898" y="382648"/>
            <a:ext cx="535902" cy="535902"/>
          </a:xfrm>
          <a:prstGeom prst="rect">
            <a:avLst/>
          </a:prstGeom>
        </p:spPr>
      </p:pic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D6E40AB-0BE3-B603-42B5-81BF50199687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feil: Chevron 40">
            <a:extLst>
              <a:ext uri="{FF2B5EF4-FFF2-40B4-BE49-F238E27FC236}">
                <a16:creationId xmlns:a16="http://schemas.microsoft.com/office/drawing/2014/main" id="{B1F8DDBC-9AA9-5BFA-944B-915E3ACF35F9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7088FCF6-EA80-3366-A410-95915F024A65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C62D1043-A0D1-82A7-6FE1-D10D7E9B131B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feil: Chevron 43">
            <a:extLst>
              <a:ext uri="{FF2B5EF4-FFF2-40B4-BE49-F238E27FC236}">
                <a16:creationId xmlns:a16="http://schemas.microsoft.com/office/drawing/2014/main" id="{791FE473-B59D-532A-8613-053A2358BFC1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5" name="Pfeil: Chevron 44">
            <a:extLst>
              <a:ext uri="{FF2B5EF4-FFF2-40B4-BE49-F238E27FC236}">
                <a16:creationId xmlns:a16="http://schemas.microsoft.com/office/drawing/2014/main" id="{1251C171-2FF4-BD0F-5146-D842C9D494CC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63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A1847DB-4EE3-B1A1-0B6B-D7B0701C34B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9927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83D375-6C10-F829-9606-78ED26C3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Datum | Euer Name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B5E701-D18D-FFF8-307E-DFFF559D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16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AD75736-780C-F136-104A-D7EC8D4163AA}"/>
              </a:ext>
            </a:extLst>
          </p:cNvPr>
          <p:cNvSpPr txBox="1"/>
          <p:nvPr/>
        </p:nvSpPr>
        <p:spPr>
          <a:xfrm>
            <a:off x="613122" y="316503"/>
            <a:ext cx="7997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accent1"/>
                </a:solidFill>
              </a:rPr>
              <a:t>Mit Unity Wachsen und echten Impact erzeugen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D043713-2BF7-0453-28A1-83F5A96F7B13}"/>
              </a:ext>
            </a:extLst>
          </p:cNvPr>
          <p:cNvSpPr txBox="1"/>
          <p:nvPr/>
        </p:nvSpPr>
        <p:spPr>
          <a:xfrm>
            <a:off x="626373" y="675925"/>
            <a:ext cx="668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accent1"/>
                </a:solidFill>
              </a:rPr>
              <a:t>Mein klares Ziel zusammengefasst</a:t>
            </a:r>
          </a:p>
        </p:txBody>
      </p:sp>
      <p:pic>
        <p:nvPicPr>
          <p:cNvPr id="9" name="Grafik 8" descr="Route zwei Stecknadeln mit Weg Silhouette">
            <a:extLst>
              <a:ext uri="{FF2B5EF4-FFF2-40B4-BE49-F238E27FC236}">
                <a16:creationId xmlns:a16="http://schemas.microsoft.com/office/drawing/2014/main" id="{BD170C28-CD92-3BA9-4724-F6A02C8EDD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1150" y="1485060"/>
            <a:ext cx="914400" cy="914400"/>
          </a:xfrm>
          <a:prstGeom prst="rect">
            <a:avLst/>
          </a:prstGeom>
        </p:spPr>
      </p:pic>
      <p:pic>
        <p:nvPicPr>
          <p:cNvPr id="12" name="Grafik 11" descr="Signal Silhouette">
            <a:extLst>
              <a:ext uri="{FF2B5EF4-FFF2-40B4-BE49-F238E27FC236}">
                <a16:creationId xmlns:a16="http://schemas.microsoft.com/office/drawing/2014/main" id="{B267D986-4EED-4A7B-903B-EF1F213020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7810" y="2604855"/>
            <a:ext cx="914400" cy="914400"/>
          </a:xfrm>
          <a:prstGeom prst="rect">
            <a:avLst/>
          </a:prstGeom>
        </p:spPr>
      </p:pic>
      <p:pic>
        <p:nvPicPr>
          <p:cNvPr id="13" name="Grafik 12" descr="Glühbirne und Zahnrad Silhouette">
            <a:extLst>
              <a:ext uri="{FF2B5EF4-FFF2-40B4-BE49-F238E27FC236}">
                <a16:creationId xmlns:a16="http://schemas.microsoft.com/office/drawing/2014/main" id="{5CFCD4A5-85F8-0AD3-2973-B958106E80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7810" y="3844341"/>
            <a:ext cx="914400" cy="9144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C3B66B76-1F1E-9419-D253-B5501F474B27}"/>
              </a:ext>
            </a:extLst>
          </p:cNvPr>
          <p:cNvSpPr txBox="1"/>
          <p:nvPr/>
        </p:nvSpPr>
        <p:spPr>
          <a:xfrm>
            <a:off x="2792729" y="2779466"/>
            <a:ext cx="652944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600" dirty="0"/>
              <a:t>Meine </a:t>
            </a:r>
            <a:r>
              <a:rPr lang="de-DE" sz="1600" b="1" dirty="0"/>
              <a:t>Stärken</a:t>
            </a:r>
            <a:r>
              <a:rPr lang="de-DE" sz="1600" dirty="0"/>
              <a:t> habe ich bereits erfolgreich in verschiedenen Situationen unter Beweis gestellt und werde sie </a:t>
            </a:r>
            <a:r>
              <a:rPr lang="de-DE" sz="1600" b="1" dirty="0"/>
              <a:t>gezielt bei Unity einsetzen</a:t>
            </a:r>
            <a:r>
              <a:rPr lang="de-DE" sz="1600" dirty="0"/>
              <a:t>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ACAFFC1-AC2E-335F-2566-9B7B96242233}"/>
              </a:ext>
            </a:extLst>
          </p:cNvPr>
          <p:cNvSpPr txBox="1"/>
          <p:nvPr/>
        </p:nvSpPr>
        <p:spPr>
          <a:xfrm>
            <a:off x="2785110" y="1534173"/>
            <a:ext cx="652944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600" dirty="0"/>
              <a:t>Mit meiner Erfahrung bei </a:t>
            </a:r>
            <a:r>
              <a:rPr lang="de-DE" sz="1600" b="1" dirty="0"/>
              <a:t>Campus Konzept </a:t>
            </a:r>
            <a:r>
              <a:rPr lang="de-DE" sz="1600" dirty="0"/>
              <a:t>und </a:t>
            </a:r>
            <a:r>
              <a:rPr lang="de-DE" sz="1600" b="1" dirty="0"/>
              <a:t>PwC</a:t>
            </a:r>
            <a:r>
              <a:rPr lang="de-DE" sz="1600" dirty="0"/>
              <a:t> sowie meinem starken Interesse für Strategie bringe ich </a:t>
            </a:r>
            <a:r>
              <a:rPr lang="de-DE" sz="1600" b="1" dirty="0"/>
              <a:t>Grunderfahrung</a:t>
            </a:r>
            <a:r>
              <a:rPr lang="de-DE" sz="1600" dirty="0"/>
              <a:t> und </a:t>
            </a:r>
            <a:r>
              <a:rPr lang="de-DE" sz="1600" b="1" dirty="0"/>
              <a:t>extreme Motivation</a:t>
            </a:r>
            <a:r>
              <a:rPr lang="de-DE" sz="1600" dirty="0"/>
              <a:t> mit.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93F3842-3288-C4E8-B30F-50F5DFFBE2B8}"/>
              </a:ext>
            </a:extLst>
          </p:cNvPr>
          <p:cNvSpPr txBox="1"/>
          <p:nvPr/>
        </p:nvSpPr>
        <p:spPr>
          <a:xfrm>
            <a:off x="2792730" y="3980950"/>
            <a:ext cx="652944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600" dirty="0"/>
              <a:t>UNITY überzeugt mich mit seinen </a:t>
            </a:r>
            <a:r>
              <a:rPr lang="de-DE" sz="1600" b="1" dirty="0"/>
              <a:t>Entwicklungsmöglichkeiten</a:t>
            </a:r>
            <a:r>
              <a:rPr lang="de-DE" sz="1600" dirty="0"/>
              <a:t>, dem </a:t>
            </a:r>
            <a:r>
              <a:rPr lang="de-DE" sz="1600" b="1" dirty="0"/>
              <a:t>UNITY Spirit</a:t>
            </a:r>
            <a:r>
              <a:rPr lang="de-DE" sz="1600" dirty="0"/>
              <a:t>, der Verbindung zu </a:t>
            </a:r>
            <a:r>
              <a:rPr lang="de-DE" sz="1600" b="1" dirty="0"/>
              <a:t>Campus Konzept </a:t>
            </a:r>
            <a:r>
              <a:rPr lang="de-DE" sz="1600" dirty="0"/>
              <a:t>sowie seiner inhaltlichen Auslegung als Schnittstelle zwischen </a:t>
            </a:r>
            <a:r>
              <a:rPr lang="de-DE" sz="1600" b="1" dirty="0"/>
              <a:t>BWL &amp; Technik</a:t>
            </a:r>
            <a:r>
              <a:rPr lang="de-DE" sz="1600" dirty="0"/>
              <a:t>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5B20249-9195-DAB3-D57D-0FE041DAFFE8}"/>
              </a:ext>
            </a:extLst>
          </p:cNvPr>
          <p:cNvSpPr txBox="1"/>
          <p:nvPr/>
        </p:nvSpPr>
        <p:spPr>
          <a:xfrm>
            <a:off x="2792730" y="5273874"/>
            <a:ext cx="652182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/>
              <a:t>Ich möchte mit UNITY </a:t>
            </a:r>
            <a:r>
              <a:rPr lang="de-DE" b="1" dirty="0"/>
              <a:t>wachsen</a:t>
            </a:r>
            <a:r>
              <a:rPr lang="de-DE" dirty="0"/>
              <a:t>, </a:t>
            </a:r>
            <a:r>
              <a:rPr lang="de-DE" b="1" dirty="0"/>
              <a:t>Verantwortung</a:t>
            </a:r>
            <a:r>
              <a:rPr lang="de-DE" dirty="0"/>
              <a:t> übernehmen und erfolgreich </a:t>
            </a:r>
            <a:r>
              <a:rPr lang="de-DE" b="1" dirty="0"/>
              <a:t>Projekte mitgestalten</a:t>
            </a:r>
            <a:r>
              <a:rPr lang="de-DE" dirty="0"/>
              <a:t>!</a:t>
            </a:r>
          </a:p>
        </p:txBody>
      </p:sp>
      <p:pic>
        <p:nvPicPr>
          <p:cNvPr id="29" name="Grafik 28" descr="Volltreffer Silhouette">
            <a:extLst>
              <a:ext uri="{FF2B5EF4-FFF2-40B4-BE49-F238E27FC236}">
                <a16:creationId xmlns:a16="http://schemas.microsoft.com/office/drawing/2014/main" id="{26B2AC58-ADD7-F581-C09C-AD65BFB5F2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20190" y="5083827"/>
            <a:ext cx="914400" cy="914400"/>
          </a:xfrm>
          <a:prstGeom prst="rect">
            <a:avLst/>
          </a:prstGeom>
        </p:spPr>
      </p:pic>
      <p:pic>
        <p:nvPicPr>
          <p:cNvPr id="37" name="Grafik 36" descr="Route zwei Stecknadeln mit Weg Silhouette">
            <a:extLst>
              <a:ext uri="{FF2B5EF4-FFF2-40B4-BE49-F238E27FC236}">
                <a16:creationId xmlns:a16="http://schemas.microsoft.com/office/drawing/2014/main" id="{10FD6090-C75D-82F2-5D2E-B9FDF2BE06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80049" y="395796"/>
            <a:ext cx="535902" cy="535902"/>
          </a:xfrm>
          <a:prstGeom prst="rect">
            <a:avLst/>
          </a:prstGeom>
        </p:spPr>
      </p:pic>
      <p:pic>
        <p:nvPicPr>
          <p:cNvPr id="38" name="Grafik 37" descr="Volltreffer Silhouette">
            <a:extLst>
              <a:ext uri="{FF2B5EF4-FFF2-40B4-BE49-F238E27FC236}">
                <a16:creationId xmlns:a16="http://schemas.microsoft.com/office/drawing/2014/main" id="{0B21CAAF-1BE2-F9C8-2821-0B478E4E42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19845" y="387450"/>
            <a:ext cx="535902" cy="535902"/>
          </a:xfrm>
          <a:prstGeom prst="rect">
            <a:avLst/>
          </a:prstGeom>
        </p:spPr>
      </p:pic>
      <p:pic>
        <p:nvPicPr>
          <p:cNvPr id="39" name="Grafik 38" descr="Signal Silhouette">
            <a:extLst>
              <a:ext uri="{FF2B5EF4-FFF2-40B4-BE49-F238E27FC236}">
                <a16:creationId xmlns:a16="http://schemas.microsoft.com/office/drawing/2014/main" id="{7233E37D-1451-2331-738D-108EA4D34E1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215951" y="389534"/>
            <a:ext cx="535902" cy="535902"/>
          </a:xfrm>
          <a:prstGeom prst="rect">
            <a:avLst/>
          </a:prstGeom>
        </p:spPr>
      </p:pic>
      <p:pic>
        <p:nvPicPr>
          <p:cNvPr id="40" name="Grafik 39" descr="Glühbirne und Zahnrad Silhouette">
            <a:extLst>
              <a:ext uri="{FF2B5EF4-FFF2-40B4-BE49-F238E27FC236}">
                <a16:creationId xmlns:a16="http://schemas.microsoft.com/office/drawing/2014/main" id="{EE96074A-CDD3-7BA3-30CD-64855680F52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17898" y="382648"/>
            <a:ext cx="535902" cy="535902"/>
          </a:xfrm>
          <a:prstGeom prst="rect">
            <a:avLst/>
          </a:prstGeom>
        </p:spPr>
      </p:pic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CD6ACB6-35DA-5E0A-FA5B-BACEA2F9C548}"/>
              </a:ext>
            </a:extLst>
          </p:cNvPr>
          <p:cNvCxnSpPr>
            <a:cxnSpLocks/>
          </p:cNvCxnSpPr>
          <p:nvPr/>
        </p:nvCxnSpPr>
        <p:spPr>
          <a:xfrm>
            <a:off x="10240529" y="271719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feil: Chevron 41">
            <a:extLst>
              <a:ext uri="{FF2B5EF4-FFF2-40B4-BE49-F238E27FC236}">
                <a16:creationId xmlns:a16="http://schemas.microsoft.com/office/drawing/2014/main" id="{46AF6EA8-35ED-3CB3-FBE0-C1BEA8FB16D0}"/>
              </a:ext>
            </a:extLst>
          </p:cNvPr>
          <p:cNvSpPr/>
          <p:nvPr/>
        </p:nvSpPr>
        <p:spPr>
          <a:xfrm>
            <a:off x="10213711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9693BC21-D32B-B38A-5E31-6D6CB6807711}"/>
              </a:ext>
            </a:extLst>
          </p:cNvPr>
          <p:cNvCxnSpPr>
            <a:cxnSpLocks/>
          </p:cNvCxnSpPr>
          <p:nvPr/>
        </p:nvCxnSpPr>
        <p:spPr>
          <a:xfrm>
            <a:off x="10802387" y="270288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9DFA3C9-5B63-96F5-AA41-AAB064467A4D}"/>
              </a:ext>
            </a:extLst>
          </p:cNvPr>
          <p:cNvCxnSpPr>
            <a:cxnSpLocks/>
          </p:cNvCxnSpPr>
          <p:nvPr/>
        </p:nvCxnSpPr>
        <p:spPr>
          <a:xfrm>
            <a:off x="11385621" y="268857"/>
            <a:ext cx="0" cy="8180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feil: Chevron 44">
            <a:extLst>
              <a:ext uri="{FF2B5EF4-FFF2-40B4-BE49-F238E27FC236}">
                <a16:creationId xmlns:a16="http://schemas.microsoft.com/office/drawing/2014/main" id="{3D31C053-982F-83A9-2A31-317592CE1B47}"/>
              </a:ext>
            </a:extLst>
          </p:cNvPr>
          <p:cNvSpPr/>
          <p:nvPr/>
        </p:nvSpPr>
        <p:spPr>
          <a:xfrm>
            <a:off x="10767166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6" name="Pfeil: Chevron 45">
            <a:extLst>
              <a:ext uri="{FF2B5EF4-FFF2-40B4-BE49-F238E27FC236}">
                <a16:creationId xmlns:a16="http://schemas.microsoft.com/office/drawing/2014/main" id="{87878575-A40D-264E-3F32-5AA7E6CA6EA1}"/>
              </a:ext>
            </a:extLst>
          </p:cNvPr>
          <p:cNvSpPr/>
          <p:nvPr/>
        </p:nvSpPr>
        <p:spPr>
          <a:xfrm>
            <a:off x="11356349" y="526368"/>
            <a:ext cx="63496" cy="302990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969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B7BB-BA27-CC6C-484F-F3732C5F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41DCAEA-8CBC-E36A-353B-58AFEB67F5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92261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EDEFB6-AB94-5A54-0DDE-5CFA0695AE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3D3CF2B-BC0F-01C9-809E-2163C796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000"/>
              <a:t>Datum | Euer Name</a:t>
            </a:r>
            <a:endParaRPr lang="de-DE" sz="10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49F668-B2E0-BB4D-DA8D-4B75125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A960-8614-4727-9E70-EA002A782128}" type="slidenum">
              <a:rPr lang="de-DE" smtClean="0"/>
              <a:t>17</a:t>
            </a:fld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DD11124-DA95-6FD3-488E-F8F77697A5B0}"/>
              </a:ext>
            </a:extLst>
          </p:cNvPr>
          <p:cNvSpPr txBox="1">
            <a:spLocks/>
          </p:cNvSpPr>
          <p:nvPr/>
        </p:nvSpPr>
        <p:spPr>
          <a:xfrm>
            <a:off x="990599" y="1304646"/>
            <a:ext cx="8061961" cy="254726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rgbClr val="071E31">
                    <a:alpha val="50000"/>
                  </a:srgbClr>
                </a:solidFill>
              </a:rPr>
              <a:t>Ich freue mich darauf, mit euch im Sommer zusammenarbeiten zu dürfen!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0875EEA-FB99-2D02-F8C3-D19B8BCC5F86}"/>
              </a:ext>
            </a:extLst>
          </p:cNvPr>
          <p:cNvSpPr txBox="1">
            <a:spLocks/>
          </p:cNvSpPr>
          <p:nvPr/>
        </p:nvSpPr>
        <p:spPr>
          <a:xfrm>
            <a:off x="990600" y="771246"/>
            <a:ext cx="3162299" cy="67819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rgbClr val="145A92">
                    <a:alpha val="50000"/>
                  </a:srgbClr>
                </a:solidFill>
              </a:rPr>
              <a:t>Noch Fragen?</a:t>
            </a:r>
          </a:p>
        </p:txBody>
      </p:sp>
      <p:pic>
        <p:nvPicPr>
          <p:cNvPr id="2" name="Grafik 1" descr="Rennflagge mit einfarbiger Füllung">
            <a:extLst>
              <a:ext uri="{FF2B5EF4-FFF2-40B4-BE49-F238E27FC236}">
                <a16:creationId xmlns:a16="http://schemas.microsoft.com/office/drawing/2014/main" id="{D21265BD-8D53-271E-F6CE-40839208CE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0610" y="3279140"/>
            <a:ext cx="1824990" cy="182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038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1375</Words>
  <Application>Microsoft Office PowerPoint</Application>
  <PresentationFormat>Breitbild</PresentationFormat>
  <Paragraphs>257</Paragraphs>
  <Slides>17</Slides>
  <Notes>10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Office</vt:lpstr>
      <vt:lpstr>think-cell Folie</vt:lpstr>
      <vt:lpstr>PowerPoint-Präsentation</vt:lpstr>
      <vt:lpstr>Die heutige Agenda</vt:lpstr>
      <vt:lpstr>Mein Werdegang</vt:lpstr>
      <vt:lpstr>Mein Werdegang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Frans Hanna</dc:creator>
  <cp:lastModifiedBy>Frans Hanna</cp:lastModifiedBy>
  <cp:revision>12</cp:revision>
  <dcterms:created xsi:type="dcterms:W3CDTF">2026-03-14T15:22:59Z</dcterms:created>
  <dcterms:modified xsi:type="dcterms:W3CDTF">2026-03-27T11:55:35Z</dcterms:modified>
  <cp:contentStatus/>
</cp:coreProperties>
</file>