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60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B7E2FB-25E7-40EF-BC2E-C87AF940D982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</dgm:pt>
    <dgm:pt modelId="{EE898B74-0C6A-4BFF-9C40-582660E3083F}" type="pres">
      <dgm:prSet presAssocID="{BEB7E2FB-25E7-40EF-BC2E-C87AF940D982}" presName="Name0" presStyleCnt="0">
        <dgm:presLayoutVars>
          <dgm:dir/>
          <dgm:resizeHandles val="exact"/>
        </dgm:presLayoutVars>
      </dgm:prSet>
      <dgm:spPr/>
    </dgm:pt>
  </dgm:ptLst>
  <dgm:cxnLst>
    <dgm:cxn modelId="{443FC647-DDF7-4B8C-85F0-3DECE17772F9}" type="presOf" srcId="{BEB7E2FB-25E7-40EF-BC2E-C87AF940D982}" destId="{EE898B74-0C6A-4BFF-9C40-582660E3083F}" srcOrd="0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C470FF-D493-46FE-A81F-CE4B6C80ED5A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0EED2D-FF3B-4B40-BF3B-097C4986B7DF}" type="pres">
      <dgm:prSet presAssocID="{C7C470FF-D493-46FE-A81F-CE4B6C80ED5A}" presName="cycle" presStyleCnt="0">
        <dgm:presLayoutVars>
          <dgm:dir/>
          <dgm:resizeHandles val="exact"/>
        </dgm:presLayoutVars>
      </dgm:prSet>
      <dgm:spPr/>
    </dgm:pt>
  </dgm:ptLst>
  <dgm:cxnLst>
    <dgm:cxn modelId="{3199D3EC-A800-483A-98D6-EE4796DEFEF1}" type="presOf" srcId="{C7C470FF-D493-46FE-A81F-CE4B6C80ED5A}" destId="{230EED2D-FF3B-4B40-BF3B-097C4986B7DF}" srcOrd="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810A-322B-5711-1DC6-24D7A54FC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3B096-9E35-D15C-60A8-7490E73C5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9B2CB-C43D-E8D8-ECB2-F9CB8258A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3BF2-A02C-71C8-A174-271B22B9A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8E604-39D5-A7DC-FC86-85B9FE1F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8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09BF-DD7B-E066-6ECE-C53D7EA3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73913-E170-6901-7E8B-78D80796D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0158A-D2E3-7A0C-11CB-873155AE4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30666-D2F0-9542-8925-430CEBEF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FC87-0393-316A-67A5-80CA1936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3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A610-B5D8-DF16-7F9A-8DB55CD4E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6E9AC-0A6C-0D73-A689-36B5F5B00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D852-7EF2-0DA6-89CF-49312F67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2381D-42E1-BC2E-C942-0DC1D26A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39D15-C142-7625-2ABA-A119F651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C8E4-4DAA-C25C-C7BE-194152B1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2304-DA38-2131-EC1E-FAB59631D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61743-043D-4886-1092-24699521D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98ECC-5033-E1CA-17AA-52B9FED5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3CC47-D33F-1583-2A79-4FAD410C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9C016-1257-FF14-B94A-AC7CBCAC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3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E966-BBAC-9105-12EA-091352DD5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1A104-FE1A-CE5C-F1F9-E324F8811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625D2-4F58-B726-D8EE-62F747243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B9AEE-2E85-5C34-E14F-FB70749D5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C7057E-4502-F626-FEC1-DE86751D8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D41AB-E975-0E29-C109-903F87A5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0F13D-AF12-E8CE-7386-D35F8F88F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3ABF8-4F34-092A-4E44-8A6BE853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3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6763-1DCC-4A29-6CD0-9AE67B55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B73D0-DC7B-61C9-7D3D-373090C6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E9181-3FBB-CA35-7C35-195DB734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A3C1F-B630-D6C3-E50B-C56B6B2B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6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25BC2-995D-6529-C4A9-A6BC1A24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38562-ED09-6B78-896E-2843DB090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09FB4-A4B9-2F6D-9B21-3C1B9273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9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0E02-F951-BF8E-D667-374B73A9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72128-1BE0-E8A7-1493-BD747C5CC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A7730-FC7A-BF5A-5066-24A060FBE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0A5B7-F8A3-A20E-41C8-01A8431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3BBC5-A563-9450-F2FA-2ED5A84F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BE115-4CFF-4666-6D05-759F5685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2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C5186-FB8A-0DF2-7E34-6D227051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A19B3-8904-2B6A-FE86-E522CBEDF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67A96-8CB8-885A-7727-76CC75C13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7D65D-C644-9872-C90D-28E4D4A41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C179D-C257-CA03-1089-8549B47C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857A2-E34B-18D5-0E6A-92731932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18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A755-5781-C6A8-A969-71CE31E9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BFC7B-145D-A534-E7EB-900E00A2B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244F0-6FF6-A34F-E460-0A89ED13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0B49D-93D3-6152-7663-D13CF7B1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A18A5-F3EB-9058-C1C2-39677F5F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3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97D28-D5EB-AB3D-A097-7EC1ACEA0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32581-A237-8EB1-C967-E5510D090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603B5-9295-050B-FB3A-48951A80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C287C-0246-111E-0FD6-8D40AC0D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1D266-F233-3818-22A5-E9879417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3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653C29-D21F-A214-A855-F3E3219E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1A4F0-23D8-79A5-7FC1-42FCC3711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FE23A-992F-3B1D-1FCC-50A722926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A79C3-FE82-4697-B883-5BB0AF966D7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2F409-BB2E-68F8-CAE3-1379F3C20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1EE44-822F-B448-88FB-E45D16305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008B5-E3ED-4756-BCB3-DA453E72A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3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2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1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2C90-CD55-254D-BA64-2BD6F19D5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1644" y="3285097"/>
            <a:ext cx="4377129" cy="1916073"/>
          </a:xfrm>
        </p:spPr>
        <p:txBody>
          <a:bodyPr/>
          <a:lstStyle/>
          <a:p>
            <a:pPr algn="l"/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Danica Radovanovic</a:t>
            </a:r>
            <a:b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Praktikum Controlling, Risikomanagement &amp; Digitalisierung</a:t>
            </a:r>
            <a:endParaRPr lang="en-US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7F036-C7BE-2DE0-FF8D-C52233D0F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467" y="1656830"/>
            <a:ext cx="3015483" cy="3544340"/>
          </a:xfrm>
          <a:prstGeom prst="rect">
            <a:avLst/>
          </a:prstGeom>
        </p:spPr>
      </p:pic>
      <p:pic>
        <p:nvPicPr>
          <p:cNvPr id="3" name="Picture 2" descr="A logo of a car&#10;&#10;AI-generated content may be incorrect.">
            <a:extLst>
              <a:ext uri="{FF2B5EF4-FFF2-40B4-BE49-F238E27FC236}">
                <a16:creationId xmlns:a16="http://schemas.microsoft.com/office/drawing/2014/main" id="{5618F828-2CEF-0ED8-7872-0E8A92837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158" y="1905862"/>
            <a:ext cx="2154101" cy="215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95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1882-05BA-C325-B012-70E7CF05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738" y="393007"/>
            <a:ext cx="10515600" cy="1325563"/>
          </a:xfrm>
        </p:spPr>
        <p:txBody>
          <a:bodyPr/>
          <a:lstStyle/>
          <a:p>
            <a:pPr algn="ctr"/>
            <a:r>
              <a:rPr lang="de-D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Lebenslauf im Überblick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6DC1CA-A0D9-CF4F-911B-40197C8652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513547"/>
              </p:ext>
            </p:extLst>
          </p:nvPr>
        </p:nvGraphicFramePr>
        <p:xfrm>
          <a:off x="150051" y="1367910"/>
          <a:ext cx="10965813" cy="5257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CF4CA11-5B4D-B16F-9D38-8051255B17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136" y="3225067"/>
            <a:ext cx="9869806" cy="4078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05AD20-2389-0D48-420D-28915A66D3CF}"/>
              </a:ext>
            </a:extLst>
          </p:cNvPr>
          <p:cNvSpPr txBox="1"/>
          <p:nvPr/>
        </p:nvSpPr>
        <p:spPr>
          <a:xfrm>
            <a:off x="1028283" y="2640292"/>
            <a:ext cx="1798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Fachoberschule &amp; Praktikum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2FDC4-D718-57CB-422A-9714C3863D16}"/>
              </a:ext>
            </a:extLst>
          </p:cNvPr>
          <p:cNvSpPr txBox="1"/>
          <p:nvPr/>
        </p:nvSpPr>
        <p:spPr>
          <a:xfrm>
            <a:off x="2205737" y="3669886"/>
            <a:ext cx="3387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Studium</a:t>
            </a:r>
          </a:p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B.A. in Betriebswirtschaftslehre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A319D-FD9D-6F0D-0A70-D92A10BAD075}"/>
              </a:ext>
            </a:extLst>
          </p:cNvPr>
          <p:cNvSpPr txBox="1"/>
          <p:nvPr/>
        </p:nvSpPr>
        <p:spPr>
          <a:xfrm>
            <a:off x="4809314" y="2644664"/>
            <a:ext cx="2203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180 Degrees Consulting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C321B9-EB10-5248-B1F3-070F12F1B781}"/>
              </a:ext>
            </a:extLst>
          </p:cNvPr>
          <p:cNvSpPr txBox="1"/>
          <p:nvPr/>
        </p:nvSpPr>
        <p:spPr>
          <a:xfrm>
            <a:off x="6598394" y="3669886"/>
            <a:ext cx="2699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Werkstudentin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Insurance Customer Services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8630481-3C11-9740-C006-26210F33E8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2194" y="4289545"/>
            <a:ext cx="1314956" cy="407865"/>
          </a:xfrm>
          <a:prstGeom prst="rect">
            <a:avLst/>
          </a:prstGeom>
        </p:spPr>
      </p:pic>
      <p:pic>
        <p:nvPicPr>
          <p:cNvPr id="27" name="Picture 26" descr="A triangle with blue lines&#10;&#10;AI-generated content may be incorrect.">
            <a:extLst>
              <a:ext uri="{FF2B5EF4-FFF2-40B4-BE49-F238E27FC236}">
                <a16:creationId xmlns:a16="http://schemas.microsoft.com/office/drawing/2014/main" id="{E25CA4FE-88E4-BD16-ADDF-664BFD2FE6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918" y="2009630"/>
            <a:ext cx="1187545" cy="584776"/>
          </a:xfrm>
          <a:prstGeom prst="rect">
            <a:avLst/>
          </a:prstGeom>
        </p:spPr>
      </p:pic>
      <p:pic>
        <p:nvPicPr>
          <p:cNvPr id="31" name="Picture 30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30C37E6E-3EE4-B58A-3A02-903257E565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8413" y="1976927"/>
            <a:ext cx="1830250" cy="521621"/>
          </a:xfrm>
          <a:prstGeom prst="rect">
            <a:avLst/>
          </a:prstGeom>
        </p:spPr>
      </p:pic>
      <p:pic>
        <p:nvPicPr>
          <p:cNvPr id="33" name="Picture 32" descr="A black and red text&#10;&#10;AI-generated content may be incorrect.">
            <a:extLst>
              <a:ext uri="{FF2B5EF4-FFF2-40B4-BE49-F238E27FC236}">
                <a16:creationId xmlns:a16="http://schemas.microsoft.com/office/drawing/2014/main" id="{9F73C322-22BC-42CF-42D7-F326EAA1CD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7241" y="4118844"/>
            <a:ext cx="1498531" cy="74926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35DEBB1-B25C-DEF8-8F1F-3A037C0A7D2C}"/>
              </a:ext>
            </a:extLst>
          </p:cNvPr>
          <p:cNvSpPr txBox="1"/>
          <p:nvPr/>
        </p:nvSpPr>
        <p:spPr>
          <a:xfrm>
            <a:off x="8923520" y="2642948"/>
            <a:ext cx="2141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Arial" panose="020B0604020202020204" pitchFamily="34" charset="0"/>
                <a:cs typeface="Arial" panose="020B0604020202020204" pitchFamily="34" charset="0"/>
              </a:rPr>
              <a:t>Studium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(vorauss.): Bachelor of Arts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4359CEF-F7B8-3720-9408-23354A44F3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9727194" y="1976928"/>
            <a:ext cx="534041" cy="52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75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35AC8-FCF0-7D68-E103-814155170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82" y="744512"/>
            <a:ext cx="8596668" cy="709534"/>
          </a:xfrm>
        </p:spPr>
        <p:txBody>
          <a:bodyPr/>
          <a:lstStyle/>
          <a:p>
            <a:pPr algn="ctr"/>
            <a:r>
              <a:rPr lang="de-D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Meine Stärken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89C272-02FF-6C2A-295A-6B1F7553E1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297966"/>
              </p:ext>
            </p:extLst>
          </p:nvPr>
        </p:nvGraphicFramePr>
        <p:xfrm>
          <a:off x="677863" y="1454046"/>
          <a:ext cx="9110714" cy="4833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Graphic 4" descr="Lightbulb and gear with solid fill">
            <a:extLst>
              <a:ext uri="{FF2B5EF4-FFF2-40B4-BE49-F238E27FC236}">
                <a16:creationId xmlns:a16="http://schemas.microsoft.com/office/drawing/2014/main" id="{4EA9E8AF-5066-8208-945C-B059714FD9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7386" y="1832548"/>
            <a:ext cx="914400" cy="914400"/>
          </a:xfrm>
          <a:prstGeom prst="rect">
            <a:avLst/>
          </a:prstGeom>
        </p:spPr>
      </p:pic>
      <p:pic>
        <p:nvPicPr>
          <p:cNvPr id="7" name="Graphic 6" descr="Brain in head with solid fill">
            <a:extLst>
              <a:ext uri="{FF2B5EF4-FFF2-40B4-BE49-F238E27FC236}">
                <a16:creationId xmlns:a16="http://schemas.microsoft.com/office/drawing/2014/main" id="{9B813B67-4DD2-CED9-119F-46F8D30503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7386" y="3290835"/>
            <a:ext cx="914400" cy="914400"/>
          </a:xfrm>
          <a:prstGeom prst="rect">
            <a:avLst/>
          </a:prstGeom>
        </p:spPr>
      </p:pic>
      <p:pic>
        <p:nvPicPr>
          <p:cNvPr id="9" name="Graphic 8" descr="Group brainstorm with solid fill">
            <a:extLst>
              <a:ext uri="{FF2B5EF4-FFF2-40B4-BE49-F238E27FC236}">
                <a16:creationId xmlns:a16="http://schemas.microsoft.com/office/drawing/2014/main" id="{D9F7BE6D-6A90-28C0-222D-5CEAA90D75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7386" y="4749122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3E0566-87AD-53E0-F236-264590968BED}"/>
              </a:ext>
            </a:extLst>
          </p:cNvPr>
          <p:cNvSpPr txBox="1"/>
          <p:nvPr/>
        </p:nvSpPr>
        <p:spPr>
          <a:xfrm>
            <a:off x="1734207" y="1947542"/>
            <a:ext cx="786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Analytische &amp; logische Herangehensweise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(durch Arbeit an verschiedenen Projekten als studentische Beraterin, könnte ich meine Problemlösugsfähigkeit deutlich verbessern)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1AC8B2-CE03-5438-9F06-EFBDE9C94478}"/>
              </a:ext>
            </a:extLst>
          </p:cNvPr>
          <p:cNvSpPr txBox="1"/>
          <p:nvPr/>
        </p:nvSpPr>
        <p:spPr>
          <a:xfrm>
            <a:off x="1734207" y="3364368"/>
            <a:ext cx="6385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Lernbereitschaft &amp; Wissbegierde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(Ich bin motiviert, neue Fähigkeiten zu erlernen und mich an neue Herausforderungen anzupassen, um mein Potenzial voll auszuschöpfen)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5973C-DBBE-7CC2-0A31-AE14411E71E0}"/>
              </a:ext>
            </a:extLst>
          </p:cNvPr>
          <p:cNvSpPr txBox="1"/>
          <p:nvPr/>
        </p:nvSpPr>
        <p:spPr>
          <a:xfrm>
            <a:off x="1734207" y="4810612"/>
            <a:ext cx="50100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Teamfähigkeit &amp; Disziplin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(Ich arbeite gerne im Team, unterstütze meine Kollegen und bringe meine Ideen ein, während ich gleichzeitig diszipliniert und zuverlässig meine Aufgaben erfülle)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661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E41C-E55D-3446-4576-80CDBF6E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6584" y="631351"/>
            <a:ext cx="9515977" cy="804957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/>
              <a:t> </a:t>
            </a:r>
            <a:r>
              <a:rPr lang="de-DE" sz="4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Gründe warum Controlling und BMW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 descr="Lightbulb and gear with solid fill">
            <a:extLst>
              <a:ext uri="{FF2B5EF4-FFF2-40B4-BE49-F238E27FC236}">
                <a16:creationId xmlns:a16="http://schemas.microsoft.com/office/drawing/2014/main" id="{186535E2-F1B3-5ED9-CEC5-7F11370BE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142" y="2655832"/>
            <a:ext cx="805528" cy="805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034AC3-7778-64CA-CCA0-D0C8CD0D566C}"/>
              </a:ext>
            </a:extLst>
          </p:cNvPr>
          <p:cNvSpPr txBox="1"/>
          <p:nvPr/>
        </p:nvSpPr>
        <p:spPr>
          <a:xfrm>
            <a:off x="1661889" y="2885627"/>
            <a:ext cx="3790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Smarte &amp; ambitionierte Kollegen 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3" name="Graphic 12" descr="Upward trend with solid fill">
            <a:extLst>
              <a:ext uri="{FF2B5EF4-FFF2-40B4-BE49-F238E27FC236}">
                <a16:creationId xmlns:a16="http://schemas.microsoft.com/office/drawing/2014/main" id="{FE131F99-4C77-548A-5152-324FB4F728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593" y="3426024"/>
            <a:ext cx="794077" cy="7940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8F4673-5B76-6C6E-E20B-57A9C2CBA12A}"/>
              </a:ext>
            </a:extLst>
          </p:cNvPr>
          <p:cNvSpPr txBox="1"/>
          <p:nvPr/>
        </p:nvSpPr>
        <p:spPr>
          <a:xfrm>
            <a:off x="1724864" y="3573770"/>
            <a:ext cx="4055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Steile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Lernkurve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Entwicklungsmöglichkeiten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phic 16" descr="Group with solid fill">
            <a:extLst>
              <a:ext uri="{FF2B5EF4-FFF2-40B4-BE49-F238E27FC236}">
                <a16:creationId xmlns:a16="http://schemas.microsoft.com/office/drawing/2014/main" id="{7D77A98D-B076-FE60-2B80-27588E09EA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142" y="4201190"/>
            <a:ext cx="794078" cy="79407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E31919-F983-4F77-9813-762667534B1F}"/>
              </a:ext>
            </a:extLst>
          </p:cNvPr>
          <p:cNvSpPr txBox="1"/>
          <p:nvPr/>
        </p:nvSpPr>
        <p:spPr>
          <a:xfrm>
            <a:off x="1724864" y="4362154"/>
            <a:ext cx="2166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Arbeiten im Team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19" descr="Chat with solid fill">
            <a:extLst>
              <a:ext uri="{FF2B5EF4-FFF2-40B4-BE49-F238E27FC236}">
                <a16:creationId xmlns:a16="http://schemas.microsoft.com/office/drawing/2014/main" id="{B22E6370-E8E4-55D5-7DFD-F8B28B8320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074" y="4959931"/>
            <a:ext cx="813554" cy="8135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A298FD0-2A76-EC0D-0AFE-D2171E9F96B7}"/>
              </a:ext>
            </a:extLst>
          </p:cNvPr>
          <p:cNvSpPr txBox="1"/>
          <p:nvPr/>
        </p:nvSpPr>
        <p:spPr>
          <a:xfrm>
            <a:off x="1724864" y="5043542"/>
            <a:ext cx="2845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Mitwirkung an relevanten Entscheidungen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3BDB59-E04A-F03F-386D-6B83B2989639}"/>
              </a:ext>
            </a:extLst>
          </p:cNvPr>
          <p:cNvSpPr txBox="1"/>
          <p:nvPr/>
        </p:nvSpPr>
        <p:spPr>
          <a:xfrm>
            <a:off x="6734636" y="1691421"/>
            <a:ext cx="4500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Gründe warum BMW AG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A56F51-5443-655D-F508-4740E9800DBA}"/>
              </a:ext>
            </a:extLst>
          </p:cNvPr>
          <p:cNvSpPr txBox="1"/>
          <p:nvPr/>
        </p:nvSpPr>
        <p:spPr>
          <a:xfrm>
            <a:off x="7408568" y="2636858"/>
            <a:ext cx="405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Exzellenter Ruf 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(Basierend auf langjähriger Tradition von Qualität, Innovation und Fahrvergnügen)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D74E37-AD23-2304-261E-FBAC5E3FBB20}"/>
              </a:ext>
            </a:extLst>
          </p:cNvPr>
          <p:cNvSpPr txBox="1"/>
          <p:nvPr/>
        </p:nvSpPr>
        <p:spPr>
          <a:xfrm>
            <a:off x="7461000" y="3484991"/>
            <a:ext cx="43924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Karrieremöglichkeiten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(vielfältige Weiterbildungsmöglichkeiten durch verschiedene Future Talent Programme wie Fastlane Masterprogramm oder Traineeprogramme)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2E12F4-CE4F-F123-1025-2C4D959F1D0A}"/>
              </a:ext>
            </a:extLst>
          </p:cNvPr>
          <p:cNvSpPr txBox="1"/>
          <p:nvPr/>
        </p:nvSpPr>
        <p:spPr>
          <a:xfrm>
            <a:off x="7408568" y="4928891"/>
            <a:ext cx="4480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Innovationskraft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und Technologie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kontinuierliche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Entwicklung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neuer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Technologien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wie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nachhaltige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Mobilität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autonomes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Fahren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60B0BC-8173-2D01-C506-5CD058EB8E78}"/>
              </a:ext>
            </a:extLst>
          </p:cNvPr>
          <p:cNvSpPr txBox="1"/>
          <p:nvPr/>
        </p:nvSpPr>
        <p:spPr>
          <a:xfrm>
            <a:off x="970915" y="1673506"/>
            <a:ext cx="379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latin typeface="Arial" panose="020B0604020202020204" pitchFamily="34" charset="0"/>
                <a:cs typeface="Arial" panose="020B0604020202020204" pitchFamily="34" charset="0"/>
              </a:rPr>
              <a:t>Gründe für das Berufsfeld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 descr="Thumbs up sign with solid fill">
            <a:extLst>
              <a:ext uri="{FF2B5EF4-FFF2-40B4-BE49-F238E27FC236}">
                <a16:creationId xmlns:a16="http://schemas.microsoft.com/office/drawing/2014/main" id="{A7AC85BE-D8E5-4195-7E5E-3705E484DF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0" y="2715148"/>
            <a:ext cx="805528" cy="80552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1A43660-927B-2A41-5D98-ECF5F6CC43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44354" y="3456358"/>
            <a:ext cx="804742" cy="8108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E4CF34F-5A25-3B9D-E33A-0D688B3E63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75720" y="4933402"/>
            <a:ext cx="804742" cy="8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0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CD1D-5727-8BEC-7501-7DB7BF1BE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800" y="674862"/>
            <a:ext cx="8596668" cy="934387"/>
          </a:xfrm>
        </p:spPr>
        <p:txBody>
          <a:bodyPr/>
          <a:lstStyle/>
          <a:p>
            <a:pPr algn="ctr"/>
            <a:r>
              <a:rPr lang="de-DE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Ziele &amp; Wünsche</a:t>
            </a:r>
            <a:endParaRPr 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BFEBB-F32C-9162-A6D2-7E221543976A}"/>
              </a:ext>
            </a:extLst>
          </p:cNvPr>
          <p:cNvSpPr txBox="1"/>
          <p:nvPr/>
        </p:nvSpPr>
        <p:spPr>
          <a:xfrm>
            <a:off x="2326804" y="3614304"/>
            <a:ext cx="448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Auslandssemester in San Diego, USA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572A37-A269-FE56-37D1-FEB88DA6628D}"/>
              </a:ext>
            </a:extLst>
          </p:cNvPr>
          <p:cNvSpPr txBox="1"/>
          <p:nvPr/>
        </p:nvSpPr>
        <p:spPr>
          <a:xfrm>
            <a:off x="2155965" y="2196232"/>
            <a:ext cx="523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Master an einer renommierten Universität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A35DFD-DC07-6D77-07B7-2950D6D526F3}"/>
              </a:ext>
            </a:extLst>
          </p:cNvPr>
          <p:cNvSpPr txBox="1"/>
          <p:nvPr/>
        </p:nvSpPr>
        <p:spPr>
          <a:xfrm>
            <a:off x="2459421" y="5032377"/>
            <a:ext cx="5425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Weiteres ehrenamtliches Engagement sowie persönliche und berufliche Entwicklung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803DD-88B0-7D9D-4E76-BF5FEE8925B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38200" y="1609249"/>
            <a:ext cx="10515600" cy="2163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de-DE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7FA6AA8A-A868-12AA-E74E-A87CB7929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020" y="1845458"/>
            <a:ext cx="914400" cy="914400"/>
          </a:xfrm>
          <a:prstGeom prst="rect">
            <a:avLst/>
          </a:prstGeom>
        </p:spPr>
      </p:pic>
      <p:pic>
        <p:nvPicPr>
          <p:cNvPr id="20" name="Graphic 19" descr="Tropical scene with solid fill">
            <a:extLst>
              <a:ext uri="{FF2B5EF4-FFF2-40B4-BE49-F238E27FC236}">
                <a16:creationId xmlns:a16="http://schemas.microsoft.com/office/drawing/2014/main" id="{31251EBE-4510-394E-5C39-2A0249B8C5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020" y="3260655"/>
            <a:ext cx="914400" cy="914400"/>
          </a:xfrm>
          <a:prstGeom prst="rect">
            <a:avLst/>
          </a:prstGeom>
        </p:spPr>
      </p:pic>
      <p:pic>
        <p:nvPicPr>
          <p:cNvPr id="22" name="Graphic 21" descr="Upward trend with solid fill">
            <a:extLst>
              <a:ext uri="{FF2B5EF4-FFF2-40B4-BE49-F238E27FC236}">
                <a16:creationId xmlns:a16="http://schemas.microsoft.com/office/drawing/2014/main" id="{10EE94E0-3C8C-4F7C-D688-75BF2991BC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020" y="479155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95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Words>210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Danica Radovanovic Praktikum Controlling, Risikomanagement &amp; Digitalisierung</vt:lpstr>
      <vt:lpstr>Lebenslauf im Überblick</vt:lpstr>
      <vt:lpstr>Meine Stärken</vt:lpstr>
      <vt:lpstr> Gründe warum Controlling und BMW</vt:lpstr>
      <vt:lpstr>Ziele &amp; Wünsche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</cp:revision>
  <dcterms:created xsi:type="dcterms:W3CDTF">2025-03-16T20:07:07Z</dcterms:created>
  <dcterms:modified xsi:type="dcterms:W3CDTF">2025-03-18T12:45:49Z</dcterms:modified>
</cp:coreProperties>
</file>