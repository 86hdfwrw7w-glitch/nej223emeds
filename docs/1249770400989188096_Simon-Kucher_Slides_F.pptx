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10">
  <p:sldMasterIdLst>
    <p:sldMasterId id="2147483648" r:id="rId1"/>
  </p:sldMasterIdLst>
  <p:notesMasterIdLst>
    <p:notesMasterId r:id="rId4"/>
  </p:notesMasterIdLst>
  <p:sldIdLst>
    <p:sldId id="442" r:id="rId2"/>
    <p:sldId id="444" r:id="rId3"/>
  </p:sldIdLst>
  <p:sldSz cx="12192000" cy="6858000"/>
  <p:notesSz cx="6858000" cy="9144000"/>
  <p:custDataLst>
    <p:tags r:id="rId5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nal" id="{BE57CD47-7592-4F9C-86A4-64CCA86CAF21}">
          <p14:sldIdLst>
            <p14:sldId id="442"/>
            <p14:sldId id="4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0041"/>
    <a:srgbClr val="FFFFFF"/>
    <a:srgbClr val="F2F2F2"/>
    <a:srgbClr val="D9D9D9"/>
    <a:srgbClr val="BFBFBF"/>
    <a:srgbClr val="E2004B"/>
    <a:srgbClr val="A6A6A6"/>
    <a:srgbClr val="AE0037"/>
    <a:srgbClr val="F0004E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21" autoAdjust="0"/>
    <p:restoredTop sz="95118" autoAdjust="0"/>
  </p:normalViewPr>
  <p:slideViewPr>
    <p:cSldViewPr snapToGrid="0">
      <p:cViewPr varScale="1">
        <p:scale>
          <a:sx n="54" d="100"/>
          <a:sy n="54" d="100"/>
        </p:scale>
        <p:origin x="90" y="4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2040B-FBAE-4EB5-B2AC-386739716CCE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9C565-71B8-4F96-B0AC-C9658558F7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5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E0020C-34B3-4644-B138-3A9503ECB28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5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673A0C-6D5A-04AD-7618-A9E898B55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18727A-325E-BDAA-7727-6CD6C2F9F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CF63BC-6AC7-82E9-1820-2D2B6BDBD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5D34D-5BB7-4A52-ADAE-69E6D463169E}" type="datetimeFigureOut">
              <a:rPr lang="de-DE" smtClean="0"/>
              <a:t>10.06.2024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002E3B-90ED-E35D-1450-0F5FF4B2C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584D8B-FC38-28A2-7400-8F364B78A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FF19-B5F0-4BA9-B2BC-A1AD545E39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706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3768B8-F340-3F01-99CB-790F00F4B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927207-7576-8F89-8CC0-3DC66A9A8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0C899F-95EA-8CBF-61E4-24EF876A8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5D34D-5BB7-4A52-ADAE-69E6D463169E}" type="datetimeFigureOut">
              <a:rPr lang="de-DE" smtClean="0"/>
              <a:t>10.06.2024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435215-FCFC-33F6-A5DA-A40D27E26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6213A7-FEEE-A690-F41C-3FDE0E611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FF19-B5F0-4BA9-B2BC-A1AD545E39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2397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2E606D-178A-5E11-7119-F78D02364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D0565C2-C30D-F134-ED60-6B169EA8C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7F7AA1-7457-A6E9-EBF7-879C5711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5D34D-5BB7-4A52-ADAE-69E6D463169E}" type="datetimeFigureOut">
              <a:rPr lang="de-DE" smtClean="0"/>
              <a:t>10.06.2024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1D9099-15AA-33AD-E01A-2C8B81D54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083E80-6B06-6B6C-BA37-F81FDCB33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FF19-B5F0-4BA9-B2BC-A1AD545E39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8375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E52B1D-41F4-D812-1E83-5E1665EEA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73B796-6D72-FD26-FEDF-A15081EA6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043FF57-0F19-6F35-D32D-A6B6650B4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E63D5A5-2B10-5F27-47E6-E32E3F03C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5D34D-5BB7-4A52-ADAE-69E6D463169E}" type="datetimeFigureOut">
              <a:rPr lang="de-DE" smtClean="0"/>
              <a:t>10.06.2024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C5D3464-DC4F-E84F-5A98-07D01E89E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9F4E4DA-E890-4203-BD07-572E9E8E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FF19-B5F0-4BA9-B2BC-A1AD545E39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4624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3B34D0-493C-0606-4DAB-36495890C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4C1876-4B53-45AE-A175-02ABAABCF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6665CE-37AE-7369-383E-786DB6034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9BD8D19-5AE4-8FB4-308A-C2E13AC7E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B57DC32-8BD5-8F47-9E5D-F15CA7E469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3264E6B-3B82-0E8B-F090-A63C82CD7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5D34D-5BB7-4A52-ADAE-69E6D463169E}" type="datetimeFigureOut">
              <a:rPr lang="de-DE" smtClean="0"/>
              <a:t>10.06.2024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7C3C60A-789F-4F9C-7C26-BACB1D987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4498A6B-4F8D-BF3F-7DEF-B363DDEC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FF19-B5F0-4BA9-B2BC-A1AD545E39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8387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DD85B9-25EE-3320-AE95-79651DE9C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E7A11C-688B-A744-E949-63C037318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5D34D-5BB7-4A52-ADAE-69E6D463169E}" type="datetimeFigureOut">
              <a:rPr lang="de-DE" smtClean="0"/>
              <a:t>10.06.2024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220B10-EA93-EB7B-2E93-3A3C506ED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1ECAC7A-B96A-9B42-3DBC-50A627570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FF19-B5F0-4BA9-B2BC-A1AD545E39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0961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B412DA3-37A5-8159-99DA-D5849C0BD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5D34D-5BB7-4A52-ADAE-69E6D463169E}" type="datetimeFigureOut">
              <a:rPr lang="de-DE" smtClean="0"/>
              <a:t>10.06.2024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E3BA41C-D42A-C238-25B0-CEE331671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2C4A721-9BB9-DF3B-47EF-A18B7F71F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FF19-B5F0-4BA9-B2BC-A1AD545E39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5723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DFB125-35DE-DCA5-B657-F66E3F580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C837B5-C668-4F54-C619-137A938B7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171D441-9550-1D88-0FA0-EA92F38B2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AE04E2-F118-086B-4558-F718293CC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5D34D-5BB7-4A52-ADAE-69E6D463169E}" type="datetimeFigureOut">
              <a:rPr lang="de-DE" smtClean="0"/>
              <a:t>10.06.2024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A52E90-7C33-24E6-1920-80CE07E94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B06F123-0CFF-8BBB-68F5-182B4963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FF19-B5F0-4BA9-B2BC-A1AD545E39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1804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01D85A-5F35-BD67-8A21-93B87353B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98B6DD0-7104-0726-8445-168BD76D58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60545A8-528C-62ED-A172-8A7F08E00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A7DB2F2-097D-2A55-3F78-2C5B5BDE1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5D34D-5BB7-4A52-ADAE-69E6D463169E}" type="datetimeFigureOut">
              <a:rPr lang="de-DE" smtClean="0"/>
              <a:t>10.06.2024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6A1336F-01F1-AB0F-101B-9B4482C3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07424E3-6B72-F512-54EF-40F43AAFC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FF19-B5F0-4BA9-B2BC-A1AD545E39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0354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91787F-BDF8-080C-5818-CD09AAE0F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8E06E6E-D70E-9B4D-2816-9213D55E3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E486AC-4F8C-1D94-D67B-55769E24C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5D34D-5BB7-4A52-ADAE-69E6D463169E}" type="datetimeFigureOut">
              <a:rPr lang="de-DE" smtClean="0"/>
              <a:t>10.06.2024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DBA92B-9A03-26D4-A315-8BA5D85A9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C6BE29-109B-6E97-7080-8B2D1A492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FF19-B5F0-4BA9-B2BC-A1AD545E39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241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283911E-AA5C-8217-5921-502DBCB45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B33E3DE-89E5-8D8E-FDFA-3BCB97F82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37D89D-B674-5854-CD4F-7CD4E2E43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5D34D-5BB7-4A52-ADAE-69E6D463169E}" type="datetimeFigureOut">
              <a:rPr lang="de-DE" smtClean="0"/>
              <a:t>10.06.2024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BF73FE-9A1E-4FA9-F694-B1F74610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DB2235-A1BF-834F-76E8-999D5A762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FF19-B5F0-4BA9-B2BC-A1AD545E39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1783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2110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4311A63-8FBF-8210-B665-909ACEF8B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2D39FF-0307-5CBD-4F32-944537EA3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F380F0-F63A-97FC-FF7D-26BE475887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5D34D-5BB7-4A52-ADAE-69E6D463169E}" type="datetimeFigureOut">
              <a:rPr lang="de-DE" smtClean="0"/>
              <a:t>10.06.2024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ABCBF2-A7FD-048D-3F00-B530F97ED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94A1C5-9E4D-CDAE-0422-1F07D9136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DFF19-B5F0-4BA9-B2BC-A1AD545E39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401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29"/>
          <p:cNvSpPr/>
          <p:nvPr/>
        </p:nvSpPr>
        <p:spPr>
          <a:xfrm>
            <a:off x="1289540" y="1806851"/>
            <a:ext cx="3616333" cy="2104926"/>
          </a:xfrm>
          <a:custGeom>
            <a:avLst/>
            <a:gdLst>
              <a:gd name="connsiteX0" fmla="*/ 1095152 w 2708841"/>
              <a:gd name="connsiteY0" fmla="*/ 0 h 1576710"/>
              <a:gd name="connsiteX1" fmla="*/ 2686223 w 2708841"/>
              <a:gd name="connsiteY1" fmla="*/ 1170561 h 1576710"/>
              <a:gd name="connsiteX2" fmla="*/ 2708841 w 2708841"/>
              <a:gd name="connsiteY2" fmla="*/ 1258528 h 1576710"/>
              <a:gd name="connsiteX3" fmla="*/ 1198572 w 2708841"/>
              <a:gd name="connsiteY3" fmla="*/ 992227 h 1576710"/>
              <a:gd name="connsiteX4" fmla="*/ 1197930 w 2708841"/>
              <a:gd name="connsiteY4" fmla="*/ 995869 h 1576710"/>
              <a:gd name="connsiteX5" fmla="*/ 1095152 w 2708841"/>
              <a:gd name="connsiteY5" fmla="*/ 985508 h 1576710"/>
              <a:gd name="connsiteX6" fmla="*/ 428515 w 2708841"/>
              <a:gd name="connsiteY6" fmla="*/ 1528833 h 1576710"/>
              <a:gd name="connsiteX7" fmla="*/ 423688 w 2708841"/>
              <a:gd name="connsiteY7" fmla="*/ 1576710 h 1576710"/>
              <a:gd name="connsiteX8" fmla="*/ 0 w 2708841"/>
              <a:gd name="connsiteY8" fmla="*/ 412637 h 1576710"/>
              <a:gd name="connsiteX9" fmla="*/ 35441 w 2708841"/>
              <a:gd name="connsiteY9" fmla="*/ 380427 h 1576710"/>
              <a:gd name="connsiteX10" fmla="*/ 1095152 w 2708841"/>
              <a:gd name="connsiteY10" fmla="*/ 0 h 157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708841" h="1576710">
                <a:moveTo>
                  <a:pt x="1095152" y="0"/>
                </a:moveTo>
                <a:cubicBezTo>
                  <a:pt x="1842724" y="0"/>
                  <a:pt x="2475292" y="492398"/>
                  <a:pt x="2686223" y="1170561"/>
                </a:cubicBezTo>
                <a:lnTo>
                  <a:pt x="2708841" y="1258528"/>
                </a:lnTo>
                <a:lnTo>
                  <a:pt x="1198572" y="992227"/>
                </a:lnTo>
                <a:lnTo>
                  <a:pt x="1197930" y="995869"/>
                </a:lnTo>
                <a:lnTo>
                  <a:pt x="1095152" y="985508"/>
                </a:lnTo>
                <a:cubicBezTo>
                  <a:pt x="766319" y="985508"/>
                  <a:pt x="491965" y="1218758"/>
                  <a:pt x="428515" y="1528833"/>
                </a:cubicBezTo>
                <a:lnTo>
                  <a:pt x="423688" y="1576710"/>
                </a:lnTo>
                <a:lnTo>
                  <a:pt x="0" y="412637"/>
                </a:lnTo>
                <a:lnTo>
                  <a:pt x="35441" y="380427"/>
                </a:lnTo>
                <a:cubicBezTo>
                  <a:pt x="323419" y="142766"/>
                  <a:pt x="692613" y="0"/>
                  <a:pt x="1095152" y="0"/>
                </a:cubicBezTo>
                <a:close/>
              </a:path>
            </a:pathLst>
          </a:custGeom>
          <a:solidFill>
            <a:srgbClr val="F2F2F2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tx1"/>
              </a:solidFill>
              <a:cs typeface="Segoe UI" panose="020B0502040204020203" pitchFamily="34" charset="0"/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527493" y="2424465"/>
            <a:ext cx="2588881" cy="3714078"/>
          </a:xfrm>
          <a:custGeom>
            <a:avLst/>
            <a:gdLst>
              <a:gd name="connsiteX0" fmla="*/ 515814 w 1939220"/>
              <a:gd name="connsiteY0" fmla="*/ 0 h 2782057"/>
              <a:gd name="connsiteX1" fmla="*/ 997655 w 1939220"/>
              <a:gd name="connsiteY1" fmla="*/ 1323848 h 2782057"/>
              <a:gd name="connsiteX2" fmla="*/ 999332 w 1939220"/>
              <a:gd name="connsiteY2" fmla="*/ 1340478 h 2782057"/>
              <a:gd name="connsiteX3" fmla="*/ 1665969 w 1939220"/>
              <a:gd name="connsiteY3" fmla="*/ 1883802 h 2782057"/>
              <a:gd name="connsiteX4" fmla="*/ 1930836 w 1939220"/>
              <a:gd name="connsiteY4" fmla="*/ 1830328 h 2782057"/>
              <a:gd name="connsiteX5" fmla="*/ 1939220 w 1939220"/>
              <a:gd name="connsiteY5" fmla="*/ 1825777 h 2782057"/>
              <a:gd name="connsiteX6" fmla="*/ 1136806 w 1939220"/>
              <a:gd name="connsiteY6" fmla="*/ 2782057 h 2782057"/>
              <a:gd name="connsiteX7" fmla="*/ 1017499 w 1939220"/>
              <a:gd name="connsiteY7" fmla="*/ 2738390 h 2782057"/>
              <a:gd name="connsiteX8" fmla="*/ 0 w 1939220"/>
              <a:gd name="connsiteY8" fmla="*/ 1203341 h 2782057"/>
              <a:gd name="connsiteX9" fmla="*/ 487951 w 1939220"/>
              <a:gd name="connsiteY9" fmla="*/ 25323 h 2782057"/>
              <a:gd name="connsiteX10" fmla="*/ 515814 w 1939220"/>
              <a:gd name="connsiteY10" fmla="*/ 0 h 2782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39220" h="2782057">
                <a:moveTo>
                  <a:pt x="515814" y="0"/>
                </a:moveTo>
                <a:lnTo>
                  <a:pt x="997655" y="1323848"/>
                </a:lnTo>
                <a:lnTo>
                  <a:pt x="999332" y="1340478"/>
                </a:lnTo>
                <a:cubicBezTo>
                  <a:pt x="1062782" y="1650552"/>
                  <a:pt x="1337136" y="1883802"/>
                  <a:pt x="1665969" y="1883802"/>
                </a:cubicBezTo>
                <a:cubicBezTo>
                  <a:pt x="1759921" y="1883802"/>
                  <a:pt x="1849426" y="1864761"/>
                  <a:pt x="1930836" y="1830328"/>
                </a:cubicBezTo>
                <a:lnTo>
                  <a:pt x="1939220" y="1825777"/>
                </a:lnTo>
                <a:lnTo>
                  <a:pt x="1136806" y="2782057"/>
                </a:lnTo>
                <a:lnTo>
                  <a:pt x="1017499" y="2738390"/>
                </a:lnTo>
                <a:cubicBezTo>
                  <a:pt x="419558" y="2485482"/>
                  <a:pt x="0" y="1893408"/>
                  <a:pt x="0" y="1203341"/>
                </a:cubicBezTo>
                <a:cubicBezTo>
                  <a:pt x="0" y="743297"/>
                  <a:pt x="186470" y="326804"/>
                  <a:pt x="487951" y="25323"/>
                </a:cubicBezTo>
                <a:lnTo>
                  <a:pt x="515814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tx1"/>
              </a:solidFill>
              <a:cs typeface="Segoe UI" panose="020B0502040204020203" pitchFamily="34" charset="0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2140355" y="3293281"/>
            <a:ext cx="2835313" cy="2961745"/>
          </a:xfrm>
          <a:custGeom>
            <a:avLst/>
            <a:gdLst>
              <a:gd name="connsiteX0" fmla="*/ 852477 w 2123812"/>
              <a:gd name="connsiteY0" fmla="*/ 0 h 2218517"/>
              <a:gd name="connsiteX1" fmla="*/ 2090186 w 2123812"/>
              <a:gd name="connsiteY1" fmla="*/ 218241 h 2218517"/>
              <a:gd name="connsiteX2" fmla="*/ 2115211 w 2123812"/>
              <a:gd name="connsiteY2" fmla="*/ 382212 h 2218517"/>
              <a:gd name="connsiteX3" fmla="*/ 2123812 w 2123812"/>
              <a:gd name="connsiteY3" fmla="*/ 552548 h 2218517"/>
              <a:gd name="connsiteX4" fmla="*/ 457843 w 2123812"/>
              <a:gd name="connsiteY4" fmla="*/ 2218517 h 2218517"/>
              <a:gd name="connsiteX5" fmla="*/ 122092 w 2123812"/>
              <a:gd name="connsiteY5" fmla="*/ 2184671 h 2218517"/>
              <a:gd name="connsiteX6" fmla="*/ 0 w 2123812"/>
              <a:gd name="connsiteY6" fmla="*/ 2153278 h 2218517"/>
              <a:gd name="connsiteX7" fmla="*/ 1004341 w 2123812"/>
              <a:gd name="connsiteY7" fmla="*/ 956350 h 2218517"/>
              <a:gd name="connsiteX8" fmla="*/ 1003447 w 2123812"/>
              <a:gd name="connsiteY8" fmla="*/ 955600 h 2218517"/>
              <a:gd name="connsiteX9" fmla="*/ 1022093 w 2123812"/>
              <a:gd name="connsiteY9" fmla="*/ 933000 h 2218517"/>
              <a:gd name="connsiteX10" fmla="*/ 1138305 w 2123812"/>
              <a:gd name="connsiteY10" fmla="*/ 552548 h 2218517"/>
              <a:gd name="connsiteX11" fmla="*/ 939003 w 2123812"/>
              <a:gd name="connsiteY11" fmla="*/ 71390 h 2218517"/>
              <a:gd name="connsiteX12" fmla="*/ 852477 w 2123812"/>
              <a:gd name="connsiteY12" fmla="*/ 0 h 2218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23812" h="2218517">
                <a:moveTo>
                  <a:pt x="852477" y="0"/>
                </a:moveTo>
                <a:lnTo>
                  <a:pt x="2090186" y="218241"/>
                </a:lnTo>
                <a:lnTo>
                  <a:pt x="2115211" y="382212"/>
                </a:lnTo>
                <a:cubicBezTo>
                  <a:pt x="2120899" y="438218"/>
                  <a:pt x="2123812" y="495043"/>
                  <a:pt x="2123812" y="552548"/>
                </a:cubicBezTo>
                <a:cubicBezTo>
                  <a:pt x="2123812" y="1472637"/>
                  <a:pt x="1377932" y="2218517"/>
                  <a:pt x="457843" y="2218517"/>
                </a:cubicBezTo>
                <a:cubicBezTo>
                  <a:pt x="342832" y="2218517"/>
                  <a:pt x="230543" y="2206863"/>
                  <a:pt x="122092" y="2184671"/>
                </a:cubicBezTo>
                <a:lnTo>
                  <a:pt x="0" y="2153278"/>
                </a:lnTo>
                <a:lnTo>
                  <a:pt x="1004341" y="956350"/>
                </a:lnTo>
                <a:lnTo>
                  <a:pt x="1003447" y="955600"/>
                </a:lnTo>
                <a:lnTo>
                  <a:pt x="1022093" y="933000"/>
                </a:lnTo>
                <a:cubicBezTo>
                  <a:pt x="1095463" y="824398"/>
                  <a:pt x="1138305" y="693476"/>
                  <a:pt x="1138305" y="552548"/>
                </a:cubicBezTo>
                <a:cubicBezTo>
                  <a:pt x="1138305" y="364644"/>
                  <a:pt x="1062142" y="194529"/>
                  <a:pt x="939003" y="71390"/>
                </a:cubicBezTo>
                <a:lnTo>
                  <a:pt x="852477" y="0"/>
                </a:lnTo>
                <a:close/>
              </a:path>
            </a:pathLst>
          </a:custGeom>
          <a:solidFill>
            <a:srgbClr val="F2F2F2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tx1"/>
              </a:solidFill>
              <a:cs typeface="Segoe UI" panose="020B0502040204020203" pitchFamily="34" charset="0"/>
            </a:endParaRPr>
          </a:p>
        </p:txBody>
      </p:sp>
      <p:pic>
        <p:nvPicPr>
          <p:cNvPr id="20" name="Grafik 19" descr="Benutzer mit einfarbiger Füllung">
            <a:extLst>
              <a:ext uri="{FF2B5EF4-FFF2-40B4-BE49-F238E27FC236}">
                <a16:creationId xmlns:a16="http://schemas.microsoft.com/office/drawing/2014/main" id="{4E1D6AB0-BCA2-D3BB-F83C-C70C4C71BF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82029" y="4514394"/>
            <a:ext cx="784357" cy="784357"/>
          </a:xfrm>
          <a:prstGeom prst="rect">
            <a:avLst/>
          </a:prstGeom>
        </p:spPr>
      </p:pic>
      <p:pic>
        <p:nvPicPr>
          <p:cNvPr id="16" name="Grafik 15" descr="Chat mit einfarbiger Füllung">
            <a:extLst>
              <a:ext uri="{FF2B5EF4-FFF2-40B4-BE49-F238E27FC236}">
                <a16:creationId xmlns:a16="http://schemas.microsoft.com/office/drawing/2014/main" id="{C40F6F72-BFA7-941B-A08D-526F83E710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471092" y="2137565"/>
            <a:ext cx="784357" cy="784357"/>
          </a:xfrm>
          <a:prstGeom prst="rect">
            <a:avLst/>
          </a:prstGeom>
        </p:spPr>
      </p:pic>
      <p:pic>
        <p:nvPicPr>
          <p:cNvPr id="32" name="Grafik 31" descr="Büromitarbeiter mit einfarbiger Füllung">
            <a:extLst>
              <a:ext uri="{FF2B5EF4-FFF2-40B4-BE49-F238E27FC236}">
                <a16:creationId xmlns:a16="http://schemas.microsoft.com/office/drawing/2014/main" id="{5F288CB2-6BB1-C1DD-3F4E-7A69551481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752822" y="4302309"/>
            <a:ext cx="784357" cy="784357"/>
          </a:xfrm>
          <a:prstGeom prst="rect">
            <a:avLst/>
          </a:prstGeom>
        </p:spPr>
      </p:pic>
      <p:sp>
        <p:nvSpPr>
          <p:cNvPr id="8" name="Rechteck 28"/>
          <p:cNvSpPr/>
          <p:nvPr/>
        </p:nvSpPr>
        <p:spPr bwMode="gray">
          <a:xfrm>
            <a:off x="7338248" y="3376912"/>
            <a:ext cx="4140991" cy="130805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0" tIns="0" rIns="0" bIns="0" numCol="1" spcCol="72000" rtlCol="0" anchor="t" anchorCtr="0">
            <a:spAutoFit/>
          </a:bodyPr>
          <a:lstStyle/>
          <a:p>
            <a:pPr marL="0" lvl="1">
              <a:spcBef>
                <a:spcPts val="600"/>
              </a:spcBef>
              <a:buClr>
                <a:schemeClr val="accent1">
                  <a:lumMod val="100000"/>
                </a:schemeClr>
              </a:buClr>
              <a:buSzPct val="100000"/>
              <a:tabLst>
                <a:tab pos="1255085" algn="r"/>
              </a:tabLst>
              <a:defRPr/>
            </a:pPr>
            <a:r>
              <a:rPr lang="en-US" altLang="de-DE" sz="1500" b="1" dirty="0">
                <a:ea typeface="Arial Unicode MS"/>
              </a:rPr>
              <a:t>Distinguished and unique consulting offer</a:t>
            </a:r>
            <a:endParaRPr lang="en-US" altLang="de-DE" sz="1500" dirty="0">
              <a:ea typeface="Arial Unicode MS"/>
              <a:cs typeface="Arial" pitchFamily="34" charset="0"/>
            </a:endParaRPr>
          </a:p>
          <a:p>
            <a:pPr marL="203200" lvl="1" indent="-203200">
              <a:spcBef>
                <a:spcPts val="600"/>
              </a:spcBef>
              <a:buClr>
                <a:srgbClr val="C80041"/>
              </a:buClr>
              <a:buSzPct val="100000"/>
              <a:buFont typeface="Wingdings" panose="05000000000000000000" pitchFamily="2" charset="2"/>
              <a:buChar char="§"/>
              <a:tabLst>
                <a:tab pos="1255085" algn="r"/>
              </a:tabLst>
              <a:defRPr/>
            </a:pPr>
            <a:r>
              <a:rPr lang="en-US" altLang="de-DE" sz="1500" dirty="0">
                <a:cs typeface="Arial" pitchFamily="34" charset="0"/>
              </a:rPr>
              <a:t>Leading consultancy in marketing, sales and pricing with nearly 40 years of experience</a:t>
            </a:r>
          </a:p>
          <a:p>
            <a:pPr marL="203200" lvl="1" indent="-203200">
              <a:spcBef>
                <a:spcPts val="600"/>
              </a:spcBef>
              <a:buClr>
                <a:srgbClr val="C80041"/>
              </a:buClr>
              <a:buSzPct val="100000"/>
              <a:buFont typeface="Wingdings" panose="05000000000000000000" pitchFamily="2" charset="2"/>
              <a:buChar char="§"/>
              <a:tabLst>
                <a:tab pos="1255085" algn="r"/>
              </a:tabLst>
              <a:defRPr/>
            </a:pPr>
            <a:r>
              <a:rPr lang="en-US" altLang="de-DE" sz="1500" dirty="0">
                <a:cs typeface="Arial" pitchFamily="34" charset="0"/>
              </a:rPr>
              <a:t>Science-and growth-oriented approach since day one securing client trust and satisfaction</a:t>
            </a:r>
          </a:p>
        </p:txBody>
      </p:sp>
      <p:sp>
        <p:nvSpPr>
          <p:cNvPr id="11" name="Ellipse 2">
            <a:extLst>
              <a:ext uri="{FF2B5EF4-FFF2-40B4-BE49-F238E27FC236}">
                <a16:creationId xmlns:a16="http://schemas.microsoft.com/office/drawing/2014/main" id="{F2966B9D-552A-4F40-8FDA-76DB53548263}"/>
              </a:ext>
            </a:extLst>
          </p:cNvPr>
          <p:cNvSpPr/>
          <p:nvPr/>
        </p:nvSpPr>
        <p:spPr bwMode="auto">
          <a:xfrm>
            <a:off x="5979689" y="1806851"/>
            <a:ext cx="799340" cy="799340"/>
          </a:xfrm>
          <a:prstGeom prst="ellipse">
            <a:avLst/>
          </a:prstGeom>
          <a:solidFill>
            <a:srgbClr val="C8004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799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Ellipse 3">
            <a:extLst>
              <a:ext uri="{FF2B5EF4-FFF2-40B4-BE49-F238E27FC236}">
                <a16:creationId xmlns:a16="http://schemas.microsoft.com/office/drawing/2014/main" id="{7B5278C7-B884-47D2-9FE9-E4192B4E1E2F}"/>
              </a:ext>
            </a:extLst>
          </p:cNvPr>
          <p:cNvSpPr/>
          <p:nvPr/>
        </p:nvSpPr>
        <p:spPr bwMode="auto">
          <a:xfrm>
            <a:off x="6400415" y="3631268"/>
            <a:ext cx="799340" cy="799340"/>
          </a:xfrm>
          <a:prstGeom prst="ellipse">
            <a:avLst/>
          </a:prstGeom>
          <a:solidFill>
            <a:srgbClr val="C8004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799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Ellipse 4">
            <a:extLst>
              <a:ext uri="{FF2B5EF4-FFF2-40B4-BE49-F238E27FC236}">
                <a16:creationId xmlns:a16="http://schemas.microsoft.com/office/drawing/2014/main" id="{919B8E92-9460-4D12-A18B-0061521366E1}"/>
              </a:ext>
            </a:extLst>
          </p:cNvPr>
          <p:cNvSpPr/>
          <p:nvPr/>
        </p:nvSpPr>
        <p:spPr bwMode="auto">
          <a:xfrm>
            <a:off x="5979689" y="5455686"/>
            <a:ext cx="799340" cy="799340"/>
          </a:xfrm>
          <a:prstGeom prst="ellipse">
            <a:avLst/>
          </a:prstGeom>
          <a:solidFill>
            <a:srgbClr val="C8004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799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Arc 8"/>
          <p:cNvSpPr/>
          <p:nvPr/>
        </p:nvSpPr>
        <p:spPr>
          <a:xfrm rot="780000">
            <a:off x="6365906" y="4073937"/>
            <a:ext cx="326606" cy="1738420"/>
          </a:xfrm>
          <a:prstGeom prst="arc">
            <a:avLst>
              <a:gd name="adj1" fmla="val 17155180"/>
              <a:gd name="adj2" fmla="val 4357666"/>
            </a:avLst>
          </a:prstGeom>
          <a:ln w="38100" cap="rnd" cmpd="sng" algn="ctr">
            <a:solidFill>
              <a:srgbClr val="A0A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Arc 18"/>
          <p:cNvSpPr/>
          <p:nvPr/>
        </p:nvSpPr>
        <p:spPr>
          <a:xfrm rot="20880000">
            <a:off x="6380100" y="2265758"/>
            <a:ext cx="326606" cy="1738420"/>
          </a:xfrm>
          <a:prstGeom prst="arc">
            <a:avLst>
              <a:gd name="adj1" fmla="val 17155180"/>
              <a:gd name="adj2" fmla="val 4357666"/>
            </a:avLst>
          </a:prstGeom>
          <a:ln w="38100" cap="rnd" cmpd="sng" algn="ctr">
            <a:solidFill>
              <a:srgbClr val="A0A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hteck 28"/>
          <p:cNvSpPr/>
          <p:nvPr/>
        </p:nvSpPr>
        <p:spPr bwMode="gray">
          <a:xfrm>
            <a:off x="7338248" y="5201331"/>
            <a:ext cx="4140991" cy="130805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0" tIns="0" rIns="0" bIns="0" numCol="1" spcCol="72000" rtlCol="0" anchor="t" anchorCtr="0">
            <a:spAutoFit/>
          </a:bodyPr>
          <a:lstStyle/>
          <a:p>
            <a:pPr marL="0" lvl="1">
              <a:spcBef>
                <a:spcPts val="600"/>
              </a:spcBef>
              <a:buClr>
                <a:schemeClr val="accent1">
                  <a:lumMod val="100000"/>
                </a:schemeClr>
              </a:buClr>
              <a:buSzPct val="100000"/>
              <a:tabLst>
                <a:tab pos="1255085" algn="r"/>
              </a:tabLst>
              <a:defRPr/>
            </a:pPr>
            <a:r>
              <a:rPr lang="en-US" altLang="de-DE" sz="1500" b="1" dirty="0">
                <a:ea typeface="Arial Unicode MS"/>
                <a:cs typeface="Arial" pitchFamily="34" charset="0"/>
              </a:rPr>
              <a:t>Entrepreneurial spirit fosters positive work culture</a:t>
            </a:r>
          </a:p>
          <a:p>
            <a:pPr marL="203200" lvl="1" indent="-203200">
              <a:spcBef>
                <a:spcPts val="600"/>
              </a:spcBef>
              <a:buClr>
                <a:srgbClr val="C80041"/>
              </a:buClr>
              <a:buSzPct val="100000"/>
              <a:buFont typeface="Wingdings" panose="05000000000000000000" pitchFamily="2" charset="2"/>
              <a:buChar char="§"/>
              <a:tabLst>
                <a:tab pos="1255085" algn="r"/>
              </a:tabLst>
              <a:defRPr/>
            </a:pPr>
            <a:r>
              <a:rPr lang="en-US" altLang="de-DE" sz="1500" dirty="0">
                <a:cs typeface="Arial" pitchFamily="34" charset="0"/>
              </a:rPr>
              <a:t>Pleasant, positive and collaborative team atmosphere </a:t>
            </a:r>
          </a:p>
          <a:p>
            <a:pPr marL="203200" lvl="1" indent="-203200">
              <a:spcBef>
                <a:spcPts val="600"/>
              </a:spcBef>
              <a:buClr>
                <a:srgbClr val="C80041"/>
              </a:buClr>
              <a:buSzPct val="100000"/>
              <a:buFont typeface="Wingdings" panose="05000000000000000000" pitchFamily="2" charset="2"/>
              <a:buChar char="§"/>
              <a:tabLst>
                <a:tab pos="1255085" algn="r"/>
              </a:tabLst>
              <a:defRPr/>
            </a:pPr>
            <a:r>
              <a:rPr lang="en-US" altLang="de-DE" sz="1500" dirty="0">
                <a:cs typeface="Arial" pitchFamily="34" charset="0"/>
              </a:rPr>
              <a:t>High degree of accountability ensures timely and optimal delivery of project objectives</a:t>
            </a:r>
          </a:p>
        </p:txBody>
      </p:sp>
      <p:sp>
        <p:nvSpPr>
          <p:cNvPr id="34" name="Rechteck 28">
            <a:extLst>
              <a:ext uri="{FF2B5EF4-FFF2-40B4-BE49-F238E27FC236}">
                <a16:creationId xmlns:a16="http://schemas.microsoft.com/office/drawing/2014/main" id="{5A8A371C-B5EF-873D-7576-B0B6A3BD233A}"/>
              </a:ext>
            </a:extLst>
          </p:cNvPr>
          <p:cNvSpPr/>
          <p:nvPr/>
        </p:nvSpPr>
        <p:spPr bwMode="gray">
          <a:xfrm>
            <a:off x="7338248" y="1552496"/>
            <a:ext cx="4140991" cy="130805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0" tIns="0" rIns="0" bIns="0" numCol="1" spcCol="72000" rtlCol="0" anchor="t" anchorCtr="0">
            <a:spAutoFit/>
          </a:bodyPr>
          <a:lstStyle/>
          <a:p>
            <a:pPr marL="0" lvl="1">
              <a:spcBef>
                <a:spcPts val="600"/>
              </a:spcBef>
              <a:buClr>
                <a:schemeClr val="accent1">
                  <a:lumMod val="100000"/>
                </a:schemeClr>
              </a:buClr>
              <a:buSzPct val="100000"/>
              <a:tabLst>
                <a:tab pos="1255085" algn="r"/>
              </a:tabLst>
            </a:pPr>
            <a:r>
              <a:rPr lang="de-DE" sz="1500" b="1" dirty="0"/>
              <a:t>Positive personal </a:t>
            </a:r>
            <a:r>
              <a:rPr lang="de-DE" sz="1500" b="1" dirty="0" err="1"/>
              <a:t>impressions</a:t>
            </a:r>
            <a:r>
              <a:rPr lang="de-DE" sz="1500" b="1" dirty="0"/>
              <a:t> </a:t>
            </a:r>
            <a:r>
              <a:rPr lang="de-DE" sz="1500" b="1" dirty="0" err="1"/>
              <a:t>of</a:t>
            </a:r>
            <a:r>
              <a:rPr lang="de-DE" sz="1500" b="1" dirty="0"/>
              <a:t> </a:t>
            </a:r>
            <a:r>
              <a:rPr lang="de-DE" sz="1500" b="1" dirty="0" err="1"/>
              <a:t>the</a:t>
            </a:r>
            <a:r>
              <a:rPr lang="de-DE" sz="1500" b="1" dirty="0"/>
              <a:t> </a:t>
            </a:r>
            <a:r>
              <a:rPr lang="de-DE" sz="1500" b="1" dirty="0" err="1"/>
              <a:t>company</a:t>
            </a:r>
            <a:endParaRPr lang="en-US" altLang="de-DE" sz="1500" dirty="0">
              <a:cs typeface="Arial" pitchFamily="34" charset="0"/>
            </a:endParaRPr>
          </a:p>
          <a:p>
            <a:pPr marL="203200" lvl="1" indent="-203200">
              <a:spcBef>
                <a:spcPts val="600"/>
              </a:spcBef>
              <a:buClr>
                <a:srgbClr val="C80041"/>
              </a:buClr>
              <a:buSzPct val="100000"/>
              <a:buFont typeface="Wingdings" panose="05000000000000000000" pitchFamily="2" charset="2"/>
              <a:buChar char="§"/>
              <a:tabLst>
                <a:tab pos="1255085" algn="r"/>
              </a:tabLst>
            </a:pPr>
            <a:r>
              <a:rPr lang="en-US" altLang="de-DE" sz="1500" dirty="0">
                <a:cs typeface="Arial" pitchFamily="34" charset="0"/>
              </a:rPr>
              <a:t>Valuable insights through speed interview with </a:t>
            </a:r>
            <a:br>
              <a:rPr lang="en-US" altLang="de-DE" sz="1500" dirty="0">
                <a:cs typeface="Arial" pitchFamily="34" charset="0"/>
              </a:rPr>
            </a:br>
            <a:r>
              <a:rPr lang="en-US" altLang="de-DE" sz="1500" dirty="0">
                <a:cs typeface="Arial" pitchFamily="34" charset="0"/>
              </a:rPr>
              <a:t>Mr. Lau during Mannheim Forum 2023</a:t>
            </a:r>
          </a:p>
          <a:p>
            <a:pPr marL="203200" lvl="1" indent="-203200">
              <a:spcBef>
                <a:spcPts val="600"/>
              </a:spcBef>
              <a:buClr>
                <a:srgbClr val="C80041"/>
              </a:buClr>
              <a:buSzPct val="100000"/>
              <a:buFont typeface="Wingdings" panose="05000000000000000000" pitchFamily="2" charset="2"/>
              <a:buChar char="§"/>
              <a:tabLst>
                <a:tab pos="1255085" algn="r"/>
              </a:tabLst>
            </a:pPr>
            <a:r>
              <a:rPr lang="en-US" altLang="de-DE" sz="1500" dirty="0">
                <a:cs typeface="Arial" pitchFamily="34" charset="0"/>
              </a:rPr>
              <a:t>Positive feedback from former interns at SK</a:t>
            </a:r>
            <a:br>
              <a:rPr lang="en-US" altLang="de-DE" sz="1500" dirty="0">
                <a:cs typeface="Arial" pitchFamily="34" charset="0"/>
              </a:rPr>
            </a:br>
            <a:r>
              <a:rPr lang="en-US" altLang="de-DE" sz="1500" dirty="0">
                <a:cs typeface="Arial" pitchFamily="34" charset="0"/>
              </a:rPr>
              <a:t>(e.g. interesting projects, high trust in interns)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FC2B9BEE-7954-72D8-F1A2-6A69B8688446}"/>
              </a:ext>
            </a:extLst>
          </p:cNvPr>
          <p:cNvSpPr txBox="1">
            <a:spLocks/>
          </p:cNvSpPr>
          <p:nvPr/>
        </p:nvSpPr>
        <p:spPr>
          <a:xfrm>
            <a:off x="249821" y="365125"/>
            <a:ext cx="11510682" cy="9633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chemeClr val="tx1"/>
                </a:solidFill>
              </a:rPr>
              <a:t>I </a:t>
            </a:r>
            <a:r>
              <a:rPr lang="de-DE" dirty="0" err="1">
                <a:solidFill>
                  <a:schemeClr val="tx1"/>
                </a:solidFill>
              </a:rPr>
              <a:t>decided</a:t>
            </a:r>
            <a:r>
              <a:rPr lang="de-DE" dirty="0">
                <a:solidFill>
                  <a:schemeClr val="tx1"/>
                </a:solidFill>
              </a:rPr>
              <a:t> to </a:t>
            </a:r>
            <a:r>
              <a:rPr lang="de-DE" dirty="0" err="1">
                <a:solidFill>
                  <a:schemeClr val="tx1"/>
                </a:solidFill>
              </a:rPr>
              <a:t>apply</a:t>
            </a:r>
            <a:r>
              <a:rPr lang="de-DE" dirty="0">
                <a:solidFill>
                  <a:schemeClr val="tx1"/>
                </a:solidFill>
              </a:rPr>
              <a:t> to Simon-Kucher due to my personal </a:t>
            </a:r>
            <a:r>
              <a:rPr lang="de-DE" dirty="0" err="1">
                <a:solidFill>
                  <a:schemeClr val="tx1"/>
                </a:solidFill>
              </a:rPr>
              <a:t>connection</a:t>
            </a:r>
            <a:r>
              <a:rPr lang="de-DE" dirty="0">
                <a:solidFill>
                  <a:schemeClr val="tx1"/>
                </a:solidFill>
              </a:rPr>
              <a:t> to </a:t>
            </a:r>
            <a:r>
              <a:rPr lang="de-DE" dirty="0" err="1">
                <a:solidFill>
                  <a:schemeClr val="tx1"/>
                </a:solidFill>
              </a:rPr>
              <a:t>the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company</a:t>
            </a:r>
            <a:r>
              <a:rPr lang="de-DE" dirty="0">
                <a:solidFill>
                  <a:schemeClr val="tx1"/>
                </a:solidFill>
              </a:rPr>
              <a:t>, your </a:t>
            </a:r>
            <a:r>
              <a:rPr lang="de-DE" dirty="0" err="1">
                <a:solidFill>
                  <a:schemeClr val="tx1"/>
                </a:solidFill>
              </a:rPr>
              <a:t>unique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consulting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offer</a:t>
            </a:r>
            <a:r>
              <a:rPr lang="de-DE" dirty="0">
                <a:solidFill>
                  <a:schemeClr val="tx1"/>
                </a:solidFill>
              </a:rPr>
              <a:t> and </a:t>
            </a:r>
            <a:r>
              <a:rPr lang="de-DE" dirty="0" err="1">
                <a:solidFill>
                  <a:schemeClr val="tx1"/>
                </a:solidFill>
              </a:rPr>
              <a:t>pleasant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work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culture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CBA4E54-4615-1A5C-4347-98DE4C94EEB5}"/>
              </a:ext>
            </a:extLst>
          </p:cNvPr>
          <p:cNvSpPr txBox="1"/>
          <p:nvPr/>
        </p:nvSpPr>
        <p:spPr>
          <a:xfrm>
            <a:off x="249821" y="1328442"/>
            <a:ext cx="11510682" cy="24055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r>
              <a:rPr lang="en-US" sz="1600" dirty="0"/>
              <a:t>Reasons I am interested in Simon-Kucher as a potential employer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1749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">
            <a:extLst>
              <a:ext uri="{FF2B5EF4-FFF2-40B4-BE49-F238E27FC236}">
                <a16:creationId xmlns:a16="http://schemas.microsoft.com/office/drawing/2014/main" id="{810A21B8-6056-3CD6-8A11-C96C5DB5DC8F}"/>
              </a:ext>
            </a:extLst>
          </p:cNvPr>
          <p:cNvSpPr txBox="1">
            <a:spLocks/>
          </p:cNvSpPr>
          <p:nvPr/>
        </p:nvSpPr>
        <p:spPr>
          <a:xfrm>
            <a:off x="249821" y="365125"/>
            <a:ext cx="11510682" cy="9633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b="1" dirty="0"/>
              <a:t>Pepsi </a:t>
            </a:r>
            <a:r>
              <a:rPr lang="de-DE" sz="3200" b="1" dirty="0" err="1"/>
              <a:t>capitalizes</a:t>
            </a:r>
            <a:r>
              <a:rPr lang="de-DE" sz="3200" b="1" dirty="0"/>
              <a:t> on </a:t>
            </a:r>
            <a:r>
              <a:rPr lang="de-DE" sz="3200" b="1" dirty="0" err="1"/>
              <a:t>the</a:t>
            </a:r>
            <a:r>
              <a:rPr lang="de-DE" sz="3200" b="1" dirty="0"/>
              <a:t> </a:t>
            </a:r>
            <a:r>
              <a:rPr lang="de-DE" sz="3200" b="1" dirty="0" err="1"/>
              <a:t>rise</a:t>
            </a:r>
            <a:r>
              <a:rPr lang="de-DE" sz="3200" b="1" dirty="0"/>
              <a:t> </a:t>
            </a:r>
            <a:r>
              <a:rPr lang="de-DE" sz="3200" b="1" dirty="0" err="1"/>
              <a:t>of</a:t>
            </a:r>
            <a:r>
              <a:rPr lang="de-DE" sz="3200" b="1" dirty="0"/>
              <a:t> K-pop </a:t>
            </a:r>
            <a:r>
              <a:rPr lang="de-DE" sz="3200" b="1" dirty="0" err="1"/>
              <a:t>through</a:t>
            </a:r>
            <a:r>
              <a:rPr lang="de-DE" sz="3200" b="1" dirty="0"/>
              <a:t> </a:t>
            </a:r>
            <a:r>
              <a:rPr lang="de-DE" sz="3200" b="1" dirty="0" err="1"/>
              <a:t>its</a:t>
            </a:r>
            <a:r>
              <a:rPr lang="de-DE" sz="3200" b="1" dirty="0"/>
              <a:t> own Pepsi-Cola </a:t>
            </a:r>
            <a:r>
              <a:rPr lang="de-DE" sz="3200" b="1" dirty="0" err="1"/>
              <a:t>songs</a:t>
            </a:r>
            <a:r>
              <a:rPr lang="de-DE" sz="3200" b="1" dirty="0"/>
              <a:t> and innovative </a:t>
            </a:r>
            <a:r>
              <a:rPr lang="de-DE" sz="3200" b="1" dirty="0" err="1"/>
              <a:t>marketing</a:t>
            </a:r>
            <a:r>
              <a:rPr lang="de-DE" sz="3200" b="1" dirty="0"/>
              <a:t> </a:t>
            </a:r>
            <a:r>
              <a:rPr lang="de-DE" sz="3200" b="1" dirty="0" err="1"/>
              <a:t>campaigns</a:t>
            </a:r>
            <a:r>
              <a:rPr lang="de-DE" sz="3200" b="1" dirty="0"/>
              <a:t> with </a:t>
            </a:r>
            <a:r>
              <a:rPr lang="de-DE" sz="3200" b="1" dirty="0" err="1"/>
              <a:t>world-famous</a:t>
            </a:r>
            <a:r>
              <a:rPr lang="de-DE" sz="3200" b="1" dirty="0"/>
              <a:t> </a:t>
            </a:r>
            <a:r>
              <a:rPr lang="de-DE" sz="3200" b="1" dirty="0" err="1"/>
              <a:t>industry</a:t>
            </a:r>
            <a:r>
              <a:rPr lang="de-DE" sz="3200" b="1" dirty="0"/>
              <a:t> </a:t>
            </a:r>
            <a:r>
              <a:rPr lang="de-DE" sz="3200" b="1" dirty="0" err="1"/>
              <a:t>stars</a:t>
            </a:r>
            <a:r>
              <a:rPr lang="de-DE" sz="3200" b="1" dirty="0"/>
              <a:t>.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78EF539-7851-BB52-4C49-7392AA0353E6}"/>
              </a:ext>
            </a:extLst>
          </p:cNvPr>
          <p:cNvSpPr txBox="1"/>
          <p:nvPr/>
        </p:nvSpPr>
        <p:spPr>
          <a:xfrm>
            <a:off x="249821" y="1328442"/>
            <a:ext cx="11510682" cy="24055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r>
              <a:rPr lang="en-US" sz="1600" dirty="0"/>
              <a:t>Examples of Pepsi’s engagement within the K-pop industry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CAA4B19-3594-7649-6E9F-EFC3FB76D6C5}"/>
              </a:ext>
            </a:extLst>
          </p:cNvPr>
          <p:cNvSpPr/>
          <p:nvPr/>
        </p:nvSpPr>
        <p:spPr>
          <a:xfrm>
            <a:off x="335993" y="5958038"/>
            <a:ext cx="11345100" cy="65003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buClr>
                <a:schemeClr val="accent1"/>
              </a:buClr>
            </a:pPr>
            <a:r>
              <a:rPr lang="de-DE" b="1" dirty="0">
                <a:solidFill>
                  <a:srgbClr val="C80041"/>
                </a:solidFill>
              </a:rPr>
              <a:t>	Pepsi </a:t>
            </a:r>
            <a:r>
              <a:rPr lang="de-DE" b="1" dirty="0" err="1">
                <a:solidFill>
                  <a:srgbClr val="C80041"/>
                </a:solidFill>
              </a:rPr>
              <a:t>succeeds</a:t>
            </a:r>
            <a:r>
              <a:rPr lang="de-DE" b="1" dirty="0">
                <a:solidFill>
                  <a:srgbClr val="C80041"/>
                </a:solidFill>
              </a:rPr>
              <a:t> in </a:t>
            </a:r>
            <a:r>
              <a:rPr lang="de-DE" b="1" dirty="0" err="1">
                <a:solidFill>
                  <a:srgbClr val="C80041"/>
                </a:solidFill>
              </a:rPr>
              <a:t>blending</a:t>
            </a:r>
            <a:r>
              <a:rPr lang="de-DE" b="1" dirty="0">
                <a:solidFill>
                  <a:srgbClr val="C80041"/>
                </a:solidFill>
              </a:rPr>
              <a:t> </a:t>
            </a:r>
            <a:r>
              <a:rPr lang="de-DE" b="1" dirty="0" err="1">
                <a:solidFill>
                  <a:srgbClr val="C80041"/>
                </a:solidFill>
              </a:rPr>
              <a:t>advertisement</a:t>
            </a:r>
            <a:r>
              <a:rPr lang="de-DE" b="1" dirty="0">
                <a:solidFill>
                  <a:srgbClr val="C80041"/>
                </a:solidFill>
              </a:rPr>
              <a:t> and </a:t>
            </a:r>
            <a:r>
              <a:rPr lang="de-DE" b="1" dirty="0" err="1">
                <a:solidFill>
                  <a:srgbClr val="C80041"/>
                </a:solidFill>
              </a:rPr>
              <a:t>entertainment</a:t>
            </a:r>
            <a:r>
              <a:rPr lang="de-DE" b="1" dirty="0">
                <a:solidFill>
                  <a:srgbClr val="C80041"/>
                </a:solidFill>
              </a:rPr>
              <a:t> </a:t>
            </a:r>
            <a:r>
              <a:rPr lang="de-DE" b="1" dirty="0" err="1">
                <a:solidFill>
                  <a:srgbClr val="C80041"/>
                </a:solidFill>
              </a:rPr>
              <a:t>by</a:t>
            </a:r>
            <a:r>
              <a:rPr lang="de-DE" b="1" dirty="0">
                <a:solidFill>
                  <a:srgbClr val="C80041"/>
                </a:solidFill>
              </a:rPr>
              <a:t> </a:t>
            </a:r>
            <a:r>
              <a:rPr lang="de-DE" b="1" dirty="0" err="1">
                <a:solidFill>
                  <a:srgbClr val="C80041"/>
                </a:solidFill>
              </a:rPr>
              <a:t>relying</a:t>
            </a:r>
            <a:r>
              <a:rPr lang="de-DE" b="1" dirty="0">
                <a:solidFill>
                  <a:srgbClr val="C80041"/>
                </a:solidFill>
              </a:rPr>
              <a:t> on </a:t>
            </a:r>
            <a:r>
              <a:rPr lang="de-DE" b="1" dirty="0" err="1">
                <a:solidFill>
                  <a:srgbClr val="C80041"/>
                </a:solidFill>
              </a:rPr>
              <a:t>the</a:t>
            </a:r>
            <a:r>
              <a:rPr lang="de-DE" b="1" dirty="0">
                <a:solidFill>
                  <a:srgbClr val="C80041"/>
                </a:solidFill>
              </a:rPr>
              <a:t> </a:t>
            </a:r>
            <a:r>
              <a:rPr lang="de-DE" b="1" dirty="0" err="1">
                <a:solidFill>
                  <a:srgbClr val="C80041"/>
                </a:solidFill>
              </a:rPr>
              <a:t>trending</a:t>
            </a:r>
            <a:r>
              <a:rPr lang="de-DE" b="1" dirty="0">
                <a:solidFill>
                  <a:srgbClr val="C80041"/>
                </a:solidFill>
              </a:rPr>
              <a:t> K-Pop </a:t>
            </a:r>
            <a:r>
              <a:rPr lang="de-DE" b="1" dirty="0" err="1">
                <a:solidFill>
                  <a:srgbClr val="C80041"/>
                </a:solidFill>
              </a:rPr>
              <a:t>industry</a:t>
            </a:r>
            <a:r>
              <a:rPr lang="de-DE" b="1" dirty="0">
                <a:solidFill>
                  <a:srgbClr val="C80041"/>
                </a:solidFill>
              </a:rPr>
              <a:t>.</a:t>
            </a:r>
          </a:p>
        </p:txBody>
      </p:sp>
      <p:pic>
        <p:nvPicPr>
          <p:cNvPr id="12" name="Grafik 11" descr="Aufwärtstrend mit einfarbiger Füllung">
            <a:extLst>
              <a:ext uri="{FF2B5EF4-FFF2-40B4-BE49-F238E27FC236}">
                <a16:creationId xmlns:a16="http://schemas.microsoft.com/office/drawing/2014/main" id="{F7E57BFF-C71B-1A1B-499A-538CEB8016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3855" y="5958038"/>
            <a:ext cx="650036" cy="650036"/>
          </a:xfrm>
          <a:prstGeom prst="rect">
            <a:avLst/>
          </a:prstGeom>
        </p:spPr>
      </p:pic>
      <p:pic>
        <p:nvPicPr>
          <p:cNvPr id="29" name="Grafik 28" descr="Ein Bild, das Text, Grafikdesign, Drink, Flasche enthält.&#10;&#10;Automatisch generierte Beschreibung">
            <a:extLst>
              <a:ext uri="{FF2B5EF4-FFF2-40B4-BE49-F238E27FC236}">
                <a16:creationId xmlns:a16="http://schemas.microsoft.com/office/drawing/2014/main" id="{6F9B324F-473D-4DA9-9648-1DD1D552DC5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8" r="3339"/>
          <a:stretch/>
        </p:blipFill>
        <p:spPr>
          <a:xfrm>
            <a:off x="336500" y="2002596"/>
            <a:ext cx="3298741" cy="2198923"/>
          </a:xfrm>
          <a:prstGeom prst="rect">
            <a:avLst/>
          </a:prstGeom>
          <a:ln w="6430">
            <a:solidFill>
              <a:schemeClr val="tx1"/>
            </a:solidFill>
          </a:ln>
        </p:spPr>
      </p:pic>
      <p:sp>
        <p:nvSpPr>
          <p:cNvPr id="21" name="Rechteck 28">
            <a:extLst>
              <a:ext uri="{FF2B5EF4-FFF2-40B4-BE49-F238E27FC236}">
                <a16:creationId xmlns:a16="http://schemas.microsoft.com/office/drawing/2014/main" id="{984FA968-E03C-5475-1582-50EC59320A20}"/>
              </a:ext>
            </a:extLst>
          </p:cNvPr>
          <p:cNvSpPr/>
          <p:nvPr/>
        </p:nvSpPr>
        <p:spPr bwMode="gray">
          <a:xfrm>
            <a:off x="336678" y="4295141"/>
            <a:ext cx="3298385" cy="1192634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0" tIns="0" rIns="0" bIns="0" numCol="1" spcCol="72000" rtlCol="0" anchor="t" anchorCtr="0">
            <a:spAutoFit/>
          </a:bodyPr>
          <a:lstStyle/>
          <a:p>
            <a:pPr marL="0" lvl="1">
              <a:spcBef>
                <a:spcPts val="600"/>
              </a:spcBef>
              <a:buClr>
                <a:schemeClr val="accent1">
                  <a:lumMod val="100000"/>
                </a:schemeClr>
              </a:buClr>
              <a:buSzPct val="100000"/>
              <a:tabLst>
                <a:tab pos="1255085" algn="r"/>
              </a:tabLst>
              <a:defRPr/>
            </a:pPr>
            <a:r>
              <a:rPr lang="en-US" altLang="de-DE" sz="1350" b="1" dirty="0">
                <a:ea typeface="Arial Unicode MS"/>
                <a:cs typeface="Arial" pitchFamily="34" charset="0"/>
              </a:rPr>
              <a:t>Pepsi Zero at the center of advertisement</a:t>
            </a:r>
            <a:endParaRPr lang="en-US" altLang="de-DE" sz="1215" b="1" dirty="0">
              <a:ea typeface="Arial Unicode MS"/>
              <a:cs typeface="Arial" pitchFamily="34" charset="0"/>
            </a:endParaRPr>
          </a:p>
          <a:p>
            <a:pPr marL="182880" lvl="1" indent="-182880">
              <a:spcBef>
                <a:spcPts val="600"/>
              </a:spcBef>
              <a:buClr>
                <a:srgbClr val="C80041"/>
              </a:buClr>
              <a:buSzPct val="100000"/>
              <a:buFont typeface="Wingdings" panose="05000000000000000000" pitchFamily="2" charset="2"/>
              <a:buChar char="§"/>
              <a:tabLst>
                <a:tab pos="1255085" algn="r"/>
              </a:tabLst>
              <a:defRPr/>
            </a:pPr>
            <a:r>
              <a:rPr lang="en-US" altLang="de-DE" sz="1350" dirty="0">
                <a:cs typeface="Arial" pitchFamily="34" charset="0"/>
              </a:rPr>
              <a:t>Ideal market environment due to strict beauty standards in Asian countries</a:t>
            </a:r>
          </a:p>
          <a:p>
            <a:pPr marL="182880" lvl="1" indent="-182880">
              <a:spcBef>
                <a:spcPts val="600"/>
              </a:spcBef>
              <a:buClr>
                <a:srgbClr val="C80041"/>
              </a:buClr>
              <a:buSzPct val="100000"/>
              <a:buFont typeface="Wingdings" panose="05000000000000000000" pitchFamily="2" charset="2"/>
              <a:buChar char="§"/>
              <a:tabLst>
                <a:tab pos="1255085" algn="r"/>
              </a:tabLst>
              <a:defRPr/>
            </a:pPr>
            <a:r>
              <a:rPr lang="en-US" altLang="de-DE" sz="1350" dirty="0">
                <a:cs typeface="Arial" pitchFamily="34" charset="0"/>
              </a:rPr>
              <a:t>Korean market for zero-sugar sodas grew by 140% from 61 M€ in 2016 to 148M€ in 2022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9F582500-8D49-5D53-3FA7-FA47A89B6535}"/>
              </a:ext>
            </a:extLst>
          </p:cNvPr>
          <p:cNvGrpSpPr/>
          <p:nvPr/>
        </p:nvGrpSpPr>
        <p:grpSpPr>
          <a:xfrm>
            <a:off x="8382352" y="2002596"/>
            <a:ext cx="3298741" cy="3692928"/>
            <a:chOff x="8382352" y="2002596"/>
            <a:chExt cx="3298741" cy="3692928"/>
          </a:xfrm>
        </p:grpSpPr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B05C0A00-FA4C-627E-F3B3-9C5DC9C9DA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" b="30"/>
            <a:stretch/>
          </p:blipFill>
          <p:spPr>
            <a:xfrm>
              <a:off x="8382352" y="2002596"/>
              <a:ext cx="3298741" cy="2198923"/>
            </a:xfrm>
            <a:prstGeom prst="rect">
              <a:avLst/>
            </a:prstGeom>
            <a:ln w="8572">
              <a:solidFill>
                <a:schemeClr val="tx1"/>
              </a:solidFill>
            </a:ln>
          </p:spPr>
        </p:pic>
        <p:sp>
          <p:nvSpPr>
            <p:cNvPr id="5" name="Rechteck 28">
              <a:extLst>
                <a:ext uri="{FF2B5EF4-FFF2-40B4-BE49-F238E27FC236}">
                  <a16:creationId xmlns:a16="http://schemas.microsoft.com/office/drawing/2014/main" id="{B16C331D-D7F1-E83A-9F46-DC053334E1EC}"/>
                </a:ext>
              </a:extLst>
            </p:cNvPr>
            <p:cNvSpPr/>
            <p:nvPr/>
          </p:nvSpPr>
          <p:spPr bwMode="gray">
            <a:xfrm>
              <a:off x="8382529" y="4295141"/>
              <a:ext cx="3298385" cy="14003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numCol="1" spcCol="72000" rtlCol="0" anchor="t" anchorCtr="0">
              <a:spAutoFit/>
            </a:bodyPr>
            <a:lstStyle/>
            <a:p>
              <a:pPr marL="0" lvl="1">
                <a:spcBef>
                  <a:spcPts val="600"/>
                </a:spcBef>
                <a:buClr>
                  <a:schemeClr val="accent1">
                    <a:lumMod val="100000"/>
                  </a:schemeClr>
                </a:buClr>
                <a:buSzPct val="100000"/>
                <a:tabLst>
                  <a:tab pos="1255085" algn="r"/>
                </a:tabLst>
                <a:defRPr/>
              </a:pPr>
              <a:r>
                <a:rPr lang="en-US" altLang="de-DE" sz="1350" b="1" dirty="0">
                  <a:ea typeface="Arial Unicode MS"/>
                  <a:cs typeface="Arial" pitchFamily="34" charset="0"/>
                </a:rPr>
                <a:t>Promotion of Pepsi Cola’s own K-pop songs</a:t>
              </a:r>
              <a:endParaRPr lang="en-US" altLang="de-DE" sz="1215" dirty="0">
                <a:ea typeface="Arial Unicode MS"/>
                <a:cs typeface="Arial" pitchFamily="34" charset="0"/>
              </a:endParaRPr>
            </a:p>
            <a:p>
              <a:pPr marL="182880" lvl="1" indent="-182880">
                <a:spcBef>
                  <a:spcPts val="600"/>
                </a:spcBef>
                <a:buClr>
                  <a:srgbClr val="C80041"/>
                </a:buClr>
                <a:buSzPct val="100000"/>
                <a:buFont typeface="Wingdings" panose="05000000000000000000" pitchFamily="2" charset="2"/>
                <a:buChar char="§"/>
                <a:tabLst>
                  <a:tab pos="1255085" algn="r"/>
                </a:tabLst>
                <a:defRPr/>
              </a:pPr>
              <a:r>
                <a:rPr lang="en-US" altLang="de-DE" sz="1350" dirty="0">
                  <a:cs typeface="Arial" pitchFamily="34" charset="0"/>
                </a:rPr>
                <a:t>Collaboration with major music label Starship Entertainment since 2019</a:t>
              </a:r>
            </a:p>
            <a:p>
              <a:pPr marL="182880" lvl="1" indent="-182880">
                <a:spcBef>
                  <a:spcPts val="600"/>
                </a:spcBef>
                <a:buClr>
                  <a:srgbClr val="C80041"/>
                </a:buClr>
                <a:buSzPct val="100000"/>
                <a:buFont typeface="Wingdings" panose="05000000000000000000" pitchFamily="2" charset="2"/>
                <a:buChar char="§"/>
                <a:tabLst>
                  <a:tab pos="1255085" algn="r"/>
                </a:tabLst>
                <a:defRPr/>
              </a:pPr>
              <a:r>
                <a:rPr lang="en-US" altLang="de-DE" sz="1350" dirty="0">
                  <a:cs typeface="Arial" pitchFamily="34" charset="0"/>
                </a:rPr>
                <a:t>10 Pepsi songs totaling 78.7 M views on YouTube, of which 31 M from recently trending girl group ‘IVE’</a:t>
              </a:r>
            </a:p>
          </p:txBody>
        </p:sp>
      </p:grpSp>
      <p:pic>
        <p:nvPicPr>
          <p:cNvPr id="3" name="Grafik 2" descr="Ein Bild, das Person, Menschliches Gesicht, Kleidung, Lächeln enthält.&#10;&#10;Automatisch generierte Beschreibung">
            <a:extLst>
              <a:ext uri="{FF2B5EF4-FFF2-40B4-BE49-F238E27FC236}">
                <a16:creationId xmlns:a16="http://schemas.microsoft.com/office/drawing/2014/main" id="{F8703D16-36D5-7CEF-7C92-08A4B46365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603" y="2002596"/>
            <a:ext cx="3298386" cy="2198923"/>
          </a:xfrm>
          <a:prstGeom prst="rect">
            <a:avLst/>
          </a:prstGeom>
          <a:ln w="6430">
            <a:solidFill>
              <a:schemeClr val="tx1"/>
            </a:solidFill>
          </a:ln>
        </p:spPr>
      </p:pic>
      <p:sp>
        <p:nvSpPr>
          <p:cNvPr id="2" name="Rechteck 28">
            <a:extLst>
              <a:ext uri="{FF2B5EF4-FFF2-40B4-BE49-F238E27FC236}">
                <a16:creationId xmlns:a16="http://schemas.microsoft.com/office/drawing/2014/main" id="{B996B859-6480-6531-E956-77F7C1EE3285}"/>
              </a:ext>
            </a:extLst>
          </p:cNvPr>
          <p:cNvSpPr/>
          <p:nvPr/>
        </p:nvSpPr>
        <p:spPr bwMode="gray">
          <a:xfrm>
            <a:off x="4359603" y="4295141"/>
            <a:ext cx="3298385" cy="1192634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0" tIns="0" rIns="0" bIns="0" numCol="1" spcCol="72000" rtlCol="0" anchor="t" anchorCtr="0">
            <a:spAutoFit/>
          </a:bodyPr>
          <a:lstStyle/>
          <a:p>
            <a:pPr marL="0" lvl="1">
              <a:spcBef>
                <a:spcPts val="600"/>
              </a:spcBef>
              <a:buClr>
                <a:schemeClr val="accent1">
                  <a:lumMod val="100000"/>
                </a:schemeClr>
              </a:buClr>
              <a:buSzPct val="100000"/>
              <a:tabLst>
                <a:tab pos="1255085" algn="r"/>
              </a:tabLst>
              <a:defRPr/>
            </a:pPr>
            <a:r>
              <a:rPr lang="en-US" altLang="de-DE" sz="1350" b="1" dirty="0" err="1">
                <a:ea typeface="Arial Unicode MS"/>
              </a:rPr>
              <a:t>BlackPink</a:t>
            </a:r>
            <a:r>
              <a:rPr lang="en-US" altLang="de-DE" sz="1350" b="1" dirty="0">
                <a:ea typeface="Arial Unicode MS"/>
              </a:rPr>
              <a:t> as Pepsi’s APAC brand ambassador</a:t>
            </a:r>
            <a:endParaRPr lang="en-US" altLang="de-DE" sz="1215" dirty="0">
              <a:ea typeface="Arial Unicode MS"/>
              <a:cs typeface="Arial" pitchFamily="34" charset="0"/>
            </a:endParaRPr>
          </a:p>
          <a:p>
            <a:pPr marL="182880" lvl="1" indent="-182880">
              <a:spcBef>
                <a:spcPts val="600"/>
              </a:spcBef>
              <a:buClr>
                <a:srgbClr val="C80041"/>
              </a:buClr>
              <a:buSzPct val="100000"/>
              <a:buFont typeface="Wingdings" panose="05000000000000000000" pitchFamily="2" charset="2"/>
              <a:buChar char="§"/>
              <a:tabLst>
                <a:tab pos="1255085" algn="r"/>
              </a:tabLst>
              <a:defRPr/>
            </a:pPr>
            <a:r>
              <a:rPr lang="en-US" altLang="de-DE" sz="1350" dirty="0">
                <a:cs typeface="Arial" pitchFamily="34" charset="0"/>
              </a:rPr>
              <a:t>Most followed K-Pop artists on Instagram, </a:t>
            </a:r>
            <a:br>
              <a:rPr lang="en-US" altLang="de-DE" sz="1350" dirty="0">
                <a:cs typeface="Arial" pitchFamily="34" charset="0"/>
              </a:rPr>
            </a:br>
            <a:r>
              <a:rPr lang="en-US" altLang="de-DE" sz="1350" dirty="0">
                <a:cs typeface="Arial" pitchFamily="34" charset="0"/>
              </a:rPr>
              <a:t>8 songs with over 1 billion views on YouTube</a:t>
            </a:r>
          </a:p>
          <a:p>
            <a:pPr marL="182880" lvl="1" indent="-182880">
              <a:spcBef>
                <a:spcPts val="600"/>
              </a:spcBef>
              <a:buClr>
                <a:srgbClr val="C80041"/>
              </a:buClr>
              <a:buSzPct val="100000"/>
              <a:buFont typeface="Wingdings" panose="05000000000000000000" pitchFamily="2" charset="2"/>
              <a:buChar char="§"/>
              <a:tabLst>
                <a:tab pos="1255085" algn="r"/>
              </a:tabLst>
              <a:defRPr/>
            </a:pPr>
            <a:r>
              <a:rPr lang="en-US" altLang="de-DE" sz="1350" dirty="0">
                <a:cs typeface="Arial" pitchFamily="34" charset="0"/>
              </a:rPr>
              <a:t>Trend-setters in regard to beauty, fashion, and lifestyle, particularly for young girls</a:t>
            </a:r>
          </a:p>
        </p:txBody>
      </p:sp>
    </p:spTree>
    <p:extLst>
      <p:ext uri="{BB962C8B-B14F-4D97-AF65-F5344CB8AC3E}">
        <p14:creationId xmlns:p14="http://schemas.microsoft.com/office/powerpoint/2010/main" val="22465410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cd991bf-f022-4378-96e7-2c338aeb3f5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RETCH" val="2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</Words>
  <Application>Microsoft Office PowerPoint</Application>
  <PresentationFormat>Breitbild</PresentationFormat>
  <Paragraphs>27</Paragraphs>
  <Slides>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10" baseType="lpstr">
      <vt:lpstr>Arial Unicode MS</vt:lpstr>
      <vt:lpstr>Aptos</vt:lpstr>
      <vt:lpstr>Arial</vt:lpstr>
      <vt:lpstr>Calibri</vt:lpstr>
      <vt:lpstr>Calibri Light</vt:lpstr>
      <vt:lpstr>Segoe UI</vt:lpstr>
      <vt:lpstr>Wingdings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Nordkoreas Vermarktwirtschaftlichung</dc:title>
  <dc:creator>Elias Hausmann</dc:creator>
  <cp:lastModifiedBy>Elias Hausmann</cp:lastModifiedBy>
  <cp:revision>44</cp:revision>
  <dcterms:created xsi:type="dcterms:W3CDTF">2022-11-26T13:10:45Z</dcterms:created>
  <dcterms:modified xsi:type="dcterms:W3CDTF">2024-06-10T16:58:03Z</dcterms:modified>
</cp:coreProperties>
</file>